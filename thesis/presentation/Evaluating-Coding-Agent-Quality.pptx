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65"/>
  </p:notesMasterIdLst>
  <p:sldIdLst>
    <p:sldId id="298" r:id="rId3"/>
    <p:sldId id="300" r:id="rId4"/>
    <p:sldId id="301" r:id="rId5"/>
    <p:sldId id="302" r:id="rId6"/>
    <p:sldId id="303" r:id="rId7"/>
    <p:sldId id="304" r:id="rId8"/>
    <p:sldId id="305" r:id="rId9"/>
    <p:sldId id="306" r:id="rId10"/>
    <p:sldId id="307" r:id="rId11"/>
    <p:sldId id="308" r:id="rId12"/>
    <p:sldId id="309" r:id="rId13"/>
    <p:sldId id="310" r:id="rId14"/>
    <p:sldId id="311" r:id="rId15"/>
    <p:sldId id="312" r:id="rId16"/>
    <p:sldId id="313" r:id="rId17"/>
    <p:sldId id="314" r:id="rId18"/>
    <p:sldId id="315" r:id="rId19"/>
    <p:sldId id="316" r:id="rId20"/>
    <p:sldId id="317" r:id="rId21"/>
    <p:sldId id="318" r:id="rId22"/>
    <p:sldId id="319" r:id="rId23"/>
    <p:sldId id="320" r:id="rId24"/>
    <p:sldId id="321" r:id="rId25"/>
    <p:sldId id="322" r:id="rId26"/>
    <p:sldId id="323" r:id="rId27"/>
    <p:sldId id="324" r:id="rId28"/>
    <p:sldId id="325" r:id="rId29"/>
    <p:sldId id="326" r:id="rId30"/>
    <p:sldId id="327" r:id="rId31"/>
    <p:sldId id="328" r:id="rId32"/>
    <p:sldId id="329" r:id="rId33"/>
    <p:sldId id="330" r:id="rId34"/>
    <p:sldId id="331" r:id="rId35"/>
    <p:sldId id="332" r:id="rId36"/>
    <p:sldId id="333" r:id="rId37"/>
    <p:sldId id="334" r:id="rId38"/>
    <p:sldId id="335" r:id="rId39"/>
    <p:sldId id="336" r:id="rId40"/>
    <p:sldId id="337" r:id="rId41"/>
    <p:sldId id="338" r:id="rId42"/>
    <p:sldId id="339" r:id="rId43"/>
    <p:sldId id="340" r:id="rId44"/>
    <p:sldId id="341" r:id="rId45"/>
    <p:sldId id="342" r:id="rId46"/>
    <p:sldId id="343" r:id="rId47"/>
    <p:sldId id="344" r:id="rId48"/>
    <p:sldId id="345" r:id="rId49"/>
    <p:sldId id="346" r:id="rId50"/>
    <p:sldId id="347" r:id="rId51"/>
    <p:sldId id="348" r:id="rId52"/>
    <p:sldId id="349" r:id="rId53"/>
    <p:sldId id="350" r:id="rId54"/>
    <p:sldId id="351" r:id="rId55"/>
    <p:sldId id="352" r:id="rId56"/>
    <p:sldId id="353" r:id="rId57"/>
    <p:sldId id="354" r:id="rId58"/>
    <p:sldId id="355" r:id="rId59"/>
    <p:sldId id="356" r:id="rId60"/>
    <p:sldId id="357" r:id="rId61"/>
    <p:sldId id="358" r:id="rId62"/>
    <p:sldId id="359" r:id="rId63"/>
    <p:sldId id="360" r:id="rId64"/>
  </p:sldIdLst>
  <p:sldSz cx="12195175" cy="6858000"/>
  <p:notesSz cx="6858000" cy="9144000"/>
  <p:custDataLst>
    <p:tags r:id="rId66"/>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33">
          <p15:clr>
            <a:srgbClr val="A4A3A4"/>
          </p15:clr>
        </p15:guide>
        <p15:guide id="2" pos="384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495E"/>
    <a:srgbClr val="202A36"/>
    <a:srgbClr val="46CEAE"/>
    <a:srgbClr val="FFFFFF"/>
    <a:srgbClr val="E8E8E8"/>
    <a:srgbClr val="F9F9F9"/>
    <a:srgbClr val="D3D3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314" autoAdjust="0"/>
  </p:normalViewPr>
  <p:slideViewPr>
    <p:cSldViewPr showGuides="1">
      <p:cViewPr varScale="1">
        <p:scale>
          <a:sx n="106" d="100"/>
          <a:sy n="106" d="100"/>
        </p:scale>
        <p:origin x="756" y="78"/>
      </p:cViewPr>
      <p:guideLst>
        <p:guide orient="horz" pos="1933"/>
        <p:guide pos="384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ags" Target="tags/tag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7547A1D-12E5-456D-BF67-C0BDB0A18760}" type="datetimeFigureOut">
              <a:rPr lang="zh-CN" altLang="en-US" smtClean="0"/>
              <a:t>2026/10/23</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E5ACBAC-C8EB-45CA-967B-DC24F1263EAE}"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FE5ACBAC-C8EB-45CA-967B-DC24F1263EAE}" type="slidenum">
              <a:rPr lang="zh-CN" altLang="en-US" smtClean="0"/>
              <a:t>1</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hyperlink" Target="http://www.1ppt.com/xiazai/"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638" y="2130426"/>
            <a:ext cx="10365899" cy="1470025"/>
          </a:xfrm>
        </p:spPr>
        <p:txBody>
          <a:bodyPr/>
          <a:lstStyle/>
          <a:p>
            <a:r>
              <a:rPr lang="zh-CN" altLang="en-US"/>
              <a:t>单击此处编辑母版标题样式</a:t>
            </a:r>
          </a:p>
        </p:txBody>
      </p:sp>
      <p:sp>
        <p:nvSpPr>
          <p:cNvPr id="3" name="副标题 2"/>
          <p:cNvSpPr>
            <a:spLocks noGrp="1"/>
          </p:cNvSpPr>
          <p:nvPr>
            <p:ph type="subTitle" idx="1"/>
          </p:nvPr>
        </p:nvSpPr>
        <p:spPr>
          <a:xfrm>
            <a:off x="1829276" y="3886200"/>
            <a:ext cx="8536623"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0E08AF93-F015-4E02-9910-15C5CE4FE8B2}" type="datetimeFigureOut">
              <a:rPr lang="zh-CN" altLang="en-US" smtClean="0"/>
              <a:t>2026/10/23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A6AEB412-6DE5-4D5A-AC24-F5C758543197}"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0E08AF93-F015-4E02-9910-15C5CE4FE8B2}" type="datetimeFigureOut">
              <a:rPr lang="zh-CN" altLang="en-US" smtClean="0"/>
              <a:t>2026/10/23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A6AEB412-6DE5-4D5A-AC24-F5C758543197}"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335" y="4406901"/>
            <a:ext cx="10365899"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335" y="2906713"/>
            <a:ext cx="10365899"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0E08AF93-F015-4E02-9910-15C5CE4FE8B2}" type="datetimeFigureOut">
              <a:rPr lang="zh-CN" altLang="en-US" smtClean="0"/>
              <a:t>2026/10/23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A6AEB412-6DE5-4D5A-AC24-F5C758543197}"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13012" y="1600201"/>
            <a:ext cx="7217596"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8233862" y="1600201"/>
            <a:ext cx="721759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0E08AF93-F015-4E02-9910-15C5CE4FE8B2}" type="datetimeFigureOut">
              <a:rPr lang="zh-CN" altLang="en-US" smtClean="0"/>
              <a:t>2026/10/23</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A6AEB412-6DE5-4D5A-AC24-F5C758543197}"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759" y="274638"/>
            <a:ext cx="10975658"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759" y="1535113"/>
            <a:ext cx="538832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759" y="2174875"/>
            <a:ext cx="53883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4980" y="1535113"/>
            <a:ext cx="539043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4980" y="2174875"/>
            <a:ext cx="539043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0E08AF93-F015-4E02-9910-15C5CE4FE8B2}" type="datetimeFigureOut">
              <a:rPr lang="zh-CN" altLang="en-US" smtClean="0"/>
              <a:t>2026/10/23</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A6AEB412-6DE5-4D5A-AC24-F5C758543197}"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1_比较">
    <p:spTree>
      <p:nvGrpSpPr>
        <p:cNvPr id="1" name=""/>
        <p:cNvGrpSpPr/>
        <p:nvPr/>
      </p:nvGrpSpPr>
      <p:grpSpPr>
        <a:xfrm>
          <a:off x="0" y="0"/>
          <a:ext cx="0" cy="0"/>
          <a:chOff x="0" y="0"/>
          <a:chExt cx="0" cy="0"/>
        </a:xfrm>
      </p:grpSpPr>
      <p:sp>
        <p:nvSpPr>
          <p:cNvPr id="2" name="标题 1"/>
          <p:cNvSpPr>
            <a:spLocks noGrp="1"/>
          </p:cNvSpPr>
          <p:nvPr>
            <p:ph type="title"/>
          </p:nvPr>
        </p:nvSpPr>
        <p:spPr>
          <a:xfrm>
            <a:off x="609759" y="274638"/>
            <a:ext cx="10975658"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759" y="1535113"/>
            <a:ext cx="538832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759" y="2174875"/>
            <a:ext cx="53883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4980" y="1535113"/>
            <a:ext cx="539043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4980" y="2174875"/>
            <a:ext cx="539043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0E08AF93-F015-4E02-9910-15C5CE4FE8B2}" type="datetimeFigureOut">
              <a:rPr lang="zh-CN" altLang="en-US" smtClean="0"/>
              <a:t>2026/10/23</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A6AEB412-6DE5-4D5A-AC24-F5C758543197}" type="slidenum">
              <a:rPr lang="zh-CN" altLang="en-US" smtClean="0"/>
              <a:t>‹#›</a:t>
            </a:fld>
            <a:endParaRPr lang="zh-CN" altLang="en-US"/>
          </a:p>
        </p:txBody>
      </p:sp>
      <p:sp>
        <p:nvSpPr>
          <p:cNvPr id="11" name="TextBox 10"/>
          <p:cNvSpPr txBox="1"/>
          <p:nvPr userDrawn="1"/>
        </p:nvSpPr>
        <p:spPr>
          <a:xfrm>
            <a:off x="2209155" y="6741368"/>
            <a:ext cx="1224136" cy="118430"/>
          </a:xfrm>
          <a:prstGeom prst="rect">
            <a:avLst/>
          </a:prstGeom>
          <a:noFill/>
        </p:spPr>
        <p:txBody>
          <a:bodyPr wrap="square" rtlCol="0">
            <a:spAutoFit/>
          </a:bodyPr>
          <a:lstStyle/>
          <a:p>
            <a:pPr>
              <a:lnSpc>
                <a:spcPct val="200000"/>
              </a:lnSpc>
            </a:pPr>
            <a:r>
              <a:rPr lang="en-US" altLang="zh-CN" sz="100" dirty="0">
                <a:solidFill>
                  <a:prstClr val="black"/>
                </a:solidFill>
                <a:latin typeface="微软雅黑" panose="020B0503020204020204" pitchFamily="34" charset="-122"/>
                <a:ea typeface="微软雅黑" panose="020B0503020204020204" pitchFamily="34" charset="-122"/>
                <a:hlinkClick r:id="rId2"/>
              </a:rPr>
              <a:t>PPT</a:t>
            </a:r>
            <a:r>
              <a:rPr lang="zh-CN" altLang="en-US" sz="100" dirty="0">
                <a:solidFill>
                  <a:prstClr val="black"/>
                </a:solidFill>
                <a:latin typeface="微软雅黑" panose="020B0503020204020204" pitchFamily="34" charset="-122"/>
                <a:ea typeface="微软雅黑" panose="020B0503020204020204" pitchFamily="34" charset="-122"/>
                <a:hlinkClick r:id="rId2"/>
              </a:rPr>
              <a:t>下载</a:t>
            </a:r>
            <a:r>
              <a:rPr lang="zh-CN" altLang="en-US" sz="100" dirty="0">
                <a:solidFill>
                  <a:prstClr val="black"/>
                </a:solidFill>
                <a:latin typeface="微软雅黑" panose="020B0503020204020204" pitchFamily="34" charset="-122"/>
                <a:ea typeface="微软雅黑" panose="020B0503020204020204" pitchFamily="34" charset="-122"/>
              </a:rPr>
              <a:t> </a:t>
            </a:r>
            <a:r>
              <a:rPr lang="en-US" altLang="zh-CN" sz="100" dirty="0">
                <a:solidFill>
                  <a:prstClr val="black"/>
                </a:solidFill>
                <a:latin typeface="微软雅黑" panose="020B0503020204020204" pitchFamily="34" charset="-122"/>
                <a:ea typeface="微软雅黑" panose="020B0503020204020204" pitchFamily="34" charset="-122"/>
              </a:rPr>
              <a:t>http://www.1ppt.com/xiazai/</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0E08AF93-F015-4E02-9910-15C5CE4FE8B2}" type="datetimeFigureOut">
              <a:rPr lang="zh-CN" altLang="en-US" smtClean="0"/>
              <a:t>2026/10/23</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6AEB412-6DE5-4D5A-AC24-F5C758543197}"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E08AF93-F015-4E02-9910-15C5CE4FE8B2}" type="datetimeFigureOut">
              <a:rPr lang="zh-CN" altLang="en-US" smtClean="0"/>
              <a:t>2026/10/23</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6AEB412-6DE5-4D5A-AC24-F5C758543197}"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759" y="273050"/>
            <a:ext cx="4012129"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7974" y="273051"/>
            <a:ext cx="681744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759" y="1435101"/>
            <a:ext cx="4012129"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E08AF93-F015-4E02-9910-15C5CE4FE8B2}" type="datetimeFigureOut">
              <a:rPr lang="zh-CN" altLang="en-US" smtClean="0"/>
              <a:t>2026/10/23</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A6AEB412-6DE5-4D5A-AC24-F5C758543197}"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340" y="4800600"/>
            <a:ext cx="7317105"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90340" y="612775"/>
            <a:ext cx="731710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2390340" y="5367338"/>
            <a:ext cx="731710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E08AF93-F015-4E02-9910-15C5CE4FE8B2}" type="datetimeFigureOut">
              <a:rPr lang="zh-CN" altLang="en-US" smtClean="0"/>
              <a:t>2026/10/23</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A6AEB412-6DE5-4D5A-AC24-F5C758543197}"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0E08AF93-F015-4E02-9910-15C5CE4FE8B2}" type="datetimeFigureOut">
              <a:rPr lang="zh-CN" altLang="en-US" smtClean="0"/>
              <a:t>2026/10/23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A6AEB412-6DE5-4D5A-AC24-F5C758543197}" type="slidenum">
              <a:rPr lang="zh-CN" altLang="en-US" smtClean="0"/>
              <a:t>‹#›</a:t>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11792903" y="274639"/>
            <a:ext cx="3658553"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13012" y="274639"/>
            <a:ext cx="10776639"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0E08AF93-F015-4E02-9910-15C5CE4FE8B2}" type="datetimeFigureOut">
              <a:rPr lang="zh-CN" altLang="en-US" smtClean="0"/>
              <a:t>2026/10/23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A6AEB412-6DE5-4D5A-AC24-F5C758543197}" type="slidenum">
              <a:rPr lang="zh-CN" altLang="en-US" smtClean="0"/>
              <a:t>‹#›</a:t>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609759" y="274638"/>
            <a:ext cx="10975658" cy="1143000"/>
          </a:xfrm>
          <a:prstGeom prst="rect">
            <a:avLst/>
          </a:prstGeom>
        </p:spPr>
        <p:txBody>
          <a:bodyPr/>
          <a:lstStyle/>
          <a:p>
            <a:r>
              <a:rPr lang="zh-CN" altLang="en-US"/>
              <a:t>单击此处编辑母版标题样式</a:t>
            </a:r>
          </a:p>
        </p:txBody>
      </p:sp>
      <p:sp>
        <p:nvSpPr>
          <p:cNvPr id="3" name="竖排文字占位符 2"/>
          <p:cNvSpPr>
            <a:spLocks noGrp="1"/>
          </p:cNvSpPr>
          <p:nvPr>
            <p:ph type="body" orient="vert" idx="1"/>
          </p:nvPr>
        </p:nvSpPr>
        <p:spPr>
          <a:xfrm>
            <a:off x="609759" y="1600201"/>
            <a:ext cx="10975658" cy="4525963"/>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609759" y="6356351"/>
            <a:ext cx="2845541" cy="365125"/>
          </a:xfrm>
          <a:prstGeom prst="rect">
            <a:avLst/>
          </a:prstGeom>
        </p:spPr>
        <p:txBody>
          <a:bodyPr/>
          <a:lstStyle/>
          <a:p>
            <a:fld id="{2E3AAC11-D570-4EA9-AFC0-30FB72BA45EB}" type="datetimeFigureOut">
              <a:rPr lang="zh-CN" altLang="en-US" smtClean="0">
                <a:solidFill>
                  <a:prstClr val="black"/>
                </a:solidFill>
              </a:rPr>
              <a:t>2026/10/23</a:t>
            </a:fld>
            <a:endParaRPr lang="zh-CN" altLang="en-US">
              <a:solidFill>
                <a:prstClr val="black"/>
              </a:solidFill>
            </a:endParaRPr>
          </a:p>
        </p:txBody>
      </p:sp>
      <p:sp>
        <p:nvSpPr>
          <p:cNvPr id="5" name="页脚占位符 4"/>
          <p:cNvSpPr>
            <a:spLocks noGrp="1"/>
          </p:cNvSpPr>
          <p:nvPr>
            <p:ph type="ftr" sz="quarter" idx="11"/>
          </p:nvPr>
        </p:nvSpPr>
        <p:spPr>
          <a:xfrm>
            <a:off x="4166685" y="6356351"/>
            <a:ext cx="3861805" cy="365125"/>
          </a:xfrm>
          <a:prstGeom prst="rect">
            <a:avLst/>
          </a:prstGeom>
        </p:spPr>
        <p:txBody>
          <a:bodyPr/>
          <a:lstStyle/>
          <a:p>
            <a:endParaRPr lang="zh-CN" altLang="en-US">
              <a:solidFill>
                <a:prstClr val="black"/>
              </a:solidFill>
            </a:endParaRPr>
          </a:p>
        </p:txBody>
      </p:sp>
      <p:sp>
        <p:nvSpPr>
          <p:cNvPr id="6" name="灯片编号占位符 5"/>
          <p:cNvSpPr>
            <a:spLocks noGrp="1"/>
          </p:cNvSpPr>
          <p:nvPr>
            <p:ph type="sldNum" sz="quarter" idx="12"/>
          </p:nvPr>
        </p:nvSpPr>
        <p:spPr>
          <a:xfrm>
            <a:off x="8739875" y="6356351"/>
            <a:ext cx="2845541" cy="365125"/>
          </a:xfrm>
          <a:prstGeom prst="rect">
            <a:avLst/>
          </a:prstGeom>
        </p:spPr>
        <p:txBody>
          <a:bodyPr/>
          <a:lstStyle/>
          <a:p>
            <a:fld id="{55ECCFAA-F4FB-487C-9F1E-C8836D0C3DC9}" type="slidenum">
              <a:rPr lang="zh-CN" altLang="en-US" smtClean="0">
                <a:solidFill>
                  <a:prstClr val="black"/>
                </a:solidFill>
              </a:rPr>
              <a:t>‹#›</a:t>
            </a:fld>
            <a:endParaRPr lang="zh-CN" altLang="en-US">
              <a:solidFill>
                <a:prstClr val="black"/>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41502" y="274639"/>
            <a:ext cx="2743914" cy="5851525"/>
          </a:xfrm>
          <a:prstGeom prst="rect">
            <a:avLst/>
          </a:prstGeo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609759" y="274639"/>
            <a:ext cx="8028490" cy="5851525"/>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609759" y="6356351"/>
            <a:ext cx="2845541" cy="365125"/>
          </a:xfrm>
          <a:prstGeom prst="rect">
            <a:avLst/>
          </a:prstGeom>
        </p:spPr>
        <p:txBody>
          <a:bodyPr/>
          <a:lstStyle/>
          <a:p>
            <a:fld id="{2E3AAC11-D570-4EA9-AFC0-30FB72BA45EB}" type="datetimeFigureOut">
              <a:rPr lang="zh-CN" altLang="en-US" smtClean="0">
                <a:solidFill>
                  <a:prstClr val="black"/>
                </a:solidFill>
              </a:rPr>
              <a:t>2026/10/23</a:t>
            </a:fld>
            <a:endParaRPr lang="zh-CN" altLang="en-US">
              <a:solidFill>
                <a:prstClr val="black"/>
              </a:solidFill>
            </a:endParaRPr>
          </a:p>
        </p:txBody>
      </p:sp>
      <p:sp>
        <p:nvSpPr>
          <p:cNvPr id="5" name="页脚占位符 4"/>
          <p:cNvSpPr>
            <a:spLocks noGrp="1"/>
          </p:cNvSpPr>
          <p:nvPr>
            <p:ph type="ftr" sz="quarter" idx="11"/>
          </p:nvPr>
        </p:nvSpPr>
        <p:spPr>
          <a:xfrm>
            <a:off x="4166685" y="6356351"/>
            <a:ext cx="3861805" cy="365125"/>
          </a:xfrm>
          <a:prstGeom prst="rect">
            <a:avLst/>
          </a:prstGeom>
        </p:spPr>
        <p:txBody>
          <a:bodyPr/>
          <a:lstStyle/>
          <a:p>
            <a:endParaRPr lang="zh-CN" altLang="en-US">
              <a:solidFill>
                <a:prstClr val="black"/>
              </a:solidFill>
            </a:endParaRPr>
          </a:p>
        </p:txBody>
      </p:sp>
      <p:sp>
        <p:nvSpPr>
          <p:cNvPr id="6" name="灯片编号占位符 5"/>
          <p:cNvSpPr>
            <a:spLocks noGrp="1"/>
          </p:cNvSpPr>
          <p:nvPr>
            <p:ph type="sldNum" sz="quarter" idx="12"/>
          </p:nvPr>
        </p:nvSpPr>
        <p:spPr>
          <a:xfrm>
            <a:off x="8739875" y="6356351"/>
            <a:ext cx="2845541" cy="365125"/>
          </a:xfrm>
          <a:prstGeom prst="rect">
            <a:avLst/>
          </a:prstGeom>
        </p:spPr>
        <p:txBody>
          <a:bodyPr/>
          <a:lstStyle/>
          <a:p>
            <a:fld id="{55ECCFAA-F4FB-487C-9F1E-C8836D0C3DC9}" type="slidenum">
              <a:rPr lang="zh-CN" altLang="en-US" smtClean="0">
                <a:solidFill>
                  <a:prstClr val="black"/>
                </a:solidFill>
              </a:rPr>
              <a:t>‹#›</a:t>
            </a:fld>
            <a:endParaRPr lang="zh-CN" altLang="en-US">
              <a:solidFill>
                <a:prstClr val="black"/>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5.xml"/><Relationship Id="rId2" Type="http://schemas.openxmlformats.org/officeDocument/2006/relationships/slideLayout" Target="../slideLayouts/slideLayout14.xml"/><Relationship Id="rId1" Type="http://schemas.openxmlformats.org/officeDocument/2006/relationships/slideLayout" Target="../slideLayouts/slideLayout1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09759" y="274638"/>
            <a:ext cx="10975658" cy="114300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609759" y="1600201"/>
            <a:ext cx="10975658" cy="452596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609759" y="6356351"/>
            <a:ext cx="2845541"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E08AF93-F015-4E02-9910-15C5CE4FE8B2}" type="datetimeFigureOut">
              <a:rPr lang="zh-CN" altLang="en-US" smtClean="0"/>
              <a:t>2026/10/23</a:t>
            </a:fld>
            <a:endParaRPr lang="zh-CN" altLang="en-US"/>
          </a:p>
        </p:txBody>
      </p:sp>
      <p:sp>
        <p:nvSpPr>
          <p:cNvPr id="5" name="页脚占位符 4"/>
          <p:cNvSpPr>
            <a:spLocks noGrp="1"/>
          </p:cNvSpPr>
          <p:nvPr>
            <p:ph type="ftr" sz="quarter" idx="3"/>
          </p:nvPr>
        </p:nvSpPr>
        <p:spPr>
          <a:xfrm>
            <a:off x="4166685" y="6356351"/>
            <a:ext cx="386180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739875" y="6356351"/>
            <a:ext cx="2845541"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6AEB412-6DE5-4D5A-AC24-F5C758543197}"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8.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8.xml"/><Relationship Id="rId5" Type="http://schemas.openxmlformats.org/officeDocument/2006/relationships/image" Target="../media/image12.png"/><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矩形 97"/>
          <p:cNvSpPr/>
          <p:nvPr/>
        </p:nvSpPr>
        <p:spPr>
          <a:xfrm>
            <a:off x="0" y="1246448"/>
            <a:ext cx="12195175" cy="2808312"/>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 name="矩形 98"/>
          <p:cNvSpPr/>
          <p:nvPr/>
        </p:nvSpPr>
        <p:spPr>
          <a:xfrm>
            <a:off x="0" y="1390464"/>
            <a:ext cx="12195175" cy="4077072"/>
          </a:xfrm>
          <a:prstGeom prst="rect">
            <a:avLst/>
          </a:prstGeom>
          <a:solidFill>
            <a:srgbClr val="202A36"/>
          </a:solidFill>
          <a:ln>
            <a:noFill/>
          </a:ln>
          <a:effectLst>
            <a:outerShdw blurRad="165100" dist="1143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2" name="TextBox 7"/>
          <p:cNvSpPr>
            <a:spLocks noChangeArrowheads="1"/>
          </p:cNvSpPr>
          <p:nvPr/>
        </p:nvSpPr>
        <p:spPr bwMode="auto">
          <a:xfrm>
            <a:off x="69911" y="1599550"/>
            <a:ext cx="12195175" cy="677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a:spcAft>
                <a:spcPts val="0"/>
              </a:spcAft>
            </a:pPr>
            <a:r>
              <a:rPr lang="en-US" sz="4400" b="1" dirty="0">
                <a:solidFill>
                  <a:srgbClr val="FFFFFF"/>
                </a:solidFill>
                <a:latin typeface="Arial"/>
              </a:rPr>
              <a:t>Evaluating Coding Agent Quality</a:t>
            </a:r>
          </a:p>
        </p:txBody>
      </p:sp>
      <p:sp>
        <p:nvSpPr>
          <p:cNvPr id="134" name="TextBox 7"/>
          <p:cNvSpPr>
            <a:spLocks noChangeArrowheads="1"/>
          </p:cNvSpPr>
          <p:nvPr/>
        </p:nvSpPr>
        <p:spPr bwMode="auto">
          <a:xfrm>
            <a:off x="2499283" y="2469176"/>
            <a:ext cx="719660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a:spcAft>
                <a:spcPts val="0"/>
              </a:spcAft>
            </a:pPr>
            <a:r>
              <a:rPr lang="en-US" sz="2000" dirty="0">
                <a:solidFill>
                  <a:srgbClr val="E8ECF1"/>
                </a:solidFill>
                <a:latin typeface="Arial"/>
              </a:rPr>
              <a:t>Application to Software Design Principles</a:t>
            </a:r>
          </a:p>
        </p:txBody>
      </p:sp>
      <p:sp>
        <p:nvSpPr>
          <p:cNvPr id="137" name="矩形 3"/>
          <p:cNvSpPr>
            <a:spLocks noChangeArrowheads="1"/>
          </p:cNvSpPr>
          <p:nvPr/>
        </p:nvSpPr>
        <p:spPr bwMode="auto">
          <a:xfrm>
            <a:off x="5462705" y="3850885"/>
            <a:ext cx="1269764" cy="313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73" tIns="34287" rIns="68573" bIns="34287">
            <a:spAutoFit/>
          </a:bodyPr>
          <a:lstStyle/>
          <a:p>
            <a:pPr algn="ctr">
              <a:spcBef>
                <a:spcPct val="0"/>
              </a:spcBef>
              <a:buFont typeface="Arial" panose="020B0604020202020204" pitchFamily="34" charset="0"/>
              <a:buNone/>
            </a:pPr>
            <a:r>
              <a:rPr lang="zh-CN" altLang="en-US" sz="1600"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2</a:t>
            </a:r>
            <a:r>
              <a:rPr lang="fr-TN" altLang="zh-CN" sz="1600"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025/2026</a:t>
            </a:r>
            <a:endParaRPr lang="en-US" altLang="zh-CN" sz="1600" dirty="0">
              <a:solidFill>
                <a:schemeClr val="bg1"/>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57" name="TextBox 156"/>
          <p:cNvSpPr txBox="1"/>
          <p:nvPr/>
        </p:nvSpPr>
        <p:spPr>
          <a:xfrm>
            <a:off x="10850115" y="7595264"/>
            <a:ext cx="877163" cy="369332"/>
          </a:xfrm>
          <a:prstGeom prst="rect">
            <a:avLst/>
          </a:prstGeom>
          <a:noFill/>
        </p:spPr>
        <p:txBody>
          <a:bodyPr wrap="none" rtlCol="0">
            <a:spAutoFit/>
          </a:bodyPr>
          <a:lstStyle/>
          <a:p>
            <a:r>
              <a:rPr lang="zh-CN" altLang="en-US" dirty="0"/>
              <a:t>延时符</a:t>
            </a:r>
          </a:p>
        </p:txBody>
      </p:sp>
      <p:sp>
        <p:nvSpPr>
          <p:cNvPr id="2" name="TextBox 7">
            <a:extLst>
              <a:ext uri="{FF2B5EF4-FFF2-40B4-BE49-F238E27FC236}">
                <a16:creationId xmlns:a16="http://schemas.microsoft.com/office/drawing/2014/main" id="{164C76C0-B57D-1B9F-4F3E-41952BFB9861}"/>
              </a:ext>
            </a:extLst>
          </p:cNvPr>
          <p:cNvSpPr>
            <a:spLocks noChangeArrowheads="1"/>
          </p:cNvSpPr>
          <p:nvPr/>
        </p:nvSpPr>
        <p:spPr bwMode="auto">
          <a:xfrm>
            <a:off x="2569194" y="3112577"/>
            <a:ext cx="719660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a:spcAft>
                <a:spcPts val="0"/>
              </a:spcAft>
            </a:pPr>
            <a:r>
              <a:rPr lang="en-US" sz="1400" i="1" dirty="0">
                <a:solidFill>
                  <a:srgbClr val="E8ECF1"/>
                </a:solidFill>
                <a:latin typeface="Lucida Calligraphy" panose="03010101010101010101" pitchFamily="66" charset="0"/>
              </a:rPr>
              <a:t>in partial fulfilment of the requirements for the</a:t>
            </a:r>
          </a:p>
        </p:txBody>
      </p:sp>
      <p:sp>
        <p:nvSpPr>
          <p:cNvPr id="7" name="TextBox 6">
            <a:extLst>
              <a:ext uri="{FF2B5EF4-FFF2-40B4-BE49-F238E27FC236}">
                <a16:creationId xmlns:a16="http://schemas.microsoft.com/office/drawing/2014/main" id="{7F264774-C6A0-E8BE-A1DC-FB5A66A2BA1A}"/>
              </a:ext>
            </a:extLst>
          </p:cNvPr>
          <p:cNvSpPr txBox="1"/>
          <p:nvPr/>
        </p:nvSpPr>
        <p:spPr>
          <a:xfrm>
            <a:off x="3033773" y="3429000"/>
            <a:ext cx="6267450" cy="400110"/>
          </a:xfrm>
          <a:prstGeom prst="rect">
            <a:avLst/>
          </a:prstGeom>
          <a:noFill/>
        </p:spPr>
        <p:txBody>
          <a:bodyPr wrap="square">
            <a:spAutoFit/>
          </a:bodyPr>
          <a:lstStyle/>
          <a:p>
            <a:pPr algn="ctr"/>
            <a:r>
              <a:rPr lang="en-US" sz="2000" dirty="0">
                <a:solidFill>
                  <a:schemeClr val="bg1"/>
                </a:solidFill>
              </a:rPr>
              <a:t>RESEARCH MASTER’S DEGREE IN COMPUTER SCIENCE</a:t>
            </a:r>
            <a:endParaRPr lang="zh-CN" altLang="en-US" sz="2000" dirty="0">
              <a:solidFill>
                <a:schemeClr val="bg1"/>
              </a:solidFill>
            </a:endParaRPr>
          </a:p>
        </p:txBody>
      </p:sp>
      <p:sp>
        <p:nvSpPr>
          <p:cNvPr id="11" name="TextBox 10">
            <a:extLst>
              <a:ext uri="{FF2B5EF4-FFF2-40B4-BE49-F238E27FC236}">
                <a16:creationId xmlns:a16="http://schemas.microsoft.com/office/drawing/2014/main" id="{35DB35B1-C058-8741-2F30-DC8C02B29E01}"/>
              </a:ext>
            </a:extLst>
          </p:cNvPr>
          <p:cNvSpPr txBox="1"/>
          <p:nvPr/>
        </p:nvSpPr>
        <p:spPr>
          <a:xfrm>
            <a:off x="7051727" y="4402203"/>
            <a:ext cx="3384376" cy="369332"/>
          </a:xfrm>
          <a:prstGeom prst="rect">
            <a:avLst/>
          </a:prstGeom>
          <a:noFill/>
        </p:spPr>
        <p:txBody>
          <a:bodyPr wrap="square">
            <a:spAutoFit/>
          </a:bodyPr>
          <a:lstStyle/>
          <a:p>
            <a:r>
              <a:rPr lang="en-US" dirty="0">
                <a:solidFill>
                  <a:schemeClr val="bg1"/>
                </a:solidFill>
              </a:rPr>
              <a:t>Supervised by </a:t>
            </a:r>
            <a:r>
              <a:rPr lang="fr-TN" dirty="0">
                <a:solidFill>
                  <a:schemeClr val="bg1"/>
                </a:solidFill>
              </a:rPr>
              <a:t>Dr</a:t>
            </a:r>
            <a:r>
              <a:rPr lang="en-US" dirty="0">
                <a:solidFill>
                  <a:schemeClr val="bg1"/>
                </a:solidFill>
              </a:rPr>
              <a:t>. Maha </a:t>
            </a:r>
            <a:r>
              <a:rPr lang="en-US" dirty="0" err="1">
                <a:solidFill>
                  <a:schemeClr val="bg1"/>
                </a:solidFill>
              </a:rPr>
              <a:t>Khemaja</a:t>
            </a:r>
            <a:r>
              <a:rPr lang="en-US" dirty="0">
                <a:solidFill>
                  <a:schemeClr val="bg1"/>
                </a:solidFill>
              </a:rPr>
              <a:t> </a:t>
            </a:r>
          </a:p>
        </p:txBody>
      </p:sp>
      <p:sp>
        <p:nvSpPr>
          <p:cNvPr id="13" name="TextBox 12">
            <a:extLst>
              <a:ext uri="{FF2B5EF4-FFF2-40B4-BE49-F238E27FC236}">
                <a16:creationId xmlns:a16="http://schemas.microsoft.com/office/drawing/2014/main" id="{7BE5C1CB-7946-F86C-FA8C-CDE055D09733}"/>
              </a:ext>
            </a:extLst>
          </p:cNvPr>
          <p:cNvSpPr txBox="1"/>
          <p:nvPr/>
        </p:nvSpPr>
        <p:spPr>
          <a:xfrm>
            <a:off x="2114249" y="4402203"/>
            <a:ext cx="3024337" cy="369332"/>
          </a:xfrm>
          <a:prstGeom prst="rect">
            <a:avLst/>
          </a:prstGeom>
          <a:noFill/>
        </p:spPr>
        <p:txBody>
          <a:bodyPr wrap="square">
            <a:spAutoFit/>
          </a:bodyPr>
          <a:lstStyle/>
          <a:p>
            <a:r>
              <a:rPr lang="en-US" dirty="0">
                <a:solidFill>
                  <a:schemeClr val="bg1"/>
                </a:solidFill>
              </a:rPr>
              <a:t>Prepared by Akram Ben Fekih</a:t>
            </a:r>
          </a:p>
        </p:txBody>
      </p:sp>
      <p:sp>
        <p:nvSpPr>
          <p:cNvPr id="15" name="TextBox 14">
            <a:extLst>
              <a:ext uri="{FF2B5EF4-FFF2-40B4-BE49-F238E27FC236}">
                <a16:creationId xmlns:a16="http://schemas.microsoft.com/office/drawing/2014/main" id="{CC2AE9BA-CAFA-50C7-455E-42132B5A8D1E}"/>
              </a:ext>
            </a:extLst>
          </p:cNvPr>
          <p:cNvSpPr txBox="1"/>
          <p:nvPr/>
        </p:nvSpPr>
        <p:spPr>
          <a:xfrm>
            <a:off x="4405399" y="5009797"/>
            <a:ext cx="3384376" cy="369332"/>
          </a:xfrm>
          <a:prstGeom prst="rect">
            <a:avLst/>
          </a:prstGeom>
          <a:noFill/>
        </p:spPr>
        <p:txBody>
          <a:bodyPr wrap="square">
            <a:spAutoFit/>
          </a:bodyPr>
          <a:lstStyle/>
          <a:p>
            <a:pPr algn="ctr"/>
            <a:r>
              <a:rPr lang="fr-TN" dirty="0">
                <a:solidFill>
                  <a:schemeClr val="bg1"/>
                </a:solidFill>
              </a:rPr>
              <a:t>Jury:</a:t>
            </a:r>
            <a:r>
              <a:rPr lang="en-US" dirty="0">
                <a:solidFill>
                  <a:schemeClr val="bg1"/>
                </a:solidFill>
              </a:rPr>
              <a:t xml:space="preserve"> ____________________</a:t>
            </a:r>
            <a:endParaRPr lang="en-US" dirty="0">
              <a:solidFill>
                <a:schemeClr val="bg1"/>
              </a:solidFill>
            </a:endParaRPr>
          </a:p>
        </p:txBody>
      </p:sp>
      <p:pic>
        <p:nvPicPr>
          <p:cNvPr id="17" name="Picture 16">
            <a:extLst>
              <a:ext uri="{FF2B5EF4-FFF2-40B4-BE49-F238E27FC236}">
                <a16:creationId xmlns:a16="http://schemas.microsoft.com/office/drawing/2014/main" id="{DF625D6A-16F3-C1F2-1F44-4B8DB895B2EB}"/>
              </a:ext>
            </a:extLst>
          </p:cNvPr>
          <p:cNvPicPr>
            <a:picLocks noChangeAspect="1"/>
          </p:cNvPicPr>
          <p:nvPr/>
        </p:nvPicPr>
        <p:blipFill>
          <a:blip r:embed="rId3"/>
          <a:srcRect/>
          <a:stretch>
            <a:fillRect/>
          </a:stretch>
        </p:blipFill>
        <p:spPr>
          <a:xfrm>
            <a:off x="222403" y="178357"/>
            <a:ext cx="1483004" cy="752374"/>
          </a:xfrm>
          <a:prstGeom prst="rect">
            <a:avLst/>
          </a:prstGeom>
        </p:spPr>
      </p:pic>
      <p:pic>
        <p:nvPicPr>
          <p:cNvPr id="19" name="Picture 18">
            <a:extLst>
              <a:ext uri="{FF2B5EF4-FFF2-40B4-BE49-F238E27FC236}">
                <a16:creationId xmlns:a16="http://schemas.microsoft.com/office/drawing/2014/main" id="{9B34C75E-F665-1968-8724-687035216675}"/>
              </a:ext>
            </a:extLst>
          </p:cNvPr>
          <p:cNvPicPr>
            <a:picLocks noChangeAspect="1"/>
          </p:cNvPicPr>
          <p:nvPr/>
        </p:nvPicPr>
        <p:blipFill>
          <a:blip r:embed="rId4"/>
          <a:srcRect/>
          <a:stretch>
            <a:fillRect/>
          </a:stretch>
        </p:blipFill>
        <p:spPr>
          <a:xfrm>
            <a:off x="5701733" y="114003"/>
            <a:ext cx="791707" cy="939927"/>
          </a:xfrm>
          <a:prstGeom prst="rect">
            <a:avLst/>
          </a:prstGeom>
        </p:spPr>
      </p:pic>
      <p:pic>
        <p:nvPicPr>
          <p:cNvPr id="21" name="Picture 20">
            <a:extLst>
              <a:ext uri="{FF2B5EF4-FFF2-40B4-BE49-F238E27FC236}">
                <a16:creationId xmlns:a16="http://schemas.microsoft.com/office/drawing/2014/main" id="{BF25C3A8-514B-EBB1-66FF-7ED167481FF5}"/>
              </a:ext>
            </a:extLst>
          </p:cNvPr>
          <p:cNvPicPr>
            <a:picLocks noChangeAspect="1"/>
          </p:cNvPicPr>
          <p:nvPr/>
        </p:nvPicPr>
        <p:blipFill>
          <a:blip r:embed="rId5"/>
          <a:srcRect/>
          <a:stretch>
            <a:fillRect/>
          </a:stretch>
        </p:blipFill>
        <p:spPr>
          <a:xfrm>
            <a:off x="10604620" y="88639"/>
            <a:ext cx="1368151" cy="937579"/>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1200">
        <p14:flip dir="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childTnLst>
                                    <p:set>
                                      <p:cBhvr>
                                        <p:cTn id="6" dur="1" fill="hold">
                                          <p:stCondLst>
                                            <p:cond delay="0"/>
                                          </p:stCondLst>
                                        </p:cTn>
                                        <p:tgtEl>
                                          <p:spTgt spid="98"/>
                                        </p:tgtEl>
                                        <p:attrNameLst>
                                          <p:attrName>style.visibility</p:attrName>
                                        </p:attrNameLst>
                                      </p:cBhvr>
                                      <p:to>
                                        <p:strVal val="visible"/>
                                      </p:to>
                                    </p:set>
                                    <p:animEffect transition="in" filter="fade">
                                      <p:cBhvr>
                                        <p:cTn id="7" dur="1000"/>
                                        <p:tgtEl>
                                          <p:spTgt spid="98"/>
                                        </p:tgtEl>
                                      </p:cBhvr>
                                    </p:animEffect>
                                    <p:anim calcmode="lin" valueType="num">
                                      <p:cBhvr>
                                        <p:cTn id="8" dur="1000" fill="hold"/>
                                        <p:tgtEl>
                                          <p:spTgt spid="98"/>
                                        </p:tgtEl>
                                        <p:attrNameLst>
                                          <p:attrName>ppt_x</p:attrName>
                                        </p:attrNameLst>
                                      </p:cBhvr>
                                      <p:tavLst>
                                        <p:tav tm="0">
                                          <p:val>
                                            <p:strVal val="#ppt_x"/>
                                          </p:val>
                                        </p:tav>
                                        <p:tav tm="100000">
                                          <p:val>
                                            <p:strVal val="#ppt_x"/>
                                          </p:val>
                                        </p:tav>
                                      </p:tavLst>
                                    </p:anim>
                                    <p:anim calcmode="lin" valueType="num">
                                      <p:cBhvr>
                                        <p:cTn id="9" dur="1000" fill="hold"/>
                                        <p:tgtEl>
                                          <p:spTgt spid="9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250"/>
                                  </p:stCondLst>
                                  <p:childTnLst>
                                    <p:set>
                                      <p:cBhvr>
                                        <p:cTn id="11" dur="1" fill="hold">
                                          <p:stCondLst>
                                            <p:cond delay="0"/>
                                          </p:stCondLst>
                                        </p:cTn>
                                        <p:tgtEl>
                                          <p:spTgt spid="99"/>
                                        </p:tgtEl>
                                        <p:attrNameLst>
                                          <p:attrName>style.visibility</p:attrName>
                                        </p:attrNameLst>
                                      </p:cBhvr>
                                      <p:to>
                                        <p:strVal val="visible"/>
                                      </p:to>
                                    </p:set>
                                    <p:animEffect transition="in" filter="fade">
                                      <p:cBhvr>
                                        <p:cTn id="12" dur="1000"/>
                                        <p:tgtEl>
                                          <p:spTgt spid="99"/>
                                        </p:tgtEl>
                                      </p:cBhvr>
                                    </p:animEffect>
                                    <p:anim calcmode="lin" valueType="num">
                                      <p:cBhvr>
                                        <p:cTn id="13" dur="1000" fill="hold"/>
                                        <p:tgtEl>
                                          <p:spTgt spid="99"/>
                                        </p:tgtEl>
                                        <p:attrNameLst>
                                          <p:attrName>ppt_x</p:attrName>
                                        </p:attrNameLst>
                                      </p:cBhvr>
                                      <p:tavLst>
                                        <p:tav tm="0">
                                          <p:val>
                                            <p:strVal val="#ppt_x"/>
                                          </p:val>
                                        </p:tav>
                                        <p:tav tm="100000">
                                          <p:val>
                                            <p:strVal val="#ppt_x"/>
                                          </p:val>
                                        </p:tav>
                                      </p:tavLst>
                                    </p:anim>
                                    <p:anim calcmode="lin" valueType="num">
                                      <p:cBhvr>
                                        <p:cTn id="14" dur="1000" fill="hold"/>
                                        <p:tgtEl>
                                          <p:spTgt spid="99"/>
                                        </p:tgtEl>
                                        <p:attrNameLst>
                                          <p:attrName>ppt_y</p:attrName>
                                        </p:attrNameLst>
                                      </p:cBhvr>
                                      <p:tavLst>
                                        <p:tav tm="0">
                                          <p:val>
                                            <p:strVal val="#ppt_y+.1"/>
                                          </p:val>
                                        </p:tav>
                                        <p:tav tm="100000">
                                          <p:val>
                                            <p:strVal val="#ppt_y"/>
                                          </p:val>
                                        </p:tav>
                                      </p:tavLst>
                                    </p:anim>
                                  </p:childTnLst>
                                </p:cTn>
                              </p:par>
                              <p:par>
                                <p:cTn id="15" presetID="52" presetClass="entr" presetSubtype="0" fill="hold" grpId="0" nodeType="withEffect">
                                  <p:stCondLst>
                                    <p:cond delay="500"/>
                                  </p:stCondLst>
                                  <p:iterate type="lt">
                                    <p:tmPct val="10000"/>
                                  </p:iterate>
                                  <p:childTnLst>
                                    <p:set>
                                      <p:cBhvr>
                                        <p:cTn id="16" dur="1" fill="hold">
                                          <p:stCondLst>
                                            <p:cond delay="0"/>
                                          </p:stCondLst>
                                        </p:cTn>
                                        <p:tgtEl>
                                          <p:spTgt spid="132"/>
                                        </p:tgtEl>
                                        <p:attrNameLst>
                                          <p:attrName>style.visibility</p:attrName>
                                        </p:attrNameLst>
                                      </p:cBhvr>
                                      <p:to>
                                        <p:strVal val="visible"/>
                                      </p:to>
                                    </p:set>
                                    <p:animScale>
                                      <p:cBhvr>
                                        <p:cTn id="17" dur="1000" decel="50000" fill="hold">
                                          <p:stCondLst>
                                            <p:cond delay="0"/>
                                          </p:stCondLst>
                                        </p:cTn>
                                        <p:tgtEl>
                                          <p:spTgt spid="132"/>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18" dur="1000" decel="50000" fill="hold">
                                          <p:stCondLst>
                                            <p:cond delay="0"/>
                                          </p:stCondLst>
                                        </p:cTn>
                                        <p:tgtEl>
                                          <p:spTgt spid="132"/>
                                        </p:tgtEl>
                                        <p:attrNameLst>
                                          <p:attrName>ppt_x</p:attrName>
                                          <p:attrName>ppt_y</p:attrName>
                                        </p:attrNameLst>
                                      </p:cBhvr>
                                    </p:animMotion>
                                    <p:animEffect transition="in" filter="fade">
                                      <p:cBhvr>
                                        <p:cTn id="19" dur="1000"/>
                                        <p:tgtEl>
                                          <p:spTgt spid="132"/>
                                        </p:tgtEl>
                                      </p:cBhvr>
                                    </p:animEffect>
                                  </p:childTnLst>
                                </p:cTn>
                              </p:par>
                              <p:par>
                                <p:cTn id="20" presetID="22" presetClass="entr" presetSubtype="8" fill="hold" grpId="0" nodeType="withEffect">
                                  <p:stCondLst>
                                    <p:cond delay="1500"/>
                                  </p:stCondLst>
                                  <p:childTnLst>
                                    <p:set>
                                      <p:cBhvr>
                                        <p:cTn id="21" dur="1" fill="hold">
                                          <p:stCondLst>
                                            <p:cond delay="0"/>
                                          </p:stCondLst>
                                        </p:cTn>
                                        <p:tgtEl>
                                          <p:spTgt spid="134"/>
                                        </p:tgtEl>
                                        <p:attrNameLst>
                                          <p:attrName>style.visibility</p:attrName>
                                        </p:attrNameLst>
                                      </p:cBhvr>
                                      <p:to>
                                        <p:strVal val="visible"/>
                                      </p:to>
                                    </p:set>
                                    <p:animEffect transition="in" filter="wipe(left)">
                                      <p:cBhvr>
                                        <p:cTn id="22" dur="800"/>
                                        <p:tgtEl>
                                          <p:spTgt spid="134"/>
                                        </p:tgtEl>
                                      </p:cBhvr>
                                    </p:animEffect>
                                  </p:childTnLst>
                                </p:cTn>
                              </p:par>
                            </p:childTnLst>
                          </p:cTn>
                        </p:par>
                        <p:par>
                          <p:cTn id="23" fill="hold">
                            <p:stCondLst>
                              <p:cond delay="4200"/>
                            </p:stCondLst>
                            <p:childTnLst>
                              <p:par>
                                <p:cTn id="24" presetID="22" presetClass="entr" presetSubtype="8" fill="hold" grpId="0" nodeType="afterEffect">
                                  <p:stCondLst>
                                    <p:cond delay="0"/>
                                  </p:stCondLst>
                                  <p:childTnLst>
                                    <p:set>
                                      <p:cBhvr>
                                        <p:cTn id="25" dur="1" fill="hold">
                                          <p:stCondLst>
                                            <p:cond delay="0"/>
                                          </p:stCondLst>
                                        </p:cTn>
                                        <p:tgtEl>
                                          <p:spTgt spid="137"/>
                                        </p:tgtEl>
                                        <p:attrNameLst>
                                          <p:attrName>style.visibility</p:attrName>
                                        </p:attrNameLst>
                                      </p:cBhvr>
                                      <p:to>
                                        <p:strVal val="visible"/>
                                      </p:to>
                                    </p:set>
                                    <p:animEffect transition="in" filter="wipe(left)">
                                      <p:cBhvr>
                                        <p:cTn id="26" dur="500"/>
                                        <p:tgtEl>
                                          <p:spTgt spid="137"/>
                                        </p:tgtEl>
                                      </p:cBhvr>
                                    </p:animEffect>
                                  </p:childTnLst>
                                </p:cTn>
                              </p:par>
                            </p:childTnLst>
                          </p:cTn>
                        </p:par>
                        <p:par>
                          <p:cTn id="27" fill="hold">
                            <p:stCondLst>
                              <p:cond delay="4700"/>
                            </p:stCondLst>
                            <p:childTnLst>
                              <p:par>
                                <p:cTn id="28" presetID="10" presetClass="entr" presetSubtype="0" fill="hold" grpId="0" nodeType="afterEffect">
                                  <p:stCondLst>
                                    <p:cond delay="0"/>
                                  </p:stCondLst>
                                  <p:childTnLst>
                                    <p:set>
                                      <p:cBhvr>
                                        <p:cTn id="29" dur="1" fill="hold">
                                          <p:stCondLst>
                                            <p:cond delay="0"/>
                                          </p:stCondLst>
                                        </p:cTn>
                                        <p:tgtEl>
                                          <p:spTgt spid="157"/>
                                        </p:tgtEl>
                                        <p:attrNameLst>
                                          <p:attrName>style.visibility</p:attrName>
                                        </p:attrNameLst>
                                      </p:cBhvr>
                                      <p:to>
                                        <p:strVal val="visible"/>
                                      </p:to>
                                    </p:set>
                                    <p:animEffect transition="in" filter="fade">
                                      <p:cBhvr>
                                        <p:cTn id="30" dur="1250"/>
                                        <p:tgtEl>
                                          <p:spTgt spid="157"/>
                                        </p:tgtEl>
                                      </p:cBhvr>
                                    </p:animEffect>
                                  </p:childTnLst>
                                </p:cTn>
                              </p:par>
                              <p:par>
                                <p:cTn id="31" presetID="22" presetClass="entr" presetSubtype="8" fill="hold" grpId="0" nodeType="withEffect">
                                  <p:stCondLst>
                                    <p:cond delay="1500"/>
                                  </p:stCondLst>
                                  <p:childTnLst>
                                    <p:set>
                                      <p:cBhvr>
                                        <p:cTn id="32" dur="1" fill="hold">
                                          <p:stCondLst>
                                            <p:cond delay="0"/>
                                          </p:stCondLst>
                                        </p:cTn>
                                        <p:tgtEl>
                                          <p:spTgt spid="2"/>
                                        </p:tgtEl>
                                        <p:attrNameLst>
                                          <p:attrName>style.visibility</p:attrName>
                                        </p:attrNameLst>
                                      </p:cBhvr>
                                      <p:to>
                                        <p:strVal val="visible"/>
                                      </p:to>
                                    </p:set>
                                    <p:animEffect transition="in" filter="wipe(left)">
                                      <p:cBhvr>
                                        <p:cTn id="33" dur="8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8" grpId="0" animBg="1"/>
      <p:bldP spid="99" grpId="0" animBg="1"/>
      <p:bldP spid="132" grpId="0"/>
      <p:bldP spid="134" grpId="0"/>
      <p:bldP spid="137" grpId="0"/>
      <p:bldP spid="157" grpId="0"/>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椭圆 30"/>
          <p:cNvSpPr/>
          <p:nvPr/>
        </p:nvSpPr>
        <p:spPr>
          <a:xfrm>
            <a:off x="999918" y="-456465"/>
            <a:ext cx="3728322" cy="3728322"/>
          </a:xfrm>
          <a:prstGeom prst="ellipse">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椭圆 31"/>
          <p:cNvSpPr/>
          <p:nvPr/>
        </p:nvSpPr>
        <p:spPr>
          <a:xfrm>
            <a:off x="1176433" y="-279950"/>
            <a:ext cx="3375292" cy="3375292"/>
          </a:xfrm>
          <a:prstGeom prst="ellipse">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TextBox 32"/>
          <p:cNvSpPr txBox="1"/>
          <p:nvPr/>
        </p:nvSpPr>
        <p:spPr>
          <a:xfrm>
            <a:off x="1005840" y="1051560"/>
            <a:ext cx="3712464" cy="914400"/>
          </a:xfrm>
          <a:prstGeom prst="rect">
            <a:avLst/>
          </a:prstGeom>
          <a:noFill/>
        </p:spPr>
        <p:txBody>
          <a:bodyPr wrap="square" lIns="45720" tIns="27432" rIns="45720" bIns="27432" anchor="ctr">
            <a:spAutoFit/>
          </a:bodyPr>
          <a:lstStyle/>
          <a:p>
            <a:pPr algn="ctr">
              <a:spcAft>
                <a:spcPts val="0"/>
              </a:spcAft>
            </a:pPr>
            <a:r>
              <a:rPr sz="4000" b="1" i="0">
                <a:solidFill>
                  <a:srgbClr val="FFFFFF"/>
                </a:solidFill>
                <a:latin typeface="Arial"/>
              </a:rPr>
              <a:t>Outline</a:t>
            </a:r>
          </a:p>
        </p:txBody>
      </p:sp>
      <p:sp>
        <p:nvSpPr>
          <p:cNvPr id="34" name="TextBox 33"/>
          <p:cNvSpPr txBox="1"/>
          <p:nvPr/>
        </p:nvSpPr>
        <p:spPr>
          <a:xfrm>
            <a:off x="731520" y="5486400"/>
            <a:ext cx="4023360" cy="731520"/>
          </a:xfrm>
          <a:prstGeom prst="rect">
            <a:avLst/>
          </a:prstGeom>
          <a:noFill/>
        </p:spPr>
        <p:txBody>
          <a:bodyPr wrap="square" lIns="45720" tIns="27432" rIns="45720" bIns="27432" anchor="b">
            <a:spAutoFit/>
          </a:bodyPr>
          <a:lstStyle/>
          <a:p>
            <a:pPr algn="l">
              <a:spcAft>
                <a:spcPts val="0"/>
              </a:spcAft>
            </a:pPr>
            <a:r>
              <a:rPr sz="1400" b="1" i="0">
                <a:solidFill>
                  <a:srgbClr val="202A36"/>
                </a:solidFill>
                <a:latin typeface="Arial"/>
              </a:rPr>
              <a:t>Evaluating Coding Agent Quality</a:t>
            </a:r>
          </a:p>
          <a:p>
            <a:pPr algn="l">
              <a:spcAft>
                <a:spcPts val="0"/>
              </a:spcAft>
            </a:pPr>
            <a:r>
              <a:rPr sz="1300" b="0" i="0">
                <a:solidFill>
                  <a:srgbClr val="5C6773"/>
                </a:solidFill>
                <a:latin typeface="Arial"/>
              </a:rPr>
              <a:t>Application to Software Design Principles</a:t>
            </a:r>
          </a:p>
        </p:txBody>
      </p:sp>
      <p:cxnSp>
        <p:nvCxnSpPr>
          <p:cNvPr id="35" name="Connector 34"/>
          <p:cNvCxnSpPr/>
          <p:nvPr/>
        </p:nvCxnSpPr>
        <p:spPr>
          <a:xfrm>
            <a:off x="5257800" y="914400"/>
            <a:ext cx="0" cy="4828032"/>
          </a:xfrm>
          <a:prstGeom prst="line">
            <a:avLst/>
          </a:prstGeom>
          <a:ln w="19050">
            <a:solidFill>
              <a:srgbClr val="8E98A5"/>
            </a:solidFill>
            <a:prstDash val="dash"/>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983480" y="640080"/>
            <a:ext cx="548640" cy="548640"/>
          </a:xfrm>
          <a:prstGeom prst="ellipse">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983480" y="640080"/>
            <a:ext cx="548640" cy="548640"/>
          </a:xfrm>
          <a:prstGeom prst="rect">
            <a:avLst/>
          </a:prstGeom>
          <a:noFill/>
        </p:spPr>
        <p:txBody>
          <a:bodyPr wrap="square" lIns="0" tIns="0" rIns="0" bIns="0" anchor="ctr">
            <a:spAutoFit/>
          </a:bodyPr>
          <a:lstStyle/>
          <a:p>
            <a:pPr algn="ctr">
              <a:spcAft>
                <a:spcPts val="0"/>
              </a:spcAft>
            </a:pPr>
            <a:r>
              <a:rPr sz="1800" b="1" i="0">
                <a:solidFill>
                  <a:srgbClr val="FFFFFF"/>
                </a:solidFill>
                <a:latin typeface="Arial"/>
              </a:rPr>
              <a:t>1</a:t>
            </a:r>
          </a:p>
        </p:txBody>
      </p:sp>
      <p:sp>
        <p:nvSpPr>
          <p:cNvPr id="38" name="TextBox 37"/>
          <p:cNvSpPr txBox="1"/>
          <p:nvPr/>
        </p:nvSpPr>
        <p:spPr>
          <a:xfrm>
            <a:off x="5760720" y="603504"/>
            <a:ext cx="6035040" cy="237744"/>
          </a:xfrm>
          <a:prstGeom prst="rect">
            <a:avLst/>
          </a:prstGeom>
          <a:noFill/>
        </p:spPr>
        <p:txBody>
          <a:bodyPr wrap="square" lIns="18288" tIns="0" rIns="18288" bIns="0" anchor="b">
            <a:spAutoFit/>
          </a:bodyPr>
          <a:lstStyle/>
          <a:p>
            <a:pPr algn="l">
              <a:spcAft>
                <a:spcPts val="0"/>
              </a:spcAft>
            </a:pPr>
            <a:r>
              <a:rPr sz="1100" b="1" i="0">
                <a:solidFill>
                  <a:srgbClr val="1F9C82"/>
                </a:solidFill>
                <a:latin typeface="Arial"/>
              </a:rPr>
              <a:t>PART 01</a:t>
            </a:r>
          </a:p>
        </p:txBody>
      </p:sp>
      <p:sp>
        <p:nvSpPr>
          <p:cNvPr id="39" name="TextBox 38"/>
          <p:cNvSpPr txBox="1"/>
          <p:nvPr/>
        </p:nvSpPr>
        <p:spPr>
          <a:xfrm>
            <a:off x="5760720" y="841248"/>
            <a:ext cx="6126480" cy="365760"/>
          </a:xfrm>
          <a:prstGeom prst="rect">
            <a:avLst/>
          </a:prstGeom>
          <a:noFill/>
        </p:spPr>
        <p:txBody>
          <a:bodyPr wrap="square" lIns="18288" tIns="0" rIns="18288" bIns="0" anchor="t">
            <a:spAutoFit/>
          </a:bodyPr>
          <a:lstStyle/>
          <a:p>
            <a:pPr algn="l">
              <a:spcAft>
                <a:spcPts val="0"/>
              </a:spcAft>
            </a:pPr>
            <a:r>
              <a:rPr sz="1700" b="1" i="0">
                <a:solidFill>
                  <a:srgbClr val="202A36"/>
                </a:solidFill>
                <a:latin typeface="Arial"/>
              </a:rPr>
              <a:t>Context and problem</a:t>
            </a:r>
          </a:p>
        </p:txBody>
      </p:sp>
      <p:sp>
        <p:nvSpPr>
          <p:cNvPr id="40" name="Oval 39"/>
          <p:cNvSpPr/>
          <p:nvPr/>
        </p:nvSpPr>
        <p:spPr>
          <a:xfrm>
            <a:off x="4983480" y="1444752"/>
            <a:ext cx="548640" cy="548640"/>
          </a:xfrm>
          <a:prstGeom prst="ellipse">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83480" y="1444752"/>
            <a:ext cx="548640" cy="548640"/>
          </a:xfrm>
          <a:prstGeom prst="rect">
            <a:avLst/>
          </a:prstGeom>
          <a:noFill/>
        </p:spPr>
        <p:txBody>
          <a:bodyPr wrap="square" lIns="0" tIns="0" rIns="0" bIns="0" anchor="ctr">
            <a:spAutoFit/>
          </a:bodyPr>
          <a:lstStyle/>
          <a:p>
            <a:pPr algn="ctr">
              <a:spcAft>
                <a:spcPts val="0"/>
              </a:spcAft>
            </a:pPr>
            <a:r>
              <a:rPr sz="1800" b="1" i="0">
                <a:solidFill>
                  <a:srgbClr val="FFFFFF"/>
                </a:solidFill>
                <a:latin typeface="Arial"/>
              </a:rPr>
              <a:t>2</a:t>
            </a:r>
          </a:p>
        </p:txBody>
      </p:sp>
      <p:sp>
        <p:nvSpPr>
          <p:cNvPr id="42" name="TextBox 41"/>
          <p:cNvSpPr txBox="1"/>
          <p:nvPr/>
        </p:nvSpPr>
        <p:spPr>
          <a:xfrm>
            <a:off x="5760720" y="1408176"/>
            <a:ext cx="6035040" cy="237744"/>
          </a:xfrm>
          <a:prstGeom prst="rect">
            <a:avLst/>
          </a:prstGeom>
          <a:noFill/>
        </p:spPr>
        <p:txBody>
          <a:bodyPr wrap="square" lIns="18288" tIns="0" rIns="18288" bIns="0" anchor="b">
            <a:spAutoFit/>
          </a:bodyPr>
          <a:lstStyle/>
          <a:p>
            <a:pPr algn="l">
              <a:spcAft>
                <a:spcPts val="0"/>
              </a:spcAft>
            </a:pPr>
            <a:r>
              <a:rPr sz="1100" b="1" i="0">
                <a:solidFill>
                  <a:srgbClr val="1F9C82"/>
                </a:solidFill>
                <a:latin typeface="Arial"/>
              </a:rPr>
              <a:t>PART 02</a:t>
            </a:r>
          </a:p>
        </p:txBody>
      </p:sp>
      <p:sp>
        <p:nvSpPr>
          <p:cNvPr id="43" name="TextBox 42"/>
          <p:cNvSpPr txBox="1"/>
          <p:nvPr/>
        </p:nvSpPr>
        <p:spPr>
          <a:xfrm>
            <a:off x="5760720" y="1645920"/>
            <a:ext cx="6126480" cy="365760"/>
          </a:xfrm>
          <a:prstGeom prst="rect">
            <a:avLst/>
          </a:prstGeom>
          <a:noFill/>
        </p:spPr>
        <p:txBody>
          <a:bodyPr wrap="square" lIns="18288" tIns="0" rIns="18288" bIns="0" anchor="t">
            <a:spAutoFit/>
          </a:bodyPr>
          <a:lstStyle/>
          <a:p>
            <a:pPr algn="l">
              <a:spcAft>
                <a:spcPts val="0"/>
              </a:spcAft>
            </a:pPr>
            <a:r>
              <a:rPr sz="1700" b="1" i="0">
                <a:solidFill>
                  <a:srgbClr val="202A36"/>
                </a:solidFill>
                <a:latin typeface="Arial"/>
              </a:rPr>
              <a:t>State of the art and research questions</a:t>
            </a:r>
          </a:p>
        </p:txBody>
      </p:sp>
      <p:sp>
        <p:nvSpPr>
          <p:cNvPr id="44" name="Oval 43"/>
          <p:cNvSpPr/>
          <p:nvPr/>
        </p:nvSpPr>
        <p:spPr>
          <a:xfrm>
            <a:off x="4983480" y="2249424"/>
            <a:ext cx="548640" cy="548640"/>
          </a:xfrm>
          <a:prstGeom prst="ellipse">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983480" y="2249424"/>
            <a:ext cx="548640" cy="548640"/>
          </a:xfrm>
          <a:prstGeom prst="rect">
            <a:avLst/>
          </a:prstGeom>
          <a:noFill/>
        </p:spPr>
        <p:txBody>
          <a:bodyPr wrap="square" lIns="0" tIns="0" rIns="0" bIns="0" anchor="ctr">
            <a:spAutoFit/>
          </a:bodyPr>
          <a:lstStyle/>
          <a:p>
            <a:pPr algn="ctr">
              <a:spcAft>
                <a:spcPts val="0"/>
              </a:spcAft>
            </a:pPr>
            <a:r>
              <a:rPr sz="1800" b="1" i="0">
                <a:solidFill>
                  <a:srgbClr val="FFFFFF"/>
                </a:solidFill>
                <a:latin typeface="Arial"/>
              </a:rPr>
              <a:t>3</a:t>
            </a:r>
          </a:p>
        </p:txBody>
      </p:sp>
      <p:sp>
        <p:nvSpPr>
          <p:cNvPr id="46" name="TextBox 45"/>
          <p:cNvSpPr txBox="1"/>
          <p:nvPr/>
        </p:nvSpPr>
        <p:spPr>
          <a:xfrm>
            <a:off x="5760720" y="2212848"/>
            <a:ext cx="6035040" cy="237744"/>
          </a:xfrm>
          <a:prstGeom prst="rect">
            <a:avLst/>
          </a:prstGeom>
          <a:noFill/>
        </p:spPr>
        <p:txBody>
          <a:bodyPr wrap="square" lIns="18288" tIns="0" rIns="18288" bIns="0" anchor="b">
            <a:spAutoFit/>
          </a:bodyPr>
          <a:lstStyle/>
          <a:p>
            <a:pPr algn="l">
              <a:spcAft>
                <a:spcPts val="0"/>
              </a:spcAft>
            </a:pPr>
            <a:r>
              <a:rPr sz="1100" b="1" i="0">
                <a:solidFill>
                  <a:srgbClr val="1F9C82"/>
                </a:solidFill>
                <a:latin typeface="Arial"/>
              </a:rPr>
              <a:t>PART 03</a:t>
            </a:r>
          </a:p>
        </p:txBody>
      </p:sp>
      <p:sp>
        <p:nvSpPr>
          <p:cNvPr id="47" name="TextBox 46"/>
          <p:cNvSpPr txBox="1"/>
          <p:nvPr/>
        </p:nvSpPr>
        <p:spPr>
          <a:xfrm>
            <a:off x="5760720" y="2450592"/>
            <a:ext cx="6126480" cy="365760"/>
          </a:xfrm>
          <a:prstGeom prst="rect">
            <a:avLst/>
          </a:prstGeom>
          <a:noFill/>
        </p:spPr>
        <p:txBody>
          <a:bodyPr wrap="square" lIns="18288" tIns="0" rIns="18288" bIns="0" anchor="t">
            <a:spAutoFit/>
          </a:bodyPr>
          <a:lstStyle/>
          <a:p>
            <a:pPr algn="l">
              <a:spcAft>
                <a:spcPts val="0"/>
              </a:spcAft>
            </a:pPr>
            <a:r>
              <a:rPr sz="1700" b="1" i="0">
                <a:solidFill>
                  <a:srgbClr val="202A36"/>
                </a:solidFill>
                <a:latin typeface="Arial"/>
              </a:rPr>
              <a:t>Method: corpus, pipeline, before/after delta</a:t>
            </a:r>
          </a:p>
        </p:txBody>
      </p:sp>
      <p:sp>
        <p:nvSpPr>
          <p:cNvPr id="48" name="Oval 47"/>
          <p:cNvSpPr/>
          <p:nvPr/>
        </p:nvSpPr>
        <p:spPr>
          <a:xfrm>
            <a:off x="4983480" y="3054096"/>
            <a:ext cx="548640" cy="548640"/>
          </a:xfrm>
          <a:prstGeom prst="ellipse">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983480" y="3054096"/>
            <a:ext cx="548640" cy="548640"/>
          </a:xfrm>
          <a:prstGeom prst="rect">
            <a:avLst/>
          </a:prstGeom>
          <a:noFill/>
        </p:spPr>
        <p:txBody>
          <a:bodyPr wrap="square" lIns="0" tIns="0" rIns="0" bIns="0" anchor="ctr">
            <a:spAutoFit/>
          </a:bodyPr>
          <a:lstStyle/>
          <a:p>
            <a:pPr algn="ctr">
              <a:spcAft>
                <a:spcPts val="0"/>
              </a:spcAft>
            </a:pPr>
            <a:r>
              <a:rPr sz="1800" b="1" i="0">
                <a:solidFill>
                  <a:srgbClr val="FFFFFF"/>
                </a:solidFill>
                <a:latin typeface="Arial"/>
              </a:rPr>
              <a:t>4</a:t>
            </a:r>
          </a:p>
        </p:txBody>
      </p:sp>
      <p:sp>
        <p:nvSpPr>
          <p:cNvPr id="50" name="TextBox 49"/>
          <p:cNvSpPr txBox="1"/>
          <p:nvPr/>
        </p:nvSpPr>
        <p:spPr>
          <a:xfrm>
            <a:off x="5760720" y="3017520"/>
            <a:ext cx="6035040" cy="237744"/>
          </a:xfrm>
          <a:prstGeom prst="rect">
            <a:avLst/>
          </a:prstGeom>
          <a:noFill/>
        </p:spPr>
        <p:txBody>
          <a:bodyPr wrap="square" lIns="18288" tIns="0" rIns="18288" bIns="0" anchor="b">
            <a:spAutoFit/>
          </a:bodyPr>
          <a:lstStyle/>
          <a:p>
            <a:pPr algn="l">
              <a:spcAft>
                <a:spcPts val="0"/>
              </a:spcAft>
            </a:pPr>
            <a:r>
              <a:rPr sz="1100" b="1" i="0">
                <a:solidFill>
                  <a:srgbClr val="1F9C82"/>
                </a:solidFill>
                <a:latin typeface="Arial"/>
              </a:rPr>
              <a:t>PART 04</a:t>
            </a:r>
          </a:p>
        </p:txBody>
      </p:sp>
      <p:sp>
        <p:nvSpPr>
          <p:cNvPr id="51" name="TextBox 50"/>
          <p:cNvSpPr txBox="1"/>
          <p:nvPr/>
        </p:nvSpPr>
        <p:spPr>
          <a:xfrm>
            <a:off x="5760720" y="3255264"/>
            <a:ext cx="6126480" cy="365760"/>
          </a:xfrm>
          <a:prstGeom prst="rect">
            <a:avLst/>
          </a:prstGeom>
          <a:noFill/>
        </p:spPr>
        <p:txBody>
          <a:bodyPr wrap="square" lIns="18288" tIns="0" rIns="18288" bIns="0" anchor="t">
            <a:spAutoFit/>
          </a:bodyPr>
          <a:lstStyle/>
          <a:p>
            <a:pPr algn="l">
              <a:spcAft>
                <a:spcPts val="0"/>
              </a:spcAft>
            </a:pPr>
            <a:r>
              <a:rPr sz="1700" b="1" i="0">
                <a:solidFill>
                  <a:srgbClr val="202A36"/>
                </a:solidFill>
                <a:latin typeface="Arial"/>
              </a:rPr>
              <a:t>The five SOLID principles and their proxies</a:t>
            </a:r>
          </a:p>
        </p:txBody>
      </p:sp>
      <p:sp>
        <p:nvSpPr>
          <p:cNvPr id="52" name="Oval 51"/>
          <p:cNvSpPr/>
          <p:nvPr/>
        </p:nvSpPr>
        <p:spPr>
          <a:xfrm>
            <a:off x="4983480" y="3858768"/>
            <a:ext cx="548640" cy="548640"/>
          </a:xfrm>
          <a:prstGeom prst="ellipse">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983480" y="3858768"/>
            <a:ext cx="548640" cy="548640"/>
          </a:xfrm>
          <a:prstGeom prst="rect">
            <a:avLst/>
          </a:prstGeom>
          <a:noFill/>
        </p:spPr>
        <p:txBody>
          <a:bodyPr wrap="square" lIns="0" tIns="0" rIns="0" bIns="0" anchor="ctr">
            <a:spAutoFit/>
          </a:bodyPr>
          <a:lstStyle/>
          <a:p>
            <a:pPr algn="ctr">
              <a:spcAft>
                <a:spcPts val="0"/>
              </a:spcAft>
            </a:pPr>
            <a:r>
              <a:rPr sz="1800" b="1" i="0">
                <a:solidFill>
                  <a:srgbClr val="FFFFFF"/>
                </a:solidFill>
                <a:latin typeface="Arial"/>
              </a:rPr>
              <a:t>5</a:t>
            </a:r>
          </a:p>
        </p:txBody>
      </p:sp>
      <p:sp>
        <p:nvSpPr>
          <p:cNvPr id="54" name="TextBox 53"/>
          <p:cNvSpPr txBox="1"/>
          <p:nvPr/>
        </p:nvSpPr>
        <p:spPr>
          <a:xfrm>
            <a:off x="5760720" y="3822192"/>
            <a:ext cx="6035040" cy="237744"/>
          </a:xfrm>
          <a:prstGeom prst="rect">
            <a:avLst/>
          </a:prstGeom>
          <a:noFill/>
        </p:spPr>
        <p:txBody>
          <a:bodyPr wrap="square" lIns="18288" tIns="0" rIns="18288" bIns="0" anchor="b">
            <a:spAutoFit/>
          </a:bodyPr>
          <a:lstStyle/>
          <a:p>
            <a:pPr algn="l">
              <a:spcAft>
                <a:spcPts val="0"/>
              </a:spcAft>
            </a:pPr>
            <a:r>
              <a:rPr sz="1100" b="1" i="0">
                <a:solidFill>
                  <a:srgbClr val="1F9C82"/>
                </a:solidFill>
                <a:latin typeface="Arial"/>
              </a:rPr>
              <a:t>PART 05</a:t>
            </a:r>
          </a:p>
        </p:txBody>
      </p:sp>
      <p:sp>
        <p:nvSpPr>
          <p:cNvPr id="55" name="TextBox 54"/>
          <p:cNvSpPr txBox="1"/>
          <p:nvPr/>
        </p:nvSpPr>
        <p:spPr>
          <a:xfrm>
            <a:off x="5760720" y="4059936"/>
            <a:ext cx="6126480" cy="365760"/>
          </a:xfrm>
          <a:prstGeom prst="rect">
            <a:avLst/>
          </a:prstGeom>
          <a:noFill/>
        </p:spPr>
        <p:txBody>
          <a:bodyPr wrap="square" lIns="18288" tIns="0" rIns="18288" bIns="0" anchor="t">
            <a:spAutoFit/>
          </a:bodyPr>
          <a:lstStyle/>
          <a:p>
            <a:pPr algn="l">
              <a:spcAft>
                <a:spcPts val="0"/>
              </a:spcAft>
            </a:pPr>
            <a:r>
              <a:rPr sz="1700" b="1" i="0">
                <a:solidFill>
                  <a:srgbClr val="202A36"/>
                </a:solidFill>
                <a:latin typeface="Arial"/>
              </a:rPr>
              <a:t>Validation</a:t>
            </a:r>
          </a:p>
        </p:txBody>
      </p:sp>
      <p:sp>
        <p:nvSpPr>
          <p:cNvPr id="56" name="Oval 55"/>
          <p:cNvSpPr/>
          <p:nvPr/>
        </p:nvSpPr>
        <p:spPr>
          <a:xfrm>
            <a:off x="4983480" y="4663440"/>
            <a:ext cx="548640" cy="548640"/>
          </a:xfrm>
          <a:prstGeom prst="ellipse">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983480" y="4663440"/>
            <a:ext cx="548640" cy="548640"/>
          </a:xfrm>
          <a:prstGeom prst="rect">
            <a:avLst/>
          </a:prstGeom>
          <a:noFill/>
        </p:spPr>
        <p:txBody>
          <a:bodyPr wrap="square" lIns="0" tIns="0" rIns="0" bIns="0" anchor="ctr">
            <a:spAutoFit/>
          </a:bodyPr>
          <a:lstStyle/>
          <a:p>
            <a:pPr algn="ctr">
              <a:spcAft>
                <a:spcPts val="0"/>
              </a:spcAft>
            </a:pPr>
            <a:r>
              <a:rPr sz="1800" b="1" i="0">
                <a:solidFill>
                  <a:srgbClr val="FFFFFF"/>
                </a:solidFill>
                <a:latin typeface="Arial"/>
              </a:rPr>
              <a:t>6</a:t>
            </a:r>
          </a:p>
        </p:txBody>
      </p:sp>
      <p:sp>
        <p:nvSpPr>
          <p:cNvPr id="58" name="TextBox 57"/>
          <p:cNvSpPr txBox="1"/>
          <p:nvPr/>
        </p:nvSpPr>
        <p:spPr>
          <a:xfrm>
            <a:off x="5760720" y="4626864"/>
            <a:ext cx="6035040" cy="237744"/>
          </a:xfrm>
          <a:prstGeom prst="rect">
            <a:avLst/>
          </a:prstGeom>
          <a:noFill/>
        </p:spPr>
        <p:txBody>
          <a:bodyPr wrap="square" lIns="18288" tIns="0" rIns="18288" bIns="0" anchor="b">
            <a:spAutoFit/>
          </a:bodyPr>
          <a:lstStyle/>
          <a:p>
            <a:pPr algn="l">
              <a:spcAft>
                <a:spcPts val="0"/>
              </a:spcAft>
            </a:pPr>
            <a:r>
              <a:rPr sz="1100" b="1" i="0">
                <a:solidFill>
                  <a:srgbClr val="1F9C82"/>
                </a:solidFill>
                <a:latin typeface="Arial"/>
              </a:rPr>
              <a:t>PART 06</a:t>
            </a:r>
          </a:p>
        </p:txBody>
      </p:sp>
      <p:sp>
        <p:nvSpPr>
          <p:cNvPr id="59" name="TextBox 58"/>
          <p:cNvSpPr txBox="1"/>
          <p:nvPr/>
        </p:nvSpPr>
        <p:spPr>
          <a:xfrm>
            <a:off x="5760720" y="4864608"/>
            <a:ext cx="6126480" cy="365760"/>
          </a:xfrm>
          <a:prstGeom prst="rect">
            <a:avLst/>
          </a:prstGeom>
          <a:noFill/>
        </p:spPr>
        <p:txBody>
          <a:bodyPr wrap="square" lIns="18288" tIns="0" rIns="18288" bIns="0" anchor="t">
            <a:spAutoFit/>
          </a:bodyPr>
          <a:lstStyle/>
          <a:p>
            <a:pPr algn="l">
              <a:spcAft>
                <a:spcPts val="0"/>
              </a:spcAft>
            </a:pPr>
            <a:r>
              <a:rPr sz="1700" b="1" i="0">
                <a:solidFill>
                  <a:srgbClr val="202A36"/>
                </a:solidFill>
                <a:latin typeface="Arial"/>
              </a:rPr>
              <a:t>Results per agent and per language</a:t>
            </a:r>
          </a:p>
        </p:txBody>
      </p:sp>
      <p:sp>
        <p:nvSpPr>
          <p:cNvPr id="60" name="Oval 59"/>
          <p:cNvSpPr/>
          <p:nvPr/>
        </p:nvSpPr>
        <p:spPr>
          <a:xfrm>
            <a:off x="4983480" y="5468112"/>
            <a:ext cx="548640" cy="548640"/>
          </a:xfrm>
          <a:prstGeom prst="ellipse">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983480" y="5468112"/>
            <a:ext cx="548640" cy="548640"/>
          </a:xfrm>
          <a:prstGeom prst="rect">
            <a:avLst/>
          </a:prstGeom>
          <a:noFill/>
        </p:spPr>
        <p:txBody>
          <a:bodyPr wrap="square" lIns="0" tIns="0" rIns="0" bIns="0" anchor="ctr">
            <a:spAutoFit/>
          </a:bodyPr>
          <a:lstStyle/>
          <a:p>
            <a:pPr algn="ctr">
              <a:spcAft>
                <a:spcPts val="0"/>
              </a:spcAft>
            </a:pPr>
            <a:r>
              <a:rPr sz="1800" b="1" i="0">
                <a:solidFill>
                  <a:srgbClr val="FFFFFF"/>
                </a:solidFill>
                <a:latin typeface="Arial"/>
              </a:rPr>
              <a:t>7</a:t>
            </a:r>
          </a:p>
        </p:txBody>
      </p:sp>
      <p:sp>
        <p:nvSpPr>
          <p:cNvPr id="62" name="TextBox 61"/>
          <p:cNvSpPr txBox="1"/>
          <p:nvPr/>
        </p:nvSpPr>
        <p:spPr>
          <a:xfrm>
            <a:off x="5760720" y="5431536"/>
            <a:ext cx="6035040" cy="237744"/>
          </a:xfrm>
          <a:prstGeom prst="rect">
            <a:avLst/>
          </a:prstGeom>
          <a:noFill/>
        </p:spPr>
        <p:txBody>
          <a:bodyPr wrap="square" lIns="18288" tIns="0" rIns="18288" bIns="0" anchor="b">
            <a:spAutoFit/>
          </a:bodyPr>
          <a:lstStyle/>
          <a:p>
            <a:pPr algn="l">
              <a:spcAft>
                <a:spcPts val="0"/>
              </a:spcAft>
            </a:pPr>
            <a:r>
              <a:rPr sz="1100" b="1" i="0">
                <a:solidFill>
                  <a:srgbClr val="1F9C82"/>
                </a:solidFill>
                <a:latin typeface="Arial"/>
              </a:rPr>
              <a:t>PART 07</a:t>
            </a:r>
          </a:p>
        </p:txBody>
      </p:sp>
      <p:sp>
        <p:nvSpPr>
          <p:cNvPr id="63" name="TextBox 62"/>
          <p:cNvSpPr txBox="1"/>
          <p:nvPr/>
        </p:nvSpPr>
        <p:spPr>
          <a:xfrm>
            <a:off x="5760720" y="5669280"/>
            <a:ext cx="6126480" cy="365760"/>
          </a:xfrm>
          <a:prstGeom prst="rect">
            <a:avLst/>
          </a:prstGeom>
          <a:noFill/>
        </p:spPr>
        <p:txBody>
          <a:bodyPr wrap="square" lIns="18288" tIns="0" rIns="18288" bIns="0" anchor="t">
            <a:spAutoFit/>
          </a:bodyPr>
          <a:lstStyle/>
          <a:p>
            <a:pPr algn="l">
              <a:spcAft>
                <a:spcPts val="0"/>
              </a:spcAft>
            </a:pPr>
            <a:r>
              <a:rPr sz="1700" b="1" i="0">
                <a:solidFill>
                  <a:srgbClr val="202A36"/>
                </a:solidFill>
                <a:latin typeface="Arial"/>
              </a:rPr>
              <a:t>Findings, conclusions, limitations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6" name="组合 55"/>
          <p:cNvGrpSpPr/>
          <p:nvPr/>
        </p:nvGrpSpPr>
        <p:grpSpPr>
          <a:xfrm>
            <a:off x="2052459" y="1413384"/>
            <a:ext cx="2036802" cy="2036802"/>
            <a:chOff x="8125599" y="1434035"/>
            <a:chExt cx="2036802" cy="2036802"/>
          </a:xfrm>
        </p:grpSpPr>
        <p:sp>
          <p:nvSpPr>
            <p:cNvPr id="57" name="椭圆 56"/>
            <p:cNvSpPr/>
            <p:nvPr/>
          </p:nvSpPr>
          <p:spPr>
            <a:xfrm>
              <a:off x="8125599" y="1434035"/>
              <a:ext cx="2036802" cy="2036802"/>
            </a:xfrm>
            <a:prstGeom prst="ellipse">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Freeform 261"/>
            <p:cNvSpPr/>
            <p:nvPr/>
          </p:nvSpPr>
          <p:spPr bwMode="auto">
            <a:xfrm>
              <a:off x="8628544" y="1966960"/>
              <a:ext cx="1000932" cy="1000932"/>
            </a:xfrm>
            <a:custGeom>
              <a:avLst/>
              <a:gdLst>
                <a:gd name="T0" fmla="*/ 84 w 86"/>
                <a:gd name="T1" fmla="*/ 13 h 86"/>
                <a:gd name="T2" fmla="*/ 74 w 86"/>
                <a:gd name="T3" fmla="*/ 1 h 86"/>
                <a:gd name="T4" fmla="*/ 72 w 86"/>
                <a:gd name="T5" fmla="*/ 1 h 86"/>
                <a:gd name="T6" fmla="*/ 71 w 86"/>
                <a:gd name="T7" fmla="*/ 1 h 86"/>
                <a:gd name="T8" fmla="*/ 69 w 86"/>
                <a:gd name="T9" fmla="*/ 4 h 86"/>
                <a:gd name="T10" fmla="*/ 69 w 86"/>
                <a:gd name="T11" fmla="*/ 10 h 86"/>
                <a:gd name="T12" fmla="*/ 59 w 86"/>
                <a:gd name="T13" fmla="*/ 10 h 86"/>
                <a:gd name="T14" fmla="*/ 59 w 86"/>
                <a:gd name="T15" fmla="*/ 1 h 86"/>
                <a:gd name="T16" fmla="*/ 58 w 86"/>
                <a:gd name="T17" fmla="*/ 0 h 86"/>
                <a:gd name="T18" fmla="*/ 46 w 86"/>
                <a:gd name="T19" fmla="*/ 0 h 86"/>
                <a:gd name="T20" fmla="*/ 45 w 86"/>
                <a:gd name="T21" fmla="*/ 1 h 86"/>
                <a:gd name="T22" fmla="*/ 45 w 86"/>
                <a:gd name="T23" fmla="*/ 10 h 86"/>
                <a:gd name="T24" fmla="*/ 44 w 86"/>
                <a:gd name="T25" fmla="*/ 13 h 86"/>
                <a:gd name="T26" fmla="*/ 44 w 86"/>
                <a:gd name="T27" fmla="*/ 21 h 86"/>
                <a:gd name="T28" fmla="*/ 45 w 86"/>
                <a:gd name="T29" fmla="*/ 24 h 86"/>
                <a:gd name="T30" fmla="*/ 45 w 86"/>
                <a:gd name="T31" fmla="*/ 27 h 86"/>
                <a:gd name="T32" fmla="*/ 37 w 86"/>
                <a:gd name="T33" fmla="*/ 27 h 86"/>
                <a:gd name="T34" fmla="*/ 37 w 86"/>
                <a:gd name="T35" fmla="*/ 21 h 86"/>
                <a:gd name="T36" fmla="*/ 34 w 86"/>
                <a:gd name="T37" fmla="*/ 18 h 86"/>
                <a:gd name="T38" fmla="*/ 32 w 86"/>
                <a:gd name="T39" fmla="*/ 18 h 86"/>
                <a:gd name="T40" fmla="*/ 29 w 86"/>
                <a:gd name="T41" fmla="*/ 18 h 86"/>
                <a:gd name="T42" fmla="*/ 3 w 86"/>
                <a:gd name="T43" fmla="*/ 30 h 86"/>
                <a:gd name="T44" fmla="*/ 0 w 86"/>
                <a:gd name="T45" fmla="*/ 34 h 86"/>
                <a:gd name="T46" fmla="*/ 3 w 86"/>
                <a:gd name="T47" fmla="*/ 38 h 86"/>
                <a:gd name="T48" fmla="*/ 29 w 86"/>
                <a:gd name="T49" fmla="*/ 50 h 86"/>
                <a:gd name="T50" fmla="*/ 31 w 86"/>
                <a:gd name="T51" fmla="*/ 51 h 86"/>
                <a:gd name="T52" fmla="*/ 34 w 86"/>
                <a:gd name="T53" fmla="*/ 50 h 86"/>
                <a:gd name="T54" fmla="*/ 37 w 86"/>
                <a:gd name="T55" fmla="*/ 47 h 86"/>
                <a:gd name="T56" fmla="*/ 37 w 86"/>
                <a:gd name="T57" fmla="*/ 42 h 86"/>
                <a:gd name="T58" fmla="*/ 45 w 86"/>
                <a:gd name="T59" fmla="*/ 42 h 86"/>
                <a:gd name="T60" fmla="*/ 45 w 86"/>
                <a:gd name="T61" fmla="*/ 85 h 86"/>
                <a:gd name="T62" fmla="*/ 46 w 86"/>
                <a:gd name="T63" fmla="*/ 86 h 86"/>
                <a:gd name="T64" fmla="*/ 58 w 86"/>
                <a:gd name="T65" fmla="*/ 86 h 86"/>
                <a:gd name="T66" fmla="*/ 59 w 86"/>
                <a:gd name="T67" fmla="*/ 85 h 86"/>
                <a:gd name="T68" fmla="*/ 59 w 86"/>
                <a:gd name="T69" fmla="*/ 41 h 86"/>
                <a:gd name="T70" fmla="*/ 62 w 86"/>
                <a:gd name="T71" fmla="*/ 38 h 86"/>
                <a:gd name="T72" fmla="*/ 62 w 86"/>
                <a:gd name="T73" fmla="*/ 30 h 86"/>
                <a:gd name="T74" fmla="*/ 59 w 86"/>
                <a:gd name="T75" fmla="*/ 27 h 86"/>
                <a:gd name="T76" fmla="*/ 59 w 86"/>
                <a:gd name="T77" fmla="*/ 25 h 86"/>
                <a:gd name="T78" fmla="*/ 69 w 86"/>
                <a:gd name="T79" fmla="*/ 25 h 86"/>
                <a:gd name="T80" fmla="*/ 69 w 86"/>
                <a:gd name="T81" fmla="*/ 30 h 86"/>
                <a:gd name="T82" fmla="*/ 71 w 86"/>
                <a:gd name="T83" fmla="*/ 33 h 86"/>
                <a:gd name="T84" fmla="*/ 73 w 86"/>
                <a:gd name="T85" fmla="*/ 34 h 86"/>
                <a:gd name="T86" fmla="*/ 74 w 86"/>
                <a:gd name="T87" fmla="*/ 33 h 86"/>
                <a:gd name="T88" fmla="*/ 84 w 86"/>
                <a:gd name="T89" fmla="*/ 21 h 86"/>
                <a:gd name="T90" fmla="*/ 86 w 86"/>
                <a:gd name="T91" fmla="*/ 17 h 86"/>
                <a:gd name="T92" fmla="*/ 84 w 86"/>
                <a:gd name="T93" fmla="*/ 13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86" h="86">
                  <a:moveTo>
                    <a:pt x="84" y="13"/>
                  </a:moveTo>
                  <a:cubicBezTo>
                    <a:pt x="74" y="1"/>
                    <a:pt x="74" y="1"/>
                    <a:pt x="74" y="1"/>
                  </a:cubicBezTo>
                  <a:cubicBezTo>
                    <a:pt x="73" y="1"/>
                    <a:pt x="73" y="1"/>
                    <a:pt x="72" y="1"/>
                  </a:cubicBezTo>
                  <a:cubicBezTo>
                    <a:pt x="72" y="1"/>
                    <a:pt x="71" y="1"/>
                    <a:pt x="71" y="1"/>
                  </a:cubicBezTo>
                  <a:cubicBezTo>
                    <a:pt x="70" y="2"/>
                    <a:pt x="69" y="3"/>
                    <a:pt x="69" y="4"/>
                  </a:cubicBezTo>
                  <a:cubicBezTo>
                    <a:pt x="69" y="10"/>
                    <a:pt x="69" y="10"/>
                    <a:pt x="69" y="10"/>
                  </a:cubicBezTo>
                  <a:cubicBezTo>
                    <a:pt x="59" y="10"/>
                    <a:pt x="59" y="10"/>
                    <a:pt x="59" y="10"/>
                  </a:cubicBezTo>
                  <a:cubicBezTo>
                    <a:pt x="59" y="1"/>
                    <a:pt x="59" y="1"/>
                    <a:pt x="59" y="1"/>
                  </a:cubicBezTo>
                  <a:cubicBezTo>
                    <a:pt x="59" y="1"/>
                    <a:pt x="59" y="0"/>
                    <a:pt x="58" y="0"/>
                  </a:cubicBezTo>
                  <a:cubicBezTo>
                    <a:pt x="46" y="0"/>
                    <a:pt x="46" y="0"/>
                    <a:pt x="46" y="0"/>
                  </a:cubicBezTo>
                  <a:cubicBezTo>
                    <a:pt x="45" y="0"/>
                    <a:pt x="45" y="1"/>
                    <a:pt x="45" y="1"/>
                  </a:cubicBezTo>
                  <a:cubicBezTo>
                    <a:pt x="45" y="10"/>
                    <a:pt x="45" y="10"/>
                    <a:pt x="45" y="10"/>
                  </a:cubicBezTo>
                  <a:cubicBezTo>
                    <a:pt x="44" y="11"/>
                    <a:pt x="44" y="12"/>
                    <a:pt x="44" y="13"/>
                  </a:cubicBezTo>
                  <a:cubicBezTo>
                    <a:pt x="44" y="21"/>
                    <a:pt x="44" y="21"/>
                    <a:pt x="44" y="21"/>
                  </a:cubicBezTo>
                  <a:cubicBezTo>
                    <a:pt x="44" y="22"/>
                    <a:pt x="44" y="23"/>
                    <a:pt x="45" y="24"/>
                  </a:cubicBezTo>
                  <a:cubicBezTo>
                    <a:pt x="45" y="27"/>
                    <a:pt x="45" y="27"/>
                    <a:pt x="45" y="27"/>
                  </a:cubicBezTo>
                  <a:cubicBezTo>
                    <a:pt x="37" y="27"/>
                    <a:pt x="37" y="27"/>
                    <a:pt x="37" y="27"/>
                  </a:cubicBezTo>
                  <a:cubicBezTo>
                    <a:pt x="37" y="21"/>
                    <a:pt x="37" y="21"/>
                    <a:pt x="37" y="21"/>
                  </a:cubicBezTo>
                  <a:cubicBezTo>
                    <a:pt x="37" y="20"/>
                    <a:pt x="36" y="19"/>
                    <a:pt x="34" y="18"/>
                  </a:cubicBezTo>
                  <a:cubicBezTo>
                    <a:pt x="34" y="18"/>
                    <a:pt x="33" y="18"/>
                    <a:pt x="32" y="18"/>
                  </a:cubicBezTo>
                  <a:cubicBezTo>
                    <a:pt x="31" y="18"/>
                    <a:pt x="30" y="18"/>
                    <a:pt x="29" y="18"/>
                  </a:cubicBezTo>
                  <a:cubicBezTo>
                    <a:pt x="3" y="30"/>
                    <a:pt x="3" y="30"/>
                    <a:pt x="3" y="30"/>
                  </a:cubicBezTo>
                  <a:cubicBezTo>
                    <a:pt x="1" y="31"/>
                    <a:pt x="0" y="33"/>
                    <a:pt x="0" y="34"/>
                  </a:cubicBezTo>
                  <a:cubicBezTo>
                    <a:pt x="0" y="36"/>
                    <a:pt x="1" y="38"/>
                    <a:pt x="3" y="38"/>
                  </a:cubicBezTo>
                  <a:cubicBezTo>
                    <a:pt x="29" y="50"/>
                    <a:pt x="29" y="50"/>
                    <a:pt x="29" y="50"/>
                  </a:cubicBezTo>
                  <a:cubicBezTo>
                    <a:pt x="29" y="51"/>
                    <a:pt x="30" y="51"/>
                    <a:pt x="31" y="51"/>
                  </a:cubicBezTo>
                  <a:cubicBezTo>
                    <a:pt x="32" y="51"/>
                    <a:pt x="33" y="51"/>
                    <a:pt x="34" y="50"/>
                  </a:cubicBezTo>
                  <a:cubicBezTo>
                    <a:pt x="36" y="50"/>
                    <a:pt x="37" y="48"/>
                    <a:pt x="37" y="47"/>
                  </a:cubicBezTo>
                  <a:cubicBezTo>
                    <a:pt x="37" y="42"/>
                    <a:pt x="37" y="42"/>
                    <a:pt x="37" y="42"/>
                  </a:cubicBezTo>
                  <a:cubicBezTo>
                    <a:pt x="45" y="42"/>
                    <a:pt x="45" y="42"/>
                    <a:pt x="45" y="42"/>
                  </a:cubicBezTo>
                  <a:cubicBezTo>
                    <a:pt x="45" y="85"/>
                    <a:pt x="45" y="85"/>
                    <a:pt x="45" y="85"/>
                  </a:cubicBezTo>
                  <a:cubicBezTo>
                    <a:pt x="45" y="86"/>
                    <a:pt x="45" y="86"/>
                    <a:pt x="46" y="86"/>
                  </a:cubicBezTo>
                  <a:cubicBezTo>
                    <a:pt x="58" y="86"/>
                    <a:pt x="58" y="86"/>
                    <a:pt x="58" y="86"/>
                  </a:cubicBezTo>
                  <a:cubicBezTo>
                    <a:pt x="59" y="86"/>
                    <a:pt x="59" y="86"/>
                    <a:pt x="59" y="85"/>
                  </a:cubicBezTo>
                  <a:cubicBezTo>
                    <a:pt x="59" y="41"/>
                    <a:pt x="59" y="41"/>
                    <a:pt x="59" y="41"/>
                  </a:cubicBezTo>
                  <a:cubicBezTo>
                    <a:pt x="61" y="41"/>
                    <a:pt x="62" y="40"/>
                    <a:pt x="62" y="38"/>
                  </a:cubicBezTo>
                  <a:cubicBezTo>
                    <a:pt x="62" y="30"/>
                    <a:pt x="62" y="30"/>
                    <a:pt x="62" y="30"/>
                  </a:cubicBezTo>
                  <a:cubicBezTo>
                    <a:pt x="62" y="29"/>
                    <a:pt x="61" y="28"/>
                    <a:pt x="59" y="27"/>
                  </a:cubicBezTo>
                  <a:cubicBezTo>
                    <a:pt x="59" y="25"/>
                    <a:pt x="59" y="25"/>
                    <a:pt x="59" y="25"/>
                  </a:cubicBezTo>
                  <a:cubicBezTo>
                    <a:pt x="69" y="25"/>
                    <a:pt x="69" y="25"/>
                    <a:pt x="69" y="25"/>
                  </a:cubicBezTo>
                  <a:cubicBezTo>
                    <a:pt x="69" y="30"/>
                    <a:pt x="69" y="30"/>
                    <a:pt x="69" y="30"/>
                  </a:cubicBezTo>
                  <a:cubicBezTo>
                    <a:pt x="69" y="31"/>
                    <a:pt x="70" y="33"/>
                    <a:pt x="71" y="33"/>
                  </a:cubicBezTo>
                  <a:cubicBezTo>
                    <a:pt x="71" y="34"/>
                    <a:pt x="72" y="34"/>
                    <a:pt x="73" y="34"/>
                  </a:cubicBezTo>
                  <a:cubicBezTo>
                    <a:pt x="73" y="34"/>
                    <a:pt x="74" y="34"/>
                    <a:pt x="74" y="33"/>
                  </a:cubicBezTo>
                  <a:cubicBezTo>
                    <a:pt x="84" y="21"/>
                    <a:pt x="84" y="21"/>
                    <a:pt x="84" y="21"/>
                  </a:cubicBezTo>
                  <a:cubicBezTo>
                    <a:pt x="85" y="21"/>
                    <a:pt x="86" y="19"/>
                    <a:pt x="86" y="17"/>
                  </a:cubicBezTo>
                  <a:cubicBezTo>
                    <a:pt x="86" y="16"/>
                    <a:pt x="85" y="14"/>
                    <a:pt x="84" y="13"/>
                  </a:cubicBezTo>
                  <a:close/>
                </a:path>
              </a:pathLst>
            </a:custGeom>
            <a:solidFill>
              <a:schemeClr val="bg1">
                <a:lumMod val="95000"/>
              </a:schemeClr>
            </a:solidFill>
            <a:ln>
              <a:noFill/>
            </a:ln>
          </p:spPr>
          <p:txBody>
            <a:bodyPr vert="horz" wrap="square" lIns="91440" tIns="45720" rIns="91440" bIns="45720" numCol="1" anchor="t" anchorCtr="0" compatLnSpc="1"/>
            <a:lstStyle/>
            <a:p>
              <a:endParaRPr lang="zh-CN" altLang="en-US"/>
            </a:p>
          </p:txBody>
        </p:sp>
      </p:grpSp>
      <p:sp>
        <p:nvSpPr>
          <p:cNvPr id="61" name="矩形 60"/>
          <p:cNvSpPr/>
          <p:nvPr/>
        </p:nvSpPr>
        <p:spPr>
          <a:xfrm>
            <a:off x="6095999" y="0"/>
            <a:ext cx="6099175" cy="6858000"/>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TextBox 61"/>
          <p:cNvSpPr txBox="1"/>
          <p:nvPr/>
        </p:nvSpPr>
        <p:spPr>
          <a:xfrm>
            <a:off x="457200" y="3749040"/>
            <a:ext cx="5184648" cy="548640"/>
          </a:xfrm>
          <a:prstGeom prst="rect">
            <a:avLst/>
          </a:prstGeom>
          <a:noFill/>
        </p:spPr>
        <p:txBody>
          <a:bodyPr wrap="square" lIns="45720" tIns="27432" rIns="45720" bIns="27432" anchor="t">
            <a:spAutoFit/>
          </a:bodyPr>
          <a:lstStyle/>
          <a:p>
            <a:pPr algn="ctr">
              <a:spcAft>
                <a:spcPts val="0"/>
              </a:spcAft>
            </a:pPr>
            <a:r>
              <a:rPr sz="2800" b="1" i="0">
                <a:solidFill>
                  <a:srgbClr val="46CEAE"/>
                </a:solidFill>
                <a:latin typeface="Arial"/>
              </a:rPr>
              <a:t>Part 1</a:t>
            </a:r>
          </a:p>
        </p:txBody>
      </p:sp>
      <p:sp>
        <p:nvSpPr>
          <p:cNvPr id="63" name="TextBox 62"/>
          <p:cNvSpPr txBox="1"/>
          <p:nvPr/>
        </p:nvSpPr>
        <p:spPr>
          <a:xfrm>
            <a:off x="457200" y="4315968"/>
            <a:ext cx="5184648" cy="1737360"/>
          </a:xfrm>
          <a:prstGeom prst="rect">
            <a:avLst/>
          </a:prstGeom>
          <a:noFill/>
        </p:spPr>
        <p:txBody>
          <a:bodyPr wrap="square" lIns="45720" tIns="27432" rIns="45720" bIns="27432" anchor="t">
            <a:spAutoFit/>
          </a:bodyPr>
          <a:lstStyle/>
          <a:p>
            <a:pPr algn="ctr">
              <a:lnSpc>
                <a:spcPct val="95000"/>
              </a:lnSpc>
              <a:spcAft>
                <a:spcPts val="0"/>
              </a:spcAft>
            </a:pPr>
            <a:r>
              <a:rPr sz="3200" b="1" i="0">
                <a:solidFill>
                  <a:srgbClr val="202A36"/>
                </a:solidFill>
                <a:latin typeface="Arial"/>
              </a:rPr>
              <a:t>Context and problem</a:t>
            </a:r>
          </a:p>
        </p:txBody>
      </p:sp>
      <p:cxnSp>
        <p:nvCxnSpPr>
          <p:cNvPr id="64" name="Connector 63"/>
          <p:cNvCxnSpPr/>
          <p:nvPr/>
        </p:nvCxnSpPr>
        <p:spPr>
          <a:xfrm>
            <a:off x="7863840" y="2734056"/>
            <a:ext cx="0" cy="1389888"/>
          </a:xfrm>
          <a:prstGeom prst="line">
            <a:avLst/>
          </a:prstGeom>
          <a:ln w="19050">
            <a:solidFill>
              <a:srgbClr val="8E98A5"/>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7790688" y="3026664"/>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8229600" y="2898648"/>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Coding agents submit real changes</a:t>
            </a:r>
          </a:p>
        </p:txBody>
      </p:sp>
      <p:sp>
        <p:nvSpPr>
          <p:cNvPr id="67" name="Oval 66"/>
          <p:cNvSpPr/>
          <p:nvPr/>
        </p:nvSpPr>
        <p:spPr>
          <a:xfrm>
            <a:off x="7790688" y="3685032"/>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229600" y="3557016"/>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Tests pass, design is unmeasured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1</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Context</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Context: coding agents now submit real changes</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4</a:t>
            </a:r>
          </a:p>
        </p:txBody>
      </p:sp>
      <p:sp>
        <p:nvSpPr>
          <p:cNvPr id="66" name="Rounded Rectangle 65"/>
          <p:cNvSpPr/>
          <p:nvPr/>
        </p:nvSpPr>
        <p:spPr>
          <a:xfrm>
            <a:off x="612648" y="914400"/>
            <a:ext cx="7315200" cy="1069848"/>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Hexagon 66"/>
          <p:cNvSpPr/>
          <p:nvPr/>
        </p:nvSpPr>
        <p:spPr>
          <a:xfrm>
            <a:off x="795528" y="1220724"/>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1</a:t>
            </a:r>
          </a:p>
        </p:txBody>
      </p:sp>
      <p:sp>
        <p:nvSpPr>
          <p:cNvPr id="68" name="TextBox 67"/>
          <p:cNvSpPr txBox="1"/>
          <p:nvPr/>
        </p:nvSpPr>
        <p:spPr>
          <a:xfrm>
            <a:off x="1481328" y="914400"/>
            <a:ext cx="6263640" cy="1069848"/>
          </a:xfrm>
          <a:prstGeom prst="rect">
            <a:avLst/>
          </a:prstGeom>
          <a:noFill/>
        </p:spPr>
        <p:txBody>
          <a:bodyPr wrap="square" lIns="36576" tIns="36576" rIns="36576" bIns="36576" anchor="ctr">
            <a:spAutoFit/>
          </a:bodyPr>
          <a:lstStyle/>
          <a:p>
            <a:pPr algn="l">
              <a:spcAft>
                <a:spcPts val="300"/>
              </a:spcAft>
            </a:pPr>
            <a:r>
              <a:rPr sz="1350" b="1" i="0">
                <a:solidFill>
                  <a:srgbClr val="2B3440"/>
                </a:solidFill>
                <a:latin typeface="Calibri"/>
              </a:rPr>
              <a:t>From completion to agents.</a:t>
            </a:r>
            <a:r>
              <a:rPr sz="1350" b="0" i="0">
                <a:solidFill>
                  <a:srgbClr val="2B3440"/>
                </a:solidFill>
                <a:latin typeface="Calibri"/>
              </a:rPr>
              <a:t> Copilot (2021) and CodeWhisperer (2022) completed the next line. Claude Code, OpenAI Codex and Copilot’s coding agent take a task and return a finished pull request.</a:t>
            </a:r>
          </a:p>
        </p:txBody>
      </p:sp>
      <p:sp>
        <p:nvSpPr>
          <p:cNvPr id="69" name="Rounded Rectangle 68"/>
          <p:cNvSpPr/>
          <p:nvPr/>
        </p:nvSpPr>
        <p:spPr>
          <a:xfrm>
            <a:off x="612648" y="2075688"/>
            <a:ext cx="7315200" cy="1069848"/>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Hexagon 69"/>
          <p:cNvSpPr/>
          <p:nvPr/>
        </p:nvSpPr>
        <p:spPr>
          <a:xfrm>
            <a:off x="795528" y="2382012"/>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2</a:t>
            </a:r>
          </a:p>
        </p:txBody>
      </p:sp>
      <p:sp>
        <p:nvSpPr>
          <p:cNvPr id="71" name="TextBox 70"/>
          <p:cNvSpPr txBox="1"/>
          <p:nvPr/>
        </p:nvSpPr>
        <p:spPr>
          <a:xfrm>
            <a:off x="1481328" y="2075688"/>
            <a:ext cx="6263640" cy="1069848"/>
          </a:xfrm>
          <a:prstGeom prst="rect">
            <a:avLst/>
          </a:prstGeom>
          <a:noFill/>
        </p:spPr>
        <p:txBody>
          <a:bodyPr wrap="square" lIns="36576" tIns="36576" rIns="36576" bIns="36576" anchor="ctr">
            <a:spAutoFit/>
          </a:bodyPr>
          <a:lstStyle/>
          <a:p>
            <a:pPr algn="l">
              <a:spcAft>
                <a:spcPts val="300"/>
              </a:spcAft>
            </a:pPr>
            <a:r>
              <a:rPr sz="1350" b="1" i="0">
                <a:solidFill>
                  <a:srgbClr val="2B3440"/>
                </a:solidFill>
                <a:latin typeface="Calibri"/>
              </a:rPr>
              <a:t>Vibe coding, vibe architecting.</a:t>
            </a:r>
            <a:r>
              <a:rPr sz="1350" b="0" i="0">
                <a:solidFill>
                  <a:srgbClr val="2B3440"/>
                </a:solidFill>
                <a:latin typeface="Calibri"/>
              </a:rPr>
              <a:t> The developer states the intent and the agent writes the implementation; structural decisions follow from the wording of the prompt and leave no recorded rationale (Konrad et al., 2026).</a:t>
            </a:r>
          </a:p>
        </p:txBody>
      </p:sp>
      <p:sp>
        <p:nvSpPr>
          <p:cNvPr id="72" name="Rounded Rectangle 71"/>
          <p:cNvSpPr/>
          <p:nvPr/>
        </p:nvSpPr>
        <p:spPr>
          <a:xfrm>
            <a:off x="612648" y="3236976"/>
            <a:ext cx="7315200" cy="1069848"/>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Hexagon 72"/>
          <p:cNvSpPr/>
          <p:nvPr/>
        </p:nvSpPr>
        <p:spPr>
          <a:xfrm>
            <a:off x="795528" y="354330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3</a:t>
            </a:r>
          </a:p>
        </p:txBody>
      </p:sp>
      <p:sp>
        <p:nvSpPr>
          <p:cNvPr id="74" name="TextBox 73"/>
          <p:cNvSpPr txBox="1"/>
          <p:nvPr/>
        </p:nvSpPr>
        <p:spPr>
          <a:xfrm>
            <a:off x="1481328" y="3236976"/>
            <a:ext cx="6263640" cy="1069848"/>
          </a:xfrm>
          <a:prstGeom prst="rect">
            <a:avLst/>
          </a:prstGeom>
          <a:noFill/>
        </p:spPr>
        <p:txBody>
          <a:bodyPr wrap="square" lIns="36576" tIns="36576" rIns="36576" bIns="36576" anchor="ctr">
            <a:spAutoFit/>
          </a:bodyPr>
          <a:lstStyle/>
          <a:p>
            <a:pPr algn="l">
              <a:spcAft>
                <a:spcPts val="300"/>
              </a:spcAft>
            </a:pPr>
            <a:r>
              <a:rPr sz="1350" b="1" i="0">
                <a:solidFill>
                  <a:srgbClr val="2B3440"/>
                </a:solidFill>
                <a:latin typeface="Calibri"/>
              </a:rPr>
              <a:t>Real data now exists.</a:t>
            </a:r>
            <a:r>
              <a:rPr sz="1350" b="0" i="0">
                <a:solidFill>
                  <a:srgbClr val="2B3440"/>
                </a:solidFill>
                <a:latin typeface="Calibri"/>
              </a:rPr>
              <a:t> The AIDev dataset records agent pull requests on public GitHub repositories, so the structure of agent code can be studied on real, reviewed contributions.</a:t>
            </a:r>
          </a:p>
        </p:txBody>
      </p:sp>
      <p:sp>
        <p:nvSpPr>
          <p:cNvPr id="75" name="Rounded Rectangle 74"/>
          <p:cNvSpPr/>
          <p:nvPr/>
        </p:nvSpPr>
        <p:spPr>
          <a:xfrm>
            <a:off x="612648" y="4398264"/>
            <a:ext cx="7315200" cy="1069848"/>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Hexagon 75"/>
          <p:cNvSpPr/>
          <p:nvPr/>
        </p:nvSpPr>
        <p:spPr>
          <a:xfrm>
            <a:off x="795528" y="4704588"/>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4</a:t>
            </a:r>
          </a:p>
        </p:txBody>
      </p:sp>
      <p:sp>
        <p:nvSpPr>
          <p:cNvPr id="77" name="TextBox 76"/>
          <p:cNvSpPr txBox="1"/>
          <p:nvPr/>
        </p:nvSpPr>
        <p:spPr>
          <a:xfrm>
            <a:off x="1481328" y="4398264"/>
            <a:ext cx="6263640" cy="1069848"/>
          </a:xfrm>
          <a:prstGeom prst="rect">
            <a:avLst/>
          </a:prstGeom>
          <a:noFill/>
        </p:spPr>
        <p:txBody>
          <a:bodyPr wrap="square" lIns="36576" tIns="36576" rIns="36576" bIns="36576" anchor="ctr">
            <a:spAutoFit/>
          </a:bodyPr>
          <a:lstStyle/>
          <a:p>
            <a:pPr algn="l">
              <a:spcAft>
                <a:spcPts val="300"/>
              </a:spcAft>
            </a:pPr>
            <a:r>
              <a:rPr sz="1350" b="1" i="0">
                <a:solidFill>
                  <a:srgbClr val="2B3440"/>
                </a:solidFill>
                <a:latin typeface="Calibri"/>
              </a:rPr>
              <a:t>Design is where the cost is.</a:t>
            </a:r>
            <a:r>
              <a:rPr sz="1350" b="0" i="0">
                <a:solidFill>
                  <a:srgbClr val="2B3440"/>
                </a:solidFill>
                <a:latin typeface="Calibri"/>
              </a:rPr>
              <a:t> Code can pass its tests and still be tightly coupled; most of the cost of software is maintenance after the first release. Software engineering already has the vocabulary: Brooks, Martin’s SOLID, Fowler’s code smells.</a:t>
            </a:r>
          </a:p>
        </p:txBody>
      </p:sp>
      <p:sp>
        <p:nvSpPr>
          <p:cNvPr id="78" name="Rounded Rectangle 77"/>
          <p:cNvSpPr/>
          <p:nvPr/>
        </p:nvSpPr>
        <p:spPr>
          <a:xfrm>
            <a:off x="8138160" y="914400"/>
            <a:ext cx="3447288" cy="2194560"/>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8275320" y="1005840"/>
            <a:ext cx="3172968" cy="1097280"/>
          </a:xfrm>
          <a:prstGeom prst="rect">
            <a:avLst/>
          </a:prstGeom>
          <a:noFill/>
        </p:spPr>
        <p:txBody>
          <a:bodyPr wrap="square" lIns="45720" tIns="27432" rIns="45720" bIns="27432" anchor="b">
            <a:spAutoFit/>
          </a:bodyPr>
          <a:lstStyle/>
          <a:p>
            <a:pPr algn="ctr">
              <a:spcAft>
                <a:spcPts val="0"/>
              </a:spcAft>
            </a:pPr>
            <a:r>
              <a:rPr sz="3000" b="1" i="0">
                <a:solidFill>
                  <a:srgbClr val="46CEAE"/>
                </a:solidFill>
                <a:latin typeface="Arial"/>
              </a:rPr>
              <a:t>7.69 million</a:t>
            </a:r>
          </a:p>
        </p:txBody>
      </p:sp>
      <p:sp>
        <p:nvSpPr>
          <p:cNvPr id="80" name="TextBox 79"/>
          <p:cNvSpPr txBox="1"/>
          <p:nvPr/>
        </p:nvSpPr>
        <p:spPr>
          <a:xfrm>
            <a:off x="8321040" y="2121408"/>
            <a:ext cx="3081528" cy="921715"/>
          </a:xfrm>
          <a:prstGeom prst="rect">
            <a:avLst/>
          </a:prstGeom>
          <a:noFill/>
        </p:spPr>
        <p:txBody>
          <a:bodyPr wrap="square" lIns="45720" tIns="27432" rIns="45720" bIns="27432" anchor="t">
            <a:spAutoFit/>
          </a:bodyPr>
          <a:lstStyle/>
          <a:p>
            <a:pPr algn="ctr">
              <a:spcAft>
                <a:spcPts val="0"/>
              </a:spcAft>
            </a:pPr>
            <a:r>
              <a:rPr sz="1300" b="0" i="0">
                <a:solidFill>
                  <a:srgbClr val="D5DCE4"/>
                </a:solidFill>
                <a:latin typeface="Calibri"/>
              </a:rPr>
              <a:t>agent pull requests in 957k repositories (AIDev, Li et al., 2025)</a:t>
            </a:r>
          </a:p>
        </p:txBody>
      </p:sp>
      <p:sp>
        <p:nvSpPr>
          <p:cNvPr id="81" name="Rounded Rectangle 80"/>
          <p:cNvSpPr/>
          <p:nvPr/>
        </p:nvSpPr>
        <p:spPr>
          <a:xfrm>
            <a:off x="8138160" y="3200400"/>
            <a:ext cx="3447288" cy="2194560"/>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275320" y="3291840"/>
            <a:ext cx="3172968" cy="1097280"/>
          </a:xfrm>
          <a:prstGeom prst="rect">
            <a:avLst/>
          </a:prstGeom>
          <a:noFill/>
        </p:spPr>
        <p:txBody>
          <a:bodyPr wrap="square" lIns="45720" tIns="27432" rIns="45720" bIns="27432" anchor="b">
            <a:spAutoFit/>
          </a:bodyPr>
          <a:lstStyle/>
          <a:p>
            <a:pPr algn="ctr">
              <a:spcAft>
                <a:spcPts val="0"/>
              </a:spcAft>
            </a:pPr>
            <a:r>
              <a:rPr sz="2600" b="1" i="0">
                <a:solidFill>
                  <a:srgbClr val="46CEAE"/>
                </a:solidFill>
                <a:latin typeface="Arial"/>
              </a:rPr>
              <a:t>3 agents, 2 languages</a:t>
            </a:r>
          </a:p>
        </p:txBody>
      </p:sp>
      <p:sp>
        <p:nvSpPr>
          <p:cNvPr id="83" name="TextBox 82"/>
          <p:cNvSpPr txBox="1"/>
          <p:nvPr/>
        </p:nvSpPr>
        <p:spPr>
          <a:xfrm>
            <a:off x="8321040" y="4407408"/>
            <a:ext cx="3081528" cy="921715"/>
          </a:xfrm>
          <a:prstGeom prst="rect">
            <a:avLst/>
          </a:prstGeom>
          <a:noFill/>
        </p:spPr>
        <p:txBody>
          <a:bodyPr wrap="square" lIns="45720" tIns="27432" rIns="45720" bIns="27432" anchor="t">
            <a:spAutoFit/>
          </a:bodyPr>
          <a:lstStyle/>
          <a:p>
            <a:pPr algn="ctr">
              <a:spcAft>
                <a:spcPts val="0"/>
              </a:spcAft>
            </a:pPr>
            <a:r>
              <a:rPr sz="1300" b="0" i="0">
                <a:solidFill>
                  <a:srgbClr val="D5DCE4"/>
                </a:solidFill>
                <a:latin typeface="Calibri"/>
              </a:rPr>
              <a:t>Claude Code, GitHub Copilot and OpenAI Codex, studied in Java and in Python</a:t>
            </a:r>
          </a:p>
        </p:txBody>
      </p:sp>
      <p:sp>
        <p:nvSpPr>
          <p:cNvPr id="84" name="Rounded Rectangle 83"/>
          <p:cNvSpPr/>
          <p:nvPr/>
        </p:nvSpPr>
        <p:spPr>
          <a:xfrm>
            <a:off x="612648" y="5532120"/>
            <a:ext cx="10972800" cy="77724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Hexagon 84"/>
          <p:cNvSpPr/>
          <p:nvPr/>
        </p:nvSpPr>
        <p:spPr>
          <a:xfrm>
            <a:off x="813816" y="578358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1252728" y="5532120"/>
            <a:ext cx="10149840" cy="77724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The question this raises:</a:t>
            </a:r>
            <a:r>
              <a:rPr sz="1400" b="0" i="0">
                <a:solidFill>
                  <a:srgbClr val="FFFFFF"/>
                </a:solidFill>
                <a:latin typeface="Calibri"/>
              </a:rPr>
              <a:t> these agents already write code that is reviewed and merged into real software. Does that code follow the design rules maintainers rely 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1</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Context</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The problem: tests pass, design is left unmeasured</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5</a:t>
            </a:r>
          </a:p>
        </p:txBody>
      </p:sp>
      <p:sp>
        <p:nvSpPr>
          <p:cNvPr id="66" name="Rounded Rectangle 65"/>
          <p:cNvSpPr/>
          <p:nvPr/>
        </p:nvSpPr>
        <p:spPr>
          <a:xfrm>
            <a:off x="612648" y="914400"/>
            <a:ext cx="7315200" cy="13716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Hexagon 66"/>
          <p:cNvSpPr/>
          <p:nvPr/>
        </p:nvSpPr>
        <p:spPr>
          <a:xfrm>
            <a:off x="795528" y="137160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1</a:t>
            </a:r>
          </a:p>
        </p:txBody>
      </p:sp>
      <p:sp>
        <p:nvSpPr>
          <p:cNvPr id="68" name="TextBox 67"/>
          <p:cNvSpPr txBox="1"/>
          <p:nvPr/>
        </p:nvSpPr>
        <p:spPr>
          <a:xfrm>
            <a:off x="1481328" y="914400"/>
            <a:ext cx="6263640" cy="1371600"/>
          </a:xfrm>
          <a:prstGeom prst="rect">
            <a:avLst/>
          </a:prstGeom>
          <a:noFill/>
        </p:spPr>
        <p:txBody>
          <a:bodyPr wrap="square" lIns="36576" tIns="36576" rIns="36576" bIns="36576" anchor="ctr">
            <a:spAutoFit/>
          </a:bodyPr>
          <a:lstStyle/>
          <a:p>
            <a:pPr algn="l">
              <a:spcAft>
                <a:spcPts val="300"/>
              </a:spcAft>
            </a:pPr>
            <a:r>
              <a:rPr sz="1400" b="1" i="0">
                <a:solidFill>
                  <a:srgbClr val="2B3440"/>
                </a:solidFill>
                <a:latin typeface="Calibri"/>
              </a:rPr>
              <a:t>Benchmarks measure function, not design.</a:t>
            </a:r>
            <a:r>
              <a:rPr sz="1400" b="0" i="0">
                <a:solidFill>
                  <a:srgbClr val="2B3440"/>
                </a:solidFill>
                <a:latin typeface="Calibri"/>
              </a:rPr>
              <a:t> HumanEval, MBPP, BigCodeBench and SWE-bench ask whether tests pass, usually for one function or one issue. A pass rate says nothing about whether the code around it is well structured.</a:t>
            </a:r>
          </a:p>
        </p:txBody>
      </p:sp>
      <p:sp>
        <p:nvSpPr>
          <p:cNvPr id="69" name="Rounded Rectangle 68"/>
          <p:cNvSpPr/>
          <p:nvPr/>
        </p:nvSpPr>
        <p:spPr>
          <a:xfrm>
            <a:off x="612648" y="2423160"/>
            <a:ext cx="7315200" cy="13716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Hexagon 69"/>
          <p:cNvSpPr/>
          <p:nvPr/>
        </p:nvSpPr>
        <p:spPr>
          <a:xfrm>
            <a:off x="795528" y="288036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2</a:t>
            </a:r>
          </a:p>
        </p:txBody>
      </p:sp>
      <p:sp>
        <p:nvSpPr>
          <p:cNvPr id="71" name="TextBox 70"/>
          <p:cNvSpPr txBox="1"/>
          <p:nvPr/>
        </p:nvSpPr>
        <p:spPr>
          <a:xfrm>
            <a:off x="1481328" y="2423160"/>
            <a:ext cx="6263640" cy="1371600"/>
          </a:xfrm>
          <a:prstGeom prst="rect">
            <a:avLst/>
          </a:prstGeom>
          <a:noFill/>
        </p:spPr>
        <p:txBody>
          <a:bodyPr wrap="square" lIns="36576" tIns="36576" rIns="36576" bIns="36576" anchor="ctr">
            <a:spAutoFit/>
          </a:bodyPr>
          <a:lstStyle/>
          <a:p>
            <a:pPr algn="l">
              <a:spcAft>
                <a:spcPts val="300"/>
              </a:spcAft>
            </a:pPr>
            <a:r>
              <a:rPr sz="1400" b="1" i="0">
                <a:solidFill>
                  <a:srgbClr val="2B3440"/>
                </a:solidFill>
                <a:latin typeface="Calibri"/>
              </a:rPr>
              <a:t>Structural quality is rarely compared across agents.</a:t>
            </a:r>
            <a:r>
              <a:rPr sz="1400" b="0" i="0">
                <a:solidFill>
                  <a:srgbClr val="2B3440"/>
                </a:solidFill>
                <a:latin typeface="Calibri"/>
              </a:rPr>
              <a:t> Studies ask language models to spot SOLID violations, analyse projects from one tool, or describe defects. None compares several agents on one corpus of real contributions.</a:t>
            </a:r>
          </a:p>
        </p:txBody>
      </p:sp>
      <p:sp>
        <p:nvSpPr>
          <p:cNvPr id="72" name="Rounded Rectangle 71"/>
          <p:cNvSpPr/>
          <p:nvPr/>
        </p:nvSpPr>
        <p:spPr>
          <a:xfrm>
            <a:off x="612648" y="3931920"/>
            <a:ext cx="7315200" cy="13716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Hexagon 72"/>
          <p:cNvSpPr/>
          <p:nvPr/>
        </p:nvSpPr>
        <p:spPr>
          <a:xfrm>
            <a:off x="795528" y="438912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3</a:t>
            </a:r>
          </a:p>
        </p:txBody>
      </p:sp>
      <p:sp>
        <p:nvSpPr>
          <p:cNvPr id="74" name="TextBox 73"/>
          <p:cNvSpPr txBox="1"/>
          <p:nvPr/>
        </p:nvSpPr>
        <p:spPr>
          <a:xfrm>
            <a:off x="1481328" y="3931920"/>
            <a:ext cx="6263640" cy="1371600"/>
          </a:xfrm>
          <a:prstGeom prst="rect">
            <a:avLst/>
          </a:prstGeom>
          <a:noFill/>
        </p:spPr>
        <p:txBody>
          <a:bodyPr wrap="square" lIns="36576" tIns="36576" rIns="36576" bIns="36576" anchor="ctr">
            <a:spAutoFit/>
          </a:bodyPr>
          <a:lstStyle/>
          <a:p>
            <a:pPr algn="l">
              <a:spcAft>
                <a:spcPts val="300"/>
              </a:spcAft>
            </a:pPr>
            <a:r>
              <a:rPr sz="1400" b="1" i="0">
                <a:solidFill>
                  <a:srgbClr val="2B3440"/>
                </a:solidFill>
                <a:latin typeface="Calibri"/>
              </a:rPr>
              <a:t>The agent matters, not only the model.</a:t>
            </a:r>
            <a:r>
              <a:rPr sz="1400" b="0" i="0">
                <a:solidFill>
                  <a:srgbClr val="2B3440"/>
                </a:solidFill>
                <a:latin typeface="Calibri"/>
              </a:rPr>
              <a:t> The agent software has an effect of its own (Ben Sghaier et al., 2026), so choosing a tool means choosing an agent.</a:t>
            </a:r>
          </a:p>
        </p:txBody>
      </p:sp>
      <p:sp>
        <p:nvSpPr>
          <p:cNvPr id="75" name="Rounded Rectangle 74"/>
          <p:cNvSpPr/>
          <p:nvPr/>
        </p:nvSpPr>
        <p:spPr>
          <a:xfrm>
            <a:off x="8138160" y="914400"/>
            <a:ext cx="3447288" cy="2148840"/>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275320" y="1005840"/>
            <a:ext cx="3172968" cy="1074420"/>
          </a:xfrm>
          <a:prstGeom prst="rect">
            <a:avLst/>
          </a:prstGeom>
          <a:noFill/>
        </p:spPr>
        <p:txBody>
          <a:bodyPr wrap="square" lIns="45720" tIns="27432" rIns="45720" bIns="27432" anchor="b">
            <a:spAutoFit/>
          </a:bodyPr>
          <a:lstStyle/>
          <a:p>
            <a:pPr algn="ctr">
              <a:spcAft>
                <a:spcPts val="0"/>
              </a:spcAft>
            </a:pPr>
            <a:r>
              <a:rPr sz="3000" b="1" i="0">
                <a:solidFill>
                  <a:srgbClr val="46CEAE"/>
                </a:solidFill>
                <a:latin typeface="Arial"/>
              </a:rPr>
              <a:t>about half</a:t>
            </a:r>
          </a:p>
        </p:txBody>
      </p:sp>
      <p:sp>
        <p:nvSpPr>
          <p:cNvPr id="77" name="TextBox 76"/>
          <p:cNvSpPr txBox="1"/>
          <p:nvPr/>
        </p:nvSpPr>
        <p:spPr>
          <a:xfrm>
            <a:off x="8321040" y="2096262"/>
            <a:ext cx="3081528" cy="902513"/>
          </a:xfrm>
          <a:prstGeom prst="rect">
            <a:avLst/>
          </a:prstGeom>
          <a:noFill/>
        </p:spPr>
        <p:txBody>
          <a:bodyPr wrap="square" lIns="45720" tIns="27432" rIns="45720" bIns="27432" anchor="t">
            <a:spAutoFit/>
          </a:bodyPr>
          <a:lstStyle/>
          <a:p>
            <a:pPr algn="ctr">
              <a:spcAft>
                <a:spcPts val="0"/>
              </a:spcAft>
            </a:pPr>
            <a:r>
              <a:rPr sz="1250" b="0" i="0">
                <a:solidFill>
                  <a:srgbClr val="D5DCE4"/>
                </a:solidFill>
                <a:latin typeface="Calibri"/>
              </a:rPr>
              <a:t>of SWE-bench Verified patches that pass the tests would not be merged by maintainers (METR, 2026)</a:t>
            </a:r>
          </a:p>
        </p:txBody>
      </p:sp>
      <p:sp>
        <p:nvSpPr>
          <p:cNvPr id="78" name="Rounded Rectangle 77"/>
          <p:cNvSpPr/>
          <p:nvPr/>
        </p:nvSpPr>
        <p:spPr>
          <a:xfrm>
            <a:off x="8138160" y="3200400"/>
            <a:ext cx="3447288" cy="2148840"/>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8275320" y="3291840"/>
            <a:ext cx="3172968" cy="1074420"/>
          </a:xfrm>
          <a:prstGeom prst="rect">
            <a:avLst/>
          </a:prstGeom>
          <a:noFill/>
        </p:spPr>
        <p:txBody>
          <a:bodyPr wrap="square" lIns="45720" tIns="27432" rIns="45720" bIns="27432" anchor="b">
            <a:spAutoFit/>
          </a:bodyPr>
          <a:lstStyle/>
          <a:p>
            <a:pPr algn="ctr">
              <a:spcAft>
                <a:spcPts val="0"/>
              </a:spcAft>
            </a:pPr>
            <a:r>
              <a:rPr sz="3600" b="1" i="0">
                <a:solidFill>
                  <a:srgbClr val="46CEAE"/>
                </a:solidFill>
                <a:latin typeface="Arial"/>
              </a:rPr>
              <a:t>77%</a:t>
            </a:r>
          </a:p>
        </p:txBody>
      </p:sp>
      <p:sp>
        <p:nvSpPr>
          <p:cNvPr id="80" name="TextBox 79"/>
          <p:cNvSpPr txBox="1"/>
          <p:nvPr/>
        </p:nvSpPr>
        <p:spPr>
          <a:xfrm>
            <a:off x="8321040" y="4382262"/>
            <a:ext cx="3081528" cy="902513"/>
          </a:xfrm>
          <a:prstGeom prst="rect">
            <a:avLst/>
          </a:prstGeom>
          <a:noFill/>
        </p:spPr>
        <p:txBody>
          <a:bodyPr wrap="square" lIns="45720" tIns="27432" rIns="45720" bIns="27432" anchor="t">
            <a:spAutoFit/>
          </a:bodyPr>
          <a:lstStyle/>
          <a:p>
            <a:pPr algn="ctr">
              <a:spcAft>
                <a:spcPts val="0"/>
              </a:spcAft>
            </a:pPr>
            <a:r>
              <a:rPr sz="1250" b="0" i="0">
                <a:solidFill>
                  <a:srgbClr val="D5DCE4"/>
                </a:solidFill>
                <a:latin typeface="Calibri"/>
              </a:rPr>
              <a:t>of long-horizon agent trajectories show growing structural erosion (SlopCodeBench, 2026)</a:t>
            </a:r>
          </a:p>
        </p:txBody>
      </p:sp>
      <p:sp>
        <p:nvSpPr>
          <p:cNvPr id="81" name="Rounded Rectangle 80"/>
          <p:cNvSpPr/>
          <p:nvPr/>
        </p:nvSpPr>
        <p:spPr>
          <a:xfrm>
            <a:off x="612648" y="5440680"/>
            <a:ext cx="10972800" cy="86868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Hexagon 81"/>
          <p:cNvSpPr/>
          <p:nvPr/>
        </p:nvSpPr>
        <p:spPr>
          <a:xfrm>
            <a:off x="813816" y="573786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1252728" y="5440680"/>
            <a:ext cx="10149840" cy="86868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Problem addressed:</a:t>
            </a:r>
            <a:r>
              <a:rPr sz="1400" b="0" i="0">
                <a:solidFill>
                  <a:srgbClr val="FFFFFF"/>
                </a:solidFill>
                <a:latin typeface="Calibri"/>
              </a:rPr>
              <a:t> does the code that coding agents contribute to real projects follow established object-oriented design principles, in addition to working, and do the agents differ in this respect?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6" name="组合 55"/>
          <p:cNvGrpSpPr/>
          <p:nvPr/>
        </p:nvGrpSpPr>
        <p:grpSpPr>
          <a:xfrm>
            <a:off x="2052459" y="1413384"/>
            <a:ext cx="2036802" cy="2036802"/>
            <a:chOff x="8077074" y="845254"/>
            <a:chExt cx="2036802" cy="2036802"/>
          </a:xfrm>
        </p:grpSpPr>
        <p:sp>
          <p:nvSpPr>
            <p:cNvPr id="57" name="椭圆 56"/>
            <p:cNvSpPr/>
            <p:nvPr/>
          </p:nvSpPr>
          <p:spPr>
            <a:xfrm>
              <a:off x="8077074" y="845254"/>
              <a:ext cx="2036802" cy="2036802"/>
            </a:xfrm>
            <a:prstGeom prst="ellipse">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Freeform 126"/>
            <p:cNvSpPr>
              <a:spLocks noChangeAspect="1" noEditPoints="1"/>
            </p:cNvSpPr>
            <p:nvPr/>
          </p:nvSpPr>
          <p:spPr bwMode="auto">
            <a:xfrm>
              <a:off x="8639337" y="1292886"/>
              <a:ext cx="912277" cy="1141539"/>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lumMod val="95000"/>
              </a:schemeClr>
            </a:solidFill>
            <a:ln>
              <a:noFill/>
            </a:ln>
          </p:spPr>
          <p:txBody>
            <a:bodyPr vert="horz" wrap="square" lIns="91440" tIns="45720" rIns="91440" bIns="45720" numCol="1" anchor="t" anchorCtr="0" compatLnSpc="1"/>
            <a:lstStyle/>
            <a:p>
              <a:endParaRPr lang="zh-CN" altLang="en-US">
                <a:latin typeface="Arial" panose="020B0604020202020204" pitchFamily="34" charset="0"/>
                <a:cs typeface="Arial" panose="020B0604020202020204" pitchFamily="34" charset="0"/>
              </a:endParaRPr>
            </a:p>
          </p:txBody>
        </p:sp>
      </p:grpSp>
      <p:sp>
        <p:nvSpPr>
          <p:cNvPr id="59" name="矩形 58"/>
          <p:cNvSpPr/>
          <p:nvPr/>
        </p:nvSpPr>
        <p:spPr>
          <a:xfrm>
            <a:off x="6095999" y="0"/>
            <a:ext cx="6099175" cy="6858000"/>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TextBox 59"/>
          <p:cNvSpPr txBox="1"/>
          <p:nvPr/>
        </p:nvSpPr>
        <p:spPr>
          <a:xfrm>
            <a:off x="457200" y="3749040"/>
            <a:ext cx="5184648" cy="548640"/>
          </a:xfrm>
          <a:prstGeom prst="rect">
            <a:avLst/>
          </a:prstGeom>
          <a:noFill/>
        </p:spPr>
        <p:txBody>
          <a:bodyPr wrap="square" lIns="45720" tIns="27432" rIns="45720" bIns="27432" anchor="t">
            <a:spAutoFit/>
          </a:bodyPr>
          <a:lstStyle/>
          <a:p>
            <a:pPr algn="ctr">
              <a:spcAft>
                <a:spcPts val="0"/>
              </a:spcAft>
            </a:pPr>
            <a:r>
              <a:rPr sz="2800" b="1" i="0">
                <a:solidFill>
                  <a:srgbClr val="46CEAE"/>
                </a:solidFill>
                <a:latin typeface="Arial"/>
              </a:rPr>
              <a:t>Part 2</a:t>
            </a:r>
          </a:p>
        </p:txBody>
      </p:sp>
      <p:sp>
        <p:nvSpPr>
          <p:cNvPr id="61" name="TextBox 60"/>
          <p:cNvSpPr txBox="1"/>
          <p:nvPr/>
        </p:nvSpPr>
        <p:spPr>
          <a:xfrm>
            <a:off x="457200" y="4315968"/>
            <a:ext cx="5184648" cy="1737360"/>
          </a:xfrm>
          <a:prstGeom prst="rect">
            <a:avLst/>
          </a:prstGeom>
          <a:noFill/>
        </p:spPr>
        <p:txBody>
          <a:bodyPr wrap="square" lIns="45720" tIns="27432" rIns="45720" bIns="27432" anchor="t">
            <a:spAutoFit/>
          </a:bodyPr>
          <a:lstStyle/>
          <a:p>
            <a:pPr algn="ctr">
              <a:lnSpc>
                <a:spcPct val="95000"/>
              </a:lnSpc>
              <a:spcAft>
                <a:spcPts val="0"/>
              </a:spcAft>
            </a:pPr>
            <a:r>
              <a:rPr sz="3200" b="1" i="0">
                <a:solidFill>
                  <a:srgbClr val="202A36"/>
                </a:solidFill>
                <a:latin typeface="Arial"/>
              </a:rPr>
              <a:t>State of the art and research questions</a:t>
            </a:r>
          </a:p>
        </p:txBody>
      </p:sp>
      <p:cxnSp>
        <p:nvCxnSpPr>
          <p:cNvPr id="62" name="Connector 61"/>
          <p:cNvCxnSpPr/>
          <p:nvPr/>
        </p:nvCxnSpPr>
        <p:spPr>
          <a:xfrm>
            <a:off x="7863840" y="1417320"/>
            <a:ext cx="0" cy="4023360"/>
          </a:xfrm>
          <a:prstGeom prst="line">
            <a:avLst/>
          </a:prstGeom>
          <a:ln w="19050">
            <a:solidFill>
              <a:srgbClr val="8E98A5"/>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7790688" y="1709928"/>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8229600" y="1581912"/>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What agents do to code</a:t>
            </a:r>
          </a:p>
        </p:txBody>
      </p:sp>
      <p:sp>
        <p:nvSpPr>
          <p:cNvPr id="65" name="Oval 64"/>
          <p:cNvSpPr/>
          <p:nvPr/>
        </p:nvSpPr>
        <p:spPr>
          <a:xfrm>
            <a:off x="7790688" y="2368296"/>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8229600" y="2240280"/>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Measurement and attribution</a:t>
            </a:r>
          </a:p>
        </p:txBody>
      </p:sp>
      <p:sp>
        <p:nvSpPr>
          <p:cNvPr id="67" name="Oval 66"/>
          <p:cNvSpPr/>
          <p:nvPr/>
        </p:nvSpPr>
        <p:spPr>
          <a:xfrm>
            <a:off x="7790688" y="3026664"/>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229600" y="2898648"/>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Related work</a:t>
            </a:r>
          </a:p>
        </p:txBody>
      </p:sp>
      <p:sp>
        <p:nvSpPr>
          <p:cNvPr id="69" name="Oval 68"/>
          <p:cNvSpPr/>
          <p:nvPr/>
        </p:nvSpPr>
        <p:spPr>
          <a:xfrm>
            <a:off x="7790688" y="3685032"/>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8229600" y="3557016"/>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Three limits in the literature</a:t>
            </a:r>
          </a:p>
        </p:txBody>
      </p:sp>
      <p:sp>
        <p:nvSpPr>
          <p:cNvPr id="71" name="Oval 70"/>
          <p:cNvSpPr/>
          <p:nvPr/>
        </p:nvSpPr>
        <p:spPr>
          <a:xfrm>
            <a:off x="7790688" y="4343400"/>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229600" y="4215384"/>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Research questions</a:t>
            </a:r>
          </a:p>
        </p:txBody>
      </p:sp>
      <p:sp>
        <p:nvSpPr>
          <p:cNvPr id="73" name="Oval 72"/>
          <p:cNvSpPr/>
          <p:nvPr/>
        </p:nvSpPr>
        <p:spPr>
          <a:xfrm>
            <a:off x="7790688" y="5001768"/>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229600" y="4873752"/>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Study design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2</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State of the art</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State of the art: what agents do to code</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7</a:t>
            </a:r>
          </a:p>
        </p:txBody>
      </p:sp>
      <p:sp>
        <p:nvSpPr>
          <p:cNvPr id="66" name="Rounded Rectangle 65"/>
          <p:cNvSpPr/>
          <p:nvPr/>
        </p:nvSpPr>
        <p:spPr>
          <a:xfrm>
            <a:off x="612648" y="914400"/>
            <a:ext cx="10972800"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Hexagon 66"/>
          <p:cNvSpPr/>
          <p:nvPr/>
        </p:nvSpPr>
        <p:spPr>
          <a:xfrm>
            <a:off x="795528" y="114300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1</a:t>
            </a:r>
          </a:p>
        </p:txBody>
      </p:sp>
      <p:sp>
        <p:nvSpPr>
          <p:cNvPr id="68" name="TextBox 67"/>
          <p:cNvSpPr txBox="1"/>
          <p:nvPr/>
        </p:nvSpPr>
        <p:spPr>
          <a:xfrm>
            <a:off x="1481328" y="914400"/>
            <a:ext cx="9921240"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Passing the tests is not the same as being accepted: about half of passing SWE-bench Verified patches would not be merged, 24 points below the automated score.</a:t>
            </a:r>
          </a:p>
          <a:p>
            <a:pPr algn="l">
              <a:spcAft>
                <a:spcPts val="0"/>
              </a:spcAft>
            </a:pPr>
            <a:r>
              <a:rPr sz="1200" b="0" i="1">
                <a:solidFill>
                  <a:srgbClr val="5C6773"/>
                </a:solidFill>
                <a:latin typeface="Calibri"/>
              </a:rPr>
              <a:t>Whitfill et al., METR, 2026</a:t>
            </a:r>
          </a:p>
        </p:txBody>
      </p:sp>
      <p:sp>
        <p:nvSpPr>
          <p:cNvPr id="69" name="Rounded Rectangle 68"/>
          <p:cNvSpPr/>
          <p:nvPr/>
        </p:nvSpPr>
        <p:spPr>
          <a:xfrm>
            <a:off x="612648" y="1993392"/>
            <a:ext cx="10972800"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Hexagon 69"/>
          <p:cNvSpPr/>
          <p:nvPr/>
        </p:nvSpPr>
        <p:spPr>
          <a:xfrm>
            <a:off x="795528" y="2221992"/>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2</a:t>
            </a:r>
          </a:p>
        </p:txBody>
      </p:sp>
      <p:sp>
        <p:nvSpPr>
          <p:cNvPr id="71" name="TextBox 70"/>
          <p:cNvSpPr txBox="1"/>
          <p:nvPr/>
        </p:nvSpPr>
        <p:spPr>
          <a:xfrm>
            <a:off x="1481328" y="1993392"/>
            <a:ext cx="9921240"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Functional correctness hides structural debt: Cursor projects of 16,965 lines reach 91% correctness, yet carry 1,305 CodeScene and 3,193 SonarQube design issues.</a:t>
            </a:r>
          </a:p>
          <a:p>
            <a:pPr algn="l">
              <a:spcAft>
                <a:spcPts val="0"/>
              </a:spcAft>
            </a:pPr>
            <a:r>
              <a:rPr sz="1200" b="0" i="1">
                <a:solidFill>
                  <a:srgbClr val="5C6773"/>
                </a:solidFill>
                <a:latin typeface="Calibri"/>
              </a:rPr>
              <a:t>Kashif et al., 2026</a:t>
            </a:r>
          </a:p>
        </p:txBody>
      </p:sp>
      <p:sp>
        <p:nvSpPr>
          <p:cNvPr id="72" name="Rounded Rectangle 71"/>
          <p:cNvSpPr/>
          <p:nvPr/>
        </p:nvSpPr>
        <p:spPr>
          <a:xfrm>
            <a:off x="612648" y="3072384"/>
            <a:ext cx="10972800"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Hexagon 72"/>
          <p:cNvSpPr/>
          <p:nvPr/>
        </p:nvSpPr>
        <p:spPr>
          <a:xfrm>
            <a:off x="795528" y="3300984"/>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3</a:t>
            </a:r>
          </a:p>
        </p:txBody>
      </p:sp>
      <p:sp>
        <p:nvSpPr>
          <p:cNvPr id="74" name="TextBox 73"/>
          <p:cNvSpPr txBox="1"/>
          <p:nvPr/>
        </p:nvSpPr>
        <p:spPr>
          <a:xfrm>
            <a:off x="1481328" y="3072384"/>
            <a:ext cx="9921240"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Structure decays over long horizons: erosion grows in 77% of trajectories, and agent code is 2.3× more verbose than human open-source Python.</a:t>
            </a:r>
          </a:p>
          <a:p>
            <a:pPr algn="l">
              <a:spcAft>
                <a:spcPts val="0"/>
              </a:spcAft>
            </a:pPr>
            <a:r>
              <a:rPr sz="1200" b="0" i="1">
                <a:solidFill>
                  <a:srgbClr val="5C6773"/>
                </a:solidFill>
                <a:latin typeface="Calibri"/>
              </a:rPr>
              <a:t>SlopCodeBench, Orlanski et al., 2026</a:t>
            </a:r>
          </a:p>
        </p:txBody>
      </p:sp>
      <p:sp>
        <p:nvSpPr>
          <p:cNvPr id="75" name="Rounded Rectangle 74"/>
          <p:cNvSpPr/>
          <p:nvPr/>
        </p:nvSpPr>
        <p:spPr>
          <a:xfrm>
            <a:off x="612648" y="4151376"/>
            <a:ext cx="10972800"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Hexagon 75"/>
          <p:cNvSpPr/>
          <p:nvPr/>
        </p:nvSpPr>
        <p:spPr>
          <a:xfrm>
            <a:off x="795528" y="4379976"/>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4</a:t>
            </a:r>
          </a:p>
        </p:txBody>
      </p:sp>
      <p:sp>
        <p:nvSpPr>
          <p:cNvPr id="77" name="TextBox 76"/>
          <p:cNvSpPr txBox="1"/>
          <p:nvPr/>
        </p:nvSpPr>
        <p:spPr>
          <a:xfrm>
            <a:off x="1481328" y="4151376"/>
            <a:ext cx="9921240"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AI defects have a shape, broken abstractions, duplication, over-engineering, and a Volume-Quality Inverse Law: more code generated, more structure decayed.</a:t>
            </a:r>
          </a:p>
          <a:p>
            <a:pPr algn="l">
              <a:spcAft>
                <a:spcPts val="0"/>
              </a:spcAft>
            </a:pPr>
            <a:r>
              <a:rPr sz="1200" b="0" i="1">
                <a:solidFill>
                  <a:srgbClr val="5C6773"/>
                </a:solidFill>
                <a:latin typeface="Calibri"/>
              </a:rPr>
              <a:t>Zhu, Yuecai et al., 2026</a:t>
            </a:r>
          </a:p>
        </p:txBody>
      </p:sp>
      <p:sp>
        <p:nvSpPr>
          <p:cNvPr id="78" name="Rounded Rectangle 77"/>
          <p:cNvSpPr/>
          <p:nvPr/>
        </p:nvSpPr>
        <p:spPr>
          <a:xfrm>
            <a:off x="612648" y="5230368"/>
            <a:ext cx="10972800"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Hexagon 78"/>
          <p:cNvSpPr/>
          <p:nvPr/>
        </p:nvSpPr>
        <p:spPr>
          <a:xfrm>
            <a:off x="795528" y="5458968"/>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5</a:t>
            </a:r>
          </a:p>
        </p:txBody>
      </p:sp>
      <p:sp>
        <p:nvSpPr>
          <p:cNvPr id="80" name="TextBox 79"/>
          <p:cNvSpPr txBox="1"/>
          <p:nvPr/>
        </p:nvSpPr>
        <p:spPr>
          <a:xfrm>
            <a:off x="1481328" y="5230368"/>
            <a:ext cx="9921240"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Agents are poor at repairing structure: 4.3% success on dependency control, 15.2% on responsibility decomposition, over 21 C++ probes.</a:t>
            </a:r>
          </a:p>
          <a:p>
            <a:pPr algn="l">
              <a:spcAft>
                <a:spcPts val="0"/>
              </a:spcAft>
            </a:pPr>
            <a:r>
              <a:rPr sz="1200" b="0" i="1">
                <a:solidFill>
                  <a:srgbClr val="5C6773"/>
                </a:solidFill>
                <a:latin typeface="Calibri"/>
              </a:rPr>
              <a:t>Zhu, Haichao et al., NITR, 2026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2</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State of the art</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State of the art: measurement and attribution</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8</a:t>
            </a:r>
          </a:p>
        </p:txBody>
      </p:sp>
      <p:sp>
        <p:nvSpPr>
          <p:cNvPr id="66" name="Rounded Rectangle 65"/>
          <p:cNvSpPr/>
          <p:nvPr/>
        </p:nvSpPr>
        <p:spPr>
          <a:xfrm>
            <a:off x="612648" y="914400"/>
            <a:ext cx="10972800"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Hexagon 66"/>
          <p:cNvSpPr/>
          <p:nvPr/>
        </p:nvSpPr>
        <p:spPr>
          <a:xfrm>
            <a:off x="795528" y="114300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1</a:t>
            </a:r>
          </a:p>
        </p:txBody>
      </p:sp>
      <p:sp>
        <p:nvSpPr>
          <p:cNvPr id="68" name="TextBox 67"/>
          <p:cNvSpPr txBox="1"/>
          <p:nvPr/>
        </p:nvSpPr>
        <p:spPr>
          <a:xfrm>
            <a:off x="1481328" y="914400"/>
            <a:ext cx="9921240"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A language model can detect SOLID violations. SRP is easiest, DIP hardest, and accuracy falls as complexity rises. This is the technique our judge uses.</a:t>
            </a:r>
          </a:p>
          <a:p>
            <a:pPr algn="l">
              <a:spcAft>
                <a:spcPts val="0"/>
              </a:spcAft>
            </a:pPr>
            <a:r>
              <a:rPr sz="1200" b="0" i="1">
                <a:solidFill>
                  <a:srgbClr val="5C6773"/>
                </a:solidFill>
                <a:latin typeface="Calibri"/>
              </a:rPr>
              <a:t>Pehlivan et al., 2025</a:t>
            </a:r>
          </a:p>
        </p:txBody>
      </p:sp>
      <p:sp>
        <p:nvSpPr>
          <p:cNvPr id="69" name="Rounded Rectangle 68"/>
          <p:cNvSpPr/>
          <p:nvPr/>
        </p:nvSpPr>
        <p:spPr>
          <a:xfrm>
            <a:off x="612648" y="1993392"/>
            <a:ext cx="10972800"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Hexagon 69"/>
          <p:cNvSpPr/>
          <p:nvPr/>
        </p:nvSpPr>
        <p:spPr>
          <a:xfrm>
            <a:off x="795528" y="2221992"/>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2</a:t>
            </a:r>
          </a:p>
        </p:txBody>
      </p:sp>
      <p:sp>
        <p:nvSpPr>
          <p:cNvPr id="71" name="TextBox 70"/>
          <p:cNvSpPr txBox="1"/>
          <p:nvPr/>
        </p:nvSpPr>
        <p:spPr>
          <a:xfrm>
            <a:off x="1481328" y="1993392"/>
            <a:ext cx="9921240"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Differences between agents largely vanish once normalised for churn, and a merge does not guarantee structural quality.</a:t>
            </a:r>
          </a:p>
          <a:p>
            <a:pPr algn="l">
              <a:spcAft>
                <a:spcPts val="0"/>
              </a:spcAft>
            </a:pPr>
            <a:r>
              <a:rPr sz="1200" b="0" i="1">
                <a:solidFill>
                  <a:srgbClr val="5C6773"/>
                </a:solidFill>
                <a:latin typeface="Calibri"/>
              </a:rPr>
              <a:t>Cynthia et al., 2026</a:t>
            </a:r>
          </a:p>
        </p:txBody>
      </p:sp>
      <p:sp>
        <p:nvSpPr>
          <p:cNvPr id="72" name="Rounded Rectangle 71"/>
          <p:cNvSpPr/>
          <p:nvPr/>
        </p:nvSpPr>
        <p:spPr>
          <a:xfrm>
            <a:off x="612648" y="3072384"/>
            <a:ext cx="10972800"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Hexagon 72"/>
          <p:cNvSpPr/>
          <p:nvPr/>
        </p:nvSpPr>
        <p:spPr>
          <a:xfrm>
            <a:off x="795528" y="3300984"/>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3</a:t>
            </a:r>
          </a:p>
        </p:txBody>
      </p:sp>
      <p:sp>
        <p:nvSpPr>
          <p:cNvPr id="74" name="TextBox 73"/>
          <p:cNvSpPr txBox="1"/>
          <p:nvPr/>
        </p:nvSpPr>
        <p:spPr>
          <a:xfrm>
            <a:off x="1481328" y="3072384"/>
            <a:ext cx="9921240"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After a merge, humans do almost all the maintenance on agent-written files, so maintainability is a human cost.</a:t>
            </a:r>
          </a:p>
          <a:p>
            <a:pPr algn="l">
              <a:spcAft>
                <a:spcPts val="0"/>
              </a:spcAft>
            </a:pPr>
            <a:r>
              <a:rPr sz="1200" b="0" i="1">
                <a:solidFill>
                  <a:srgbClr val="5C6773"/>
                </a:solidFill>
                <a:latin typeface="Calibri"/>
              </a:rPr>
              <a:t>Sawada et al., 2026</a:t>
            </a:r>
          </a:p>
        </p:txBody>
      </p:sp>
      <p:sp>
        <p:nvSpPr>
          <p:cNvPr id="75" name="Rounded Rectangle 74"/>
          <p:cNvSpPr/>
          <p:nvPr/>
        </p:nvSpPr>
        <p:spPr>
          <a:xfrm>
            <a:off x="612648" y="4151376"/>
            <a:ext cx="10972800"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Hexagon 75"/>
          <p:cNvSpPr/>
          <p:nvPr/>
        </p:nvSpPr>
        <p:spPr>
          <a:xfrm>
            <a:off x="795528" y="4379976"/>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4</a:t>
            </a:r>
          </a:p>
        </p:txBody>
      </p:sp>
      <p:sp>
        <p:nvSpPr>
          <p:cNvPr id="77" name="TextBox 76"/>
          <p:cNvSpPr txBox="1"/>
          <p:nvPr/>
        </p:nvSpPr>
        <p:spPr>
          <a:xfrm>
            <a:off x="1481328" y="4151376"/>
            <a:ext cx="9921240"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The harness around the model, its tools and context management, affects quality independently of the LLM.</a:t>
            </a:r>
          </a:p>
          <a:p>
            <a:pPr algn="l">
              <a:spcAft>
                <a:spcPts val="0"/>
              </a:spcAft>
            </a:pPr>
            <a:r>
              <a:rPr sz="1200" b="0" i="1">
                <a:solidFill>
                  <a:srgbClr val="5C6773"/>
                </a:solidFill>
                <a:latin typeface="Calibri"/>
              </a:rPr>
              <a:t>Ben Sghaier et al., 2026</a:t>
            </a:r>
          </a:p>
        </p:txBody>
      </p:sp>
      <p:sp>
        <p:nvSpPr>
          <p:cNvPr id="78" name="Rounded Rectangle 77"/>
          <p:cNvSpPr/>
          <p:nvPr/>
        </p:nvSpPr>
        <p:spPr>
          <a:xfrm>
            <a:off x="612648" y="5230368"/>
            <a:ext cx="10972800"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Hexagon 78"/>
          <p:cNvSpPr/>
          <p:nvPr/>
        </p:nvSpPr>
        <p:spPr>
          <a:xfrm>
            <a:off x="795528" y="5458968"/>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5</a:t>
            </a:r>
          </a:p>
        </p:txBody>
      </p:sp>
      <p:sp>
        <p:nvSpPr>
          <p:cNvPr id="80" name="TextBox 79"/>
          <p:cNvSpPr txBox="1"/>
          <p:nvPr/>
        </p:nvSpPr>
        <p:spPr>
          <a:xfrm>
            <a:off x="1481328" y="5230368"/>
            <a:ext cx="9921240"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“Vibe architecting”: agents make implicit architectural choices from prompt nuance, giving 141 to 827 lines for one and the same task.</a:t>
            </a:r>
          </a:p>
          <a:p>
            <a:pPr algn="l">
              <a:spcAft>
                <a:spcPts val="0"/>
              </a:spcAft>
            </a:pPr>
            <a:r>
              <a:rPr sz="1200" b="0" i="1">
                <a:solidFill>
                  <a:srgbClr val="5C6773"/>
                </a:solidFill>
                <a:latin typeface="Calibri"/>
              </a:rPr>
              <a:t>Konrad et al., 2026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2</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State of the art</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600" b="1" i="0">
                <a:solidFill>
                  <a:srgbClr val="202A36"/>
                </a:solidFill>
                <a:latin typeface="Arial"/>
              </a:rPr>
              <a:t>Related work: what was done, found, and where it stops</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9</a:t>
            </a:r>
          </a:p>
        </p:txBody>
      </p:sp>
      <p:graphicFrame>
        <p:nvGraphicFramePr>
          <p:cNvPr id="66" name="Table 65"/>
          <p:cNvGraphicFramePr>
            <a:graphicFrameLocks noGrp="1"/>
          </p:cNvGraphicFramePr>
          <p:nvPr/>
        </p:nvGraphicFramePr>
        <p:xfrm>
          <a:off x="612648" y="914400"/>
          <a:ext cx="10972800" cy="3697224"/>
        </p:xfrm>
        <a:graphic>
          <a:graphicData uri="http://schemas.openxmlformats.org/drawingml/2006/table">
            <a:tbl>
              <a:tblPr>
                <a:tableStyleId>{2D5ABB26-0587-4C30-8999-92F81FD0307C}</a:tableStyleId>
              </a:tblPr>
              <a:tblGrid>
                <a:gridCol w="187452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gridCol w="3063240">
                  <a:extLst>
                    <a:ext uri="{9D8B030D-6E8A-4147-A177-3AD203B41FA5}">
                      <a16:colId xmlns:a16="http://schemas.microsoft.com/office/drawing/2014/main" val="20003"/>
                    </a:ext>
                  </a:extLst>
                </a:gridCol>
              </a:tblGrid>
              <a:tr h="347472">
                <a:tc>
                  <a:txBody>
                    <a:bodyPr/>
                    <a:lstStyle/>
                    <a:p>
                      <a:pPr algn="l">
                        <a:spcAft>
                          <a:spcPts val="0"/>
                        </a:spcAft>
                      </a:pPr>
                      <a:r>
                        <a:rPr sz="1150" b="1" i="0">
                          <a:solidFill>
                            <a:srgbClr val="FFFFFF"/>
                          </a:solidFill>
                          <a:latin typeface="Calibri"/>
                        </a:rPr>
                        <a:t>Study</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150" b="1" i="0">
                          <a:solidFill>
                            <a:srgbClr val="FFFFFF"/>
                          </a:solidFill>
                          <a:latin typeface="Calibri"/>
                        </a:rPr>
                        <a:t>What it did</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150" b="1" i="0">
                          <a:solidFill>
                            <a:srgbClr val="FFFFFF"/>
                          </a:solidFill>
                          <a:latin typeface="Calibri"/>
                        </a:rPr>
                        <a:t>What it found</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150" b="1" i="0">
                          <a:solidFill>
                            <a:srgbClr val="FFFFFF"/>
                          </a:solidFill>
                          <a:latin typeface="Calibri"/>
                        </a:rPr>
                        <a:t>Where it stops</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478536">
                <a:tc>
                  <a:txBody>
                    <a:bodyPr/>
                    <a:lstStyle/>
                    <a:p>
                      <a:pPr algn="l">
                        <a:spcAft>
                          <a:spcPts val="0"/>
                        </a:spcAft>
                      </a:pPr>
                      <a:r>
                        <a:rPr sz="1150" b="1" i="0">
                          <a:solidFill>
                            <a:srgbClr val="202A36"/>
                          </a:solidFill>
                          <a:latin typeface="Calibri"/>
                        </a:rPr>
                        <a:t>Pehlivan et al., 2025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150" b="0" i="0">
                          <a:solidFill>
                            <a:srgbClr val="2B3440"/>
                          </a:solidFill>
                          <a:latin typeface="Calibri"/>
                        </a:rPr>
                        <a:t>4 language models detect SOLID violations in 240 examples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150" b="0" i="0">
                          <a:solidFill>
                            <a:srgbClr val="2B3440"/>
                          </a:solidFill>
                          <a:latin typeface="Calibri"/>
                        </a:rPr>
                        <a:t>SRP easiest to detect, DIP hardest; accuracy falls with complexity</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150" b="0" i="0">
                          <a:solidFill>
                            <a:srgbClr val="2B3440"/>
                          </a:solidFill>
                          <a:latin typeface="Calibri"/>
                        </a:rPr>
                        <a:t>Detection on examples, not measurement of agent contributions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478536">
                <a:tc>
                  <a:txBody>
                    <a:bodyPr/>
                    <a:lstStyle/>
                    <a:p>
                      <a:pPr algn="l">
                        <a:spcAft>
                          <a:spcPts val="0"/>
                        </a:spcAft>
                      </a:pPr>
                      <a:r>
                        <a:rPr sz="1150" b="1" i="0">
                          <a:solidFill>
                            <a:srgbClr val="202A36"/>
                          </a:solidFill>
                          <a:latin typeface="Calibri"/>
                        </a:rPr>
                        <a:t>Kashif et al., 2026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150" b="0" i="0">
                          <a:solidFill>
                            <a:srgbClr val="2B3440"/>
                          </a:solidFill>
                          <a:latin typeface="Calibri"/>
                        </a:rPr>
                        <a:t>Design issues in projects generated by Cursor</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150" b="0" i="0">
                          <a:solidFill>
                            <a:srgbClr val="2B3440"/>
                          </a:solidFill>
                          <a:latin typeface="Calibri"/>
                        </a:rPr>
                        <a:t>91% functional correctness, yet 1,305 CodeScene and 3,193 SonarQube issues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150" b="0" i="0">
                          <a:solidFill>
                            <a:srgbClr val="2B3440"/>
                          </a:solidFill>
                          <a:latin typeface="Calibri"/>
                        </a:rPr>
                        <a:t>One tool; no comparison between agents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478536">
                <a:tc>
                  <a:txBody>
                    <a:bodyPr/>
                    <a:lstStyle/>
                    <a:p>
                      <a:pPr algn="l">
                        <a:spcAft>
                          <a:spcPts val="0"/>
                        </a:spcAft>
                      </a:pPr>
                      <a:r>
                        <a:rPr sz="1150" b="1" i="0">
                          <a:solidFill>
                            <a:srgbClr val="202A36"/>
                          </a:solidFill>
                          <a:latin typeface="Calibri"/>
                        </a:rPr>
                        <a:t>Konrad et al., 2026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150" b="0" i="0">
                          <a:solidFill>
                            <a:srgbClr val="2B3440"/>
                          </a:solidFill>
                          <a:latin typeface="Calibri"/>
                        </a:rPr>
                        <a:t>Implicit architectural choices of several agents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150" b="0" i="0">
                          <a:solidFill>
                            <a:srgbClr val="2B3440"/>
                          </a:solidFill>
                          <a:latin typeface="Calibri"/>
                        </a:rPr>
                        <a:t>“Vibe architecting”: one task gave 141 to 827 lines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150" b="0" i="0">
                          <a:solidFill>
                            <a:srgbClr val="2B3440"/>
                          </a:solidFill>
                          <a:latin typeface="Calibri"/>
                        </a:rPr>
                        <a:t>Qualitative; no measurement over a corpus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478536">
                <a:tc>
                  <a:txBody>
                    <a:bodyPr/>
                    <a:lstStyle/>
                    <a:p>
                      <a:pPr algn="l">
                        <a:spcAft>
                          <a:spcPts val="0"/>
                        </a:spcAft>
                      </a:pPr>
                      <a:r>
                        <a:rPr sz="1150" b="1" i="0">
                          <a:solidFill>
                            <a:srgbClr val="202A36"/>
                          </a:solidFill>
                          <a:latin typeface="Calibri"/>
                        </a:rPr>
                        <a:t>Whitfill et al. (METR), 2026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150" b="0" i="0">
                          <a:solidFill>
                            <a:srgbClr val="2B3440"/>
                          </a:solidFill>
                          <a:latin typeface="Calibri"/>
                        </a:rPr>
                        <a:t>Maintainer merge decisions on SWE-bench Verified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150" b="0" i="0">
                          <a:solidFill>
                            <a:srgbClr val="2B3440"/>
                          </a:solidFill>
                          <a:latin typeface="Calibri"/>
                        </a:rPr>
                        <a:t>About half of passing patches would not be merged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150" b="0" i="0">
                          <a:solidFill>
                            <a:srgbClr val="2B3440"/>
                          </a:solidFill>
                          <a:latin typeface="Calibri"/>
                        </a:rPr>
                        <a:t>A merge verdict only, no design measure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r h="478536">
                <a:tc>
                  <a:txBody>
                    <a:bodyPr/>
                    <a:lstStyle/>
                    <a:p>
                      <a:pPr algn="l">
                        <a:spcAft>
                          <a:spcPts val="0"/>
                        </a:spcAft>
                      </a:pPr>
                      <a:r>
                        <a:rPr sz="1150" b="1" i="0">
                          <a:solidFill>
                            <a:srgbClr val="202A36"/>
                          </a:solidFill>
                          <a:latin typeface="Calibri"/>
                        </a:rPr>
                        <a:t>Zhu, Haichao et al. (NITR), 2026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150" b="0" i="0">
                          <a:solidFill>
                            <a:srgbClr val="2B3440"/>
                          </a:solidFill>
                          <a:latin typeface="Calibri"/>
                        </a:rPr>
                        <a:t>Maintainability tasks with a structural oracle, 21 C++ probes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150" b="0" i="0">
                          <a:solidFill>
                            <a:srgbClr val="2B3440"/>
                          </a:solidFill>
                          <a:latin typeface="Calibri"/>
                        </a:rPr>
                        <a:t>4.3% success on dependency control, 15.2% on responsibility decomposition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150" b="0" i="0">
                          <a:solidFill>
                            <a:srgbClr val="2B3440"/>
                          </a:solidFill>
                          <a:latin typeface="Calibri"/>
                        </a:rPr>
                        <a:t>Benchmark tasks in one language, not real contributions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5"/>
                  </a:ext>
                </a:extLst>
              </a:tr>
              <a:tr h="478536">
                <a:tc>
                  <a:txBody>
                    <a:bodyPr/>
                    <a:lstStyle/>
                    <a:p>
                      <a:pPr algn="l">
                        <a:spcAft>
                          <a:spcPts val="0"/>
                        </a:spcAft>
                      </a:pPr>
                      <a:r>
                        <a:rPr sz="1150" b="1" i="0">
                          <a:solidFill>
                            <a:srgbClr val="202A36"/>
                          </a:solidFill>
                          <a:latin typeface="Calibri"/>
                        </a:rPr>
                        <a:t>Orlanski et al. (SlopCodeBench), 2026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150" b="0" i="0">
                          <a:solidFill>
                            <a:srgbClr val="2B3440"/>
                          </a:solidFill>
                          <a:latin typeface="Calibri"/>
                        </a:rPr>
                        <a:t>15 agents, erosion across successive checkpoints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150" b="0" i="0">
                          <a:solidFill>
                            <a:srgbClr val="2B3440"/>
                          </a:solidFill>
                          <a:latin typeface="Calibri"/>
                        </a:rPr>
                        <a:t>Erosion rises in 77% of trajectories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150" b="0" i="0">
                          <a:solidFill>
                            <a:srgbClr val="2B3440"/>
                          </a:solidFill>
                          <a:latin typeface="Calibri"/>
                        </a:rPr>
                        <a:t>Iterative benchmark tasks; not SOLID-specific</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6"/>
                  </a:ext>
                </a:extLst>
              </a:tr>
              <a:tr h="478536">
                <a:tc>
                  <a:txBody>
                    <a:bodyPr/>
                    <a:lstStyle/>
                    <a:p>
                      <a:pPr algn="l">
                        <a:spcAft>
                          <a:spcPts val="0"/>
                        </a:spcAft>
                      </a:pPr>
                      <a:r>
                        <a:rPr sz="1150" b="1" i="0">
                          <a:solidFill>
                            <a:srgbClr val="202A36"/>
                          </a:solidFill>
                          <a:latin typeface="Calibri"/>
                        </a:rPr>
                        <a:t>Cynthia et al., 2026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150" b="0" i="0">
                          <a:solidFill>
                            <a:srgbClr val="2B3440"/>
                          </a:solidFill>
                          <a:latin typeface="Calibri"/>
                        </a:rPr>
                        <a:t>SonarQube issues in merged agent bug-fix pull requests (AIDev)</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150" b="0" i="0">
                          <a:solidFill>
                            <a:srgbClr val="2B3440"/>
                          </a:solidFill>
                          <a:latin typeface="Calibri"/>
                        </a:rPr>
                        <a:t>Agent differences vanish after churn normalisation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150" b="0" i="0">
                          <a:solidFill>
                            <a:srgbClr val="2B3440"/>
                          </a:solidFill>
                          <a:latin typeface="Calibri"/>
                        </a:rPr>
                        <a:t>Merged pull requests only; bug fixes only</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7"/>
                  </a:ext>
                </a:extLst>
              </a:tr>
            </a:tbl>
          </a:graphicData>
        </a:graphic>
      </p:graphicFrame>
      <p:sp>
        <p:nvSpPr>
          <p:cNvPr id="67" name="Rounded Rectangle 66"/>
          <p:cNvSpPr/>
          <p:nvPr/>
        </p:nvSpPr>
        <p:spPr>
          <a:xfrm>
            <a:off x="612648" y="4794504"/>
            <a:ext cx="10972800" cy="68580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Hexagon 67"/>
          <p:cNvSpPr/>
          <p:nvPr/>
        </p:nvSpPr>
        <p:spPr>
          <a:xfrm>
            <a:off x="813816" y="5000244"/>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252728" y="4794504"/>
            <a:ext cx="10149840" cy="68580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None of them measures SOLID adherence across several agents on real contributions, and none checks how far its detector can be trusted.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2</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State of the art</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600" b="1" i="0">
                <a:solidFill>
                  <a:srgbClr val="202A36"/>
                </a:solidFill>
                <a:latin typeface="Arial"/>
              </a:rPr>
              <a:t>Why this experiment: three limits in the literature</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10</a:t>
            </a:r>
          </a:p>
        </p:txBody>
      </p:sp>
      <p:sp>
        <p:nvSpPr>
          <p:cNvPr id="66" name="Rounded Rectangle 65"/>
          <p:cNvSpPr/>
          <p:nvPr/>
        </p:nvSpPr>
        <p:spPr>
          <a:xfrm>
            <a:off x="612648" y="914400"/>
            <a:ext cx="3520440" cy="452628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Hexagon 66"/>
          <p:cNvSpPr/>
          <p:nvPr/>
        </p:nvSpPr>
        <p:spPr>
          <a:xfrm>
            <a:off x="795528" y="109728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1</a:t>
            </a:r>
          </a:p>
        </p:txBody>
      </p:sp>
      <p:sp>
        <p:nvSpPr>
          <p:cNvPr id="68" name="TextBox 67"/>
          <p:cNvSpPr txBox="1"/>
          <p:nvPr/>
        </p:nvSpPr>
        <p:spPr>
          <a:xfrm>
            <a:off x="1527048" y="1024128"/>
            <a:ext cx="2468880" cy="603504"/>
          </a:xfrm>
          <a:prstGeom prst="rect">
            <a:avLst/>
          </a:prstGeom>
          <a:noFill/>
        </p:spPr>
        <p:txBody>
          <a:bodyPr wrap="square" lIns="45720" tIns="27432" rIns="45720" bIns="27432" anchor="ctr">
            <a:spAutoFit/>
          </a:bodyPr>
          <a:lstStyle/>
          <a:p>
            <a:pPr algn="l">
              <a:spcAft>
                <a:spcPts val="0"/>
              </a:spcAft>
            </a:pPr>
            <a:r>
              <a:rPr sz="1500" b="1" i="0">
                <a:solidFill>
                  <a:srgbClr val="202A36"/>
                </a:solidFill>
                <a:latin typeface="Arial"/>
              </a:rPr>
              <a:t>Real contributions at scale</a:t>
            </a:r>
          </a:p>
        </p:txBody>
      </p:sp>
      <p:sp>
        <p:nvSpPr>
          <p:cNvPr id="69" name="TextBox 68"/>
          <p:cNvSpPr txBox="1"/>
          <p:nvPr/>
        </p:nvSpPr>
        <p:spPr>
          <a:xfrm>
            <a:off x="795528" y="1810512"/>
            <a:ext cx="3154680" cy="274320"/>
          </a:xfrm>
          <a:prstGeom prst="rect">
            <a:avLst/>
          </a:prstGeom>
          <a:noFill/>
        </p:spPr>
        <p:txBody>
          <a:bodyPr wrap="square" lIns="18288" tIns="18288" rIns="18288" bIns="18288" anchor="t">
            <a:spAutoFit/>
          </a:bodyPr>
          <a:lstStyle/>
          <a:p>
            <a:pPr algn="l">
              <a:spcAft>
                <a:spcPts val="0"/>
              </a:spcAft>
            </a:pPr>
            <a:r>
              <a:rPr sz="1200" b="1" i="0">
                <a:solidFill>
                  <a:srgbClr val="34495E"/>
                </a:solidFill>
                <a:latin typeface="Arial"/>
              </a:rPr>
              <a:t>IN THE LITERATURE</a:t>
            </a:r>
          </a:p>
        </p:txBody>
      </p:sp>
      <p:sp>
        <p:nvSpPr>
          <p:cNvPr id="70" name="TextBox 69"/>
          <p:cNvSpPr txBox="1"/>
          <p:nvPr/>
        </p:nvSpPr>
        <p:spPr>
          <a:xfrm>
            <a:off x="795528" y="2084832"/>
            <a:ext cx="3154680" cy="1417320"/>
          </a:xfrm>
          <a:prstGeom prst="rect">
            <a:avLst/>
          </a:prstGeom>
          <a:noFill/>
        </p:spPr>
        <p:txBody>
          <a:bodyPr wrap="square" lIns="45720" tIns="27432" rIns="45720" bIns="27432" anchor="t">
            <a:spAutoFit/>
          </a:bodyPr>
          <a:lstStyle/>
          <a:p>
            <a:pPr algn="l">
              <a:spcAft>
                <a:spcPts val="0"/>
              </a:spcAft>
            </a:pPr>
            <a:r>
              <a:rPr sz="1300" b="0" i="0">
                <a:solidFill>
                  <a:srgbClr val="2B3440"/>
                </a:solidFill>
                <a:latin typeface="Calibri"/>
              </a:rPr>
              <a:t>Tests on functions and single issues, small task sets (20 problems, 21 probes) or newly generated projects, mostly in one language. Rejected and open work is ignored.</a:t>
            </a:r>
          </a:p>
        </p:txBody>
      </p:sp>
      <p:sp>
        <p:nvSpPr>
          <p:cNvPr id="71" name="TextBox 70"/>
          <p:cNvSpPr txBox="1"/>
          <p:nvPr/>
        </p:nvSpPr>
        <p:spPr>
          <a:xfrm>
            <a:off x="795528" y="3611880"/>
            <a:ext cx="3154680" cy="274320"/>
          </a:xfrm>
          <a:prstGeom prst="rect">
            <a:avLst/>
          </a:prstGeom>
          <a:noFill/>
        </p:spPr>
        <p:txBody>
          <a:bodyPr wrap="square" lIns="18288" tIns="18288" rIns="18288" bIns="18288" anchor="t">
            <a:spAutoFit/>
          </a:bodyPr>
          <a:lstStyle/>
          <a:p>
            <a:pPr algn="l">
              <a:spcAft>
                <a:spcPts val="0"/>
              </a:spcAft>
            </a:pPr>
            <a:r>
              <a:rPr sz="1200" b="1" i="0">
                <a:solidFill>
                  <a:srgbClr val="1F9C82"/>
                </a:solidFill>
                <a:latin typeface="Arial"/>
              </a:rPr>
              <a:t>IN THIS THESIS</a:t>
            </a:r>
          </a:p>
        </p:txBody>
      </p:sp>
      <p:sp>
        <p:nvSpPr>
          <p:cNvPr id="72" name="TextBox 71"/>
          <p:cNvSpPr txBox="1"/>
          <p:nvPr/>
        </p:nvSpPr>
        <p:spPr>
          <a:xfrm>
            <a:off x="795528" y="3886200"/>
            <a:ext cx="3154680" cy="1463040"/>
          </a:xfrm>
          <a:prstGeom prst="rect">
            <a:avLst/>
          </a:prstGeom>
          <a:noFill/>
        </p:spPr>
        <p:txBody>
          <a:bodyPr wrap="square" lIns="45720" tIns="27432" rIns="45720" bIns="27432" anchor="t">
            <a:spAutoFit/>
          </a:bodyPr>
          <a:lstStyle/>
          <a:p>
            <a:pPr algn="l">
              <a:spcAft>
                <a:spcPts val="0"/>
              </a:spcAft>
            </a:pPr>
            <a:r>
              <a:rPr sz="1350" b="1" i="0">
                <a:solidFill>
                  <a:srgbClr val="202A36"/>
                </a:solidFill>
                <a:latin typeface="Calibri"/>
              </a:rPr>
              <a:t>4,245 Java and 4,946 Python pull requests from AIDev: merged, rejected and open.</a:t>
            </a:r>
          </a:p>
        </p:txBody>
      </p:sp>
      <p:sp>
        <p:nvSpPr>
          <p:cNvPr id="73" name="Rounded Rectangle 72"/>
          <p:cNvSpPr/>
          <p:nvPr/>
        </p:nvSpPr>
        <p:spPr>
          <a:xfrm>
            <a:off x="4338828" y="914400"/>
            <a:ext cx="3520440" cy="452628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Hexagon 73"/>
          <p:cNvSpPr/>
          <p:nvPr/>
        </p:nvSpPr>
        <p:spPr>
          <a:xfrm>
            <a:off x="4521708" y="109728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2</a:t>
            </a:r>
          </a:p>
        </p:txBody>
      </p:sp>
      <p:sp>
        <p:nvSpPr>
          <p:cNvPr id="75" name="TextBox 74"/>
          <p:cNvSpPr txBox="1"/>
          <p:nvPr/>
        </p:nvSpPr>
        <p:spPr>
          <a:xfrm>
            <a:off x="5253228" y="1024128"/>
            <a:ext cx="2468880" cy="603504"/>
          </a:xfrm>
          <a:prstGeom prst="rect">
            <a:avLst/>
          </a:prstGeom>
          <a:noFill/>
        </p:spPr>
        <p:txBody>
          <a:bodyPr wrap="square" lIns="45720" tIns="27432" rIns="45720" bIns="27432" anchor="ctr">
            <a:spAutoFit/>
          </a:bodyPr>
          <a:lstStyle/>
          <a:p>
            <a:pPr algn="l">
              <a:spcAft>
                <a:spcPts val="0"/>
              </a:spcAft>
            </a:pPr>
            <a:r>
              <a:rPr sz="1500" b="1" i="0">
                <a:solidFill>
                  <a:srgbClr val="202A36"/>
                </a:solidFill>
                <a:latin typeface="Arial"/>
              </a:rPr>
              <a:t>Unmeasured validity of detectors</a:t>
            </a:r>
          </a:p>
        </p:txBody>
      </p:sp>
      <p:sp>
        <p:nvSpPr>
          <p:cNvPr id="76" name="TextBox 75"/>
          <p:cNvSpPr txBox="1"/>
          <p:nvPr/>
        </p:nvSpPr>
        <p:spPr>
          <a:xfrm>
            <a:off x="4521708" y="1810512"/>
            <a:ext cx="3154680" cy="274320"/>
          </a:xfrm>
          <a:prstGeom prst="rect">
            <a:avLst/>
          </a:prstGeom>
          <a:noFill/>
        </p:spPr>
        <p:txBody>
          <a:bodyPr wrap="square" lIns="18288" tIns="18288" rIns="18288" bIns="18288" anchor="t">
            <a:spAutoFit/>
          </a:bodyPr>
          <a:lstStyle/>
          <a:p>
            <a:pPr algn="l">
              <a:spcAft>
                <a:spcPts val="0"/>
              </a:spcAft>
            </a:pPr>
            <a:r>
              <a:rPr sz="1200" b="1" i="0">
                <a:solidFill>
                  <a:srgbClr val="34495E"/>
                </a:solidFill>
                <a:latin typeface="Arial"/>
              </a:rPr>
              <a:t>IN THE LITERATURE</a:t>
            </a:r>
          </a:p>
        </p:txBody>
      </p:sp>
      <p:sp>
        <p:nvSpPr>
          <p:cNvPr id="77" name="TextBox 76"/>
          <p:cNvSpPr txBox="1"/>
          <p:nvPr/>
        </p:nvSpPr>
        <p:spPr>
          <a:xfrm>
            <a:off x="4521708" y="2084832"/>
            <a:ext cx="3154680" cy="1417320"/>
          </a:xfrm>
          <a:prstGeom prst="rect">
            <a:avLst/>
          </a:prstGeom>
          <a:noFill/>
        </p:spPr>
        <p:txBody>
          <a:bodyPr wrap="square" lIns="45720" tIns="27432" rIns="45720" bIns="27432" anchor="t">
            <a:spAutoFit/>
          </a:bodyPr>
          <a:lstStyle/>
          <a:p>
            <a:pPr algn="l">
              <a:spcAft>
                <a:spcPts val="0"/>
              </a:spcAft>
            </a:pPr>
            <a:r>
              <a:rPr sz="1300" b="0" i="0">
                <a:solidFill>
                  <a:srgbClr val="2B3440"/>
                </a:solidFill>
                <a:latin typeface="Calibri"/>
              </a:rPr>
              <a:t>Language-model studies report accuracy on curated examples; tool studies count issues without checking that each one violates the principle.</a:t>
            </a:r>
          </a:p>
        </p:txBody>
      </p:sp>
      <p:sp>
        <p:nvSpPr>
          <p:cNvPr id="78" name="TextBox 77"/>
          <p:cNvSpPr txBox="1"/>
          <p:nvPr/>
        </p:nvSpPr>
        <p:spPr>
          <a:xfrm>
            <a:off x="4521708" y="3611880"/>
            <a:ext cx="3154680" cy="274320"/>
          </a:xfrm>
          <a:prstGeom prst="rect">
            <a:avLst/>
          </a:prstGeom>
          <a:noFill/>
        </p:spPr>
        <p:txBody>
          <a:bodyPr wrap="square" lIns="18288" tIns="18288" rIns="18288" bIns="18288" anchor="t">
            <a:spAutoFit/>
          </a:bodyPr>
          <a:lstStyle/>
          <a:p>
            <a:pPr algn="l">
              <a:spcAft>
                <a:spcPts val="0"/>
              </a:spcAft>
            </a:pPr>
            <a:r>
              <a:rPr sz="1200" b="1" i="0">
                <a:solidFill>
                  <a:srgbClr val="1F9C82"/>
                </a:solidFill>
                <a:latin typeface="Arial"/>
              </a:rPr>
              <a:t>IN THIS THESIS</a:t>
            </a:r>
          </a:p>
        </p:txBody>
      </p:sp>
      <p:sp>
        <p:nvSpPr>
          <p:cNvPr id="79" name="TextBox 78"/>
          <p:cNvSpPr txBox="1"/>
          <p:nvPr/>
        </p:nvSpPr>
        <p:spPr>
          <a:xfrm>
            <a:off x="4521708" y="3886200"/>
            <a:ext cx="3154680" cy="1463040"/>
          </a:xfrm>
          <a:prstGeom prst="rect">
            <a:avLst/>
          </a:prstGeom>
          <a:noFill/>
        </p:spPr>
        <p:txBody>
          <a:bodyPr wrap="square" lIns="45720" tIns="27432" rIns="45720" bIns="27432" anchor="t">
            <a:spAutoFit/>
          </a:bodyPr>
          <a:lstStyle/>
          <a:p>
            <a:pPr algn="l">
              <a:spcAft>
                <a:spcPts val="0"/>
              </a:spcAft>
            </a:pPr>
            <a:r>
              <a:rPr sz="1350" b="1" i="0">
                <a:solidFill>
                  <a:srgbClr val="202A36"/>
                </a:solidFill>
                <a:latin typeface="Calibri"/>
              </a:rPr>
              <a:t>One deterministic detector per principle, with precision and recall measured against a reading judge and published analysers.</a:t>
            </a:r>
          </a:p>
        </p:txBody>
      </p:sp>
      <p:sp>
        <p:nvSpPr>
          <p:cNvPr id="80" name="Rounded Rectangle 79"/>
          <p:cNvSpPr/>
          <p:nvPr/>
        </p:nvSpPr>
        <p:spPr>
          <a:xfrm>
            <a:off x="8065008" y="914400"/>
            <a:ext cx="3520440" cy="452628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Hexagon 80"/>
          <p:cNvSpPr/>
          <p:nvPr/>
        </p:nvSpPr>
        <p:spPr>
          <a:xfrm>
            <a:off x="8247888" y="109728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3</a:t>
            </a:r>
          </a:p>
        </p:txBody>
      </p:sp>
      <p:sp>
        <p:nvSpPr>
          <p:cNvPr id="82" name="TextBox 81"/>
          <p:cNvSpPr txBox="1"/>
          <p:nvPr/>
        </p:nvSpPr>
        <p:spPr>
          <a:xfrm>
            <a:off x="8979408" y="1024128"/>
            <a:ext cx="2468880" cy="603504"/>
          </a:xfrm>
          <a:prstGeom prst="rect">
            <a:avLst/>
          </a:prstGeom>
          <a:noFill/>
        </p:spPr>
        <p:txBody>
          <a:bodyPr wrap="square" lIns="45720" tIns="27432" rIns="45720" bIns="27432" anchor="ctr">
            <a:spAutoFit/>
          </a:bodyPr>
          <a:lstStyle/>
          <a:p>
            <a:pPr algn="l">
              <a:spcAft>
                <a:spcPts val="0"/>
              </a:spcAft>
            </a:pPr>
            <a:r>
              <a:rPr sz="1500" b="1" i="0">
                <a:solidFill>
                  <a:srgbClr val="202A36"/>
                </a:solidFill>
                <a:latin typeface="Arial"/>
              </a:rPr>
              <a:t>Agent-level comparison</a:t>
            </a:r>
          </a:p>
        </p:txBody>
      </p:sp>
      <p:sp>
        <p:nvSpPr>
          <p:cNvPr id="83" name="TextBox 82"/>
          <p:cNvSpPr txBox="1"/>
          <p:nvPr/>
        </p:nvSpPr>
        <p:spPr>
          <a:xfrm>
            <a:off x="8247888" y="1810512"/>
            <a:ext cx="3154680" cy="274320"/>
          </a:xfrm>
          <a:prstGeom prst="rect">
            <a:avLst/>
          </a:prstGeom>
          <a:noFill/>
        </p:spPr>
        <p:txBody>
          <a:bodyPr wrap="square" lIns="18288" tIns="18288" rIns="18288" bIns="18288" anchor="t">
            <a:spAutoFit/>
          </a:bodyPr>
          <a:lstStyle/>
          <a:p>
            <a:pPr algn="l">
              <a:spcAft>
                <a:spcPts val="0"/>
              </a:spcAft>
            </a:pPr>
            <a:r>
              <a:rPr sz="1200" b="1" i="0">
                <a:solidFill>
                  <a:srgbClr val="34495E"/>
                </a:solidFill>
                <a:latin typeface="Arial"/>
              </a:rPr>
              <a:t>IN THE LITERATURE</a:t>
            </a:r>
          </a:p>
        </p:txBody>
      </p:sp>
      <p:sp>
        <p:nvSpPr>
          <p:cNvPr id="84" name="TextBox 83"/>
          <p:cNvSpPr txBox="1"/>
          <p:nvPr/>
        </p:nvSpPr>
        <p:spPr>
          <a:xfrm>
            <a:off x="8247888" y="2084832"/>
            <a:ext cx="3154680" cy="1417320"/>
          </a:xfrm>
          <a:prstGeom prst="rect">
            <a:avLst/>
          </a:prstGeom>
          <a:noFill/>
        </p:spPr>
        <p:txBody>
          <a:bodyPr wrap="square" lIns="45720" tIns="27432" rIns="45720" bIns="27432" anchor="t">
            <a:spAutoFit/>
          </a:bodyPr>
          <a:lstStyle/>
          <a:p>
            <a:pPr algn="l">
              <a:spcAft>
                <a:spcPts val="0"/>
              </a:spcAft>
            </a:pPr>
            <a:r>
              <a:rPr sz="1300" b="0" i="0">
                <a:solidFill>
                  <a:srgbClr val="2B3440"/>
                </a:solidFill>
                <a:latin typeface="Calibri"/>
              </a:rPr>
              <a:t>The model is varied and the agent treated as fixed. AIDev studies look at merge rates, bug-fix issues and maintenance, not SOLID adherence.</a:t>
            </a:r>
          </a:p>
        </p:txBody>
      </p:sp>
      <p:sp>
        <p:nvSpPr>
          <p:cNvPr id="85" name="TextBox 84"/>
          <p:cNvSpPr txBox="1"/>
          <p:nvPr/>
        </p:nvSpPr>
        <p:spPr>
          <a:xfrm>
            <a:off x="8247888" y="3611880"/>
            <a:ext cx="3154680" cy="274320"/>
          </a:xfrm>
          <a:prstGeom prst="rect">
            <a:avLst/>
          </a:prstGeom>
          <a:noFill/>
        </p:spPr>
        <p:txBody>
          <a:bodyPr wrap="square" lIns="18288" tIns="18288" rIns="18288" bIns="18288" anchor="t">
            <a:spAutoFit/>
          </a:bodyPr>
          <a:lstStyle/>
          <a:p>
            <a:pPr algn="l">
              <a:spcAft>
                <a:spcPts val="0"/>
              </a:spcAft>
            </a:pPr>
            <a:r>
              <a:rPr sz="1200" b="1" i="0">
                <a:solidFill>
                  <a:srgbClr val="1F9C82"/>
                </a:solidFill>
                <a:latin typeface="Arial"/>
              </a:rPr>
              <a:t>IN THIS THESIS</a:t>
            </a:r>
          </a:p>
        </p:txBody>
      </p:sp>
      <p:sp>
        <p:nvSpPr>
          <p:cNvPr id="86" name="TextBox 85"/>
          <p:cNvSpPr txBox="1"/>
          <p:nvPr/>
        </p:nvSpPr>
        <p:spPr>
          <a:xfrm>
            <a:off x="8247888" y="3886200"/>
            <a:ext cx="3154680" cy="1463040"/>
          </a:xfrm>
          <a:prstGeom prst="rect">
            <a:avLst/>
          </a:prstGeom>
          <a:noFill/>
        </p:spPr>
        <p:txBody>
          <a:bodyPr wrap="square" lIns="45720" tIns="27432" rIns="45720" bIns="27432" anchor="t">
            <a:spAutoFit/>
          </a:bodyPr>
          <a:lstStyle/>
          <a:p>
            <a:pPr algn="l">
              <a:spcAft>
                <a:spcPts val="0"/>
              </a:spcAft>
            </a:pPr>
            <a:r>
              <a:rPr sz="1350" b="1" i="0">
                <a:solidFill>
                  <a:srgbClr val="202A36"/>
                </a:solidFill>
                <a:latin typeface="Calibri"/>
              </a:rPr>
              <a:t>Three agents on one shared corpus, per principle, adjusting for change size, repository and time.</a:t>
            </a:r>
          </a:p>
        </p:txBody>
      </p:sp>
      <p:sp>
        <p:nvSpPr>
          <p:cNvPr id="87" name="Rounded Rectangle 86"/>
          <p:cNvSpPr/>
          <p:nvPr/>
        </p:nvSpPr>
        <p:spPr>
          <a:xfrm>
            <a:off x="612648" y="5577840"/>
            <a:ext cx="10972800" cy="73152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Hexagon 87"/>
          <p:cNvSpPr/>
          <p:nvPr/>
        </p:nvSpPr>
        <p:spPr>
          <a:xfrm>
            <a:off x="813816" y="580644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1252728" y="5577840"/>
            <a:ext cx="10149840" cy="73152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Unit of analysis:</a:t>
            </a:r>
            <a:r>
              <a:rPr sz="1400" b="0" i="0">
                <a:solidFill>
                  <a:srgbClr val="FFFFFF"/>
                </a:solidFill>
                <a:latin typeface="Calibri"/>
              </a:rPr>
              <a:t> one pull request. </a:t>
            </a:r>
            <a:r>
              <a:rPr sz="1400" b="1" i="0">
                <a:solidFill>
                  <a:srgbClr val="FFFFFF"/>
                </a:solidFill>
                <a:latin typeface="Calibri"/>
              </a:rPr>
              <a:t>Object of measurement:</a:t>
            </a:r>
            <a:r>
              <a:rPr sz="1400" b="0" i="0">
                <a:solidFill>
                  <a:srgbClr val="FFFFFF"/>
                </a:solidFill>
                <a:latin typeface="Calibri"/>
              </a:rPr>
              <a:t> what that pull request did to the design of the code it touched.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2</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State of the art</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Research questions</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11</a:t>
            </a:r>
          </a:p>
        </p:txBody>
      </p:sp>
      <p:sp>
        <p:nvSpPr>
          <p:cNvPr id="66" name="Rounded Rectangle 65"/>
          <p:cNvSpPr/>
          <p:nvPr/>
        </p:nvSpPr>
        <p:spPr>
          <a:xfrm>
            <a:off x="612648" y="914400"/>
            <a:ext cx="10972800" cy="27432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ounded Rectangle 66"/>
          <p:cNvSpPr/>
          <p:nvPr/>
        </p:nvSpPr>
        <p:spPr>
          <a:xfrm>
            <a:off x="795528" y="1033272"/>
            <a:ext cx="868680" cy="384048"/>
          </a:xfrm>
          <a:prstGeom prst="roundRect">
            <a:avLst>
              <a:gd name="adj" fmla="val 20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795528" y="1033272"/>
            <a:ext cx="868680" cy="384048"/>
          </a:xfrm>
          <a:prstGeom prst="rect">
            <a:avLst/>
          </a:prstGeom>
          <a:noFill/>
        </p:spPr>
        <p:txBody>
          <a:bodyPr wrap="square" lIns="0" tIns="0" rIns="0" bIns="0" anchor="ctr">
            <a:spAutoFit/>
          </a:bodyPr>
          <a:lstStyle/>
          <a:p>
            <a:pPr algn="ctr">
              <a:spcAft>
                <a:spcPts val="0"/>
              </a:spcAft>
            </a:pPr>
            <a:r>
              <a:rPr sz="1600" b="1" i="0">
                <a:solidFill>
                  <a:srgbClr val="FFFFFF"/>
                </a:solidFill>
                <a:latin typeface="Arial"/>
              </a:rPr>
              <a:t>RQ1</a:t>
            </a:r>
          </a:p>
        </p:txBody>
      </p:sp>
      <p:sp>
        <p:nvSpPr>
          <p:cNvPr id="69" name="TextBox 68"/>
          <p:cNvSpPr txBox="1"/>
          <p:nvPr/>
        </p:nvSpPr>
        <p:spPr>
          <a:xfrm>
            <a:off x="1847088" y="1005840"/>
            <a:ext cx="8229600" cy="457200"/>
          </a:xfrm>
          <a:prstGeom prst="rect">
            <a:avLst/>
          </a:prstGeom>
          <a:noFill/>
        </p:spPr>
        <p:txBody>
          <a:bodyPr wrap="square" lIns="45720" tIns="27432" rIns="45720" bIns="27432" anchor="ctr">
            <a:spAutoFit/>
          </a:bodyPr>
          <a:lstStyle/>
          <a:p>
            <a:pPr algn="l">
              <a:spcAft>
                <a:spcPts val="0"/>
              </a:spcAft>
            </a:pPr>
            <a:r>
              <a:rPr sz="1700" b="1" i="0">
                <a:solidFill>
                  <a:srgbClr val="202A36"/>
                </a:solidFill>
                <a:latin typeface="Arial"/>
              </a:rPr>
              <a:t>Adherence and differentiation</a:t>
            </a:r>
          </a:p>
        </p:txBody>
      </p:sp>
      <p:sp>
        <p:nvSpPr>
          <p:cNvPr id="70" name="TextBox 69"/>
          <p:cNvSpPr txBox="1"/>
          <p:nvPr/>
        </p:nvSpPr>
        <p:spPr>
          <a:xfrm>
            <a:off x="795528" y="1508760"/>
            <a:ext cx="10607040" cy="731520"/>
          </a:xfrm>
          <a:prstGeom prst="rect">
            <a:avLst/>
          </a:prstGeom>
          <a:noFill/>
        </p:spPr>
        <p:txBody>
          <a:bodyPr wrap="square" lIns="45720" tIns="27432" rIns="45720" bIns="27432" anchor="t">
            <a:spAutoFit/>
          </a:bodyPr>
          <a:lstStyle/>
          <a:p>
            <a:pPr algn="l">
              <a:spcAft>
                <a:spcPts val="0"/>
              </a:spcAft>
            </a:pPr>
            <a:r>
              <a:rPr sz="1350" b="0" i="0">
                <a:solidFill>
                  <a:srgbClr val="2B3440"/>
                </a:solidFill>
                <a:latin typeface="Calibri"/>
              </a:rPr>
              <a:t>Do coding agents differ in how well their pull requests adhere to the five SOLID principles, and how many of the design problems in the code they touch do they introduce themselves, in Java and in Python?</a:t>
            </a:r>
          </a:p>
        </p:txBody>
      </p:sp>
      <p:sp>
        <p:nvSpPr>
          <p:cNvPr id="71" name="Rounded Rectangle 70"/>
          <p:cNvSpPr/>
          <p:nvPr/>
        </p:nvSpPr>
        <p:spPr>
          <a:xfrm>
            <a:off x="795528" y="2331720"/>
            <a:ext cx="2548890" cy="118872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86968" y="2377440"/>
            <a:ext cx="2366010" cy="1097280"/>
          </a:xfrm>
          <a:prstGeom prst="rect">
            <a:avLst/>
          </a:prstGeom>
          <a:noFill/>
        </p:spPr>
        <p:txBody>
          <a:bodyPr wrap="square" lIns="45720" tIns="27432" rIns="45720" bIns="27432" anchor="t">
            <a:spAutoFit/>
          </a:bodyPr>
          <a:lstStyle/>
          <a:p>
            <a:pPr algn="l">
              <a:spcAft>
                <a:spcPts val="300"/>
              </a:spcAft>
            </a:pPr>
            <a:r>
              <a:rPr sz="1350" b="1" i="0">
                <a:solidFill>
                  <a:srgbClr val="202A36"/>
                </a:solidFill>
                <a:latin typeface="Calibri"/>
              </a:rPr>
              <a:t>Agents</a:t>
            </a:r>
          </a:p>
          <a:p>
            <a:pPr algn="l">
              <a:spcAft>
                <a:spcPts val="0"/>
              </a:spcAft>
            </a:pPr>
            <a:r>
              <a:rPr sz="1250" b="0" i="0">
                <a:solidFill>
                  <a:srgbClr val="2B3440"/>
                </a:solidFill>
                <a:latin typeface="Calibri"/>
              </a:rPr>
              <a:t>Different structural footprints once repository and change size are controlled?</a:t>
            </a:r>
          </a:p>
        </p:txBody>
      </p:sp>
      <p:sp>
        <p:nvSpPr>
          <p:cNvPr id="73" name="Rounded Rectangle 72"/>
          <p:cNvSpPr/>
          <p:nvPr/>
        </p:nvSpPr>
        <p:spPr>
          <a:xfrm>
            <a:off x="3481578" y="2331720"/>
            <a:ext cx="2548890" cy="118872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3573018" y="2377440"/>
            <a:ext cx="2366010" cy="1097280"/>
          </a:xfrm>
          <a:prstGeom prst="rect">
            <a:avLst/>
          </a:prstGeom>
          <a:noFill/>
        </p:spPr>
        <p:txBody>
          <a:bodyPr wrap="square" lIns="45720" tIns="27432" rIns="45720" bIns="27432" anchor="t">
            <a:spAutoFit/>
          </a:bodyPr>
          <a:lstStyle/>
          <a:p>
            <a:pPr algn="l">
              <a:spcAft>
                <a:spcPts val="300"/>
              </a:spcAft>
            </a:pPr>
            <a:r>
              <a:rPr sz="1350" b="1" i="0">
                <a:solidFill>
                  <a:srgbClr val="202A36"/>
                </a:solidFill>
                <a:latin typeface="Calibri"/>
              </a:rPr>
              <a:t>Outcomes</a:t>
            </a:r>
          </a:p>
          <a:p>
            <a:pPr algn="l">
              <a:spcAft>
                <a:spcPts val="0"/>
              </a:spcAft>
            </a:pPr>
            <a:r>
              <a:rPr sz="1250" b="0" i="0">
                <a:solidFill>
                  <a:srgbClr val="2B3440"/>
                </a:solidFill>
                <a:latin typeface="Calibri"/>
              </a:rPr>
              <a:t>Merged, rejected, open: does the merge decision filter on design quality?</a:t>
            </a:r>
          </a:p>
        </p:txBody>
      </p:sp>
      <p:sp>
        <p:nvSpPr>
          <p:cNvPr id="75" name="Rounded Rectangle 74"/>
          <p:cNvSpPr/>
          <p:nvPr/>
        </p:nvSpPr>
        <p:spPr>
          <a:xfrm>
            <a:off x="6167628" y="2331720"/>
            <a:ext cx="2548890" cy="118872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259068" y="2377440"/>
            <a:ext cx="2366010" cy="1097280"/>
          </a:xfrm>
          <a:prstGeom prst="rect">
            <a:avLst/>
          </a:prstGeom>
          <a:noFill/>
        </p:spPr>
        <p:txBody>
          <a:bodyPr wrap="square" lIns="45720" tIns="27432" rIns="45720" bIns="27432" anchor="t">
            <a:spAutoFit/>
          </a:bodyPr>
          <a:lstStyle/>
          <a:p>
            <a:pPr algn="l">
              <a:spcAft>
                <a:spcPts val="300"/>
              </a:spcAft>
            </a:pPr>
            <a:r>
              <a:rPr sz="1350" b="1" i="0">
                <a:solidFill>
                  <a:srgbClr val="202A36"/>
                </a:solidFill>
                <a:latin typeface="Calibri"/>
              </a:rPr>
              <a:t>Locus of risk</a:t>
            </a:r>
          </a:p>
          <a:p>
            <a:pPr algn="l">
              <a:spcAft>
                <a:spcPts val="0"/>
              </a:spcAft>
            </a:pPr>
            <a:r>
              <a:rPr sz="1250" b="0" i="0">
                <a:solidFill>
                  <a:srgbClr val="2B3440"/>
                </a:solidFill>
                <a:latin typeface="Calibri"/>
              </a:rPr>
              <a:t>Inside one unit or between units: violations present vs introduced</a:t>
            </a:r>
          </a:p>
        </p:txBody>
      </p:sp>
      <p:sp>
        <p:nvSpPr>
          <p:cNvPr id="77" name="Rounded Rectangle 76"/>
          <p:cNvSpPr/>
          <p:nvPr/>
        </p:nvSpPr>
        <p:spPr>
          <a:xfrm>
            <a:off x="8853678" y="2331720"/>
            <a:ext cx="2548890" cy="118872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8945118" y="2377440"/>
            <a:ext cx="2366010" cy="1097280"/>
          </a:xfrm>
          <a:prstGeom prst="rect">
            <a:avLst/>
          </a:prstGeom>
          <a:noFill/>
        </p:spPr>
        <p:txBody>
          <a:bodyPr wrap="square" lIns="45720" tIns="27432" rIns="45720" bIns="27432" anchor="t">
            <a:spAutoFit/>
          </a:bodyPr>
          <a:lstStyle/>
          <a:p>
            <a:pPr algn="l">
              <a:spcAft>
                <a:spcPts val="300"/>
              </a:spcAft>
            </a:pPr>
            <a:r>
              <a:rPr sz="1350" b="1" i="0">
                <a:solidFill>
                  <a:srgbClr val="202A36"/>
                </a:solidFill>
                <a:latin typeface="Calibri"/>
              </a:rPr>
              <a:t>Both languages</a:t>
            </a:r>
          </a:p>
          <a:p>
            <a:pPr algn="l">
              <a:spcAft>
                <a:spcPts val="0"/>
              </a:spcAft>
            </a:pPr>
            <a:r>
              <a:rPr sz="1250" b="0" i="0">
                <a:solidFill>
                  <a:srgbClr val="2B3440"/>
                </a:solidFill>
                <a:latin typeface="Calibri"/>
              </a:rPr>
              <a:t>Which answers hold in Java and in Python? Only those count as general</a:t>
            </a:r>
          </a:p>
        </p:txBody>
      </p:sp>
      <p:sp>
        <p:nvSpPr>
          <p:cNvPr id="79" name="Rounded Rectangle 78"/>
          <p:cNvSpPr/>
          <p:nvPr/>
        </p:nvSpPr>
        <p:spPr>
          <a:xfrm>
            <a:off x="612648" y="3840480"/>
            <a:ext cx="10972800" cy="246888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ounded Rectangle 79"/>
          <p:cNvSpPr/>
          <p:nvPr/>
        </p:nvSpPr>
        <p:spPr>
          <a:xfrm>
            <a:off x="795528" y="3959352"/>
            <a:ext cx="868680" cy="384048"/>
          </a:xfrm>
          <a:prstGeom prst="roundRect">
            <a:avLst>
              <a:gd name="adj" fmla="val 20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795528" y="3959352"/>
            <a:ext cx="868680" cy="384048"/>
          </a:xfrm>
          <a:prstGeom prst="rect">
            <a:avLst/>
          </a:prstGeom>
          <a:noFill/>
        </p:spPr>
        <p:txBody>
          <a:bodyPr wrap="square" lIns="0" tIns="0" rIns="0" bIns="0" anchor="ctr">
            <a:spAutoFit/>
          </a:bodyPr>
          <a:lstStyle/>
          <a:p>
            <a:pPr algn="ctr">
              <a:spcAft>
                <a:spcPts val="0"/>
              </a:spcAft>
            </a:pPr>
            <a:r>
              <a:rPr sz="1600" b="1" i="0">
                <a:solidFill>
                  <a:srgbClr val="FFFFFF"/>
                </a:solidFill>
                <a:latin typeface="Arial"/>
              </a:rPr>
              <a:t>RQ2</a:t>
            </a:r>
          </a:p>
        </p:txBody>
      </p:sp>
      <p:sp>
        <p:nvSpPr>
          <p:cNvPr id="82" name="TextBox 81"/>
          <p:cNvSpPr txBox="1"/>
          <p:nvPr/>
        </p:nvSpPr>
        <p:spPr>
          <a:xfrm>
            <a:off x="1847088" y="3931920"/>
            <a:ext cx="8229600" cy="457200"/>
          </a:xfrm>
          <a:prstGeom prst="rect">
            <a:avLst/>
          </a:prstGeom>
          <a:noFill/>
        </p:spPr>
        <p:txBody>
          <a:bodyPr wrap="square" lIns="45720" tIns="27432" rIns="45720" bIns="27432" anchor="ctr">
            <a:spAutoFit/>
          </a:bodyPr>
          <a:lstStyle/>
          <a:p>
            <a:pPr algn="l">
              <a:spcAft>
                <a:spcPts val="0"/>
              </a:spcAft>
            </a:pPr>
            <a:r>
              <a:rPr sz="1700" b="1" i="0">
                <a:solidFill>
                  <a:srgbClr val="202A36"/>
                </a:solidFill>
                <a:latin typeface="Arial"/>
              </a:rPr>
              <a:t>Measurability (construct validity)</a:t>
            </a:r>
          </a:p>
        </p:txBody>
      </p:sp>
      <p:sp>
        <p:nvSpPr>
          <p:cNvPr id="83" name="TextBox 82"/>
          <p:cNvSpPr txBox="1"/>
          <p:nvPr/>
        </p:nvSpPr>
        <p:spPr>
          <a:xfrm>
            <a:off x="795528" y="4434840"/>
            <a:ext cx="10607040" cy="731520"/>
          </a:xfrm>
          <a:prstGeom prst="rect">
            <a:avLst/>
          </a:prstGeom>
          <a:noFill/>
        </p:spPr>
        <p:txBody>
          <a:bodyPr wrap="square" lIns="45720" tIns="27432" rIns="45720" bIns="27432" anchor="t">
            <a:spAutoFit/>
          </a:bodyPr>
          <a:lstStyle/>
          <a:p>
            <a:pPr algn="l">
              <a:spcAft>
                <a:spcPts val="0"/>
              </a:spcAft>
            </a:pPr>
            <a:r>
              <a:rPr sz="1350" b="0" i="0">
                <a:solidFill>
                  <a:srgbClr val="2B3440"/>
                </a:solidFill>
                <a:latin typeface="Calibri"/>
              </a:rPr>
              <a:t>Can SOLID adherence be measured at repository scale with deterministic structural detectors, and how well do these detectors agree with an independent reading judge and with established analysers?</a:t>
            </a:r>
          </a:p>
        </p:txBody>
      </p:sp>
      <p:sp>
        <p:nvSpPr>
          <p:cNvPr id="84" name="Rounded Rectangle 83"/>
          <p:cNvSpPr/>
          <p:nvPr/>
        </p:nvSpPr>
        <p:spPr>
          <a:xfrm>
            <a:off x="795528" y="5212080"/>
            <a:ext cx="5234940" cy="96012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886968" y="5257800"/>
            <a:ext cx="5052060" cy="868680"/>
          </a:xfrm>
          <a:prstGeom prst="rect">
            <a:avLst/>
          </a:prstGeom>
          <a:noFill/>
        </p:spPr>
        <p:txBody>
          <a:bodyPr wrap="square" lIns="45720" tIns="27432" rIns="45720" bIns="27432" anchor="t">
            <a:spAutoFit/>
          </a:bodyPr>
          <a:lstStyle/>
          <a:p>
            <a:pPr algn="l">
              <a:spcAft>
                <a:spcPts val="300"/>
              </a:spcAft>
            </a:pPr>
            <a:r>
              <a:rPr sz="1350" b="1" i="0">
                <a:solidFill>
                  <a:srgbClr val="202A36"/>
                </a:solidFill>
                <a:latin typeface="Calibri"/>
              </a:rPr>
              <a:t>Reading judge</a:t>
            </a:r>
          </a:p>
          <a:p>
            <a:pPr algn="l">
              <a:spcAft>
                <a:spcPts val="0"/>
              </a:spcAft>
            </a:pPr>
            <a:r>
              <a:rPr sz="1250" b="0" i="0">
                <a:solidFill>
                  <a:srgbClr val="2B3440"/>
                </a:solidFill>
                <a:latin typeface="Calibri"/>
              </a:rPr>
              <a:t>Precision and weighted recall per principle: 2,475 judged entities (1,495 Java, 980 Python)</a:t>
            </a:r>
          </a:p>
        </p:txBody>
      </p:sp>
      <p:sp>
        <p:nvSpPr>
          <p:cNvPr id="86" name="Rounded Rectangle 85"/>
          <p:cNvSpPr/>
          <p:nvPr/>
        </p:nvSpPr>
        <p:spPr>
          <a:xfrm>
            <a:off x="6167628" y="5212080"/>
            <a:ext cx="5234940" cy="96012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6259068" y="5257800"/>
            <a:ext cx="5052060" cy="868680"/>
          </a:xfrm>
          <a:prstGeom prst="rect">
            <a:avLst/>
          </a:prstGeom>
          <a:noFill/>
        </p:spPr>
        <p:txBody>
          <a:bodyPr wrap="square" lIns="45720" tIns="27432" rIns="45720" bIns="27432" anchor="t">
            <a:spAutoFit/>
          </a:bodyPr>
          <a:lstStyle/>
          <a:p>
            <a:pPr algn="l">
              <a:spcAft>
                <a:spcPts val="300"/>
              </a:spcAft>
            </a:pPr>
            <a:r>
              <a:rPr sz="1350" b="1" i="0">
                <a:solidFill>
                  <a:srgbClr val="202A36"/>
                </a:solidFill>
                <a:latin typeface="Calibri"/>
              </a:rPr>
              <a:t>Published analysers</a:t>
            </a:r>
          </a:p>
          <a:p>
            <a:pPr algn="l">
              <a:spcAft>
                <a:spcPts val="0"/>
              </a:spcAft>
            </a:pPr>
            <a:r>
              <a:rPr sz="1250" b="0" i="0">
                <a:solidFill>
                  <a:srgbClr val="2B3440"/>
                </a:solidFill>
                <a:latin typeface="Calibri"/>
              </a:rPr>
              <a:t>Java detectors against CK, PMD and DesigniteJava on the same source trees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2</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State of the art</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Study design: how each question is answered</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12</a:t>
            </a:r>
          </a:p>
        </p:txBody>
      </p:sp>
      <p:graphicFrame>
        <p:nvGraphicFramePr>
          <p:cNvPr id="66" name="Table 65"/>
          <p:cNvGraphicFramePr>
            <a:graphicFrameLocks noGrp="1"/>
          </p:cNvGraphicFramePr>
          <p:nvPr/>
        </p:nvGraphicFramePr>
        <p:xfrm>
          <a:off x="612648" y="914400"/>
          <a:ext cx="10972800" cy="1556004"/>
        </p:xfrm>
        <a:graphic>
          <a:graphicData uri="http://schemas.openxmlformats.org/drawingml/2006/table">
            <a:tbl>
              <a:tblPr>
                <a:tableStyleId>{2D5ABB26-0587-4C30-8999-92F81FD0307C}</a:tableStyleId>
              </a:tblPr>
              <a:tblGrid>
                <a:gridCol w="9144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6949440">
                  <a:extLst>
                    <a:ext uri="{9D8B030D-6E8A-4147-A177-3AD203B41FA5}">
                      <a16:colId xmlns:a16="http://schemas.microsoft.com/office/drawing/2014/main" val="20002"/>
                    </a:ext>
                  </a:extLst>
                </a:gridCol>
              </a:tblGrid>
              <a:tr h="347472">
                <a:tc>
                  <a:txBody>
                    <a:bodyPr/>
                    <a:lstStyle/>
                    <a:p>
                      <a:pPr algn="l">
                        <a:spcAft>
                          <a:spcPts val="0"/>
                        </a:spcAft>
                      </a:pPr>
                      <a:r>
                        <a:rPr sz="1250" b="1" i="0">
                          <a:solidFill>
                            <a:srgbClr val="FFFFFF"/>
                          </a:solidFill>
                          <a:latin typeface="Calibri"/>
                        </a:rPr>
                        <a:t>Question</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250" b="1" i="0">
                          <a:solidFill>
                            <a:srgbClr val="FFFFFF"/>
                          </a:solidFill>
                          <a:latin typeface="Calibri"/>
                        </a:rPr>
                        <a:t>Construct</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250" b="1" i="0">
                          <a:solidFill>
                            <a:srgbClr val="FFFFFF"/>
                          </a:solidFill>
                          <a:latin typeface="Calibri"/>
                        </a:rPr>
                        <a:t>Evidence</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509016">
                <a:tc>
                  <a:txBody>
                    <a:bodyPr/>
                    <a:lstStyle/>
                    <a:p>
                      <a:pPr algn="l">
                        <a:spcAft>
                          <a:spcPts val="0"/>
                        </a:spcAft>
                      </a:pPr>
                      <a:r>
                        <a:rPr sz="1250" b="1" i="0">
                          <a:solidFill>
                            <a:srgbClr val="202A36"/>
                          </a:solidFill>
                          <a:latin typeface="Calibri"/>
                        </a:rPr>
                        <a:t>RQ1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250" b="0" i="0">
                          <a:solidFill>
                            <a:srgbClr val="2B3440"/>
                          </a:solidFill>
                          <a:latin typeface="Calibri"/>
                        </a:rPr>
                        <a:t>SOLID adherence per principle, per agent and outcome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250" b="0" i="0">
                          <a:solidFill>
                            <a:srgbClr val="2B3440"/>
                          </a:solidFill>
                          <a:latin typeface="Calibri"/>
                        </a:rPr>
                        <a:t>Rates pooled and per repository; joint regression model (GEE); violations present compared with introduced; 4,245 Java and 4,946 Python pull requests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699516">
                <a:tc>
                  <a:txBody>
                    <a:bodyPr/>
                    <a:lstStyle/>
                    <a:p>
                      <a:pPr algn="l">
                        <a:spcAft>
                          <a:spcPts val="0"/>
                        </a:spcAft>
                      </a:pPr>
                      <a:r>
                        <a:rPr sz="1250" b="1" i="0">
                          <a:solidFill>
                            <a:srgbClr val="202A36"/>
                          </a:solidFill>
                          <a:latin typeface="Calibri"/>
                        </a:rPr>
                        <a:t>RQ2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250" b="0" i="0">
                          <a:solidFill>
                            <a:srgbClr val="2B3440"/>
                          </a:solidFill>
                          <a:latin typeface="Calibri"/>
                        </a:rPr>
                        <a:t>Detector fidelity</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250" b="0" i="0">
                          <a:solidFill>
                            <a:srgbClr val="2B3440"/>
                          </a:solidFill>
                          <a:latin typeface="Calibri"/>
                        </a:rPr>
                        <a:t>Precision and weighted recall on 1,495 judged Java and 980 judged Python entities, with a Java holdout; agreement of the Java detectors with three external analysers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bl>
          </a:graphicData>
        </a:graphic>
      </p:graphicFrame>
      <p:sp>
        <p:nvSpPr>
          <p:cNvPr id="67" name="TextBox 66"/>
          <p:cNvSpPr txBox="1"/>
          <p:nvPr/>
        </p:nvSpPr>
        <p:spPr>
          <a:xfrm>
            <a:off x="612648" y="2653284"/>
            <a:ext cx="10972800" cy="274320"/>
          </a:xfrm>
          <a:prstGeom prst="rect">
            <a:avLst/>
          </a:prstGeom>
          <a:noFill/>
        </p:spPr>
        <p:txBody>
          <a:bodyPr wrap="square" lIns="18288" tIns="18288" rIns="18288" bIns="18288" anchor="t">
            <a:spAutoFit/>
          </a:bodyPr>
          <a:lstStyle/>
          <a:p>
            <a:pPr algn="l">
              <a:spcAft>
                <a:spcPts val="0"/>
              </a:spcAft>
            </a:pPr>
            <a:r>
              <a:rPr sz="1200" b="1" i="0">
                <a:solidFill>
                  <a:srgbClr val="34495E"/>
                </a:solidFill>
                <a:latin typeface="Arial"/>
              </a:rPr>
              <a:t>FOUR DESIGN DECISIONS FRAME THE STUDY</a:t>
            </a:r>
          </a:p>
        </p:txBody>
      </p:sp>
      <p:sp>
        <p:nvSpPr>
          <p:cNvPr id="68" name="Rounded Rectangle 67"/>
          <p:cNvSpPr/>
          <p:nvPr/>
        </p:nvSpPr>
        <p:spPr>
          <a:xfrm>
            <a:off x="612648" y="2973324"/>
            <a:ext cx="2619756" cy="23317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Hexagon 68"/>
          <p:cNvSpPr/>
          <p:nvPr/>
        </p:nvSpPr>
        <p:spPr>
          <a:xfrm>
            <a:off x="777240" y="3110484"/>
            <a:ext cx="443575" cy="384048"/>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300" b="1" i="0">
                <a:solidFill>
                  <a:srgbClr val="FFFFFF"/>
                </a:solidFill>
                <a:latin typeface="Arial"/>
              </a:rPr>
              <a:t>1</a:t>
            </a:r>
          </a:p>
        </p:txBody>
      </p:sp>
      <p:sp>
        <p:nvSpPr>
          <p:cNvPr id="70" name="TextBox 69"/>
          <p:cNvSpPr txBox="1"/>
          <p:nvPr/>
        </p:nvSpPr>
        <p:spPr>
          <a:xfrm>
            <a:off x="1344168" y="3064764"/>
            <a:ext cx="1796796" cy="502920"/>
          </a:xfrm>
          <a:prstGeom prst="rect">
            <a:avLst/>
          </a:prstGeom>
          <a:noFill/>
        </p:spPr>
        <p:txBody>
          <a:bodyPr wrap="square" lIns="45720" tIns="27432" rIns="45720" bIns="27432" anchor="ctr">
            <a:spAutoFit/>
          </a:bodyPr>
          <a:lstStyle/>
          <a:p>
            <a:pPr algn="l">
              <a:spcAft>
                <a:spcPts val="0"/>
              </a:spcAft>
            </a:pPr>
            <a:r>
              <a:rPr sz="1400" b="1" i="0">
                <a:solidFill>
                  <a:srgbClr val="202A36"/>
                </a:solidFill>
                <a:latin typeface="Arial"/>
              </a:rPr>
              <a:t>Real pull requests</a:t>
            </a:r>
          </a:p>
        </p:txBody>
      </p:sp>
      <p:sp>
        <p:nvSpPr>
          <p:cNvPr id="71" name="TextBox 70"/>
          <p:cNvSpPr txBox="1"/>
          <p:nvPr/>
        </p:nvSpPr>
        <p:spPr>
          <a:xfrm>
            <a:off x="749808" y="3640836"/>
            <a:ext cx="2345436" cy="1645920"/>
          </a:xfrm>
          <a:prstGeom prst="rect">
            <a:avLst/>
          </a:prstGeom>
          <a:noFill/>
        </p:spPr>
        <p:txBody>
          <a:bodyPr wrap="square" lIns="45720" tIns="27432" rIns="45720" bIns="27432" anchor="t">
            <a:spAutoFit/>
          </a:bodyPr>
          <a:lstStyle/>
          <a:p>
            <a:pPr algn="l">
              <a:spcAft>
                <a:spcPts val="0"/>
              </a:spcAft>
            </a:pPr>
            <a:r>
              <a:rPr sz="1300" b="0" i="0">
                <a:solidFill>
                  <a:srgbClr val="2B3440"/>
                </a:solidFill>
                <a:latin typeface="Calibri"/>
              </a:rPr>
              <a:t>Not newly generated repositories: less control over the tasks, but realistic work, and each pull request belongs to one agent.</a:t>
            </a:r>
          </a:p>
        </p:txBody>
      </p:sp>
      <p:sp>
        <p:nvSpPr>
          <p:cNvPr id="72" name="Rounded Rectangle 71"/>
          <p:cNvSpPr/>
          <p:nvPr/>
        </p:nvSpPr>
        <p:spPr>
          <a:xfrm>
            <a:off x="3396996" y="2973324"/>
            <a:ext cx="2619756" cy="23317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Hexagon 72"/>
          <p:cNvSpPr/>
          <p:nvPr/>
        </p:nvSpPr>
        <p:spPr>
          <a:xfrm>
            <a:off x="3561588" y="3110484"/>
            <a:ext cx="443575" cy="384048"/>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300" b="1" i="0">
                <a:solidFill>
                  <a:srgbClr val="FFFFFF"/>
                </a:solidFill>
                <a:latin typeface="Arial"/>
              </a:rPr>
              <a:t>2</a:t>
            </a:r>
          </a:p>
        </p:txBody>
      </p:sp>
      <p:sp>
        <p:nvSpPr>
          <p:cNvPr id="74" name="TextBox 73"/>
          <p:cNvSpPr txBox="1"/>
          <p:nvPr/>
        </p:nvSpPr>
        <p:spPr>
          <a:xfrm>
            <a:off x="4128516" y="3064764"/>
            <a:ext cx="1796796" cy="502920"/>
          </a:xfrm>
          <a:prstGeom prst="rect">
            <a:avLst/>
          </a:prstGeom>
          <a:noFill/>
        </p:spPr>
        <p:txBody>
          <a:bodyPr wrap="square" lIns="45720" tIns="27432" rIns="45720" bIns="27432" anchor="ctr">
            <a:spAutoFit/>
          </a:bodyPr>
          <a:lstStyle/>
          <a:p>
            <a:pPr algn="l">
              <a:spcAft>
                <a:spcPts val="0"/>
              </a:spcAft>
            </a:pPr>
            <a:r>
              <a:rPr sz="1400" b="1" i="0">
                <a:solidFill>
                  <a:srgbClr val="202A36"/>
                </a:solidFill>
                <a:latin typeface="Arial"/>
              </a:rPr>
              <a:t>All three outcomes</a:t>
            </a:r>
          </a:p>
        </p:txBody>
      </p:sp>
      <p:sp>
        <p:nvSpPr>
          <p:cNvPr id="75" name="TextBox 74"/>
          <p:cNvSpPr txBox="1"/>
          <p:nvPr/>
        </p:nvSpPr>
        <p:spPr>
          <a:xfrm>
            <a:off x="3534156" y="3640836"/>
            <a:ext cx="2345436" cy="1645920"/>
          </a:xfrm>
          <a:prstGeom prst="rect">
            <a:avLst/>
          </a:prstGeom>
          <a:noFill/>
        </p:spPr>
        <p:txBody>
          <a:bodyPr wrap="square" lIns="45720" tIns="27432" rIns="45720" bIns="27432" anchor="t">
            <a:spAutoFit/>
          </a:bodyPr>
          <a:lstStyle/>
          <a:p>
            <a:pPr algn="l">
              <a:spcAft>
                <a:spcPts val="0"/>
              </a:spcAft>
            </a:pPr>
            <a:r>
              <a:rPr sz="1300" b="0" i="0">
                <a:solidFill>
                  <a:srgbClr val="2B3440"/>
                </a:solidFill>
                <a:latin typeface="Calibri"/>
              </a:rPr>
              <a:t>Merged, rejected and open, balanced on agent and outcome, so we can see what review filters out.</a:t>
            </a:r>
          </a:p>
        </p:txBody>
      </p:sp>
      <p:sp>
        <p:nvSpPr>
          <p:cNvPr id="76" name="Rounded Rectangle 75"/>
          <p:cNvSpPr/>
          <p:nvPr/>
        </p:nvSpPr>
        <p:spPr>
          <a:xfrm>
            <a:off x="6181344" y="2973324"/>
            <a:ext cx="2619756" cy="23317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Hexagon 76"/>
          <p:cNvSpPr/>
          <p:nvPr/>
        </p:nvSpPr>
        <p:spPr>
          <a:xfrm>
            <a:off x="6345936" y="3110484"/>
            <a:ext cx="443575" cy="384048"/>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300" b="1" i="0">
                <a:solidFill>
                  <a:srgbClr val="FFFFFF"/>
                </a:solidFill>
                <a:latin typeface="Arial"/>
              </a:rPr>
              <a:t>3</a:t>
            </a:r>
          </a:p>
        </p:txBody>
      </p:sp>
      <p:sp>
        <p:nvSpPr>
          <p:cNvPr id="78" name="TextBox 77"/>
          <p:cNvSpPr txBox="1"/>
          <p:nvPr/>
        </p:nvSpPr>
        <p:spPr>
          <a:xfrm>
            <a:off x="6912864" y="3064764"/>
            <a:ext cx="1796796" cy="502920"/>
          </a:xfrm>
          <a:prstGeom prst="rect">
            <a:avLst/>
          </a:prstGeom>
          <a:noFill/>
        </p:spPr>
        <p:txBody>
          <a:bodyPr wrap="square" lIns="45720" tIns="27432" rIns="45720" bIns="27432" anchor="ctr">
            <a:spAutoFit/>
          </a:bodyPr>
          <a:lstStyle/>
          <a:p>
            <a:pPr algn="l">
              <a:spcAft>
                <a:spcPts val="0"/>
              </a:spcAft>
            </a:pPr>
            <a:r>
              <a:rPr sz="1400" b="1" i="0">
                <a:solidFill>
                  <a:srgbClr val="202A36"/>
                </a:solidFill>
                <a:latin typeface="Arial"/>
              </a:rPr>
              <a:t>Two languages</a:t>
            </a:r>
          </a:p>
        </p:txBody>
      </p:sp>
      <p:sp>
        <p:nvSpPr>
          <p:cNvPr id="79" name="TextBox 78"/>
          <p:cNvSpPr txBox="1"/>
          <p:nvPr/>
        </p:nvSpPr>
        <p:spPr>
          <a:xfrm>
            <a:off x="6318504" y="3640836"/>
            <a:ext cx="2345436" cy="1645920"/>
          </a:xfrm>
          <a:prstGeom prst="rect">
            <a:avLst/>
          </a:prstGeom>
          <a:noFill/>
        </p:spPr>
        <p:txBody>
          <a:bodyPr wrap="square" lIns="45720" tIns="27432" rIns="45720" bIns="27432" anchor="t">
            <a:spAutoFit/>
          </a:bodyPr>
          <a:lstStyle/>
          <a:p>
            <a:pPr algn="l">
              <a:spcAft>
                <a:spcPts val="0"/>
              </a:spcAft>
            </a:pPr>
            <a:r>
              <a:rPr sz="1300" b="0" i="0">
                <a:solidFill>
                  <a:srgbClr val="2B3440"/>
                </a:solidFill>
                <a:latin typeface="Calibri"/>
              </a:rPr>
              <a:t>Java: classes compulsory, nominal subtyping. Python: classes optional, no compiler check. A result is general only if both show it.</a:t>
            </a:r>
          </a:p>
        </p:txBody>
      </p:sp>
      <p:sp>
        <p:nvSpPr>
          <p:cNvPr id="80" name="Rounded Rectangle 79"/>
          <p:cNvSpPr/>
          <p:nvPr/>
        </p:nvSpPr>
        <p:spPr>
          <a:xfrm>
            <a:off x="8965692" y="2973324"/>
            <a:ext cx="2619756" cy="23317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Hexagon 80"/>
          <p:cNvSpPr/>
          <p:nvPr/>
        </p:nvSpPr>
        <p:spPr>
          <a:xfrm>
            <a:off x="9130284" y="3110484"/>
            <a:ext cx="443575" cy="384048"/>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300" b="1" i="0">
                <a:solidFill>
                  <a:srgbClr val="FFFFFF"/>
                </a:solidFill>
                <a:latin typeface="Arial"/>
              </a:rPr>
              <a:t>4</a:t>
            </a:r>
          </a:p>
        </p:txBody>
      </p:sp>
      <p:sp>
        <p:nvSpPr>
          <p:cNvPr id="82" name="TextBox 81"/>
          <p:cNvSpPr txBox="1"/>
          <p:nvPr/>
        </p:nvSpPr>
        <p:spPr>
          <a:xfrm>
            <a:off x="9697212" y="3064764"/>
            <a:ext cx="1796796" cy="502920"/>
          </a:xfrm>
          <a:prstGeom prst="rect">
            <a:avLst/>
          </a:prstGeom>
          <a:noFill/>
        </p:spPr>
        <p:txBody>
          <a:bodyPr wrap="square" lIns="45720" tIns="27432" rIns="45720" bIns="27432" anchor="ctr">
            <a:spAutoFit/>
          </a:bodyPr>
          <a:lstStyle/>
          <a:p>
            <a:pPr algn="l">
              <a:spcAft>
                <a:spcPts val="0"/>
              </a:spcAft>
            </a:pPr>
            <a:r>
              <a:rPr sz="1400" b="1" i="0">
                <a:solidFill>
                  <a:srgbClr val="202A36"/>
                </a:solidFill>
                <a:latin typeface="Arial"/>
              </a:rPr>
              <a:t>Deterministic detectors</a:t>
            </a:r>
          </a:p>
        </p:txBody>
      </p:sp>
      <p:sp>
        <p:nvSpPr>
          <p:cNvPr id="83" name="TextBox 82"/>
          <p:cNvSpPr txBox="1"/>
          <p:nvPr/>
        </p:nvSpPr>
        <p:spPr>
          <a:xfrm>
            <a:off x="9102852" y="3640836"/>
            <a:ext cx="2345436" cy="1645920"/>
          </a:xfrm>
          <a:prstGeom prst="rect">
            <a:avLst/>
          </a:prstGeom>
          <a:noFill/>
        </p:spPr>
        <p:txBody>
          <a:bodyPr wrap="square" lIns="45720" tIns="27432" rIns="45720" bIns="27432" anchor="t">
            <a:spAutoFit/>
          </a:bodyPr>
          <a:lstStyle/>
          <a:p>
            <a:pPr algn="l">
              <a:spcAft>
                <a:spcPts val="0"/>
              </a:spcAft>
            </a:pPr>
            <a:r>
              <a:rPr sz="1300" b="0" i="0">
                <a:solidFill>
                  <a:srgbClr val="2B3440"/>
                </a:solidFill>
                <a:latin typeface="Calibri"/>
              </a:rPr>
              <a:t>Every rate is computed by a program. A language model only reads source and labels a validation sample.</a:t>
            </a:r>
          </a:p>
        </p:txBody>
      </p:sp>
      <p:sp>
        <p:nvSpPr>
          <p:cNvPr id="84" name="Rounded Rectangle 83"/>
          <p:cNvSpPr/>
          <p:nvPr/>
        </p:nvSpPr>
        <p:spPr>
          <a:xfrm>
            <a:off x="612648" y="5623560"/>
            <a:ext cx="10972800" cy="64008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Hexagon 84"/>
          <p:cNvSpPr/>
          <p:nvPr/>
        </p:nvSpPr>
        <p:spPr>
          <a:xfrm>
            <a:off x="813816" y="580644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1252728" y="5623560"/>
            <a:ext cx="10149840" cy="64008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Observational study:</a:t>
            </a:r>
            <a:r>
              <a:rPr sz="1400" b="0" i="0">
                <a:solidFill>
                  <a:srgbClr val="FFFFFF"/>
                </a:solidFill>
                <a:latin typeface="Calibri"/>
              </a:rPr>
              <a:t> no treatment was assigned, so the results are comparisons and associations, not causal claims.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组合 54"/>
          <p:cNvGrpSpPr/>
          <p:nvPr/>
        </p:nvGrpSpPr>
        <p:grpSpPr>
          <a:xfrm>
            <a:off x="2052459" y="1413384"/>
            <a:ext cx="2036802" cy="2036802"/>
            <a:chOff x="8125599" y="1434035"/>
            <a:chExt cx="2036802" cy="2036802"/>
          </a:xfrm>
        </p:grpSpPr>
        <p:sp>
          <p:nvSpPr>
            <p:cNvPr id="56" name="椭圆 55"/>
            <p:cNvSpPr/>
            <p:nvPr/>
          </p:nvSpPr>
          <p:spPr>
            <a:xfrm>
              <a:off x="8125599" y="1434035"/>
              <a:ext cx="2036802" cy="2036802"/>
            </a:xfrm>
            <a:prstGeom prst="ellipse">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7" name="组合 56"/>
            <p:cNvGrpSpPr>
              <a:grpSpLocks noChangeAspect="1"/>
            </p:cNvGrpSpPr>
            <p:nvPr/>
          </p:nvGrpSpPr>
          <p:grpSpPr>
            <a:xfrm>
              <a:off x="8518659" y="1890295"/>
              <a:ext cx="1310642" cy="1124283"/>
              <a:chOff x="5084763" y="971548"/>
              <a:chExt cx="323865" cy="277813"/>
            </a:xfrm>
            <a:solidFill>
              <a:schemeClr val="bg1">
                <a:lumMod val="95000"/>
              </a:schemeClr>
            </a:solidFill>
          </p:grpSpPr>
          <p:sp>
            <p:nvSpPr>
              <p:cNvPr id="63" name="Freeform 301"/>
              <p:cNvSpPr>
                <a:spLocks noEditPoints="1"/>
              </p:cNvSpPr>
              <p:nvPr/>
            </p:nvSpPr>
            <p:spPr bwMode="auto">
              <a:xfrm>
                <a:off x="5191140" y="1031873"/>
                <a:ext cx="217488" cy="217488"/>
              </a:xfrm>
              <a:custGeom>
                <a:avLst/>
                <a:gdLst>
                  <a:gd name="T0" fmla="*/ 6 w 58"/>
                  <a:gd name="T1" fmla="*/ 14 h 58"/>
                  <a:gd name="T2" fmla="*/ 7 w 58"/>
                  <a:gd name="T3" fmla="*/ 19 h 58"/>
                  <a:gd name="T4" fmla="*/ 4 w 58"/>
                  <a:gd name="T5" fmla="*/ 20 h 58"/>
                  <a:gd name="T6" fmla="*/ 0 w 58"/>
                  <a:gd name="T7" fmla="*/ 23 h 58"/>
                  <a:gd name="T8" fmla="*/ 2 w 58"/>
                  <a:gd name="T9" fmla="*/ 27 h 58"/>
                  <a:gd name="T10" fmla="*/ 5 w 58"/>
                  <a:gd name="T11" fmla="*/ 31 h 58"/>
                  <a:gd name="T12" fmla="*/ 2 w 58"/>
                  <a:gd name="T13" fmla="*/ 34 h 58"/>
                  <a:gd name="T14" fmla="*/ 1 w 58"/>
                  <a:gd name="T15" fmla="*/ 38 h 58"/>
                  <a:gd name="T16" fmla="*/ 5 w 58"/>
                  <a:gd name="T17" fmla="*/ 41 h 58"/>
                  <a:gd name="T18" fmla="*/ 8 w 58"/>
                  <a:gd name="T19" fmla="*/ 42 h 58"/>
                  <a:gd name="T20" fmla="*/ 8 w 58"/>
                  <a:gd name="T21" fmla="*/ 46 h 58"/>
                  <a:gd name="T22" fmla="*/ 9 w 58"/>
                  <a:gd name="T23" fmla="*/ 51 h 58"/>
                  <a:gd name="T24" fmla="*/ 14 w 58"/>
                  <a:gd name="T25" fmla="*/ 51 h 58"/>
                  <a:gd name="T26" fmla="*/ 18 w 58"/>
                  <a:gd name="T27" fmla="*/ 51 h 58"/>
                  <a:gd name="T28" fmla="*/ 19 w 58"/>
                  <a:gd name="T29" fmla="*/ 54 h 58"/>
                  <a:gd name="T30" fmla="*/ 22 w 58"/>
                  <a:gd name="T31" fmla="*/ 58 h 58"/>
                  <a:gd name="T32" fmla="*/ 27 w 58"/>
                  <a:gd name="T33" fmla="*/ 56 h 58"/>
                  <a:gd name="T34" fmla="*/ 31 w 58"/>
                  <a:gd name="T35" fmla="*/ 53 h 58"/>
                  <a:gd name="T36" fmla="*/ 33 w 58"/>
                  <a:gd name="T37" fmla="*/ 56 h 58"/>
                  <a:gd name="T38" fmla="*/ 38 w 58"/>
                  <a:gd name="T39" fmla="*/ 57 h 58"/>
                  <a:gd name="T40" fmla="*/ 40 w 58"/>
                  <a:gd name="T41" fmla="*/ 53 h 58"/>
                  <a:gd name="T42" fmla="*/ 42 w 58"/>
                  <a:gd name="T43" fmla="*/ 49 h 58"/>
                  <a:gd name="T44" fmla="*/ 46 w 58"/>
                  <a:gd name="T45" fmla="*/ 50 h 58"/>
                  <a:gd name="T46" fmla="*/ 50 w 58"/>
                  <a:gd name="T47" fmla="*/ 49 h 58"/>
                  <a:gd name="T48" fmla="*/ 51 w 58"/>
                  <a:gd name="T49" fmla="*/ 44 h 58"/>
                  <a:gd name="T50" fmla="*/ 50 w 58"/>
                  <a:gd name="T51" fmla="*/ 40 h 58"/>
                  <a:gd name="T52" fmla="*/ 54 w 58"/>
                  <a:gd name="T53" fmla="*/ 39 h 58"/>
                  <a:gd name="T54" fmla="*/ 57 w 58"/>
                  <a:gd name="T55" fmla="*/ 35 h 58"/>
                  <a:gd name="T56" fmla="*/ 55 w 58"/>
                  <a:gd name="T57" fmla="*/ 31 h 58"/>
                  <a:gd name="T58" fmla="*/ 52 w 58"/>
                  <a:gd name="T59" fmla="*/ 27 h 58"/>
                  <a:gd name="T60" fmla="*/ 55 w 58"/>
                  <a:gd name="T61" fmla="*/ 25 h 58"/>
                  <a:gd name="T62" fmla="*/ 56 w 58"/>
                  <a:gd name="T63" fmla="*/ 20 h 58"/>
                  <a:gd name="T64" fmla="*/ 53 w 58"/>
                  <a:gd name="T65" fmla="*/ 18 h 58"/>
                  <a:gd name="T66" fmla="*/ 48 w 58"/>
                  <a:gd name="T67" fmla="*/ 16 h 58"/>
                  <a:gd name="T68" fmla="*/ 49 w 58"/>
                  <a:gd name="T69" fmla="*/ 12 h 58"/>
                  <a:gd name="T70" fmla="*/ 48 w 58"/>
                  <a:gd name="T71" fmla="*/ 8 h 58"/>
                  <a:gd name="T72" fmla="*/ 44 w 58"/>
                  <a:gd name="T73" fmla="*/ 7 h 58"/>
                  <a:gd name="T74" fmla="*/ 39 w 58"/>
                  <a:gd name="T75" fmla="*/ 8 h 58"/>
                  <a:gd name="T76" fmla="*/ 38 w 58"/>
                  <a:gd name="T77" fmla="*/ 4 h 58"/>
                  <a:gd name="T78" fmla="*/ 35 w 58"/>
                  <a:gd name="T79" fmla="*/ 1 h 58"/>
                  <a:gd name="T80" fmla="*/ 30 w 58"/>
                  <a:gd name="T81" fmla="*/ 3 h 58"/>
                  <a:gd name="T82" fmla="*/ 27 w 58"/>
                  <a:gd name="T83" fmla="*/ 5 h 58"/>
                  <a:gd name="T84" fmla="*/ 24 w 58"/>
                  <a:gd name="T85" fmla="*/ 3 h 58"/>
                  <a:gd name="T86" fmla="*/ 20 w 58"/>
                  <a:gd name="T87" fmla="*/ 1 h 58"/>
                  <a:gd name="T88" fmla="*/ 17 w 58"/>
                  <a:gd name="T89" fmla="*/ 5 h 58"/>
                  <a:gd name="T90" fmla="*/ 15 w 58"/>
                  <a:gd name="T91" fmla="*/ 10 h 58"/>
                  <a:gd name="T92" fmla="*/ 12 w 58"/>
                  <a:gd name="T93" fmla="*/ 9 h 58"/>
                  <a:gd name="T94" fmla="*/ 7 w 58"/>
                  <a:gd name="T95" fmla="*/ 10 h 58"/>
                  <a:gd name="T96" fmla="*/ 6 w 58"/>
                  <a:gd name="T97" fmla="*/ 14 h 58"/>
                  <a:gd name="T98" fmla="*/ 23 w 58"/>
                  <a:gd name="T99" fmla="*/ 13 h 58"/>
                  <a:gd name="T100" fmla="*/ 45 w 58"/>
                  <a:gd name="T101" fmla="*/ 24 h 58"/>
                  <a:gd name="T102" fmla="*/ 34 w 58"/>
                  <a:gd name="T103" fmla="*/ 45 h 58"/>
                  <a:gd name="T104" fmla="*/ 13 w 58"/>
                  <a:gd name="T105" fmla="*/ 34 h 58"/>
                  <a:gd name="T106" fmla="*/ 23 w 58"/>
                  <a:gd name="T107" fmla="*/ 1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8" h="58">
                    <a:moveTo>
                      <a:pt x="6" y="14"/>
                    </a:moveTo>
                    <a:cubicBezTo>
                      <a:pt x="8" y="15"/>
                      <a:pt x="7" y="18"/>
                      <a:pt x="7" y="19"/>
                    </a:cubicBezTo>
                    <a:cubicBezTo>
                      <a:pt x="7" y="20"/>
                      <a:pt x="5" y="20"/>
                      <a:pt x="4" y="20"/>
                    </a:cubicBezTo>
                    <a:cubicBezTo>
                      <a:pt x="2" y="20"/>
                      <a:pt x="0" y="21"/>
                      <a:pt x="0" y="23"/>
                    </a:cubicBezTo>
                    <a:cubicBezTo>
                      <a:pt x="0" y="25"/>
                      <a:pt x="0" y="27"/>
                      <a:pt x="2" y="27"/>
                    </a:cubicBezTo>
                    <a:cubicBezTo>
                      <a:pt x="3" y="28"/>
                      <a:pt x="5" y="30"/>
                      <a:pt x="5" y="31"/>
                    </a:cubicBezTo>
                    <a:cubicBezTo>
                      <a:pt x="5" y="32"/>
                      <a:pt x="4" y="33"/>
                      <a:pt x="2" y="34"/>
                    </a:cubicBezTo>
                    <a:cubicBezTo>
                      <a:pt x="1" y="34"/>
                      <a:pt x="0" y="36"/>
                      <a:pt x="1" y="38"/>
                    </a:cubicBezTo>
                    <a:cubicBezTo>
                      <a:pt x="1" y="40"/>
                      <a:pt x="3" y="42"/>
                      <a:pt x="5" y="41"/>
                    </a:cubicBezTo>
                    <a:cubicBezTo>
                      <a:pt x="6" y="41"/>
                      <a:pt x="8" y="41"/>
                      <a:pt x="8" y="42"/>
                    </a:cubicBezTo>
                    <a:cubicBezTo>
                      <a:pt x="9" y="42"/>
                      <a:pt x="9" y="45"/>
                      <a:pt x="8" y="46"/>
                    </a:cubicBezTo>
                    <a:cubicBezTo>
                      <a:pt x="7" y="47"/>
                      <a:pt x="7" y="50"/>
                      <a:pt x="9" y="51"/>
                    </a:cubicBezTo>
                    <a:cubicBezTo>
                      <a:pt x="11" y="52"/>
                      <a:pt x="13" y="53"/>
                      <a:pt x="14" y="51"/>
                    </a:cubicBezTo>
                    <a:cubicBezTo>
                      <a:pt x="15" y="50"/>
                      <a:pt x="18" y="51"/>
                      <a:pt x="18" y="51"/>
                    </a:cubicBezTo>
                    <a:cubicBezTo>
                      <a:pt x="19" y="51"/>
                      <a:pt x="20" y="53"/>
                      <a:pt x="19" y="54"/>
                    </a:cubicBezTo>
                    <a:cubicBezTo>
                      <a:pt x="19" y="56"/>
                      <a:pt x="20" y="57"/>
                      <a:pt x="22" y="58"/>
                    </a:cubicBezTo>
                    <a:cubicBezTo>
                      <a:pt x="25" y="58"/>
                      <a:pt x="26" y="57"/>
                      <a:pt x="27" y="56"/>
                    </a:cubicBezTo>
                    <a:cubicBezTo>
                      <a:pt x="27" y="54"/>
                      <a:pt x="30" y="53"/>
                      <a:pt x="31" y="53"/>
                    </a:cubicBezTo>
                    <a:cubicBezTo>
                      <a:pt x="31" y="53"/>
                      <a:pt x="33" y="54"/>
                      <a:pt x="33" y="56"/>
                    </a:cubicBezTo>
                    <a:cubicBezTo>
                      <a:pt x="34" y="57"/>
                      <a:pt x="36" y="58"/>
                      <a:pt x="38" y="57"/>
                    </a:cubicBezTo>
                    <a:cubicBezTo>
                      <a:pt x="40" y="57"/>
                      <a:pt x="41" y="55"/>
                      <a:pt x="40" y="53"/>
                    </a:cubicBezTo>
                    <a:cubicBezTo>
                      <a:pt x="40" y="52"/>
                      <a:pt x="42" y="49"/>
                      <a:pt x="42" y="49"/>
                    </a:cubicBezTo>
                    <a:cubicBezTo>
                      <a:pt x="43" y="48"/>
                      <a:pt x="44" y="49"/>
                      <a:pt x="46" y="50"/>
                    </a:cubicBezTo>
                    <a:cubicBezTo>
                      <a:pt x="47" y="51"/>
                      <a:pt x="49" y="51"/>
                      <a:pt x="50" y="49"/>
                    </a:cubicBezTo>
                    <a:cubicBezTo>
                      <a:pt x="52" y="47"/>
                      <a:pt x="52" y="45"/>
                      <a:pt x="51" y="44"/>
                    </a:cubicBezTo>
                    <a:cubicBezTo>
                      <a:pt x="50" y="43"/>
                      <a:pt x="50" y="40"/>
                      <a:pt x="50" y="40"/>
                    </a:cubicBezTo>
                    <a:cubicBezTo>
                      <a:pt x="51" y="39"/>
                      <a:pt x="52" y="38"/>
                      <a:pt x="54" y="39"/>
                    </a:cubicBezTo>
                    <a:cubicBezTo>
                      <a:pt x="55" y="39"/>
                      <a:pt x="57" y="38"/>
                      <a:pt x="57" y="35"/>
                    </a:cubicBezTo>
                    <a:cubicBezTo>
                      <a:pt x="58" y="33"/>
                      <a:pt x="57" y="31"/>
                      <a:pt x="55" y="31"/>
                    </a:cubicBezTo>
                    <a:cubicBezTo>
                      <a:pt x="54" y="31"/>
                      <a:pt x="53" y="28"/>
                      <a:pt x="52" y="27"/>
                    </a:cubicBezTo>
                    <a:cubicBezTo>
                      <a:pt x="52" y="26"/>
                      <a:pt x="54" y="25"/>
                      <a:pt x="55" y="25"/>
                    </a:cubicBezTo>
                    <a:cubicBezTo>
                      <a:pt x="56" y="24"/>
                      <a:pt x="57" y="22"/>
                      <a:pt x="56" y="20"/>
                    </a:cubicBezTo>
                    <a:cubicBezTo>
                      <a:pt x="56" y="18"/>
                      <a:pt x="54" y="17"/>
                      <a:pt x="53" y="18"/>
                    </a:cubicBezTo>
                    <a:cubicBezTo>
                      <a:pt x="51" y="18"/>
                      <a:pt x="49" y="16"/>
                      <a:pt x="48" y="16"/>
                    </a:cubicBezTo>
                    <a:cubicBezTo>
                      <a:pt x="48" y="15"/>
                      <a:pt x="48" y="13"/>
                      <a:pt x="49" y="12"/>
                    </a:cubicBezTo>
                    <a:cubicBezTo>
                      <a:pt x="50" y="11"/>
                      <a:pt x="50" y="9"/>
                      <a:pt x="48" y="8"/>
                    </a:cubicBezTo>
                    <a:cubicBezTo>
                      <a:pt x="47" y="6"/>
                      <a:pt x="45" y="6"/>
                      <a:pt x="44" y="7"/>
                    </a:cubicBezTo>
                    <a:cubicBezTo>
                      <a:pt x="42" y="8"/>
                      <a:pt x="40" y="8"/>
                      <a:pt x="39" y="8"/>
                    </a:cubicBezTo>
                    <a:cubicBezTo>
                      <a:pt x="38" y="7"/>
                      <a:pt x="38" y="6"/>
                      <a:pt x="38" y="4"/>
                    </a:cubicBezTo>
                    <a:cubicBezTo>
                      <a:pt x="38" y="3"/>
                      <a:pt x="37" y="1"/>
                      <a:pt x="35" y="1"/>
                    </a:cubicBezTo>
                    <a:cubicBezTo>
                      <a:pt x="33" y="0"/>
                      <a:pt x="31" y="1"/>
                      <a:pt x="30" y="3"/>
                    </a:cubicBezTo>
                    <a:cubicBezTo>
                      <a:pt x="30" y="4"/>
                      <a:pt x="28" y="5"/>
                      <a:pt x="27" y="5"/>
                    </a:cubicBezTo>
                    <a:cubicBezTo>
                      <a:pt x="26" y="6"/>
                      <a:pt x="25" y="4"/>
                      <a:pt x="24" y="3"/>
                    </a:cubicBezTo>
                    <a:cubicBezTo>
                      <a:pt x="24" y="1"/>
                      <a:pt x="22" y="1"/>
                      <a:pt x="20" y="1"/>
                    </a:cubicBezTo>
                    <a:cubicBezTo>
                      <a:pt x="18" y="2"/>
                      <a:pt x="16" y="4"/>
                      <a:pt x="17" y="5"/>
                    </a:cubicBezTo>
                    <a:cubicBezTo>
                      <a:pt x="17" y="7"/>
                      <a:pt x="16" y="9"/>
                      <a:pt x="15" y="10"/>
                    </a:cubicBezTo>
                    <a:cubicBezTo>
                      <a:pt x="14" y="10"/>
                      <a:pt x="13" y="10"/>
                      <a:pt x="12" y="9"/>
                    </a:cubicBezTo>
                    <a:cubicBezTo>
                      <a:pt x="10" y="8"/>
                      <a:pt x="8" y="8"/>
                      <a:pt x="7" y="10"/>
                    </a:cubicBezTo>
                    <a:cubicBezTo>
                      <a:pt x="6" y="11"/>
                      <a:pt x="5" y="13"/>
                      <a:pt x="6" y="14"/>
                    </a:cubicBezTo>
                    <a:close/>
                    <a:moveTo>
                      <a:pt x="23" y="13"/>
                    </a:moveTo>
                    <a:cubicBezTo>
                      <a:pt x="32" y="10"/>
                      <a:pt x="42" y="15"/>
                      <a:pt x="45" y="24"/>
                    </a:cubicBezTo>
                    <a:cubicBezTo>
                      <a:pt x="47" y="33"/>
                      <a:pt x="43" y="42"/>
                      <a:pt x="34" y="45"/>
                    </a:cubicBezTo>
                    <a:cubicBezTo>
                      <a:pt x="25" y="48"/>
                      <a:pt x="15" y="43"/>
                      <a:pt x="13" y="34"/>
                    </a:cubicBezTo>
                    <a:cubicBezTo>
                      <a:pt x="10" y="26"/>
                      <a:pt x="15" y="16"/>
                      <a:pt x="23" y="1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lt1"/>
                  </a:solidFill>
                </a:endParaRPr>
              </a:p>
            </p:txBody>
          </p:sp>
          <p:sp>
            <p:nvSpPr>
              <p:cNvPr id="64" name="Freeform 302"/>
              <p:cNvSpPr>
                <a:spLocks noEditPoints="1"/>
              </p:cNvSpPr>
              <p:nvPr/>
            </p:nvSpPr>
            <p:spPr bwMode="auto">
              <a:xfrm>
                <a:off x="5084781" y="971548"/>
                <a:ext cx="139701" cy="139700"/>
              </a:xfrm>
              <a:custGeom>
                <a:avLst/>
                <a:gdLst>
                  <a:gd name="T0" fmla="*/ 4 w 37"/>
                  <a:gd name="T1" fmla="*/ 9 h 37"/>
                  <a:gd name="T2" fmla="*/ 5 w 37"/>
                  <a:gd name="T3" fmla="*/ 12 h 37"/>
                  <a:gd name="T4" fmla="*/ 2 w 37"/>
                  <a:gd name="T5" fmla="*/ 12 h 37"/>
                  <a:gd name="T6" fmla="*/ 0 w 37"/>
                  <a:gd name="T7" fmla="*/ 14 h 37"/>
                  <a:gd name="T8" fmla="*/ 1 w 37"/>
                  <a:gd name="T9" fmla="*/ 17 h 37"/>
                  <a:gd name="T10" fmla="*/ 3 w 37"/>
                  <a:gd name="T11" fmla="*/ 20 h 37"/>
                  <a:gd name="T12" fmla="*/ 2 w 37"/>
                  <a:gd name="T13" fmla="*/ 21 h 37"/>
                  <a:gd name="T14" fmla="*/ 1 w 37"/>
                  <a:gd name="T15" fmla="*/ 24 h 37"/>
                  <a:gd name="T16" fmla="*/ 3 w 37"/>
                  <a:gd name="T17" fmla="*/ 26 h 37"/>
                  <a:gd name="T18" fmla="*/ 5 w 37"/>
                  <a:gd name="T19" fmla="*/ 26 h 37"/>
                  <a:gd name="T20" fmla="*/ 5 w 37"/>
                  <a:gd name="T21" fmla="*/ 29 h 37"/>
                  <a:gd name="T22" fmla="*/ 6 w 37"/>
                  <a:gd name="T23" fmla="*/ 32 h 37"/>
                  <a:gd name="T24" fmla="*/ 9 w 37"/>
                  <a:gd name="T25" fmla="*/ 33 h 37"/>
                  <a:gd name="T26" fmla="*/ 12 w 37"/>
                  <a:gd name="T27" fmla="*/ 32 h 37"/>
                  <a:gd name="T28" fmla="*/ 12 w 37"/>
                  <a:gd name="T29" fmla="*/ 34 h 37"/>
                  <a:gd name="T30" fmla="*/ 15 w 37"/>
                  <a:gd name="T31" fmla="*/ 37 h 37"/>
                  <a:gd name="T32" fmla="*/ 17 w 37"/>
                  <a:gd name="T33" fmla="*/ 35 h 37"/>
                  <a:gd name="T34" fmla="*/ 20 w 37"/>
                  <a:gd name="T35" fmla="*/ 34 h 37"/>
                  <a:gd name="T36" fmla="*/ 21 w 37"/>
                  <a:gd name="T37" fmla="*/ 35 h 37"/>
                  <a:gd name="T38" fmla="*/ 24 w 37"/>
                  <a:gd name="T39" fmla="*/ 36 h 37"/>
                  <a:gd name="T40" fmla="*/ 26 w 37"/>
                  <a:gd name="T41" fmla="*/ 34 h 37"/>
                  <a:gd name="T42" fmla="*/ 27 w 37"/>
                  <a:gd name="T43" fmla="*/ 31 h 37"/>
                  <a:gd name="T44" fmla="*/ 29 w 37"/>
                  <a:gd name="T45" fmla="*/ 32 h 37"/>
                  <a:gd name="T46" fmla="*/ 32 w 37"/>
                  <a:gd name="T47" fmla="*/ 31 h 37"/>
                  <a:gd name="T48" fmla="*/ 33 w 37"/>
                  <a:gd name="T49" fmla="*/ 28 h 37"/>
                  <a:gd name="T50" fmla="*/ 32 w 37"/>
                  <a:gd name="T51" fmla="*/ 25 h 37"/>
                  <a:gd name="T52" fmla="*/ 35 w 37"/>
                  <a:gd name="T53" fmla="*/ 24 h 37"/>
                  <a:gd name="T54" fmla="*/ 37 w 37"/>
                  <a:gd name="T55" fmla="*/ 22 h 37"/>
                  <a:gd name="T56" fmla="*/ 36 w 37"/>
                  <a:gd name="T57" fmla="*/ 19 h 37"/>
                  <a:gd name="T58" fmla="*/ 34 w 37"/>
                  <a:gd name="T59" fmla="*/ 17 h 37"/>
                  <a:gd name="T60" fmla="*/ 35 w 37"/>
                  <a:gd name="T61" fmla="*/ 15 h 37"/>
                  <a:gd name="T62" fmla="*/ 36 w 37"/>
                  <a:gd name="T63" fmla="*/ 12 h 37"/>
                  <a:gd name="T64" fmla="*/ 34 w 37"/>
                  <a:gd name="T65" fmla="*/ 11 h 37"/>
                  <a:gd name="T66" fmla="*/ 31 w 37"/>
                  <a:gd name="T67" fmla="*/ 9 h 37"/>
                  <a:gd name="T68" fmla="*/ 32 w 37"/>
                  <a:gd name="T69" fmla="*/ 7 h 37"/>
                  <a:gd name="T70" fmla="*/ 31 w 37"/>
                  <a:gd name="T71" fmla="*/ 4 h 37"/>
                  <a:gd name="T72" fmla="*/ 28 w 37"/>
                  <a:gd name="T73" fmla="*/ 4 h 37"/>
                  <a:gd name="T74" fmla="*/ 25 w 37"/>
                  <a:gd name="T75" fmla="*/ 4 h 37"/>
                  <a:gd name="T76" fmla="*/ 25 w 37"/>
                  <a:gd name="T77" fmla="*/ 2 h 37"/>
                  <a:gd name="T78" fmla="*/ 22 w 37"/>
                  <a:gd name="T79" fmla="*/ 0 h 37"/>
                  <a:gd name="T80" fmla="*/ 20 w 37"/>
                  <a:gd name="T81" fmla="*/ 1 h 37"/>
                  <a:gd name="T82" fmla="*/ 17 w 37"/>
                  <a:gd name="T83" fmla="*/ 3 h 37"/>
                  <a:gd name="T84" fmla="*/ 16 w 37"/>
                  <a:gd name="T85" fmla="*/ 1 h 37"/>
                  <a:gd name="T86" fmla="*/ 13 w 37"/>
                  <a:gd name="T87" fmla="*/ 0 h 37"/>
                  <a:gd name="T88" fmla="*/ 11 w 37"/>
                  <a:gd name="T89" fmla="*/ 3 h 37"/>
                  <a:gd name="T90" fmla="*/ 10 w 37"/>
                  <a:gd name="T91" fmla="*/ 6 h 37"/>
                  <a:gd name="T92" fmla="*/ 8 w 37"/>
                  <a:gd name="T93" fmla="*/ 5 h 37"/>
                  <a:gd name="T94" fmla="*/ 5 w 37"/>
                  <a:gd name="T95" fmla="*/ 6 h 37"/>
                  <a:gd name="T96" fmla="*/ 4 w 37"/>
                  <a:gd name="T97" fmla="*/ 9 h 37"/>
                  <a:gd name="T98" fmla="*/ 15 w 37"/>
                  <a:gd name="T99" fmla="*/ 8 h 37"/>
                  <a:gd name="T100" fmla="*/ 29 w 37"/>
                  <a:gd name="T101" fmla="*/ 15 h 37"/>
                  <a:gd name="T102" fmla="*/ 22 w 37"/>
                  <a:gd name="T103" fmla="*/ 29 h 37"/>
                  <a:gd name="T104" fmla="*/ 8 w 37"/>
                  <a:gd name="T105" fmla="*/ 22 h 37"/>
                  <a:gd name="T106" fmla="*/ 15 w 37"/>
                  <a:gd name="T107" fmla="*/ 8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7" h="37">
                    <a:moveTo>
                      <a:pt x="4" y="9"/>
                    </a:moveTo>
                    <a:cubicBezTo>
                      <a:pt x="5" y="9"/>
                      <a:pt x="5" y="11"/>
                      <a:pt x="5" y="12"/>
                    </a:cubicBezTo>
                    <a:cubicBezTo>
                      <a:pt x="4" y="12"/>
                      <a:pt x="3" y="12"/>
                      <a:pt x="2" y="12"/>
                    </a:cubicBezTo>
                    <a:cubicBezTo>
                      <a:pt x="1" y="12"/>
                      <a:pt x="0" y="13"/>
                      <a:pt x="0" y="14"/>
                    </a:cubicBezTo>
                    <a:cubicBezTo>
                      <a:pt x="0" y="16"/>
                      <a:pt x="0" y="17"/>
                      <a:pt x="1" y="17"/>
                    </a:cubicBezTo>
                    <a:cubicBezTo>
                      <a:pt x="2" y="17"/>
                      <a:pt x="3" y="19"/>
                      <a:pt x="3" y="20"/>
                    </a:cubicBezTo>
                    <a:cubicBezTo>
                      <a:pt x="3" y="20"/>
                      <a:pt x="2" y="21"/>
                      <a:pt x="2" y="21"/>
                    </a:cubicBezTo>
                    <a:cubicBezTo>
                      <a:pt x="1" y="21"/>
                      <a:pt x="0" y="23"/>
                      <a:pt x="1" y="24"/>
                    </a:cubicBezTo>
                    <a:cubicBezTo>
                      <a:pt x="1" y="25"/>
                      <a:pt x="2" y="26"/>
                      <a:pt x="3" y="26"/>
                    </a:cubicBezTo>
                    <a:cubicBezTo>
                      <a:pt x="4" y="26"/>
                      <a:pt x="5" y="26"/>
                      <a:pt x="5" y="26"/>
                    </a:cubicBezTo>
                    <a:cubicBezTo>
                      <a:pt x="6" y="27"/>
                      <a:pt x="6" y="28"/>
                      <a:pt x="5" y="29"/>
                    </a:cubicBezTo>
                    <a:cubicBezTo>
                      <a:pt x="5" y="30"/>
                      <a:pt x="5" y="31"/>
                      <a:pt x="6" y="32"/>
                    </a:cubicBezTo>
                    <a:cubicBezTo>
                      <a:pt x="7" y="33"/>
                      <a:pt x="8" y="33"/>
                      <a:pt x="9" y="33"/>
                    </a:cubicBezTo>
                    <a:cubicBezTo>
                      <a:pt x="10" y="32"/>
                      <a:pt x="11" y="32"/>
                      <a:pt x="12" y="32"/>
                    </a:cubicBezTo>
                    <a:cubicBezTo>
                      <a:pt x="12" y="32"/>
                      <a:pt x="13" y="33"/>
                      <a:pt x="12" y="34"/>
                    </a:cubicBezTo>
                    <a:cubicBezTo>
                      <a:pt x="12" y="35"/>
                      <a:pt x="13" y="36"/>
                      <a:pt x="15" y="37"/>
                    </a:cubicBezTo>
                    <a:cubicBezTo>
                      <a:pt x="16" y="37"/>
                      <a:pt x="17" y="36"/>
                      <a:pt x="17" y="35"/>
                    </a:cubicBezTo>
                    <a:cubicBezTo>
                      <a:pt x="18" y="34"/>
                      <a:pt x="19" y="34"/>
                      <a:pt x="20" y="34"/>
                    </a:cubicBezTo>
                    <a:cubicBezTo>
                      <a:pt x="20" y="34"/>
                      <a:pt x="21" y="34"/>
                      <a:pt x="21" y="35"/>
                    </a:cubicBezTo>
                    <a:cubicBezTo>
                      <a:pt x="22" y="36"/>
                      <a:pt x="23" y="37"/>
                      <a:pt x="24" y="36"/>
                    </a:cubicBezTo>
                    <a:cubicBezTo>
                      <a:pt x="26" y="36"/>
                      <a:pt x="26" y="35"/>
                      <a:pt x="26" y="34"/>
                    </a:cubicBezTo>
                    <a:cubicBezTo>
                      <a:pt x="26" y="33"/>
                      <a:pt x="27" y="31"/>
                      <a:pt x="27" y="31"/>
                    </a:cubicBezTo>
                    <a:cubicBezTo>
                      <a:pt x="28" y="31"/>
                      <a:pt x="29" y="31"/>
                      <a:pt x="29" y="32"/>
                    </a:cubicBezTo>
                    <a:cubicBezTo>
                      <a:pt x="30" y="32"/>
                      <a:pt x="32" y="32"/>
                      <a:pt x="32" y="31"/>
                    </a:cubicBezTo>
                    <a:cubicBezTo>
                      <a:pt x="33" y="30"/>
                      <a:pt x="34" y="28"/>
                      <a:pt x="33" y="28"/>
                    </a:cubicBezTo>
                    <a:cubicBezTo>
                      <a:pt x="32" y="27"/>
                      <a:pt x="32" y="25"/>
                      <a:pt x="32" y="25"/>
                    </a:cubicBezTo>
                    <a:cubicBezTo>
                      <a:pt x="33" y="24"/>
                      <a:pt x="34" y="24"/>
                      <a:pt x="35" y="24"/>
                    </a:cubicBezTo>
                    <a:cubicBezTo>
                      <a:pt x="36" y="24"/>
                      <a:pt x="37" y="24"/>
                      <a:pt x="37" y="22"/>
                    </a:cubicBezTo>
                    <a:cubicBezTo>
                      <a:pt x="37" y="21"/>
                      <a:pt x="37" y="20"/>
                      <a:pt x="36" y="19"/>
                    </a:cubicBezTo>
                    <a:cubicBezTo>
                      <a:pt x="35" y="19"/>
                      <a:pt x="34" y="18"/>
                      <a:pt x="34" y="17"/>
                    </a:cubicBezTo>
                    <a:cubicBezTo>
                      <a:pt x="34" y="16"/>
                      <a:pt x="35" y="16"/>
                      <a:pt x="35" y="15"/>
                    </a:cubicBezTo>
                    <a:cubicBezTo>
                      <a:pt x="36" y="15"/>
                      <a:pt x="37" y="14"/>
                      <a:pt x="36" y="12"/>
                    </a:cubicBezTo>
                    <a:cubicBezTo>
                      <a:pt x="36" y="11"/>
                      <a:pt x="35" y="10"/>
                      <a:pt x="34" y="11"/>
                    </a:cubicBezTo>
                    <a:cubicBezTo>
                      <a:pt x="33" y="11"/>
                      <a:pt x="31" y="10"/>
                      <a:pt x="31" y="9"/>
                    </a:cubicBezTo>
                    <a:cubicBezTo>
                      <a:pt x="31" y="9"/>
                      <a:pt x="31" y="8"/>
                      <a:pt x="32" y="7"/>
                    </a:cubicBezTo>
                    <a:cubicBezTo>
                      <a:pt x="32" y="7"/>
                      <a:pt x="32" y="5"/>
                      <a:pt x="31" y="4"/>
                    </a:cubicBezTo>
                    <a:cubicBezTo>
                      <a:pt x="30" y="3"/>
                      <a:pt x="29" y="3"/>
                      <a:pt x="28" y="4"/>
                    </a:cubicBezTo>
                    <a:cubicBezTo>
                      <a:pt x="27" y="5"/>
                      <a:pt x="26" y="5"/>
                      <a:pt x="25" y="4"/>
                    </a:cubicBezTo>
                    <a:cubicBezTo>
                      <a:pt x="25" y="4"/>
                      <a:pt x="24" y="3"/>
                      <a:pt x="25" y="2"/>
                    </a:cubicBezTo>
                    <a:cubicBezTo>
                      <a:pt x="25" y="1"/>
                      <a:pt x="24" y="0"/>
                      <a:pt x="22" y="0"/>
                    </a:cubicBezTo>
                    <a:cubicBezTo>
                      <a:pt x="21" y="0"/>
                      <a:pt x="20" y="0"/>
                      <a:pt x="20" y="1"/>
                    </a:cubicBezTo>
                    <a:cubicBezTo>
                      <a:pt x="19" y="2"/>
                      <a:pt x="18" y="3"/>
                      <a:pt x="17" y="3"/>
                    </a:cubicBezTo>
                    <a:cubicBezTo>
                      <a:pt x="17" y="3"/>
                      <a:pt x="16" y="2"/>
                      <a:pt x="16" y="1"/>
                    </a:cubicBezTo>
                    <a:cubicBezTo>
                      <a:pt x="15" y="0"/>
                      <a:pt x="14" y="0"/>
                      <a:pt x="13" y="0"/>
                    </a:cubicBezTo>
                    <a:cubicBezTo>
                      <a:pt x="11" y="1"/>
                      <a:pt x="11" y="2"/>
                      <a:pt x="11" y="3"/>
                    </a:cubicBezTo>
                    <a:cubicBezTo>
                      <a:pt x="11" y="4"/>
                      <a:pt x="10" y="5"/>
                      <a:pt x="10" y="6"/>
                    </a:cubicBezTo>
                    <a:cubicBezTo>
                      <a:pt x="9" y="6"/>
                      <a:pt x="8" y="6"/>
                      <a:pt x="8" y="5"/>
                    </a:cubicBezTo>
                    <a:cubicBezTo>
                      <a:pt x="7" y="4"/>
                      <a:pt x="5" y="5"/>
                      <a:pt x="5" y="6"/>
                    </a:cubicBezTo>
                    <a:cubicBezTo>
                      <a:pt x="4" y="7"/>
                      <a:pt x="3" y="8"/>
                      <a:pt x="4" y="9"/>
                    </a:cubicBezTo>
                    <a:close/>
                    <a:moveTo>
                      <a:pt x="15" y="8"/>
                    </a:moveTo>
                    <a:cubicBezTo>
                      <a:pt x="21" y="6"/>
                      <a:pt x="27" y="9"/>
                      <a:pt x="29" y="15"/>
                    </a:cubicBezTo>
                    <a:cubicBezTo>
                      <a:pt x="31" y="21"/>
                      <a:pt x="27" y="27"/>
                      <a:pt x="22" y="29"/>
                    </a:cubicBezTo>
                    <a:cubicBezTo>
                      <a:pt x="16" y="30"/>
                      <a:pt x="10" y="27"/>
                      <a:pt x="8" y="22"/>
                    </a:cubicBezTo>
                    <a:cubicBezTo>
                      <a:pt x="6" y="16"/>
                      <a:pt x="10" y="10"/>
                      <a:pt x="15" y="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lt1"/>
                  </a:solidFill>
                </a:endParaRPr>
              </a:p>
            </p:txBody>
          </p:sp>
          <p:sp>
            <p:nvSpPr>
              <p:cNvPr id="65" name="Freeform 303"/>
              <p:cNvSpPr>
                <a:spLocks noEditPoints="1"/>
              </p:cNvSpPr>
              <p:nvPr/>
            </p:nvSpPr>
            <p:spPr bwMode="auto">
              <a:xfrm>
                <a:off x="5084763" y="1111250"/>
                <a:ext cx="109538" cy="104775"/>
              </a:xfrm>
              <a:custGeom>
                <a:avLst/>
                <a:gdLst>
                  <a:gd name="T0" fmla="*/ 3 w 29"/>
                  <a:gd name="T1" fmla="*/ 7 h 28"/>
                  <a:gd name="T2" fmla="*/ 4 w 29"/>
                  <a:gd name="T3" fmla="*/ 9 h 28"/>
                  <a:gd name="T4" fmla="*/ 2 w 29"/>
                  <a:gd name="T5" fmla="*/ 9 h 28"/>
                  <a:gd name="T6" fmla="*/ 0 w 29"/>
                  <a:gd name="T7" fmla="*/ 11 h 28"/>
                  <a:gd name="T8" fmla="*/ 1 w 29"/>
                  <a:gd name="T9" fmla="*/ 13 h 28"/>
                  <a:gd name="T10" fmla="*/ 3 w 29"/>
                  <a:gd name="T11" fmla="*/ 15 h 28"/>
                  <a:gd name="T12" fmla="*/ 1 w 29"/>
                  <a:gd name="T13" fmla="*/ 16 h 28"/>
                  <a:gd name="T14" fmla="*/ 1 w 29"/>
                  <a:gd name="T15" fmla="*/ 19 h 28"/>
                  <a:gd name="T16" fmla="*/ 3 w 29"/>
                  <a:gd name="T17" fmla="*/ 20 h 28"/>
                  <a:gd name="T18" fmla="*/ 4 w 29"/>
                  <a:gd name="T19" fmla="*/ 20 h 28"/>
                  <a:gd name="T20" fmla="*/ 4 w 29"/>
                  <a:gd name="T21" fmla="*/ 23 h 28"/>
                  <a:gd name="T22" fmla="*/ 5 w 29"/>
                  <a:gd name="T23" fmla="*/ 25 h 28"/>
                  <a:gd name="T24" fmla="*/ 7 w 29"/>
                  <a:gd name="T25" fmla="*/ 25 h 28"/>
                  <a:gd name="T26" fmla="*/ 9 w 29"/>
                  <a:gd name="T27" fmla="*/ 25 h 28"/>
                  <a:gd name="T28" fmla="*/ 10 w 29"/>
                  <a:gd name="T29" fmla="*/ 27 h 28"/>
                  <a:gd name="T30" fmla="*/ 11 w 29"/>
                  <a:gd name="T31" fmla="*/ 28 h 28"/>
                  <a:gd name="T32" fmla="*/ 13 w 29"/>
                  <a:gd name="T33" fmla="*/ 27 h 28"/>
                  <a:gd name="T34" fmla="*/ 15 w 29"/>
                  <a:gd name="T35" fmla="*/ 26 h 28"/>
                  <a:gd name="T36" fmla="*/ 17 w 29"/>
                  <a:gd name="T37" fmla="*/ 27 h 28"/>
                  <a:gd name="T38" fmla="*/ 19 w 29"/>
                  <a:gd name="T39" fmla="*/ 28 h 28"/>
                  <a:gd name="T40" fmla="*/ 20 w 29"/>
                  <a:gd name="T41" fmla="*/ 26 h 28"/>
                  <a:gd name="T42" fmla="*/ 21 w 29"/>
                  <a:gd name="T43" fmla="*/ 24 h 28"/>
                  <a:gd name="T44" fmla="*/ 23 w 29"/>
                  <a:gd name="T45" fmla="*/ 24 h 28"/>
                  <a:gd name="T46" fmla="*/ 25 w 29"/>
                  <a:gd name="T47" fmla="*/ 24 h 28"/>
                  <a:gd name="T48" fmla="*/ 25 w 29"/>
                  <a:gd name="T49" fmla="*/ 21 h 28"/>
                  <a:gd name="T50" fmla="*/ 25 w 29"/>
                  <a:gd name="T51" fmla="*/ 19 h 28"/>
                  <a:gd name="T52" fmla="*/ 27 w 29"/>
                  <a:gd name="T53" fmla="*/ 19 h 28"/>
                  <a:gd name="T54" fmla="*/ 29 w 29"/>
                  <a:gd name="T55" fmla="*/ 17 h 28"/>
                  <a:gd name="T56" fmla="*/ 28 w 29"/>
                  <a:gd name="T57" fmla="*/ 15 h 28"/>
                  <a:gd name="T58" fmla="*/ 26 w 29"/>
                  <a:gd name="T59" fmla="*/ 13 h 28"/>
                  <a:gd name="T60" fmla="*/ 27 w 29"/>
                  <a:gd name="T61" fmla="*/ 12 h 28"/>
                  <a:gd name="T62" fmla="*/ 28 w 29"/>
                  <a:gd name="T63" fmla="*/ 10 h 28"/>
                  <a:gd name="T64" fmla="*/ 26 w 29"/>
                  <a:gd name="T65" fmla="*/ 8 h 28"/>
                  <a:gd name="T66" fmla="*/ 24 w 29"/>
                  <a:gd name="T67" fmla="*/ 7 h 28"/>
                  <a:gd name="T68" fmla="*/ 25 w 29"/>
                  <a:gd name="T69" fmla="*/ 6 h 28"/>
                  <a:gd name="T70" fmla="*/ 24 w 29"/>
                  <a:gd name="T71" fmla="*/ 3 h 28"/>
                  <a:gd name="T72" fmla="*/ 22 w 29"/>
                  <a:gd name="T73" fmla="*/ 3 h 28"/>
                  <a:gd name="T74" fmla="*/ 19 w 29"/>
                  <a:gd name="T75" fmla="*/ 3 h 28"/>
                  <a:gd name="T76" fmla="*/ 19 w 29"/>
                  <a:gd name="T77" fmla="*/ 2 h 28"/>
                  <a:gd name="T78" fmla="*/ 17 w 29"/>
                  <a:gd name="T79" fmla="*/ 0 h 28"/>
                  <a:gd name="T80" fmla="*/ 15 w 29"/>
                  <a:gd name="T81" fmla="*/ 1 h 28"/>
                  <a:gd name="T82" fmla="*/ 13 w 29"/>
                  <a:gd name="T83" fmla="*/ 2 h 28"/>
                  <a:gd name="T84" fmla="*/ 12 w 29"/>
                  <a:gd name="T85" fmla="*/ 1 h 28"/>
                  <a:gd name="T86" fmla="*/ 10 w 29"/>
                  <a:gd name="T87" fmla="*/ 0 h 28"/>
                  <a:gd name="T88" fmla="*/ 9 w 29"/>
                  <a:gd name="T89" fmla="*/ 2 h 28"/>
                  <a:gd name="T90" fmla="*/ 8 w 29"/>
                  <a:gd name="T91" fmla="*/ 4 h 28"/>
                  <a:gd name="T92" fmla="*/ 6 w 29"/>
                  <a:gd name="T93" fmla="*/ 4 h 28"/>
                  <a:gd name="T94" fmla="*/ 4 w 29"/>
                  <a:gd name="T95" fmla="*/ 4 h 28"/>
                  <a:gd name="T96" fmla="*/ 3 w 29"/>
                  <a:gd name="T97" fmla="*/ 7 h 28"/>
                  <a:gd name="T98" fmla="*/ 12 w 29"/>
                  <a:gd name="T99" fmla="*/ 6 h 28"/>
                  <a:gd name="T100" fmla="*/ 22 w 29"/>
                  <a:gd name="T101" fmla="*/ 12 h 28"/>
                  <a:gd name="T102" fmla="*/ 17 w 29"/>
                  <a:gd name="T103" fmla="*/ 22 h 28"/>
                  <a:gd name="T104" fmla="*/ 6 w 29"/>
                  <a:gd name="T105" fmla="*/ 17 h 28"/>
                  <a:gd name="T106" fmla="*/ 12 w 29"/>
                  <a:gd name="T107" fmla="*/ 6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9" h="28">
                    <a:moveTo>
                      <a:pt x="3" y="7"/>
                    </a:moveTo>
                    <a:cubicBezTo>
                      <a:pt x="4" y="7"/>
                      <a:pt x="4" y="9"/>
                      <a:pt x="4" y="9"/>
                    </a:cubicBezTo>
                    <a:cubicBezTo>
                      <a:pt x="4" y="9"/>
                      <a:pt x="3" y="10"/>
                      <a:pt x="2" y="9"/>
                    </a:cubicBezTo>
                    <a:cubicBezTo>
                      <a:pt x="1" y="9"/>
                      <a:pt x="0" y="10"/>
                      <a:pt x="0" y="11"/>
                    </a:cubicBezTo>
                    <a:cubicBezTo>
                      <a:pt x="0" y="12"/>
                      <a:pt x="0" y="13"/>
                      <a:pt x="1" y="13"/>
                    </a:cubicBezTo>
                    <a:cubicBezTo>
                      <a:pt x="2" y="13"/>
                      <a:pt x="3" y="15"/>
                      <a:pt x="3" y="15"/>
                    </a:cubicBezTo>
                    <a:cubicBezTo>
                      <a:pt x="3" y="16"/>
                      <a:pt x="2" y="16"/>
                      <a:pt x="1" y="16"/>
                    </a:cubicBezTo>
                    <a:cubicBezTo>
                      <a:pt x="1" y="17"/>
                      <a:pt x="0" y="18"/>
                      <a:pt x="1" y="19"/>
                    </a:cubicBezTo>
                    <a:cubicBezTo>
                      <a:pt x="1" y="20"/>
                      <a:pt x="2" y="20"/>
                      <a:pt x="3" y="20"/>
                    </a:cubicBezTo>
                    <a:cubicBezTo>
                      <a:pt x="3" y="20"/>
                      <a:pt x="4" y="20"/>
                      <a:pt x="4" y="20"/>
                    </a:cubicBezTo>
                    <a:cubicBezTo>
                      <a:pt x="4" y="21"/>
                      <a:pt x="5" y="22"/>
                      <a:pt x="4" y="23"/>
                    </a:cubicBezTo>
                    <a:cubicBezTo>
                      <a:pt x="4" y="23"/>
                      <a:pt x="4" y="24"/>
                      <a:pt x="5" y="25"/>
                    </a:cubicBezTo>
                    <a:cubicBezTo>
                      <a:pt x="5" y="26"/>
                      <a:pt x="7" y="26"/>
                      <a:pt x="7" y="25"/>
                    </a:cubicBezTo>
                    <a:cubicBezTo>
                      <a:pt x="8" y="25"/>
                      <a:pt x="9" y="25"/>
                      <a:pt x="9" y="25"/>
                    </a:cubicBezTo>
                    <a:cubicBezTo>
                      <a:pt x="10" y="25"/>
                      <a:pt x="10" y="26"/>
                      <a:pt x="10" y="27"/>
                    </a:cubicBezTo>
                    <a:cubicBezTo>
                      <a:pt x="10" y="27"/>
                      <a:pt x="10" y="28"/>
                      <a:pt x="11" y="28"/>
                    </a:cubicBezTo>
                    <a:cubicBezTo>
                      <a:pt x="12" y="28"/>
                      <a:pt x="13" y="28"/>
                      <a:pt x="13" y="27"/>
                    </a:cubicBezTo>
                    <a:cubicBezTo>
                      <a:pt x="14" y="27"/>
                      <a:pt x="15" y="26"/>
                      <a:pt x="15" y="26"/>
                    </a:cubicBezTo>
                    <a:cubicBezTo>
                      <a:pt x="16" y="26"/>
                      <a:pt x="16" y="26"/>
                      <a:pt x="17" y="27"/>
                    </a:cubicBezTo>
                    <a:cubicBezTo>
                      <a:pt x="17" y="28"/>
                      <a:pt x="18" y="28"/>
                      <a:pt x="19" y="28"/>
                    </a:cubicBezTo>
                    <a:cubicBezTo>
                      <a:pt x="20" y="28"/>
                      <a:pt x="20" y="27"/>
                      <a:pt x="20" y="26"/>
                    </a:cubicBezTo>
                    <a:cubicBezTo>
                      <a:pt x="20" y="25"/>
                      <a:pt x="21" y="24"/>
                      <a:pt x="21" y="24"/>
                    </a:cubicBezTo>
                    <a:cubicBezTo>
                      <a:pt x="21" y="24"/>
                      <a:pt x="22" y="24"/>
                      <a:pt x="23" y="24"/>
                    </a:cubicBezTo>
                    <a:cubicBezTo>
                      <a:pt x="23" y="25"/>
                      <a:pt x="24" y="25"/>
                      <a:pt x="25" y="24"/>
                    </a:cubicBezTo>
                    <a:cubicBezTo>
                      <a:pt x="26" y="23"/>
                      <a:pt x="26" y="22"/>
                      <a:pt x="25" y="21"/>
                    </a:cubicBezTo>
                    <a:cubicBezTo>
                      <a:pt x="25" y="21"/>
                      <a:pt x="25" y="20"/>
                      <a:pt x="25" y="19"/>
                    </a:cubicBezTo>
                    <a:cubicBezTo>
                      <a:pt x="25" y="19"/>
                      <a:pt x="26" y="19"/>
                      <a:pt x="27" y="19"/>
                    </a:cubicBezTo>
                    <a:cubicBezTo>
                      <a:pt x="28" y="19"/>
                      <a:pt x="28" y="18"/>
                      <a:pt x="29" y="17"/>
                    </a:cubicBezTo>
                    <a:cubicBezTo>
                      <a:pt x="29" y="16"/>
                      <a:pt x="28" y="15"/>
                      <a:pt x="28" y="15"/>
                    </a:cubicBezTo>
                    <a:cubicBezTo>
                      <a:pt x="27" y="15"/>
                      <a:pt x="26" y="14"/>
                      <a:pt x="26" y="13"/>
                    </a:cubicBezTo>
                    <a:cubicBezTo>
                      <a:pt x="26" y="13"/>
                      <a:pt x="27" y="12"/>
                      <a:pt x="27" y="12"/>
                    </a:cubicBezTo>
                    <a:cubicBezTo>
                      <a:pt x="28" y="12"/>
                      <a:pt x="28" y="11"/>
                      <a:pt x="28" y="10"/>
                    </a:cubicBezTo>
                    <a:cubicBezTo>
                      <a:pt x="28" y="9"/>
                      <a:pt x="27" y="8"/>
                      <a:pt x="26" y="8"/>
                    </a:cubicBezTo>
                    <a:cubicBezTo>
                      <a:pt x="26" y="9"/>
                      <a:pt x="24" y="8"/>
                      <a:pt x="24" y="7"/>
                    </a:cubicBezTo>
                    <a:cubicBezTo>
                      <a:pt x="24" y="7"/>
                      <a:pt x="24" y="6"/>
                      <a:pt x="25" y="6"/>
                    </a:cubicBezTo>
                    <a:cubicBezTo>
                      <a:pt x="25" y="5"/>
                      <a:pt x="25" y="4"/>
                      <a:pt x="24" y="3"/>
                    </a:cubicBezTo>
                    <a:cubicBezTo>
                      <a:pt x="23" y="3"/>
                      <a:pt x="22" y="3"/>
                      <a:pt x="22" y="3"/>
                    </a:cubicBezTo>
                    <a:cubicBezTo>
                      <a:pt x="21" y="4"/>
                      <a:pt x="20" y="4"/>
                      <a:pt x="19" y="3"/>
                    </a:cubicBezTo>
                    <a:cubicBezTo>
                      <a:pt x="19" y="3"/>
                      <a:pt x="19" y="2"/>
                      <a:pt x="19" y="2"/>
                    </a:cubicBezTo>
                    <a:cubicBezTo>
                      <a:pt x="19" y="1"/>
                      <a:pt x="18" y="0"/>
                      <a:pt x="17" y="0"/>
                    </a:cubicBezTo>
                    <a:cubicBezTo>
                      <a:pt x="16" y="0"/>
                      <a:pt x="15" y="0"/>
                      <a:pt x="15" y="1"/>
                    </a:cubicBezTo>
                    <a:cubicBezTo>
                      <a:pt x="15" y="2"/>
                      <a:pt x="14" y="2"/>
                      <a:pt x="13" y="2"/>
                    </a:cubicBezTo>
                    <a:cubicBezTo>
                      <a:pt x="13" y="2"/>
                      <a:pt x="12" y="2"/>
                      <a:pt x="12" y="1"/>
                    </a:cubicBezTo>
                    <a:cubicBezTo>
                      <a:pt x="12" y="0"/>
                      <a:pt x="11" y="0"/>
                      <a:pt x="10" y="0"/>
                    </a:cubicBezTo>
                    <a:cubicBezTo>
                      <a:pt x="9" y="1"/>
                      <a:pt x="8" y="2"/>
                      <a:pt x="9" y="2"/>
                    </a:cubicBezTo>
                    <a:cubicBezTo>
                      <a:pt x="9" y="3"/>
                      <a:pt x="8" y="4"/>
                      <a:pt x="8" y="4"/>
                    </a:cubicBezTo>
                    <a:cubicBezTo>
                      <a:pt x="7" y="5"/>
                      <a:pt x="7" y="4"/>
                      <a:pt x="6" y="4"/>
                    </a:cubicBezTo>
                    <a:cubicBezTo>
                      <a:pt x="5" y="3"/>
                      <a:pt x="4" y="4"/>
                      <a:pt x="4" y="4"/>
                    </a:cubicBezTo>
                    <a:cubicBezTo>
                      <a:pt x="3" y="5"/>
                      <a:pt x="3" y="6"/>
                      <a:pt x="3" y="7"/>
                    </a:cubicBezTo>
                    <a:close/>
                    <a:moveTo>
                      <a:pt x="12" y="6"/>
                    </a:moveTo>
                    <a:cubicBezTo>
                      <a:pt x="16" y="5"/>
                      <a:pt x="21" y="7"/>
                      <a:pt x="22" y="12"/>
                    </a:cubicBezTo>
                    <a:cubicBezTo>
                      <a:pt x="24" y="16"/>
                      <a:pt x="21" y="21"/>
                      <a:pt x="17" y="22"/>
                    </a:cubicBezTo>
                    <a:cubicBezTo>
                      <a:pt x="13" y="23"/>
                      <a:pt x="8" y="21"/>
                      <a:pt x="6" y="17"/>
                    </a:cubicBezTo>
                    <a:cubicBezTo>
                      <a:pt x="5" y="12"/>
                      <a:pt x="7" y="8"/>
                      <a:pt x="12" y="6"/>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lt1"/>
                  </a:solidFill>
                </a:endParaRPr>
              </a:p>
            </p:txBody>
          </p:sp>
        </p:grpSp>
      </p:grpSp>
      <p:sp>
        <p:nvSpPr>
          <p:cNvPr id="67" name="矩形 66"/>
          <p:cNvSpPr/>
          <p:nvPr/>
        </p:nvSpPr>
        <p:spPr>
          <a:xfrm>
            <a:off x="6095999" y="0"/>
            <a:ext cx="6099175" cy="6858000"/>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TextBox 67"/>
          <p:cNvSpPr txBox="1"/>
          <p:nvPr/>
        </p:nvSpPr>
        <p:spPr>
          <a:xfrm>
            <a:off x="457200" y="3749040"/>
            <a:ext cx="5184648" cy="548640"/>
          </a:xfrm>
          <a:prstGeom prst="rect">
            <a:avLst/>
          </a:prstGeom>
          <a:noFill/>
        </p:spPr>
        <p:txBody>
          <a:bodyPr wrap="square" lIns="45720" tIns="27432" rIns="45720" bIns="27432" anchor="t">
            <a:spAutoFit/>
          </a:bodyPr>
          <a:lstStyle/>
          <a:p>
            <a:pPr algn="ctr">
              <a:spcAft>
                <a:spcPts val="0"/>
              </a:spcAft>
            </a:pPr>
            <a:r>
              <a:rPr sz="2800" b="1" i="0">
                <a:solidFill>
                  <a:srgbClr val="46CEAE"/>
                </a:solidFill>
                <a:latin typeface="Arial"/>
              </a:rPr>
              <a:t>Part 3</a:t>
            </a:r>
          </a:p>
        </p:txBody>
      </p:sp>
      <p:sp>
        <p:nvSpPr>
          <p:cNvPr id="69" name="TextBox 68"/>
          <p:cNvSpPr txBox="1"/>
          <p:nvPr/>
        </p:nvSpPr>
        <p:spPr>
          <a:xfrm>
            <a:off x="457200" y="4315968"/>
            <a:ext cx="5184648" cy="1737360"/>
          </a:xfrm>
          <a:prstGeom prst="rect">
            <a:avLst/>
          </a:prstGeom>
          <a:noFill/>
        </p:spPr>
        <p:txBody>
          <a:bodyPr wrap="square" lIns="45720" tIns="27432" rIns="45720" bIns="27432" anchor="t">
            <a:spAutoFit/>
          </a:bodyPr>
          <a:lstStyle/>
          <a:p>
            <a:pPr algn="ctr">
              <a:lnSpc>
                <a:spcPct val="95000"/>
              </a:lnSpc>
              <a:spcAft>
                <a:spcPts val="0"/>
              </a:spcAft>
            </a:pPr>
            <a:r>
              <a:rPr sz="3200" b="1" i="0">
                <a:solidFill>
                  <a:srgbClr val="202A36"/>
                </a:solidFill>
                <a:latin typeface="Arial"/>
              </a:rPr>
              <a:t>Method: corpus, pipeline and algorithms</a:t>
            </a:r>
          </a:p>
        </p:txBody>
      </p:sp>
      <p:cxnSp>
        <p:nvCxnSpPr>
          <p:cNvPr id="70" name="Connector 69"/>
          <p:cNvCxnSpPr/>
          <p:nvPr/>
        </p:nvCxnSpPr>
        <p:spPr>
          <a:xfrm>
            <a:off x="7863840" y="1088136"/>
            <a:ext cx="0" cy="4681728"/>
          </a:xfrm>
          <a:prstGeom prst="line">
            <a:avLst/>
          </a:prstGeom>
          <a:ln w="19050">
            <a:solidFill>
              <a:srgbClr val="8E98A5"/>
            </a:solidFill>
          </a:ln>
        </p:spPr>
        <p:style>
          <a:lnRef idx="2">
            <a:schemeClr val="accent1"/>
          </a:lnRef>
          <a:fillRef idx="0">
            <a:schemeClr val="accent1"/>
          </a:fillRef>
          <a:effectRef idx="1">
            <a:schemeClr val="accent1"/>
          </a:effectRef>
          <a:fontRef idx="minor">
            <a:schemeClr val="tx1"/>
          </a:fontRef>
        </p:style>
      </p:cxnSp>
      <p:sp>
        <p:nvSpPr>
          <p:cNvPr id="71" name="Oval 70"/>
          <p:cNvSpPr/>
          <p:nvPr/>
        </p:nvSpPr>
        <p:spPr>
          <a:xfrm>
            <a:off x="7790688" y="1380744"/>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229600" y="1252728"/>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Corpus</a:t>
            </a:r>
          </a:p>
        </p:txBody>
      </p:sp>
      <p:sp>
        <p:nvSpPr>
          <p:cNvPr id="73" name="Oval 72"/>
          <p:cNvSpPr/>
          <p:nvPr/>
        </p:nvSpPr>
        <p:spPr>
          <a:xfrm>
            <a:off x="7790688" y="2039112"/>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229600" y="1911096"/>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Attrition and tree recovery</a:t>
            </a:r>
          </a:p>
        </p:txBody>
      </p:sp>
      <p:sp>
        <p:nvSpPr>
          <p:cNvPr id="75" name="Oval 74"/>
          <p:cNvSpPr/>
          <p:nvPr/>
        </p:nvSpPr>
        <p:spPr>
          <a:xfrm>
            <a:off x="7790688" y="2697480"/>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229600" y="2569464"/>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Full workflow</a:t>
            </a:r>
          </a:p>
        </p:txBody>
      </p:sp>
      <p:sp>
        <p:nvSpPr>
          <p:cNvPr id="77" name="Oval 76"/>
          <p:cNvSpPr/>
          <p:nvPr/>
        </p:nvSpPr>
        <p:spPr>
          <a:xfrm>
            <a:off x="7790688" y="3355848"/>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8229600" y="3227832"/>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From dataset to facts</a:t>
            </a:r>
          </a:p>
        </p:txBody>
      </p:sp>
      <p:sp>
        <p:nvSpPr>
          <p:cNvPr id="79" name="Oval 78"/>
          <p:cNvSpPr/>
          <p:nvPr/>
        </p:nvSpPr>
        <p:spPr>
          <a:xfrm>
            <a:off x="7790688" y="4014216"/>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8229600" y="3886200"/>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What is charged to a pull request</a:t>
            </a:r>
          </a:p>
        </p:txBody>
      </p:sp>
      <p:sp>
        <p:nvSpPr>
          <p:cNvPr id="81" name="Oval 80"/>
          <p:cNvSpPr/>
          <p:nvPr/>
        </p:nvSpPr>
        <p:spPr>
          <a:xfrm>
            <a:off x="7790688" y="4672584"/>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229600" y="4544568"/>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The delta in the data</a:t>
            </a:r>
          </a:p>
        </p:txBody>
      </p:sp>
      <p:sp>
        <p:nvSpPr>
          <p:cNvPr id="83" name="Oval 82"/>
          <p:cNvSpPr/>
          <p:nvPr/>
        </p:nvSpPr>
        <p:spPr>
          <a:xfrm>
            <a:off x="7790688" y="5330952"/>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8229600" y="5202936"/>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Detectors and statistics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3</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Method</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600" b="1" i="0">
                <a:solidFill>
                  <a:srgbClr val="202A36"/>
                </a:solidFill>
                <a:latin typeface="Arial"/>
              </a:rPr>
              <a:t>Corpus: two languages, three agents, three outcomes</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14</a:t>
            </a:r>
          </a:p>
        </p:txBody>
      </p:sp>
      <p:graphicFrame>
        <p:nvGraphicFramePr>
          <p:cNvPr id="66" name="Table 65"/>
          <p:cNvGraphicFramePr>
            <a:graphicFrameLocks noGrp="1"/>
          </p:cNvGraphicFramePr>
          <p:nvPr/>
        </p:nvGraphicFramePr>
        <p:xfrm>
          <a:off x="612648" y="914400"/>
          <a:ext cx="6949440" cy="4114800"/>
        </p:xfrm>
        <a:graphic>
          <a:graphicData uri="http://schemas.openxmlformats.org/drawingml/2006/table">
            <a:tbl>
              <a:tblPr>
                <a:tableStyleId>{2D5ABB26-0587-4C30-8999-92F81FD0307C}</a:tableStyleId>
              </a:tblPr>
              <a:tblGrid>
                <a:gridCol w="22860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457200">
                <a:tc>
                  <a:txBody>
                    <a:bodyPr/>
                    <a:lstStyle/>
                    <a:p>
                      <a:pPr algn="l">
                        <a:spcAft>
                          <a:spcPts val="0"/>
                        </a:spcAft>
                      </a:pPr>
                      <a:endParaRP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merged</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rejected</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open</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457200">
                <a:tc gridSpan="4">
                  <a:txBody>
                    <a:bodyPr/>
                    <a:lstStyle/>
                    <a:p>
                      <a:pPr algn="l">
                        <a:spcAft>
                          <a:spcPts val="0"/>
                        </a:spcAft>
                      </a:pPr>
                      <a:r>
                        <a:rPr sz="1400" b="1" i="0">
                          <a:solidFill>
                            <a:srgbClr val="202A36"/>
                          </a:solidFill>
                          <a:latin typeface="Calibri"/>
                        </a:rPr>
                        <a:t>Java</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9DFE6"/>
                    </a:solidFill>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457200">
                <a:tc>
                  <a:txBody>
                    <a:bodyPr/>
                    <a:lstStyle/>
                    <a:p>
                      <a:pPr algn="l">
                        <a:spcAft>
                          <a:spcPts val="0"/>
                        </a:spcAft>
                      </a:pPr>
                      <a:r>
                        <a:rPr sz="1400" b="0" i="0">
                          <a:solidFill>
                            <a:srgbClr val="2B3440"/>
                          </a:solidFill>
                          <a:latin typeface="Calibri"/>
                        </a:rPr>
                        <a:t>Claude Code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970</a:t>
                      </a:r>
                    </a:p>
                  </a:txBody>
                  <a:tcPr marL="73152" marR="73152" marT="27432" marB="27432" anchor="ctr">
                    <a:lnL w="0">
                      <a:noFill/>
                    </a:lnL>
                    <a:lnR w="0">
                      <a:noFill/>
                    </a:lnR>
                    <a:lnT w="0">
                      <a:noFill/>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485</a:t>
                      </a:r>
                    </a:p>
                  </a:txBody>
                  <a:tcPr marL="73152" marR="73152" marT="27432" marB="27432" anchor="ctr">
                    <a:lnL w="0">
                      <a:noFill/>
                    </a:lnL>
                    <a:lnR w="0">
                      <a:noFill/>
                    </a:lnR>
                    <a:lnT w="0">
                      <a:noFill/>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283</a:t>
                      </a:r>
                    </a:p>
                  </a:txBody>
                  <a:tcPr marL="73152" marR="73152" marT="27432" marB="27432" anchor="ctr">
                    <a:lnL w="0">
                      <a:noFill/>
                    </a:lnL>
                    <a:lnR w="0">
                      <a:noFill/>
                    </a:lnR>
                    <a:lnT w="0">
                      <a:noFill/>
                    </a:lnT>
                    <a:lnB w="6350">
                      <a:solidFill>
                        <a:srgbClr val="C9D0D8"/>
                      </a:solidFill>
                    </a:lnB>
                    <a:solidFill>
                      <a:srgbClr val="ECEFF3"/>
                    </a:solidFill>
                  </a:tcPr>
                </a:tc>
                <a:extLst>
                  <a:ext uri="{0D108BD9-81ED-4DB2-BD59-A6C34878D82A}">
                    <a16:rowId xmlns:a16="http://schemas.microsoft.com/office/drawing/2014/main" val="10002"/>
                  </a:ext>
                </a:extLst>
              </a:tr>
              <a:tr h="457200">
                <a:tc>
                  <a:txBody>
                    <a:bodyPr/>
                    <a:lstStyle/>
                    <a:p>
                      <a:pPr algn="l">
                        <a:spcAft>
                          <a:spcPts val="0"/>
                        </a:spcAft>
                      </a:pPr>
                      <a:r>
                        <a:rPr sz="1400" b="0" i="0">
                          <a:solidFill>
                            <a:srgbClr val="2B3440"/>
                          </a:solidFill>
                          <a:latin typeface="Calibri"/>
                        </a:rPr>
                        <a:t>GitHub Copilot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2,544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1,272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364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457200">
                <a:tc>
                  <a:txBody>
                    <a:bodyPr/>
                    <a:lstStyle/>
                    <a:p>
                      <a:pPr algn="l">
                        <a:spcAft>
                          <a:spcPts val="0"/>
                        </a:spcAft>
                      </a:pPr>
                      <a:r>
                        <a:rPr sz="1400" b="0" i="0">
                          <a:solidFill>
                            <a:srgbClr val="2B3440"/>
                          </a:solidFill>
                          <a:latin typeface="Calibri"/>
                        </a:rPr>
                        <a:t>OpenAI Codex</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630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315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93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r h="457200">
                <a:tc gridSpan="4">
                  <a:txBody>
                    <a:bodyPr/>
                    <a:lstStyle/>
                    <a:p>
                      <a:pPr algn="l">
                        <a:spcAft>
                          <a:spcPts val="0"/>
                        </a:spcAft>
                      </a:pPr>
                      <a:r>
                        <a:rPr sz="1400" b="1" i="0">
                          <a:solidFill>
                            <a:srgbClr val="202A36"/>
                          </a:solidFill>
                          <a:latin typeface="Calibri"/>
                        </a:rPr>
                        <a:t>Python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9DFE6"/>
                    </a:solidFill>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5"/>
                  </a:ext>
                </a:extLst>
              </a:tr>
              <a:tr h="457200">
                <a:tc>
                  <a:txBody>
                    <a:bodyPr/>
                    <a:lstStyle/>
                    <a:p>
                      <a:pPr algn="l">
                        <a:spcAft>
                          <a:spcPts val="0"/>
                        </a:spcAft>
                      </a:pPr>
                      <a:r>
                        <a:rPr sz="1400" b="0" i="0">
                          <a:solidFill>
                            <a:srgbClr val="2B3440"/>
                          </a:solidFill>
                          <a:latin typeface="Calibri"/>
                        </a:rPr>
                        <a:t>Claude Code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940</a:t>
                      </a:r>
                    </a:p>
                  </a:txBody>
                  <a:tcPr marL="73152" marR="73152" marT="27432" marB="27432" anchor="ctr">
                    <a:lnL w="0">
                      <a:noFill/>
                    </a:lnL>
                    <a:lnR w="0">
                      <a:noFill/>
                    </a:lnR>
                    <a:lnT w="0">
                      <a:noFill/>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540</a:t>
                      </a:r>
                    </a:p>
                  </a:txBody>
                  <a:tcPr marL="73152" marR="73152" marT="27432" marB="27432" anchor="ctr">
                    <a:lnL w="0">
                      <a:noFill/>
                    </a:lnL>
                    <a:lnR w="0">
                      <a:noFill/>
                    </a:lnR>
                    <a:lnT w="0">
                      <a:noFill/>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182</a:t>
                      </a:r>
                    </a:p>
                  </a:txBody>
                  <a:tcPr marL="73152" marR="73152" marT="27432" marB="27432" anchor="ctr">
                    <a:lnL w="0">
                      <a:noFill/>
                    </a:lnL>
                    <a:lnR w="0">
                      <a:noFill/>
                    </a:lnR>
                    <a:lnT w="0">
                      <a:noFill/>
                    </a:lnT>
                    <a:lnB w="6350">
                      <a:solidFill>
                        <a:srgbClr val="C9D0D8"/>
                      </a:solidFill>
                    </a:lnB>
                    <a:solidFill>
                      <a:srgbClr val="ECEFF3"/>
                    </a:solidFill>
                  </a:tcPr>
                </a:tc>
                <a:extLst>
                  <a:ext uri="{0D108BD9-81ED-4DB2-BD59-A6C34878D82A}">
                    <a16:rowId xmlns:a16="http://schemas.microsoft.com/office/drawing/2014/main" val="10006"/>
                  </a:ext>
                </a:extLst>
              </a:tr>
              <a:tr h="457200">
                <a:tc>
                  <a:txBody>
                    <a:bodyPr/>
                    <a:lstStyle/>
                    <a:p>
                      <a:pPr algn="l">
                        <a:spcAft>
                          <a:spcPts val="0"/>
                        </a:spcAft>
                      </a:pPr>
                      <a:r>
                        <a:rPr sz="1400" b="0" i="0">
                          <a:solidFill>
                            <a:srgbClr val="2B3440"/>
                          </a:solidFill>
                          <a:latin typeface="Calibri"/>
                        </a:rPr>
                        <a:t>GitHub Copilot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885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407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178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7"/>
                  </a:ext>
                </a:extLst>
              </a:tr>
              <a:tr h="457200">
                <a:tc>
                  <a:txBody>
                    <a:bodyPr/>
                    <a:lstStyle/>
                    <a:p>
                      <a:pPr algn="l">
                        <a:spcAft>
                          <a:spcPts val="0"/>
                        </a:spcAft>
                      </a:pPr>
                      <a:r>
                        <a:rPr sz="1400" b="0" i="0">
                          <a:solidFill>
                            <a:srgbClr val="2B3440"/>
                          </a:solidFill>
                          <a:latin typeface="Calibri"/>
                        </a:rPr>
                        <a:t>OpenAI Codex</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1,069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549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196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8"/>
                  </a:ext>
                </a:extLst>
              </a:tr>
            </a:tbl>
          </a:graphicData>
        </a:graphic>
      </p:graphicFrame>
      <p:sp>
        <p:nvSpPr>
          <p:cNvPr id="67" name="Rounded Rectangle 66"/>
          <p:cNvSpPr/>
          <p:nvPr/>
        </p:nvSpPr>
        <p:spPr>
          <a:xfrm>
            <a:off x="612648" y="5212080"/>
            <a:ext cx="6949440" cy="68580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749808" y="5212080"/>
            <a:ext cx="6675120" cy="685800"/>
          </a:xfrm>
          <a:prstGeom prst="rect">
            <a:avLst/>
          </a:prstGeom>
          <a:noFill/>
        </p:spPr>
        <p:txBody>
          <a:bodyPr wrap="square" lIns="45720" tIns="54864" rIns="45720" bIns="54864" anchor="ctr">
            <a:spAutoFit/>
          </a:bodyPr>
          <a:lstStyle/>
          <a:p>
            <a:pPr algn="l">
              <a:spcAft>
                <a:spcPts val="0"/>
              </a:spcAft>
            </a:pPr>
            <a:r>
              <a:rPr sz="1300" b="0" i="0">
                <a:solidFill>
                  <a:srgbClr val="2B3440"/>
                </a:solidFill>
                <a:latin typeface="Calibri"/>
              </a:rPr>
              <a:t>Java rows are the curated corpus (6,956), Python rows the analysable one (4,946).</a:t>
            </a:r>
          </a:p>
        </p:txBody>
      </p:sp>
      <p:sp>
        <p:nvSpPr>
          <p:cNvPr id="69" name="Rounded Rectangle 68"/>
          <p:cNvSpPr/>
          <p:nvPr/>
        </p:nvSpPr>
        <p:spPr>
          <a:xfrm>
            <a:off x="7909560" y="914400"/>
            <a:ext cx="3675888" cy="1828800"/>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8046720" y="1005840"/>
            <a:ext cx="3401568" cy="914400"/>
          </a:xfrm>
          <a:prstGeom prst="rect">
            <a:avLst/>
          </a:prstGeom>
          <a:noFill/>
        </p:spPr>
        <p:txBody>
          <a:bodyPr wrap="square" lIns="45720" tIns="27432" rIns="45720" bIns="27432" anchor="b">
            <a:spAutoFit/>
          </a:bodyPr>
          <a:lstStyle/>
          <a:p>
            <a:pPr algn="ctr">
              <a:spcAft>
                <a:spcPts val="0"/>
              </a:spcAft>
            </a:pPr>
            <a:r>
              <a:rPr sz="3200" b="1" i="0">
                <a:solidFill>
                  <a:srgbClr val="46CEAE"/>
                </a:solidFill>
                <a:latin typeface="Arial"/>
              </a:rPr>
              <a:t>4,245 / 4,946</a:t>
            </a:r>
          </a:p>
        </p:txBody>
      </p:sp>
      <p:sp>
        <p:nvSpPr>
          <p:cNvPr id="71" name="TextBox 70"/>
          <p:cNvSpPr txBox="1"/>
          <p:nvPr/>
        </p:nvSpPr>
        <p:spPr>
          <a:xfrm>
            <a:off x="8092440" y="1920240"/>
            <a:ext cx="3310128" cy="768096"/>
          </a:xfrm>
          <a:prstGeom prst="rect">
            <a:avLst/>
          </a:prstGeom>
          <a:noFill/>
        </p:spPr>
        <p:txBody>
          <a:bodyPr wrap="square" lIns="45720" tIns="27432" rIns="45720" bIns="27432" anchor="t">
            <a:spAutoFit/>
          </a:bodyPr>
          <a:lstStyle/>
          <a:p>
            <a:pPr algn="ctr">
              <a:spcAft>
                <a:spcPts val="0"/>
              </a:spcAft>
            </a:pPr>
            <a:r>
              <a:rPr sz="1300" b="0" i="0">
                <a:solidFill>
                  <a:srgbClr val="D5DCE4"/>
                </a:solidFill>
                <a:latin typeface="Calibri"/>
              </a:rPr>
              <a:t>analysable pull requests, Java / Python</a:t>
            </a:r>
          </a:p>
        </p:txBody>
      </p:sp>
      <p:sp>
        <p:nvSpPr>
          <p:cNvPr id="72" name="Rounded Rectangle 71"/>
          <p:cNvSpPr/>
          <p:nvPr/>
        </p:nvSpPr>
        <p:spPr>
          <a:xfrm>
            <a:off x="7909560" y="2926080"/>
            <a:ext cx="3675888" cy="841248"/>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Hexagon 72"/>
          <p:cNvSpPr/>
          <p:nvPr/>
        </p:nvSpPr>
        <p:spPr>
          <a:xfrm>
            <a:off x="8046720" y="310896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400" b="1" i="0">
                <a:solidFill>
                  <a:srgbClr val="FFFFFF"/>
                </a:solidFill>
                <a:latin typeface="Arial"/>
              </a:rPr>
              <a:t>1</a:t>
            </a:r>
          </a:p>
        </p:txBody>
      </p:sp>
      <p:sp>
        <p:nvSpPr>
          <p:cNvPr id="74" name="TextBox 73"/>
          <p:cNvSpPr txBox="1"/>
          <p:nvPr/>
        </p:nvSpPr>
        <p:spPr>
          <a:xfrm>
            <a:off x="8778240" y="2926080"/>
            <a:ext cx="2697480" cy="841248"/>
          </a:xfrm>
          <a:prstGeom prst="rect">
            <a:avLst/>
          </a:prstGeom>
          <a:noFill/>
        </p:spPr>
        <p:txBody>
          <a:bodyPr wrap="square" lIns="45720" tIns="27432" rIns="45720" bIns="27432" anchor="ctr">
            <a:spAutoFit/>
          </a:bodyPr>
          <a:lstStyle/>
          <a:p>
            <a:pPr algn="l">
              <a:spcAft>
                <a:spcPts val="0"/>
              </a:spcAft>
            </a:pPr>
            <a:r>
              <a:rPr sz="1300" b="0" i="0">
                <a:solidFill>
                  <a:srgbClr val="2B3440"/>
                </a:solidFill>
                <a:latin typeface="Calibri"/>
              </a:rPr>
              <a:t>≥25 stars, permissive licence</a:t>
            </a:r>
          </a:p>
        </p:txBody>
      </p:sp>
      <p:sp>
        <p:nvSpPr>
          <p:cNvPr id="75" name="Rounded Rectangle 74"/>
          <p:cNvSpPr/>
          <p:nvPr/>
        </p:nvSpPr>
        <p:spPr>
          <a:xfrm>
            <a:off x="7909560" y="3886200"/>
            <a:ext cx="3675888" cy="841248"/>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Hexagon 75"/>
          <p:cNvSpPr/>
          <p:nvPr/>
        </p:nvSpPr>
        <p:spPr>
          <a:xfrm>
            <a:off x="8046720" y="406908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400" b="1" i="0">
                <a:solidFill>
                  <a:srgbClr val="FFFFFF"/>
                </a:solidFill>
                <a:latin typeface="Arial"/>
              </a:rPr>
              <a:t>2</a:t>
            </a:r>
          </a:p>
        </p:txBody>
      </p:sp>
      <p:sp>
        <p:nvSpPr>
          <p:cNvPr id="77" name="TextBox 76"/>
          <p:cNvSpPr txBox="1"/>
          <p:nvPr/>
        </p:nvSpPr>
        <p:spPr>
          <a:xfrm>
            <a:off x="8778240" y="3886200"/>
            <a:ext cx="2697480" cy="841248"/>
          </a:xfrm>
          <a:prstGeom prst="rect">
            <a:avLst/>
          </a:prstGeom>
          <a:noFill/>
        </p:spPr>
        <p:txBody>
          <a:bodyPr wrap="square" lIns="45720" tIns="27432" rIns="45720" bIns="27432" anchor="ctr">
            <a:spAutoFit/>
          </a:bodyPr>
          <a:lstStyle/>
          <a:p>
            <a:pPr algn="l">
              <a:spcAft>
                <a:spcPts val="0"/>
              </a:spcAft>
            </a:pPr>
            <a:r>
              <a:rPr sz="1300" b="0" i="0">
                <a:solidFill>
                  <a:srgbClr val="2B3440"/>
                </a:solidFill>
                <a:latin typeface="Calibri"/>
              </a:rPr>
              <a:t>merged drawn 2:1 against rejected, within each agent</a:t>
            </a:r>
          </a:p>
        </p:txBody>
      </p:sp>
      <p:sp>
        <p:nvSpPr>
          <p:cNvPr id="78" name="Rounded Rectangle 77"/>
          <p:cNvSpPr/>
          <p:nvPr/>
        </p:nvSpPr>
        <p:spPr>
          <a:xfrm>
            <a:off x="7909560" y="4846320"/>
            <a:ext cx="3675888" cy="841248"/>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Hexagon 78"/>
          <p:cNvSpPr/>
          <p:nvPr/>
        </p:nvSpPr>
        <p:spPr>
          <a:xfrm>
            <a:off x="8046720" y="502920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400" b="1" i="0">
                <a:solidFill>
                  <a:srgbClr val="FFFFFF"/>
                </a:solidFill>
                <a:latin typeface="Arial"/>
              </a:rPr>
              <a:t>3</a:t>
            </a:r>
          </a:p>
        </p:txBody>
      </p:sp>
      <p:sp>
        <p:nvSpPr>
          <p:cNvPr id="80" name="TextBox 79"/>
          <p:cNvSpPr txBox="1"/>
          <p:nvPr/>
        </p:nvSpPr>
        <p:spPr>
          <a:xfrm>
            <a:off x="8778240" y="4846320"/>
            <a:ext cx="2697480" cy="841248"/>
          </a:xfrm>
          <a:prstGeom prst="rect">
            <a:avLst/>
          </a:prstGeom>
          <a:noFill/>
        </p:spPr>
        <p:txBody>
          <a:bodyPr wrap="square" lIns="45720" tIns="27432" rIns="45720" bIns="27432" anchor="ctr">
            <a:spAutoFit/>
          </a:bodyPr>
          <a:lstStyle/>
          <a:p>
            <a:pPr algn="l">
              <a:spcAft>
                <a:spcPts val="0"/>
              </a:spcAft>
            </a:pPr>
            <a:r>
              <a:rPr sz="1300" b="0" i="0">
                <a:solidFill>
                  <a:srgbClr val="2B3440"/>
                </a:solidFill>
                <a:latin typeface="Calibri"/>
              </a:rPr>
              <a:t>Python also stratified by repository: no repository gives more than 0.4% of a cell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3</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Method</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Attrition and how the two trees were recovered</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15</a:t>
            </a:r>
          </a:p>
        </p:txBody>
      </p:sp>
      <p:graphicFrame>
        <p:nvGraphicFramePr>
          <p:cNvPr id="66" name="Table 65"/>
          <p:cNvGraphicFramePr>
            <a:graphicFrameLocks noGrp="1"/>
          </p:cNvGraphicFramePr>
          <p:nvPr/>
        </p:nvGraphicFramePr>
        <p:xfrm>
          <a:off x="612648" y="914400"/>
          <a:ext cx="4937760" cy="3785616"/>
        </p:xfrm>
        <a:graphic>
          <a:graphicData uri="http://schemas.openxmlformats.org/drawingml/2006/table">
            <a:tbl>
              <a:tblPr>
                <a:tableStyleId>{2D5ABB26-0587-4C30-8999-92F81FD0307C}</a:tableStyleId>
              </a:tblPr>
              <a:tblGrid>
                <a:gridCol w="27432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57200">
                <a:tc>
                  <a:txBody>
                    <a:bodyPr/>
                    <a:lstStyle/>
                    <a:p>
                      <a:pPr algn="l">
                        <a:spcAft>
                          <a:spcPts val="0"/>
                        </a:spcAft>
                      </a:pPr>
                      <a:r>
                        <a:rPr sz="1400" b="1" i="0">
                          <a:solidFill>
                            <a:srgbClr val="FFFFFF"/>
                          </a:solidFill>
                          <a:latin typeface="Calibri"/>
                        </a:rPr>
                        <a:t>Status</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Java</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Python</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475488">
                <a:tc>
                  <a:txBody>
                    <a:bodyPr/>
                    <a:lstStyle/>
                    <a:p>
                      <a:pPr algn="l">
                        <a:spcAft>
                          <a:spcPts val="0"/>
                        </a:spcAft>
                      </a:pPr>
                      <a:r>
                        <a:rPr sz="1400" b="0" i="0">
                          <a:solidFill>
                            <a:srgbClr val="2B3440"/>
                          </a:solidFill>
                          <a:latin typeface="Calibri"/>
                        </a:rPr>
                        <a:t>analysable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4,245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4,946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475488">
                <a:tc>
                  <a:txBody>
                    <a:bodyPr/>
                    <a:lstStyle/>
                    <a:p>
                      <a:pPr algn="l">
                        <a:spcAft>
                          <a:spcPts val="0"/>
                        </a:spcAft>
                      </a:pPr>
                      <a:r>
                        <a:rPr sz="1400" b="0" i="0">
                          <a:solidFill>
                            <a:srgbClr val="2B3440"/>
                          </a:solidFill>
                          <a:latin typeface="Calibri"/>
                        </a:rPr>
                        <a:t>no production file touched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2,540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1,816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475488">
                <a:tc>
                  <a:txBody>
                    <a:bodyPr/>
                    <a:lstStyle/>
                    <a:p>
                      <a:pPr algn="l">
                        <a:spcAft>
                          <a:spcPts val="0"/>
                        </a:spcAft>
                      </a:pPr>
                      <a:r>
                        <a:rPr sz="1400" b="0" i="0">
                          <a:solidFill>
                            <a:srgbClr val="2B3440"/>
                          </a:solidFill>
                          <a:latin typeface="Calibri"/>
                        </a:rPr>
                        <a:t>no module resolved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n/a</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232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475488">
                <a:tc>
                  <a:txBody>
                    <a:bodyPr/>
                    <a:lstStyle/>
                    <a:p>
                      <a:pPr algn="l">
                        <a:spcAft>
                          <a:spcPts val="0"/>
                        </a:spcAft>
                      </a:pPr>
                      <a:r>
                        <a:rPr sz="1400" b="0" i="0">
                          <a:solidFill>
                            <a:srgbClr val="2B3440"/>
                          </a:solidFill>
                          <a:latin typeface="Calibri"/>
                        </a:rPr>
                        <a:t>tree too large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150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14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r h="475488">
                <a:tc>
                  <a:txBody>
                    <a:bodyPr/>
                    <a:lstStyle/>
                    <a:p>
                      <a:pPr algn="l">
                        <a:spcAft>
                          <a:spcPts val="0"/>
                        </a:spcAft>
                      </a:pPr>
                      <a:r>
                        <a:rPr sz="1400" b="0" i="0">
                          <a:solidFill>
                            <a:srgbClr val="2B3440"/>
                          </a:solidFill>
                          <a:latin typeface="Calibri"/>
                        </a:rPr>
                        <a:t>history gone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5"/>
                  </a:ext>
                </a:extLst>
              </a:tr>
              <a:tr h="475488">
                <a:tc>
                  <a:txBody>
                    <a:bodyPr/>
                    <a:lstStyle/>
                    <a:p>
                      <a:pPr algn="l">
                        <a:spcAft>
                          <a:spcPts val="0"/>
                        </a:spcAft>
                      </a:pPr>
                      <a:r>
                        <a:rPr sz="1400" b="0" i="0">
                          <a:solidFill>
                            <a:srgbClr val="2B3440"/>
                          </a:solidFill>
                          <a:latin typeface="Calibri"/>
                        </a:rPr>
                        <a:t>no distinct before tree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40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6"/>
                  </a:ext>
                </a:extLst>
              </a:tr>
              <a:tr h="475488">
                <a:tc>
                  <a:txBody>
                    <a:bodyPr/>
                    <a:lstStyle/>
                    <a:p>
                      <a:pPr algn="l">
                        <a:spcAft>
                          <a:spcPts val="0"/>
                        </a:spcAft>
                      </a:pPr>
                      <a:r>
                        <a:rPr sz="1400" b="1" i="0">
                          <a:solidFill>
                            <a:srgbClr val="2B3440"/>
                          </a:solidFill>
                          <a:latin typeface="Calibri"/>
                        </a:rPr>
                        <a:t>curated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9DFE6"/>
                    </a:solidFill>
                  </a:tcPr>
                </a:tc>
                <a:tc>
                  <a:txBody>
                    <a:bodyPr/>
                    <a:lstStyle/>
                    <a:p>
                      <a:pPr algn="ctr">
                        <a:spcAft>
                          <a:spcPts val="0"/>
                        </a:spcAft>
                      </a:pPr>
                      <a:r>
                        <a:rPr sz="1400" b="1" i="0">
                          <a:solidFill>
                            <a:srgbClr val="2B3440"/>
                          </a:solidFill>
                          <a:latin typeface="Calibri"/>
                        </a:rPr>
                        <a:t>6,956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9DFE6"/>
                    </a:solidFill>
                  </a:tcPr>
                </a:tc>
                <a:tc>
                  <a:txBody>
                    <a:bodyPr/>
                    <a:lstStyle/>
                    <a:p>
                      <a:pPr algn="ctr">
                        <a:spcAft>
                          <a:spcPts val="0"/>
                        </a:spcAft>
                      </a:pPr>
                      <a:r>
                        <a:rPr sz="1400" b="1" i="0">
                          <a:solidFill>
                            <a:srgbClr val="2B3440"/>
                          </a:solidFill>
                          <a:latin typeface="Calibri"/>
                        </a:rPr>
                        <a:t>7,050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9DFE6"/>
                    </a:solidFill>
                  </a:tcPr>
                </a:tc>
                <a:extLst>
                  <a:ext uri="{0D108BD9-81ED-4DB2-BD59-A6C34878D82A}">
                    <a16:rowId xmlns:a16="http://schemas.microsoft.com/office/drawing/2014/main" val="10007"/>
                  </a:ext>
                </a:extLst>
              </a:tr>
            </a:tbl>
          </a:graphicData>
        </a:graphic>
      </p:graphicFrame>
      <p:sp>
        <p:nvSpPr>
          <p:cNvPr id="67" name="TextBox 66"/>
          <p:cNvSpPr txBox="1"/>
          <p:nvPr/>
        </p:nvSpPr>
        <p:spPr>
          <a:xfrm>
            <a:off x="5897880" y="914400"/>
            <a:ext cx="5669280" cy="274320"/>
          </a:xfrm>
          <a:prstGeom prst="rect">
            <a:avLst/>
          </a:prstGeom>
          <a:noFill/>
        </p:spPr>
        <p:txBody>
          <a:bodyPr wrap="square" lIns="18288" tIns="18288" rIns="18288" bIns="18288" anchor="t">
            <a:spAutoFit/>
          </a:bodyPr>
          <a:lstStyle/>
          <a:p>
            <a:pPr algn="l">
              <a:spcAft>
                <a:spcPts val="0"/>
              </a:spcAft>
            </a:pPr>
            <a:r>
              <a:rPr sz="1200" b="1" i="0">
                <a:solidFill>
                  <a:srgbClr val="34495E"/>
                </a:solidFill>
                <a:latin typeface="Arial"/>
              </a:rPr>
              <a:t>RECOVERY METHOD BY OUTCOME (JAVA)</a:t>
            </a:r>
          </a:p>
        </p:txBody>
      </p:sp>
      <p:graphicFrame>
        <p:nvGraphicFramePr>
          <p:cNvPr id="68" name="Table 67"/>
          <p:cNvGraphicFramePr>
            <a:graphicFrameLocks noGrp="1"/>
          </p:cNvGraphicFramePr>
          <p:nvPr/>
        </p:nvGraphicFramePr>
        <p:xfrm>
          <a:off x="5897880" y="1280160"/>
          <a:ext cx="5669280" cy="1883664"/>
        </p:xfrm>
        <a:graphic>
          <a:graphicData uri="http://schemas.openxmlformats.org/drawingml/2006/table">
            <a:tbl>
              <a:tblPr>
                <a:tableStyleId>{2D5ABB26-0587-4C30-8999-92F81FD0307C}</a:tableStyleId>
              </a:tblPr>
              <a:tblGrid>
                <a:gridCol w="164592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457200">
                <a:tc>
                  <a:txBody>
                    <a:bodyPr/>
                    <a:lstStyle/>
                    <a:p>
                      <a:pPr algn="l">
                        <a:spcAft>
                          <a:spcPts val="0"/>
                        </a:spcAft>
                      </a:pPr>
                      <a:endParaRP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1</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2</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3</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4</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475488">
                <a:tc>
                  <a:txBody>
                    <a:bodyPr/>
                    <a:lstStyle/>
                    <a:p>
                      <a:pPr algn="l">
                        <a:spcAft>
                          <a:spcPts val="0"/>
                        </a:spcAft>
                      </a:pPr>
                      <a:r>
                        <a:rPr sz="1400" b="0" i="0">
                          <a:solidFill>
                            <a:srgbClr val="2B3440"/>
                          </a:solidFill>
                          <a:latin typeface="Calibri"/>
                        </a:rPr>
                        <a:t>merged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1,052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425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665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431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475488">
                <a:tc>
                  <a:txBody>
                    <a:bodyPr/>
                    <a:lstStyle/>
                    <a:p>
                      <a:pPr algn="l">
                        <a:spcAft>
                          <a:spcPts val="0"/>
                        </a:spcAft>
                      </a:pPr>
                      <a:r>
                        <a:rPr sz="1400" b="0" i="0">
                          <a:solidFill>
                            <a:srgbClr val="2B3440"/>
                          </a:solidFill>
                          <a:latin typeface="Calibri"/>
                        </a:rPr>
                        <a:t>open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209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250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31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475488">
                <a:tc>
                  <a:txBody>
                    <a:bodyPr/>
                    <a:lstStyle/>
                    <a:p>
                      <a:pPr algn="l">
                        <a:spcAft>
                          <a:spcPts val="0"/>
                        </a:spcAft>
                      </a:pPr>
                      <a:r>
                        <a:rPr sz="1400" b="0" i="0">
                          <a:solidFill>
                            <a:srgbClr val="2B3440"/>
                          </a:solidFill>
                          <a:latin typeface="Calibri"/>
                        </a:rPr>
                        <a:t>rejected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646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482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49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bl>
          </a:graphicData>
        </a:graphic>
      </p:graphicFrame>
      <p:sp>
        <p:nvSpPr>
          <p:cNvPr id="69" name="Rounded Rectangle 68"/>
          <p:cNvSpPr/>
          <p:nvPr/>
        </p:nvSpPr>
        <p:spPr>
          <a:xfrm>
            <a:off x="5897880" y="3346704"/>
            <a:ext cx="5687568" cy="141732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035040" y="3346704"/>
            <a:ext cx="5413248" cy="1417320"/>
          </a:xfrm>
          <a:prstGeom prst="rect">
            <a:avLst/>
          </a:prstGeom>
          <a:noFill/>
        </p:spPr>
        <p:txBody>
          <a:bodyPr wrap="square" lIns="45720" tIns="54864" rIns="45720" bIns="54864" anchor="ctr">
            <a:spAutoFit/>
          </a:bodyPr>
          <a:lstStyle/>
          <a:p>
            <a:pPr algn="l">
              <a:spcAft>
                <a:spcPts val="0"/>
              </a:spcAft>
            </a:pPr>
            <a:r>
              <a:rPr sz="1350" b="1" i="0">
                <a:solidFill>
                  <a:srgbClr val="2B3440"/>
                </a:solidFill>
                <a:latin typeface="Calibri"/>
              </a:rPr>
              <a:t>Method 1</a:t>
            </a:r>
            <a:r>
              <a:rPr sz="1350" b="0" i="0">
                <a:solidFill>
                  <a:srgbClr val="2B3440"/>
                </a:solidFill>
                <a:latin typeface="Calibri"/>
              </a:rPr>
              <a:t> is the merge commit, available to merged requests only. That is why every merged-versus-unmerged comparison is made </a:t>
            </a:r>
            <a:r>
              <a:rPr sz="1350" b="1" i="0">
                <a:solidFill>
                  <a:srgbClr val="2B3440"/>
                </a:solidFill>
                <a:latin typeface="Calibri"/>
              </a:rPr>
              <a:t>within the same method</a:t>
            </a:r>
            <a:r>
              <a:rPr sz="1350" b="0" i="0">
                <a:solidFill>
                  <a:srgbClr val="2B3440"/>
                </a:solidFill>
                <a:latin typeface="Calibri"/>
              </a:rPr>
              <a:t>.</a:t>
            </a:r>
          </a:p>
        </p:txBody>
      </p:sp>
      <p:sp>
        <p:nvSpPr>
          <p:cNvPr id="71" name="Rounded Rectangle 70"/>
          <p:cNvSpPr/>
          <p:nvPr/>
        </p:nvSpPr>
        <p:spPr>
          <a:xfrm>
            <a:off x="612648" y="5257800"/>
            <a:ext cx="10972800" cy="73152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Hexagon 71"/>
          <p:cNvSpPr/>
          <p:nvPr/>
        </p:nvSpPr>
        <p:spPr>
          <a:xfrm>
            <a:off x="813816" y="548640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1252728" y="5257800"/>
            <a:ext cx="10149840" cy="731520"/>
          </a:xfrm>
          <a:prstGeom prst="rect">
            <a:avLst/>
          </a:prstGeom>
          <a:noFill/>
        </p:spPr>
        <p:txBody>
          <a:bodyPr wrap="square" lIns="45720" rIns="45720" anchor="ctr">
            <a:spAutoFit/>
          </a:bodyPr>
          <a:lstStyle/>
          <a:p>
            <a:pPr algn="l">
              <a:spcAft>
                <a:spcPts val="0"/>
              </a:spcAft>
            </a:pPr>
            <a:r>
              <a:rPr sz="1400" b="0" i="0">
                <a:solidFill>
                  <a:srgbClr val="FFFFFF"/>
                </a:solidFill>
                <a:latin typeface="Calibri"/>
              </a:rPr>
              <a:t>7.0% of Python requests lost their source entirely: the branch was deleted.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3</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Method</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216777"/>
            <a:ext cx="8412480" cy="276999"/>
          </a:xfrm>
          <a:prstGeom prst="rect">
            <a:avLst/>
          </a:prstGeom>
          <a:noFill/>
        </p:spPr>
        <p:txBody>
          <a:bodyPr wrap="square" lIns="18288" tIns="0" rIns="18288" bIns="0" anchor="b">
            <a:spAutoFit/>
          </a:bodyPr>
          <a:lstStyle/>
          <a:p>
            <a:pPr algn="l">
              <a:spcAft>
                <a:spcPts val="0"/>
              </a:spcAft>
            </a:pPr>
            <a:r>
              <a:rPr sz="1800" b="1" i="0" dirty="0">
                <a:solidFill>
                  <a:srgbClr val="202A36"/>
                </a:solidFill>
                <a:latin typeface="Arial"/>
              </a:rPr>
              <a:t>Workflow</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16</a:t>
            </a:r>
          </a:p>
        </p:txBody>
      </p:sp>
      <p:sp>
        <p:nvSpPr>
          <p:cNvPr id="66" name="Rounded Rectangle 65"/>
          <p:cNvSpPr/>
          <p:nvPr/>
        </p:nvSpPr>
        <p:spPr>
          <a:xfrm>
            <a:off x="612648" y="914400"/>
            <a:ext cx="10972800" cy="544068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Picture 66" descr="fig_pipeline.png"/>
          <p:cNvPicPr>
            <a:picLocks noChangeAspect="1"/>
          </p:cNvPicPr>
          <p:nvPr/>
        </p:nvPicPr>
        <p:blipFill>
          <a:blip r:embed="rId2"/>
          <a:stretch>
            <a:fillRect/>
          </a:stretch>
        </p:blipFill>
        <p:spPr>
          <a:xfrm>
            <a:off x="1663524" y="1005840"/>
            <a:ext cx="8871048" cy="52578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3</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Method</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Algorithms: from the dataset to the facts</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17</a:t>
            </a:r>
          </a:p>
        </p:txBody>
      </p:sp>
      <p:graphicFrame>
        <p:nvGraphicFramePr>
          <p:cNvPr id="66" name="Table 65"/>
          <p:cNvGraphicFramePr>
            <a:graphicFrameLocks noGrp="1"/>
          </p:cNvGraphicFramePr>
          <p:nvPr/>
        </p:nvGraphicFramePr>
        <p:xfrm>
          <a:off x="612648" y="914400"/>
          <a:ext cx="10972800" cy="4114800"/>
        </p:xfrm>
        <a:graphic>
          <a:graphicData uri="http://schemas.openxmlformats.org/drawingml/2006/table">
            <a:tbl>
              <a:tblPr>
                <a:tableStyleId>{2D5ABB26-0587-4C30-8999-92F81FD0307C}</a:tableStyleId>
              </a:tblPr>
              <a:tblGrid>
                <a:gridCol w="18288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457200">
                <a:tc>
                  <a:txBody>
                    <a:bodyPr/>
                    <a:lstStyle/>
                    <a:p>
                      <a:pPr algn="l">
                        <a:spcAft>
                          <a:spcPts val="0"/>
                        </a:spcAft>
                      </a:pPr>
                      <a:r>
                        <a:rPr sz="1400" b="1" i="0">
                          <a:solidFill>
                            <a:srgbClr val="FFFFFF"/>
                          </a:solidFill>
                          <a:latin typeface="Calibri"/>
                        </a:rPr>
                        <a:t>Phase</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400" b="1" i="0">
                          <a:solidFill>
                            <a:srgbClr val="FFFFFF"/>
                          </a:solidFill>
                          <a:latin typeface="Calibri"/>
                        </a:rPr>
                        <a:t>Algorithm</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400" b="1" i="0">
                          <a:solidFill>
                            <a:srgbClr val="FFFFFF"/>
                          </a:solidFill>
                          <a:latin typeface="Calibri"/>
                        </a:rPr>
                        <a:t>Why it is needed</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914400">
                <a:tc>
                  <a:txBody>
                    <a:bodyPr/>
                    <a:lstStyle/>
                    <a:p>
                      <a:pPr algn="l">
                        <a:spcAft>
                          <a:spcPts val="0"/>
                        </a:spcAft>
                      </a:pPr>
                      <a:r>
                        <a:rPr sz="1500" b="1" i="0">
                          <a:solidFill>
                            <a:srgbClr val="202A36"/>
                          </a:solidFill>
                          <a:latin typeface="Calibri"/>
                        </a:rPr>
                        <a:t>Curation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500" b="0" i="0">
                          <a:solidFill>
                            <a:srgbClr val="2B3440"/>
                          </a:solidFill>
                          <a:latin typeface="Calibri"/>
                        </a:rPr>
                        <a:t>seeded stratified draw, balanced on agent and outcome, repository-stratified in Python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500" b="0" i="0">
                          <a:solidFill>
                            <a:srgbClr val="2B3440"/>
                          </a:solidFill>
                          <a:latin typeface="Calibri"/>
                        </a:rPr>
                        <a:t>one agent would dominate any raw aggregate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914400">
                <a:tc>
                  <a:txBody>
                    <a:bodyPr/>
                    <a:lstStyle/>
                    <a:p>
                      <a:pPr algn="l">
                        <a:spcAft>
                          <a:spcPts val="0"/>
                        </a:spcAft>
                      </a:pPr>
                      <a:r>
                        <a:rPr sz="1500" b="1" i="0">
                          <a:solidFill>
                            <a:srgbClr val="202A36"/>
                          </a:solidFill>
                          <a:latin typeface="Calibri"/>
                        </a:rPr>
                        <a:t>Tree recovery</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500" b="0" i="0">
                          <a:solidFill>
                            <a:srgbClr val="2B3440"/>
                          </a:solidFill>
                          <a:latin typeface="Calibri"/>
                        </a:rPr>
                        <a:t>four fallbacks, git archive, cache keyed by content hash</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500" b="0" i="0">
                          <a:solidFill>
                            <a:srgbClr val="2B3440"/>
                          </a:solidFill>
                          <a:latin typeface="Calibri"/>
                        </a:rPr>
                        <a:t>branches are deleted, especially for closed requests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914400">
                <a:tc>
                  <a:txBody>
                    <a:bodyPr/>
                    <a:lstStyle/>
                    <a:p>
                      <a:pPr algn="l">
                        <a:spcAft>
                          <a:spcPts val="0"/>
                        </a:spcAft>
                      </a:pPr>
                      <a:r>
                        <a:rPr sz="1500" b="1" i="0">
                          <a:solidFill>
                            <a:srgbClr val="202A36"/>
                          </a:solidFill>
                          <a:latin typeface="Calibri"/>
                        </a:rPr>
                        <a:t>Java facts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500" b="0" i="0">
                          <a:solidFill>
                            <a:srgbClr val="2B3440"/>
                          </a:solidFill>
                          <a:latin typeface="Calibri"/>
                        </a:rPr>
                        <a:t>JavaParser with symbol solving, source roots inferred from package lines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500" b="0" i="0">
                          <a:solidFill>
                            <a:srgbClr val="2B3440"/>
                          </a:solidFill>
                          <a:latin typeface="Calibri"/>
                        </a:rPr>
                        <a:t>without resolution two classes named Node merge into one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914400">
                <a:tc>
                  <a:txBody>
                    <a:bodyPr/>
                    <a:lstStyle/>
                    <a:p>
                      <a:pPr algn="l">
                        <a:spcAft>
                          <a:spcPts val="0"/>
                        </a:spcAft>
                      </a:pPr>
                      <a:r>
                        <a:rPr sz="1500" b="1" i="0">
                          <a:solidFill>
                            <a:srgbClr val="202A36"/>
                          </a:solidFill>
                          <a:latin typeface="Calibri"/>
                        </a:rPr>
                        <a:t>Python facts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500" b="0" i="0">
                          <a:solidFill>
                            <a:srgbClr val="2B3440"/>
                          </a:solidFill>
                          <a:latin typeface="Calibri"/>
                        </a:rPr>
                        <a:t>standard library ast, imports resolved by module path</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500" b="0" i="0">
                          <a:solidFill>
                            <a:srgbClr val="2B3440"/>
                          </a:solidFill>
                          <a:latin typeface="Calibri"/>
                        </a:rPr>
                        <a:t>no compiler and no type information is available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3</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Method</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What is charged to the pull request</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18</a:t>
            </a:r>
          </a:p>
        </p:txBody>
      </p:sp>
      <p:sp>
        <p:nvSpPr>
          <p:cNvPr id="66" name="Rounded Rectangle 65"/>
          <p:cNvSpPr/>
          <p:nvPr/>
        </p:nvSpPr>
        <p:spPr>
          <a:xfrm>
            <a:off x="612648" y="1371600"/>
            <a:ext cx="10972800" cy="420624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Picture 66" descr="fig_delta_steps.png"/>
          <p:cNvPicPr>
            <a:picLocks noChangeAspect="1"/>
          </p:cNvPicPr>
          <p:nvPr/>
        </p:nvPicPr>
        <p:blipFill>
          <a:blip r:embed="rId2"/>
          <a:stretch>
            <a:fillRect/>
          </a:stretch>
        </p:blipFill>
        <p:spPr>
          <a:xfrm>
            <a:off x="749808" y="1708462"/>
            <a:ext cx="10698480" cy="353251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3</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Method</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The delta in the data</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19</a:t>
            </a:r>
          </a:p>
        </p:txBody>
      </p:sp>
      <p:sp>
        <p:nvSpPr>
          <p:cNvPr id="66" name="Rounded Rectangle 65"/>
          <p:cNvSpPr/>
          <p:nvPr/>
        </p:nvSpPr>
        <p:spPr>
          <a:xfrm>
            <a:off x="612648" y="914400"/>
            <a:ext cx="10972800" cy="406908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Picture 66" descr="fig_delta_harness.png"/>
          <p:cNvPicPr>
            <a:picLocks noChangeAspect="1"/>
          </p:cNvPicPr>
          <p:nvPr/>
        </p:nvPicPr>
        <p:blipFill>
          <a:blip r:embed="rId2"/>
          <a:stretch>
            <a:fillRect/>
          </a:stretch>
        </p:blipFill>
        <p:spPr>
          <a:xfrm>
            <a:off x="722376" y="1053002"/>
            <a:ext cx="10753344" cy="3791877"/>
          </a:xfrm>
          <a:prstGeom prst="rect">
            <a:avLst/>
          </a:prstGeom>
        </p:spPr>
      </p:pic>
      <p:sp>
        <p:nvSpPr>
          <p:cNvPr id="68" name="Rounded Rectangle 67"/>
          <p:cNvSpPr/>
          <p:nvPr/>
        </p:nvSpPr>
        <p:spPr>
          <a:xfrm>
            <a:off x="612648" y="5212080"/>
            <a:ext cx="10972800" cy="91440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Hexagon 68"/>
          <p:cNvSpPr/>
          <p:nvPr/>
        </p:nvSpPr>
        <p:spPr>
          <a:xfrm>
            <a:off x="813816" y="553212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1252728" y="5212080"/>
            <a:ext cx="10149840" cy="91440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Attribution rule for relations:</a:t>
            </a:r>
            <a:r>
              <a:rPr sz="1400" b="0" i="0">
                <a:solidFill>
                  <a:srgbClr val="FFFFFF"/>
                </a:solidFill>
                <a:latin typeface="Calibri"/>
              </a:rPr>
              <a:t> a violation is charged when </a:t>
            </a:r>
            <a:r>
              <a:rPr sz="1400" b="1" i="0">
                <a:solidFill>
                  <a:srgbClr val="FFFFFF"/>
                </a:solidFill>
                <a:latin typeface="Calibri"/>
              </a:rPr>
              <a:t>either end</a:t>
            </a:r>
            <a:r>
              <a:rPr sz="1400" b="0" i="0">
                <a:solidFill>
                  <a:srgbClr val="FFFFFF"/>
                </a:solidFill>
                <a:latin typeface="Calibri"/>
              </a:rPr>
              <a:t> is in a changed file, so an agent that widens a base class is charged for the subclasses it breaks in files it never opened.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3</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Method</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Algorithms: detectors and statistics</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20</a:t>
            </a:r>
          </a:p>
        </p:txBody>
      </p:sp>
      <p:graphicFrame>
        <p:nvGraphicFramePr>
          <p:cNvPr id="66" name="Table 65"/>
          <p:cNvGraphicFramePr>
            <a:graphicFrameLocks noGrp="1"/>
          </p:cNvGraphicFramePr>
          <p:nvPr/>
        </p:nvGraphicFramePr>
        <p:xfrm>
          <a:off x="612648" y="914400"/>
          <a:ext cx="10972800" cy="4992624"/>
        </p:xfrm>
        <a:graphic>
          <a:graphicData uri="http://schemas.openxmlformats.org/drawingml/2006/table">
            <a:tbl>
              <a:tblPr>
                <a:tableStyleId>{2D5ABB26-0587-4C30-8999-92F81FD0307C}</a:tableStyleId>
              </a:tblPr>
              <a:tblGrid>
                <a:gridCol w="128016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57200">
                <a:tc>
                  <a:txBody>
                    <a:bodyPr/>
                    <a:lstStyle/>
                    <a:p>
                      <a:pPr algn="l">
                        <a:spcAft>
                          <a:spcPts val="0"/>
                        </a:spcAft>
                      </a:pPr>
                      <a:r>
                        <a:rPr sz="1400" b="1" i="0">
                          <a:solidFill>
                            <a:srgbClr val="FFFFFF"/>
                          </a:solidFill>
                          <a:latin typeface="Calibri"/>
                        </a:rPr>
                        <a:t>Phase</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400" b="1" i="0">
                          <a:solidFill>
                            <a:srgbClr val="FFFFFF"/>
                          </a:solidFill>
                          <a:latin typeface="Calibri"/>
                        </a:rPr>
                        <a:t>Algorithm</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400" b="1" i="0">
                          <a:solidFill>
                            <a:srgbClr val="FFFFFF"/>
                          </a:solidFill>
                          <a:latin typeface="Calibri"/>
                        </a:rPr>
                        <a:t>Why it is needed</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566928">
                <a:tc>
                  <a:txBody>
                    <a:bodyPr/>
                    <a:lstStyle/>
                    <a:p>
                      <a:pPr algn="l">
                        <a:spcAft>
                          <a:spcPts val="0"/>
                        </a:spcAft>
                      </a:pPr>
                      <a:r>
                        <a:rPr sz="1400" b="1" i="0">
                          <a:solidFill>
                            <a:srgbClr val="202A36"/>
                          </a:solidFill>
                          <a:latin typeface="Calibri"/>
                        </a:rPr>
                        <a:t>SRP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union-find for LCOM4, TF-IDF cosine for C3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size alone cannot separate large from incoherent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566928">
                <a:tc>
                  <a:txBody>
                    <a:bodyPr/>
                    <a:lstStyle/>
                    <a:p>
                      <a:pPr algn="l">
                        <a:spcAft>
                          <a:spcPts val="0"/>
                        </a:spcAft>
                      </a:pPr>
                      <a:r>
                        <a:rPr sz="1400" b="1" i="0">
                          <a:solidFill>
                            <a:srgbClr val="202A36"/>
                          </a:solidFill>
                          <a:latin typeface="Calibri"/>
                        </a:rPr>
                        <a:t>OCP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0" i="0">
                          <a:solidFill>
                            <a:srgbClr val="2B3440"/>
                          </a:solidFill>
                          <a:latin typeface="Calibri"/>
                        </a:rPr>
                        <a:t>dispatch chains grouped by subject, enum resolution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0" i="0">
                          <a:solidFill>
                            <a:srgbClr val="2B3440"/>
                          </a:solidFill>
                          <a:latin typeface="Calibri"/>
                        </a:rPr>
                        <a:t>a switch over a fixed set is not a violation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566928">
                <a:tc>
                  <a:txBody>
                    <a:bodyPr/>
                    <a:lstStyle/>
                    <a:p>
                      <a:pPr algn="l">
                        <a:spcAft>
                          <a:spcPts val="0"/>
                        </a:spcAft>
                      </a:pPr>
                      <a:r>
                        <a:rPr sz="1400" b="1" i="0">
                          <a:solidFill>
                            <a:srgbClr val="202A36"/>
                          </a:solidFill>
                          <a:latin typeface="Calibri"/>
                        </a:rPr>
                        <a:t>LSP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nearest ancestor with a real body, over the resolved hierarchy</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an abstract base has no behaviour to refuse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566928">
                <a:tc>
                  <a:txBody>
                    <a:bodyPr/>
                    <a:lstStyle/>
                    <a:p>
                      <a:pPr algn="l">
                        <a:spcAft>
                          <a:spcPts val="0"/>
                        </a:spcAft>
                      </a:pPr>
                      <a:r>
                        <a:rPr sz="1400" b="1" i="0">
                          <a:solidFill>
                            <a:srgbClr val="202A36"/>
                          </a:solidFill>
                          <a:latin typeface="Calibri"/>
                        </a:rPr>
                        <a:t>ISP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0" i="0">
                          <a:solidFill>
                            <a:srgbClr val="2B3440"/>
                          </a:solidFill>
                          <a:latin typeface="Calibri"/>
                        </a:rPr>
                        <a:t>contract to implementer index over the hierarchy</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0" i="0">
                          <a:solidFill>
                            <a:srgbClr val="2B3440"/>
                          </a:solidFill>
                          <a:latin typeface="Calibri"/>
                        </a:rPr>
                        <a:t>inherited members are part of the contract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r h="566928">
                <a:tc>
                  <a:txBody>
                    <a:bodyPr/>
                    <a:lstStyle/>
                    <a:p>
                      <a:pPr algn="l">
                        <a:spcAft>
                          <a:spcPts val="0"/>
                        </a:spcAft>
                      </a:pPr>
                      <a:r>
                        <a:rPr sz="1400" b="1" i="0">
                          <a:solidFill>
                            <a:srgbClr val="202A36"/>
                          </a:solidFill>
                          <a:latin typeface="Calibri"/>
                        </a:rPr>
                        <a:t>DIP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Tarjan strongly connected components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a cycle is a property of the whole graph</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5"/>
                  </a:ext>
                </a:extLst>
              </a:tr>
              <a:tr h="566928">
                <a:tc>
                  <a:txBody>
                    <a:bodyPr/>
                    <a:lstStyle/>
                    <a:p>
                      <a:pPr algn="l">
                        <a:spcAft>
                          <a:spcPts val="0"/>
                        </a:spcAft>
                      </a:pPr>
                      <a:r>
                        <a:rPr sz="1400" b="1" i="0">
                          <a:solidFill>
                            <a:srgbClr val="202A36"/>
                          </a:solidFill>
                          <a:latin typeface="Calibri"/>
                        </a:rPr>
                        <a:t>Sampling</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0" i="0">
                          <a:solidFill>
                            <a:srgbClr val="2B3440"/>
                          </a:solidFill>
                          <a:latin typeface="Calibri"/>
                        </a:rPr>
                        <a:t>seeded stratified draw after entity deduplication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0" i="0">
                          <a:solidFill>
                            <a:srgbClr val="2B3440"/>
                          </a:solidFill>
                          <a:latin typeface="Calibri"/>
                        </a:rPr>
                        <a:t>classes touched by many requests would dominate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6"/>
                  </a:ext>
                </a:extLst>
              </a:tr>
              <a:tr h="566928">
                <a:tc>
                  <a:txBody>
                    <a:bodyPr/>
                    <a:lstStyle/>
                    <a:p>
                      <a:pPr algn="l">
                        <a:spcAft>
                          <a:spcPts val="0"/>
                        </a:spcAft>
                      </a:pPr>
                      <a:r>
                        <a:rPr sz="1400" b="1" i="0">
                          <a:solidFill>
                            <a:srgbClr val="202A36"/>
                          </a:solidFill>
                          <a:latin typeface="Calibri"/>
                        </a:rPr>
                        <a:t>Scoring</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Wilson intervals, stratum-weighted recall</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the sample is half flagged, the corpus is not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7"/>
                  </a:ext>
                </a:extLst>
              </a:tr>
              <a:tr h="566928">
                <a:tc>
                  <a:txBody>
                    <a:bodyPr/>
                    <a:lstStyle/>
                    <a:p>
                      <a:pPr algn="l">
                        <a:spcAft>
                          <a:spcPts val="0"/>
                        </a:spcAft>
                      </a:pPr>
                      <a:r>
                        <a:rPr sz="1400" b="1" i="0">
                          <a:solidFill>
                            <a:srgbClr val="202A36"/>
                          </a:solidFill>
                          <a:latin typeface="Calibri"/>
                        </a:rPr>
                        <a:t>Model</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0" i="0">
                          <a:solidFill>
                            <a:srgbClr val="2B3440"/>
                          </a:solidFill>
                          <a:latin typeface="Calibri"/>
                        </a:rPr>
                        <a:t>GEE, exchangeable within repository, cluster-robust errors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0" i="0">
                          <a:solidFill>
                            <a:srgbClr val="2B3440"/>
                          </a:solidFill>
                          <a:latin typeface="Calibri"/>
                        </a:rPr>
                        <a:t>requests from one repository are not independent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9" name="组合 58"/>
          <p:cNvGrpSpPr/>
          <p:nvPr/>
        </p:nvGrpSpPr>
        <p:grpSpPr>
          <a:xfrm>
            <a:off x="2052459" y="1413384"/>
            <a:ext cx="2036802" cy="2036802"/>
            <a:chOff x="8125599" y="1434035"/>
            <a:chExt cx="2036802" cy="2036802"/>
          </a:xfrm>
        </p:grpSpPr>
        <p:sp>
          <p:nvSpPr>
            <p:cNvPr id="60" name="椭圆 59"/>
            <p:cNvSpPr/>
            <p:nvPr/>
          </p:nvSpPr>
          <p:spPr>
            <a:xfrm>
              <a:off x="8125599" y="1434035"/>
              <a:ext cx="2036802" cy="2036802"/>
            </a:xfrm>
            <a:prstGeom prst="ellipse">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Freeform 9"/>
            <p:cNvSpPr>
              <a:spLocks noEditPoints="1"/>
            </p:cNvSpPr>
            <p:nvPr/>
          </p:nvSpPr>
          <p:spPr bwMode="auto">
            <a:xfrm rot="19469485">
              <a:off x="8577909" y="1818269"/>
              <a:ext cx="1162163" cy="1238355"/>
            </a:xfrm>
            <a:custGeom>
              <a:avLst/>
              <a:gdLst>
                <a:gd name="T0" fmla="*/ 147 w 243"/>
                <a:gd name="T1" fmla="*/ 240 h 269"/>
                <a:gd name="T2" fmla="*/ 90 w 243"/>
                <a:gd name="T3" fmla="*/ 234 h 269"/>
                <a:gd name="T4" fmla="*/ 147 w 243"/>
                <a:gd name="T5" fmla="*/ 227 h 269"/>
                <a:gd name="T6" fmla="*/ 147 w 243"/>
                <a:gd name="T7" fmla="*/ 243 h 269"/>
                <a:gd name="T8" fmla="*/ 90 w 243"/>
                <a:gd name="T9" fmla="*/ 252 h 269"/>
                <a:gd name="T10" fmla="*/ 96 w 243"/>
                <a:gd name="T11" fmla="*/ 256 h 269"/>
                <a:gd name="T12" fmla="*/ 105 w 243"/>
                <a:gd name="T13" fmla="*/ 262 h 269"/>
                <a:gd name="T14" fmla="*/ 126 w 243"/>
                <a:gd name="T15" fmla="*/ 269 h 269"/>
                <a:gd name="T16" fmla="*/ 138 w 243"/>
                <a:gd name="T17" fmla="*/ 261 h 269"/>
                <a:gd name="T18" fmla="*/ 147 w 243"/>
                <a:gd name="T19" fmla="*/ 256 h 269"/>
                <a:gd name="T20" fmla="*/ 147 w 243"/>
                <a:gd name="T21" fmla="*/ 243 h 269"/>
                <a:gd name="T22" fmla="*/ 128 w 243"/>
                <a:gd name="T23" fmla="*/ 32 h 269"/>
                <a:gd name="T24" fmla="*/ 122 w 243"/>
                <a:gd name="T25" fmla="*/ 0 h 269"/>
                <a:gd name="T26" fmla="*/ 115 w 243"/>
                <a:gd name="T27" fmla="*/ 32 h 269"/>
                <a:gd name="T28" fmla="*/ 54 w 243"/>
                <a:gd name="T29" fmla="*/ 63 h 269"/>
                <a:gd name="T30" fmla="*/ 63 w 243"/>
                <a:gd name="T31" fmla="*/ 63 h 269"/>
                <a:gd name="T32" fmla="*/ 45 w 243"/>
                <a:gd name="T33" fmla="*/ 36 h 269"/>
                <a:gd name="T34" fmla="*/ 36 w 243"/>
                <a:gd name="T35" fmla="*/ 45 h 269"/>
                <a:gd name="T36" fmla="*/ 38 w 243"/>
                <a:gd name="T37" fmla="*/ 122 h 269"/>
                <a:gd name="T38" fmla="*/ 6 w 243"/>
                <a:gd name="T39" fmla="*/ 115 h 269"/>
                <a:gd name="T40" fmla="*/ 6 w 243"/>
                <a:gd name="T41" fmla="*/ 128 h 269"/>
                <a:gd name="T42" fmla="*/ 38 w 243"/>
                <a:gd name="T43" fmla="*/ 122 h 269"/>
                <a:gd name="T44" fmla="*/ 36 w 243"/>
                <a:gd name="T45" fmla="*/ 199 h 269"/>
                <a:gd name="T46" fmla="*/ 40 w 243"/>
                <a:gd name="T47" fmla="*/ 209 h 269"/>
                <a:gd name="T48" fmla="*/ 63 w 243"/>
                <a:gd name="T49" fmla="*/ 189 h 269"/>
                <a:gd name="T50" fmla="*/ 54 w 243"/>
                <a:gd name="T51" fmla="*/ 180 h 269"/>
                <a:gd name="T52" fmla="*/ 180 w 243"/>
                <a:gd name="T53" fmla="*/ 180 h 269"/>
                <a:gd name="T54" fmla="*/ 199 w 243"/>
                <a:gd name="T55" fmla="*/ 208 h 269"/>
                <a:gd name="T56" fmla="*/ 208 w 243"/>
                <a:gd name="T57" fmla="*/ 208 h 269"/>
                <a:gd name="T58" fmla="*/ 189 w 243"/>
                <a:gd name="T59" fmla="*/ 180 h 269"/>
                <a:gd name="T60" fmla="*/ 211 w 243"/>
                <a:gd name="T61" fmla="*/ 115 h 269"/>
                <a:gd name="T62" fmla="*/ 211 w 243"/>
                <a:gd name="T63" fmla="*/ 128 h 269"/>
                <a:gd name="T64" fmla="*/ 243 w 243"/>
                <a:gd name="T65" fmla="*/ 122 h 269"/>
                <a:gd name="T66" fmla="*/ 185 w 243"/>
                <a:gd name="T67" fmla="*/ 65 h 269"/>
                <a:gd name="T68" fmla="*/ 208 w 243"/>
                <a:gd name="T69" fmla="*/ 45 h 269"/>
                <a:gd name="T70" fmla="*/ 199 w 243"/>
                <a:gd name="T71" fmla="*/ 36 h 269"/>
                <a:gd name="T72" fmla="*/ 180 w 243"/>
                <a:gd name="T73" fmla="*/ 63 h 269"/>
                <a:gd name="T74" fmla="*/ 154 w 243"/>
                <a:gd name="T75" fmla="*/ 218 h 269"/>
                <a:gd name="T76" fmla="*/ 96 w 243"/>
                <a:gd name="T77" fmla="*/ 224 h 269"/>
                <a:gd name="T78" fmla="*/ 96 w 243"/>
                <a:gd name="T79" fmla="*/ 211 h 269"/>
                <a:gd name="T80" fmla="*/ 122 w 243"/>
                <a:gd name="T81" fmla="*/ 58 h 269"/>
                <a:gd name="T82" fmla="*/ 148 w 243"/>
                <a:gd name="T83" fmla="*/ 211 h 269"/>
                <a:gd name="T84" fmla="*/ 107 w 243"/>
                <a:gd name="T85" fmla="*/ 76 h 269"/>
                <a:gd name="T86" fmla="*/ 67 w 243"/>
                <a:gd name="T87" fmla="*/ 111 h 269"/>
                <a:gd name="T88" fmla="*/ 72 w 243"/>
                <a:gd name="T89" fmla="*/ 117 h 269"/>
                <a:gd name="T90" fmla="*/ 104 w 243"/>
                <a:gd name="T91" fmla="*/ 82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43" h="269">
                  <a:moveTo>
                    <a:pt x="154" y="234"/>
                  </a:moveTo>
                  <a:cubicBezTo>
                    <a:pt x="154" y="237"/>
                    <a:pt x="151" y="240"/>
                    <a:pt x="147" y="240"/>
                  </a:cubicBezTo>
                  <a:cubicBezTo>
                    <a:pt x="96" y="240"/>
                    <a:pt x="96" y="240"/>
                    <a:pt x="96" y="240"/>
                  </a:cubicBezTo>
                  <a:cubicBezTo>
                    <a:pt x="92" y="240"/>
                    <a:pt x="90" y="237"/>
                    <a:pt x="90" y="234"/>
                  </a:cubicBezTo>
                  <a:cubicBezTo>
                    <a:pt x="90" y="230"/>
                    <a:pt x="92" y="227"/>
                    <a:pt x="96" y="227"/>
                  </a:cubicBezTo>
                  <a:cubicBezTo>
                    <a:pt x="147" y="227"/>
                    <a:pt x="147" y="227"/>
                    <a:pt x="147" y="227"/>
                  </a:cubicBezTo>
                  <a:cubicBezTo>
                    <a:pt x="151" y="227"/>
                    <a:pt x="154" y="230"/>
                    <a:pt x="154" y="234"/>
                  </a:cubicBezTo>
                  <a:close/>
                  <a:moveTo>
                    <a:pt x="147" y="243"/>
                  </a:moveTo>
                  <a:cubicBezTo>
                    <a:pt x="96" y="243"/>
                    <a:pt x="96" y="243"/>
                    <a:pt x="96" y="243"/>
                  </a:cubicBezTo>
                  <a:cubicBezTo>
                    <a:pt x="92" y="243"/>
                    <a:pt x="89" y="247"/>
                    <a:pt x="90" y="252"/>
                  </a:cubicBezTo>
                  <a:cubicBezTo>
                    <a:pt x="91" y="254"/>
                    <a:pt x="93" y="256"/>
                    <a:pt x="96" y="256"/>
                  </a:cubicBezTo>
                  <a:cubicBezTo>
                    <a:pt x="96" y="256"/>
                    <a:pt x="96" y="256"/>
                    <a:pt x="96" y="256"/>
                  </a:cubicBezTo>
                  <a:cubicBezTo>
                    <a:pt x="100" y="256"/>
                    <a:pt x="103" y="258"/>
                    <a:pt x="105" y="261"/>
                  </a:cubicBezTo>
                  <a:cubicBezTo>
                    <a:pt x="105" y="262"/>
                    <a:pt x="105" y="262"/>
                    <a:pt x="105" y="262"/>
                  </a:cubicBezTo>
                  <a:cubicBezTo>
                    <a:pt x="107" y="266"/>
                    <a:pt x="112" y="269"/>
                    <a:pt x="117" y="269"/>
                  </a:cubicBezTo>
                  <a:cubicBezTo>
                    <a:pt x="126" y="269"/>
                    <a:pt x="126" y="269"/>
                    <a:pt x="126" y="269"/>
                  </a:cubicBezTo>
                  <a:cubicBezTo>
                    <a:pt x="131" y="269"/>
                    <a:pt x="136" y="266"/>
                    <a:pt x="138" y="262"/>
                  </a:cubicBezTo>
                  <a:cubicBezTo>
                    <a:pt x="138" y="261"/>
                    <a:pt x="138" y="261"/>
                    <a:pt x="138" y="261"/>
                  </a:cubicBezTo>
                  <a:cubicBezTo>
                    <a:pt x="140" y="258"/>
                    <a:pt x="143" y="256"/>
                    <a:pt x="147" y="256"/>
                  </a:cubicBezTo>
                  <a:cubicBezTo>
                    <a:pt x="147" y="256"/>
                    <a:pt x="147" y="256"/>
                    <a:pt x="147" y="256"/>
                  </a:cubicBezTo>
                  <a:cubicBezTo>
                    <a:pt x="150" y="256"/>
                    <a:pt x="152" y="254"/>
                    <a:pt x="153" y="252"/>
                  </a:cubicBezTo>
                  <a:cubicBezTo>
                    <a:pt x="155" y="247"/>
                    <a:pt x="151" y="243"/>
                    <a:pt x="147" y="243"/>
                  </a:cubicBezTo>
                  <a:close/>
                  <a:moveTo>
                    <a:pt x="122" y="38"/>
                  </a:moveTo>
                  <a:cubicBezTo>
                    <a:pt x="125" y="38"/>
                    <a:pt x="128" y="36"/>
                    <a:pt x="128" y="32"/>
                  </a:cubicBezTo>
                  <a:cubicBezTo>
                    <a:pt x="128" y="6"/>
                    <a:pt x="128" y="6"/>
                    <a:pt x="128" y="6"/>
                  </a:cubicBezTo>
                  <a:cubicBezTo>
                    <a:pt x="128" y="3"/>
                    <a:pt x="125" y="0"/>
                    <a:pt x="122" y="0"/>
                  </a:cubicBezTo>
                  <a:cubicBezTo>
                    <a:pt x="118" y="0"/>
                    <a:pt x="115" y="3"/>
                    <a:pt x="115" y="6"/>
                  </a:cubicBezTo>
                  <a:cubicBezTo>
                    <a:pt x="115" y="32"/>
                    <a:pt x="115" y="32"/>
                    <a:pt x="115" y="32"/>
                  </a:cubicBezTo>
                  <a:cubicBezTo>
                    <a:pt x="115" y="36"/>
                    <a:pt x="118" y="38"/>
                    <a:pt x="122" y="38"/>
                  </a:cubicBezTo>
                  <a:close/>
                  <a:moveTo>
                    <a:pt x="54" y="63"/>
                  </a:moveTo>
                  <a:cubicBezTo>
                    <a:pt x="55" y="64"/>
                    <a:pt x="57" y="65"/>
                    <a:pt x="58" y="65"/>
                  </a:cubicBezTo>
                  <a:cubicBezTo>
                    <a:pt x="60" y="65"/>
                    <a:pt x="62" y="64"/>
                    <a:pt x="63" y="63"/>
                  </a:cubicBezTo>
                  <a:cubicBezTo>
                    <a:pt x="65" y="60"/>
                    <a:pt x="65" y="56"/>
                    <a:pt x="63" y="54"/>
                  </a:cubicBezTo>
                  <a:cubicBezTo>
                    <a:pt x="45" y="36"/>
                    <a:pt x="45" y="36"/>
                    <a:pt x="45" y="36"/>
                  </a:cubicBezTo>
                  <a:cubicBezTo>
                    <a:pt x="42" y="33"/>
                    <a:pt x="38" y="33"/>
                    <a:pt x="36" y="36"/>
                  </a:cubicBezTo>
                  <a:cubicBezTo>
                    <a:pt x="33" y="38"/>
                    <a:pt x="33" y="42"/>
                    <a:pt x="36" y="45"/>
                  </a:cubicBezTo>
                  <a:lnTo>
                    <a:pt x="54" y="63"/>
                  </a:lnTo>
                  <a:close/>
                  <a:moveTo>
                    <a:pt x="38" y="122"/>
                  </a:moveTo>
                  <a:cubicBezTo>
                    <a:pt x="38" y="118"/>
                    <a:pt x="36" y="115"/>
                    <a:pt x="32" y="115"/>
                  </a:cubicBezTo>
                  <a:cubicBezTo>
                    <a:pt x="6" y="115"/>
                    <a:pt x="6" y="115"/>
                    <a:pt x="6" y="115"/>
                  </a:cubicBezTo>
                  <a:cubicBezTo>
                    <a:pt x="3" y="115"/>
                    <a:pt x="0" y="118"/>
                    <a:pt x="0" y="122"/>
                  </a:cubicBezTo>
                  <a:cubicBezTo>
                    <a:pt x="0" y="125"/>
                    <a:pt x="3" y="128"/>
                    <a:pt x="6" y="128"/>
                  </a:cubicBezTo>
                  <a:cubicBezTo>
                    <a:pt x="32" y="128"/>
                    <a:pt x="32" y="128"/>
                    <a:pt x="32" y="128"/>
                  </a:cubicBezTo>
                  <a:cubicBezTo>
                    <a:pt x="36" y="128"/>
                    <a:pt x="38" y="125"/>
                    <a:pt x="38" y="122"/>
                  </a:cubicBezTo>
                  <a:close/>
                  <a:moveTo>
                    <a:pt x="54" y="180"/>
                  </a:moveTo>
                  <a:cubicBezTo>
                    <a:pt x="36" y="199"/>
                    <a:pt x="36" y="199"/>
                    <a:pt x="36" y="199"/>
                  </a:cubicBezTo>
                  <a:cubicBezTo>
                    <a:pt x="33" y="201"/>
                    <a:pt x="33" y="205"/>
                    <a:pt x="36" y="208"/>
                  </a:cubicBezTo>
                  <a:cubicBezTo>
                    <a:pt x="37" y="209"/>
                    <a:pt x="39" y="209"/>
                    <a:pt x="40" y="209"/>
                  </a:cubicBezTo>
                  <a:cubicBezTo>
                    <a:pt x="42" y="209"/>
                    <a:pt x="43" y="209"/>
                    <a:pt x="45" y="208"/>
                  </a:cubicBezTo>
                  <a:cubicBezTo>
                    <a:pt x="63" y="189"/>
                    <a:pt x="63" y="189"/>
                    <a:pt x="63" y="189"/>
                  </a:cubicBezTo>
                  <a:cubicBezTo>
                    <a:pt x="65" y="187"/>
                    <a:pt x="65" y="183"/>
                    <a:pt x="63" y="180"/>
                  </a:cubicBezTo>
                  <a:cubicBezTo>
                    <a:pt x="60" y="178"/>
                    <a:pt x="56" y="178"/>
                    <a:pt x="54" y="180"/>
                  </a:cubicBezTo>
                  <a:close/>
                  <a:moveTo>
                    <a:pt x="189" y="180"/>
                  </a:moveTo>
                  <a:cubicBezTo>
                    <a:pt x="187" y="178"/>
                    <a:pt x="183" y="178"/>
                    <a:pt x="180" y="180"/>
                  </a:cubicBezTo>
                  <a:cubicBezTo>
                    <a:pt x="178" y="183"/>
                    <a:pt x="178" y="187"/>
                    <a:pt x="180" y="189"/>
                  </a:cubicBezTo>
                  <a:cubicBezTo>
                    <a:pt x="199" y="208"/>
                    <a:pt x="199" y="208"/>
                    <a:pt x="199" y="208"/>
                  </a:cubicBezTo>
                  <a:cubicBezTo>
                    <a:pt x="200" y="209"/>
                    <a:pt x="201" y="209"/>
                    <a:pt x="203" y="209"/>
                  </a:cubicBezTo>
                  <a:cubicBezTo>
                    <a:pt x="205" y="209"/>
                    <a:pt x="206" y="209"/>
                    <a:pt x="208" y="208"/>
                  </a:cubicBezTo>
                  <a:cubicBezTo>
                    <a:pt x="210" y="205"/>
                    <a:pt x="210" y="201"/>
                    <a:pt x="208" y="199"/>
                  </a:cubicBezTo>
                  <a:lnTo>
                    <a:pt x="189" y="180"/>
                  </a:lnTo>
                  <a:close/>
                  <a:moveTo>
                    <a:pt x="237" y="115"/>
                  </a:moveTo>
                  <a:cubicBezTo>
                    <a:pt x="211" y="115"/>
                    <a:pt x="211" y="115"/>
                    <a:pt x="211" y="115"/>
                  </a:cubicBezTo>
                  <a:cubicBezTo>
                    <a:pt x="208" y="115"/>
                    <a:pt x="205" y="118"/>
                    <a:pt x="205" y="122"/>
                  </a:cubicBezTo>
                  <a:cubicBezTo>
                    <a:pt x="205" y="125"/>
                    <a:pt x="208" y="128"/>
                    <a:pt x="211" y="128"/>
                  </a:cubicBezTo>
                  <a:cubicBezTo>
                    <a:pt x="237" y="128"/>
                    <a:pt x="237" y="128"/>
                    <a:pt x="237" y="128"/>
                  </a:cubicBezTo>
                  <a:cubicBezTo>
                    <a:pt x="240" y="128"/>
                    <a:pt x="243" y="125"/>
                    <a:pt x="243" y="122"/>
                  </a:cubicBezTo>
                  <a:cubicBezTo>
                    <a:pt x="243" y="118"/>
                    <a:pt x="240" y="115"/>
                    <a:pt x="237" y="115"/>
                  </a:cubicBezTo>
                  <a:close/>
                  <a:moveTo>
                    <a:pt x="185" y="65"/>
                  </a:moveTo>
                  <a:cubicBezTo>
                    <a:pt x="187" y="65"/>
                    <a:pt x="188" y="64"/>
                    <a:pt x="189" y="63"/>
                  </a:cubicBezTo>
                  <a:cubicBezTo>
                    <a:pt x="208" y="45"/>
                    <a:pt x="208" y="45"/>
                    <a:pt x="208" y="45"/>
                  </a:cubicBezTo>
                  <a:cubicBezTo>
                    <a:pt x="210" y="42"/>
                    <a:pt x="210" y="38"/>
                    <a:pt x="208" y="36"/>
                  </a:cubicBezTo>
                  <a:cubicBezTo>
                    <a:pt x="205" y="33"/>
                    <a:pt x="201" y="33"/>
                    <a:pt x="199" y="36"/>
                  </a:cubicBezTo>
                  <a:cubicBezTo>
                    <a:pt x="180" y="54"/>
                    <a:pt x="180" y="54"/>
                    <a:pt x="180" y="54"/>
                  </a:cubicBezTo>
                  <a:cubicBezTo>
                    <a:pt x="178" y="56"/>
                    <a:pt x="178" y="60"/>
                    <a:pt x="180" y="63"/>
                  </a:cubicBezTo>
                  <a:cubicBezTo>
                    <a:pt x="182" y="64"/>
                    <a:pt x="183" y="65"/>
                    <a:pt x="185" y="65"/>
                  </a:cubicBezTo>
                  <a:close/>
                  <a:moveTo>
                    <a:pt x="154" y="218"/>
                  </a:moveTo>
                  <a:cubicBezTo>
                    <a:pt x="154" y="221"/>
                    <a:pt x="151" y="224"/>
                    <a:pt x="147" y="224"/>
                  </a:cubicBezTo>
                  <a:cubicBezTo>
                    <a:pt x="96" y="224"/>
                    <a:pt x="96" y="224"/>
                    <a:pt x="96" y="224"/>
                  </a:cubicBezTo>
                  <a:cubicBezTo>
                    <a:pt x="92" y="224"/>
                    <a:pt x="90" y="221"/>
                    <a:pt x="90" y="218"/>
                  </a:cubicBezTo>
                  <a:cubicBezTo>
                    <a:pt x="90" y="214"/>
                    <a:pt x="92" y="211"/>
                    <a:pt x="96" y="211"/>
                  </a:cubicBezTo>
                  <a:cubicBezTo>
                    <a:pt x="92" y="175"/>
                    <a:pt x="54" y="167"/>
                    <a:pt x="54" y="125"/>
                  </a:cubicBezTo>
                  <a:cubicBezTo>
                    <a:pt x="54" y="88"/>
                    <a:pt x="84" y="58"/>
                    <a:pt x="122" y="58"/>
                  </a:cubicBezTo>
                  <a:cubicBezTo>
                    <a:pt x="159" y="58"/>
                    <a:pt x="189" y="88"/>
                    <a:pt x="189" y="125"/>
                  </a:cubicBezTo>
                  <a:cubicBezTo>
                    <a:pt x="189" y="167"/>
                    <a:pt x="152" y="175"/>
                    <a:pt x="148" y="211"/>
                  </a:cubicBezTo>
                  <a:cubicBezTo>
                    <a:pt x="151" y="211"/>
                    <a:pt x="154" y="214"/>
                    <a:pt x="154" y="218"/>
                  </a:cubicBezTo>
                  <a:close/>
                  <a:moveTo>
                    <a:pt x="107" y="76"/>
                  </a:moveTo>
                  <a:cubicBezTo>
                    <a:pt x="106" y="73"/>
                    <a:pt x="103" y="72"/>
                    <a:pt x="101" y="73"/>
                  </a:cubicBezTo>
                  <a:cubicBezTo>
                    <a:pt x="84" y="80"/>
                    <a:pt x="72" y="94"/>
                    <a:pt x="67" y="111"/>
                  </a:cubicBezTo>
                  <a:cubicBezTo>
                    <a:pt x="67" y="113"/>
                    <a:pt x="68" y="116"/>
                    <a:pt x="71" y="117"/>
                  </a:cubicBezTo>
                  <a:cubicBezTo>
                    <a:pt x="71" y="117"/>
                    <a:pt x="72" y="117"/>
                    <a:pt x="72" y="117"/>
                  </a:cubicBezTo>
                  <a:cubicBezTo>
                    <a:pt x="74" y="117"/>
                    <a:pt x="76" y="115"/>
                    <a:pt x="77" y="113"/>
                  </a:cubicBezTo>
                  <a:cubicBezTo>
                    <a:pt x="80" y="99"/>
                    <a:pt x="91" y="87"/>
                    <a:pt x="104" y="82"/>
                  </a:cubicBezTo>
                  <a:cubicBezTo>
                    <a:pt x="107" y="81"/>
                    <a:pt x="108" y="78"/>
                    <a:pt x="107" y="76"/>
                  </a:cubicBezTo>
                  <a:close/>
                </a:path>
              </a:pathLst>
            </a:custGeom>
            <a:solidFill>
              <a:schemeClr val="bg1">
                <a:lumMod val="95000"/>
              </a:schemeClr>
            </a:solidFill>
            <a:ln>
              <a:noFill/>
            </a:ln>
          </p:spPr>
          <p:txBody>
            <a:bodyPr vert="horz" wrap="square" lIns="91440" tIns="45720" rIns="91440" bIns="45720" numCol="1" anchor="t" anchorCtr="0" compatLnSpc="1"/>
            <a:lstStyle/>
            <a:p>
              <a:endParaRPr lang="zh-CN" altLang="en-US"/>
            </a:p>
          </p:txBody>
        </p:sp>
      </p:grpSp>
      <p:sp>
        <p:nvSpPr>
          <p:cNvPr id="71" name="矩形 70"/>
          <p:cNvSpPr/>
          <p:nvPr/>
        </p:nvSpPr>
        <p:spPr>
          <a:xfrm>
            <a:off x="6095999" y="0"/>
            <a:ext cx="6099175" cy="6858000"/>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TextBox 71"/>
          <p:cNvSpPr txBox="1"/>
          <p:nvPr/>
        </p:nvSpPr>
        <p:spPr>
          <a:xfrm>
            <a:off x="457200" y="3749040"/>
            <a:ext cx="5184648" cy="548640"/>
          </a:xfrm>
          <a:prstGeom prst="rect">
            <a:avLst/>
          </a:prstGeom>
          <a:noFill/>
        </p:spPr>
        <p:txBody>
          <a:bodyPr wrap="square" lIns="45720" tIns="27432" rIns="45720" bIns="27432" anchor="t">
            <a:spAutoFit/>
          </a:bodyPr>
          <a:lstStyle/>
          <a:p>
            <a:pPr algn="ctr">
              <a:spcAft>
                <a:spcPts val="0"/>
              </a:spcAft>
            </a:pPr>
            <a:r>
              <a:rPr sz="2800" b="1" i="0">
                <a:solidFill>
                  <a:srgbClr val="46CEAE"/>
                </a:solidFill>
                <a:latin typeface="Arial"/>
              </a:rPr>
              <a:t>Part 4</a:t>
            </a:r>
          </a:p>
        </p:txBody>
      </p:sp>
      <p:sp>
        <p:nvSpPr>
          <p:cNvPr id="73" name="TextBox 72"/>
          <p:cNvSpPr txBox="1"/>
          <p:nvPr/>
        </p:nvSpPr>
        <p:spPr>
          <a:xfrm>
            <a:off x="457200" y="4315968"/>
            <a:ext cx="5184648" cy="1737360"/>
          </a:xfrm>
          <a:prstGeom prst="rect">
            <a:avLst/>
          </a:prstGeom>
          <a:noFill/>
        </p:spPr>
        <p:txBody>
          <a:bodyPr wrap="square" lIns="45720" tIns="27432" rIns="45720" bIns="27432" anchor="t">
            <a:spAutoFit/>
          </a:bodyPr>
          <a:lstStyle/>
          <a:p>
            <a:pPr algn="ctr">
              <a:lnSpc>
                <a:spcPct val="95000"/>
              </a:lnSpc>
              <a:spcAft>
                <a:spcPts val="0"/>
              </a:spcAft>
            </a:pPr>
            <a:r>
              <a:rPr sz="3200" b="1" i="0">
                <a:solidFill>
                  <a:srgbClr val="202A36"/>
                </a:solidFill>
                <a:latin typeface="Arial"/>
              </a:rPr>
              <a:t>The five SOLID principles and their proxies</a:t>
            </a:r>
          </a:p>
        </p:txBody>
      </p:sp>
      <p:cxnSp>
        <p:nvCxnSpPr>
          <p:cNvPr id="74" name="Connector 73"/>
          <p:cNvCxnSpPr/>
          <p:nvPr/>
        </p:nvCxnSpPr>
        <p:spPr>
          <a:xfrm>
            <a:off x="7863840" y="758952"/>
            <a:ext cx="0" cy="5340096"/>
          </a:xfrm>
          <a:prstGeom prst="line">
            <a:avLst/>
          </a:prstGeom>
          <a:ln w="19050">
            <a:solidFill>
              <a:srgbClr val="8E98A5"/>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7790688" y="1051560"/>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229600" y="923544"/>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From principle to detector</a:t>
            </a:r>
          </a:p>
        </p:txBody>
      </p:sp>
      <p:sp>
        <p:nvSpPr>
          <p:cNvPr id="77" name="Oval 76"/>
          <p:cNvSpPr/>
          <p:nvPr/>
        </p:nvSpPr>
        <p:spPr>
          <a:xfrm>
            <a:off x="7790688" y="1709928"/>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8229600" y="1581912"/>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Five principles, five proxies</a:t>
            </a:r>
          </a:p>
        </p:txBody>
      </p:sp>
      <p:sp>
        <p:nvSpPr>
          <p:cNvPr id="79" name="Oval 78"/>
          <p:cNvSpPr/>
          <p:nvPr/>
        </p:nvSpPr>
        <p:spPr>
          <a:xfrm>
            <a:off x="7790688" y="2368296"/>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8229600" y="2240280"/>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SRP: God Class rubric</a:t>
            </a:r>
          </a:p>
        </p:txBody>
      </p:sp>
      <p:sp>
        <p:nvSpPr>
          <p:cNvPr id="81" name="Oval 80"/>
          <p:cNvSpPr/>
          <p:nvPr/>
        </p:nvSpPr>
        <p:spPr>
          <a:xfrm>
            <a:off x="7790688" y="3026664"/>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229600" y="2898648"/>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OCP: dispatch width</a:t>
            </a:r>
          </a:p>
        </p:txBody>
      </p:sp>
      <p:sp>
        <p:nvSpPr>
          <p:cNvPr id="83" name="Oval 82"/>
          <p:cNvSpPr/>
          <p:nvPr/>
        </p:nvSpPr>
        <p:spPr>
          <a:xfrm>
            <a:off x="7790688" y="3685032"/>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8229600" y="3557016"/>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LSP: refused bequest</a:t>
            </a:r>
          </a:p>
        </p:txBody>
      </p:sp>
      <p:sp>
        <p:nvSpPr>
          <p:cNvPr id="85" name="Oval 84"/>
          <p:cNvSpPr/>
          <p:nvPr/>
        </p:nvSpPr>
        <p:spPr>
          <a:xfrm>
            <a:off x="7790688" y="4343400"/>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8229600" y="4215384"/>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ISP: contract width</a:t>
            </a:r>
          </a:p>
        </p:txBody>
      </p:sp>
      <p:sp>
        <p:nvSpPr>
          <p:cNvPr id="87" name="Oval 86"/>
          <p:cNvSpPr/>
          <p:nvPr/>
        </p:nvSpPr>
        <p:spPr>
          <a:xfrm>
            <a:off x="7790688" y="5001768"/>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8229600" y="4873752"/>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DIP: new import cycles</a:t>
            </a:r>
          </a:p>
        </p:txBody>
      </p:sp>
      <p:sp>
        <p:nvSpPr>
          <p:cNvPr id="89" name="Oval 88"/>
          <p:cNvSpPr/>
          <p:nvPr/>
        </p:nvSpPr>
        <p:spPr>
          <a:xfrm>
            <a:off x="7790688" y="5660136"/>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8229600" y="5532120"/>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Calibration across languages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4</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SOLID proxies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From principle to detector</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22</a:t>
            </a:r>
          </a:p>
        </p:txBody>
      </p:sp>
      <p:sp>
        <p:nvSpPr>
          <p:cNvPr id="66" name="Rounded Rectangle 65"/>
          <p:cNvSpPr/>
          <p:nvPr/>
        </p:nvSpPr>
        <p:spPr>
          <a:xfrm>
            <a:off x="612648" y="914400"/>
            <a:ext cx="10972800" cy="41148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Picture 66" descr="fig_solid_wheel.png"/>
          <p:cNvPicPr>
            <a:picLocks noChangeAspect="1"/>
          </p:cNvPicPr>
          <p:nvPr/>
        </p:nvPicPr>
        <p:blipFill>
          <a:blip r:embed="rId2"/>
          <a:stretch>
            <a:fillRect/>
          </a:stretch>
        </p:blipFill>
        <p:spPr>
          <a:xfrm>
            <a:off x="722376" y="1111529"/>
            <a:ext cx="10753344" cy="3720542"/>
          </a:xfrm>
          <a:prstGeom prst="rect">
            <a:avLst/>
          </a:prstGeom>
        </p:spPr>
      </p:pic>
      <p:sp>
        <p:nvSpPr>
          <p:cNvPr id="68" name="Rounded Rectangle 67"/>
          <p:cNvSpPr/>
          <p:nvPr/>
        </p:nvSpPr>
        <p:spPr>
          <a:xfrm>
            <a:off x="612648" y="5257800"/>
            <a:ext cx="10972800" cy="91440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Hexagon 68"/>
          <p:cNvSpPr/>
          <p:nvPr/>
        </p:nvSpPr>
        <p:spPr>
          <a:xfrm>
            <a:off x="813816" y="557784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1252728" y="5257800"/>
            <a:ext cx="10149840" cy="91440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Each principle is a statement about intent.</a:t>
            </a:r>
            <a:r>
              <a:rPr sz="1400" b="0" i="0">
                <a:solidFill>
                  <a:srgbClr val="FFFFFF"/>
                </a:solidFill>
                <a:latin typeface="Calibri"/>
              </a:rPr>
              <a:t> A detector can only see the structure that a violation usually leaves behind, so every result is first a statement about the detector.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4</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SOLID proxies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The five principles and the proxy used for each</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23</a:t>
            </a:r>
          </a:p>
        </p:txBody>
      </p:sp>
      <p:graphicFrame>
        <p:nvGraphicFramePr>
          <p:cNvPr id="66" name="Table 65"/>
          <p:cNvGraphicFramePr>
            <a:graphicFrameLocks noGrp="1"/>
          </p:cNvGraphicFramePr>
          <p:nvPr/>
        </p:nvGraphicFramePr>
        <p:xfrm>
          <a:off x="612648" y="914400"/>
          <a:ext cx="10972800" cy="3625596"/>
        </p:xfrm>
        <a:graphic>
          <a:graphicData uri="http://schemas.openxmlformats.org/drawingml/2006/table">
            <a:tbl>
              <a:tblPr>
                <a:tableStyleId>{2D5ABB26-0587-4C30-8999-92F81FD0307C}</a:tableStyleId>
              </a:tblPr>
              <a:tblGrid>
                <a:gridCol w="21031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45262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509016">
                <a:tc>
                  <a:txBody>
                    <a:bodyPr/>
                    <a:lstStyle/>
                    <a:p>
                      <a:pPr algn="l">
                        <a:spcAft>
                          <a:spcPts val="0"/>
                        </a:spcAft>
                      </a:pPr>
                      <a:r>
                        <a:rPr sz="1250" b="1" i="0">
                          <a:solidFill>
                            <a:srgbClr val="FFFFFF"/>
                          </a:solidFill>
                          <a:latin typeface="Calibri"/>
                        </a:rPr>
                        <a:t>Principle</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250" b="1" i="0">
                          <a:solidFill>
                            <a:srgbClr val="FFFFFF"/>
                          </a:solidFill>
                          <a:latin typeface="Calibri"/>
                        </a:rPr>
                        <a:t>What a violation looks like</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250" b="1" i="0">
                          <a:solidFill>
                            <a:srgbClr val="FFFFFF"/>
                          </a:solidFill>
                          <a:latin typeface="Calibri"/>
                        </a:rPr>
                        <a:t>Proxy: one deterministic detector</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250" b="1" i="0">
                          <a:solidFill>
                            <a:srgbClr val="FFFFFF"/>
                          </a:solidFill>
                          <a:latin typeface="Calibri"/>
                        </a:rPr>
                        <a:t>Where it lives</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699516">
                <a:tc>
                  <a:txBody>
                    <a:bodyPr/>
                    <a:lstStyle/>
                    <a:p>
                      <a:pPr algn="l">
                        <a:spcAft>
                          <a:spcPts val="0"/>
                        </a:spcAft>
                      </a:pPr>
                      <a:r>
                        <a:rPr sz="1250" b="1" i="0">
                          <a:solidFill>
                            <a:srgbClr val="2B3440"/>
                          </a:solidFill>
                          <a:latin typeface="Calibri"/>
                        </a:rPr>
                        <a:t>SRP</a:t>
                      </a:r>
                      <a:r>
                        <a:rPr sz="1250" b="0" i="0">
                          <a:solidFill>
                            <a:srgbClr val="2B3440"/>
                          </a:solidFill>
                          <a:latin typeface="Calibri"/>
                        </a:rPr>
                        <a:t>  Single Responsibility</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250" b="0" i="0">
                          <a:solidFill>
                            <a:srgbClr val="2B3440"/>
                          </a:solidFill>
                          <a:latin typeface="Calibri"/>
                        </a:rPr>
                        <a:t>God Class: one class doing several unrelated jobs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250" b="0" i="0">
                          <a:solidFill>
                            <a:srgbClr val="2B3440"/>
                          </a:solidFill>
                          <a:latin typeface="Calibri"/>
                        </a:rPr>
                        <a:t>Six size, complexity and cohesion metrics (at least two thresholds crossed); suppressed when the methods share a vocabulary (conceptual cohesion C3)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250" b="0" i="0">
                          <a:solidFill>
                            <a:srgbClr val="2B3440"/>
                          </a:solidFill>
                          <a:latin typeface="Calibri"/>
                        </a:rPr>
                        <a:t>Inside one unit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699516">
                <a:tc>
                  <a:txBody>
                    <a:bodyPr/>
                    <a:lstStyle/>
                    <a:p>
                      <a:pPr algn="l">
                        <a:spcAft>
                          <a:spcPts val="0"/>
                        </a:spcAft>
                      </a:pPr>
                      <a:r>
                        <a:rPr sz="1250" b="1" i="0">
                          <a:solidFill>
                            <a:srgbClr val="2B3440"/>
                          </a:solidFill>
                          <a:latin typeface="Calibri"/>
                        </a:rPr>
                        <a:t>OCP</a:t>
                      </a:r>
                      <a:r>
                        <a:rPr sz="1250" b="0" i="0">
                          <a:solidFill>
                            <a:srgbClr val="2B3440"/>
                          </a:solidFill>
                          <a:latin typeface="Calibri"/>
                        </a:rPr>
                        <a:t>  Open/Closed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250" b="0" i="0">
                          <a:solidFill>
                            <a:srgbClr val="2B3440"/>
                          </a:solidFill>
                          <a:latin typeface="Calibri"/>
                        </a:rPr>
                        <a:t>A type or tag switch that is edited for every new variant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250" b="0" i="0">
                          <a:solidFill>
                            <a:srgbClr val="2B3440"/>
                          </a:solidFill>
                          <a:latin typeface="Calibri"/>
                        </a:rPr>
                        <a:t>Dispatch-chain width: type chains from 3 branches, tag or value chains from 8 (Java) or 5 (Python); suppressed when the subject is an enumeration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250" b="0" i="0">
                          <a:solidFill>
                            <a:srgbClr val="2B3440"/>
                          </a:solidFill>
                          <a:latin typeface="Calibri"/>
                        </a:rPr>
                        <a:t>Inside one unit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699516">
                <a:tc>
                  <a:txBody>
                    <a:bodyPr/>
                    <a:lstStyle/>
                    <a:p>
                      <a:pPr algn="l">
                        <a:spcAft>
                          <a:spcPts val="0"/>
                        </a:spcAft>
                      </a:pPr>
                      <a:r>
                        <a:rPr sz="1250" b="1" i="0">
                          <a:solidFill>
                            <a:srgbClr val="2B3440"/>
                          </a:solidFill>
                          <a:latin typeface="Calibri"/>
                        </a:rPr>
                        <a:t>LSP</a:t>
                      </a:r>
                      <a:r>
                        <a:rPr sz="1250" b="0" i="0">
                          <a:solidFill>
                            <a:srgbClr val="2B3440"/>
                          </a:solidFill>
                          <a:latin typeface="Calibri"/>
                        </a:rPr>
                        <a:t>  Liskov Substitution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250" b="0" i="0">
                          <a:solidFill>
                            <a:srgbClr val="2B3440"/>
                          </a:solidFill>
                          <a:latin typeface="Calibri"/>
                        </a:rPr>
                        <a:t>An override that cannot stand in for its base method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250" b="0" i="0">
                          <a:solidFill>
                            <a:srgbClr val="2B3440"/>
                          </a:solidFill>
                          <a:latin typeface="Calibri"/>
                        </a:rPr>
                        <a:t>Override against its nearest ancestor: refused bequest, strengthened precondition, weakened postcondition; Python adds signature faults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250" b="0" i="0">
                          <a:solidFill>
                            <a:srgbClr val="2B3440"/>
                          </a:solidFill>
                          <a:latin typeface="Calibri"/>
                        </a:rPr>
                        <a:t>Between units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509016">
                <a:tc>
                  <a:txBody>
                    <a:bodyPr/>
                    <a:lstStyle/>
                    <a:p>
                      <a:pPr algn="l">
                        <a:spcAft>
                          <a:spcPts val="0"/>
                        </a:spcAft>
                      </a:pPr>
                      <a:r>
                        <a:rPr sz="1250" b="1" i="0">
                          <a:solidFill>
                            <a:srgbClr val="2B3440"/>
                          </a:solidFill>
                          <a:latin typeface="Calibri"/>
                        </a:rPr>
                        <a:t>ISP</a:t>
                      </a:r>
                      <a:r>
                        <a:rPr sz="1250" b="0" i="0">
                          <a:solidFill>
                            <a:srgbClr val="2B3440"/>
                          </a:solidFill>
                          <a:latin typeface="Calibri"/>
                        </a:rPr>
                        <a:t>  Interface Segregation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250" b="0" i="0">
                          <a:solidFill>
                            <a:srgbClr val="2B3440"/>
                          </a:solidFill>
                          <a:latin typeface="Calibri"/>
                        </a:rPr>
                        <a:t>A wide contract that forces stubs on its implementers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250" b="0" i="0">
                          <a:solidFill>
                            <a:srgbClr val="2B3440"/>
                          </a:solidFill>
                          <a:latin typeface="Calibri"/>
                        </a:rPr>
                        <a:t>Contract width and implementer stub ratio; a forced stub is direct evidence, width alone is a screen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250" b="0" i="0">
                          <a:solidFill>
                            <a:srgbClr val="2B3440"/>
                          </a:solidFill>
                          <a:latin typeface="Calibri"/>
                        </a:rPr>
                        <a:t>Between units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r h="509016">
                <a:tc>
                  <a:txBody>
                    <a:bodyPr/>
                    <a:lstStyle/>
                    <a:p>
                      <a:pPr algn="l">
                        <a:spcAft>
                          <a:spcPts val="0"/>
                        </a:spcAft>
                      </a:pPr>
                      <a:r>
                        <a:rPr sz="1250" b="1" i="0">
                          <a:solidFill>
                            <a:srgbClr val="2B3440"/>
                          </a:solidFill>
                          <a:latin typeface="Calibri"/>
                        </a:rPr>
                        <a:t>DIP</a:t>
                      </a:r>
                      <a:r>
                        <a:rPr sz="1250" b="0" i="0">
                          <a:solidFill>
                            <a:srgbClr val="2B3440"/>
                          </a:solidFill>
                          <a:latin typeface="Calibri"/>
                        </a:rPr>
                        <a:t>  Dependency Inversion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250" b="0" i="0">
                          <a:solidFill>
                            <a:srgbClr val="2B3440"/>
                          </a:solidFill>
                          <a:latin typeface="Calibri"/>
                        </a:rPr>
                        <a:t>Modules that depend on each other in cycles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250" b="0" i="0">
                          <a:solidFill>
                            <a:srgbClr val="2B3440"/>
                          </a:solidFill>
                          <a:latin typeface="Calibri"/>
                        </a:rPr>
                        <a:t>New cycles in the import graph, before against after, found with Tarjan’s strongly connected components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250" b="0" i="0">
                          <a:solidFill>
                            <a:srgbClr val="2B3440"/>
                          </a:solidFill>
                          <a:latin typeface="Calibri"/>
                        </a:rPr>
                        <a:t>Between units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5"/>
                  </a:ext>
                </a:extLst>
              </a:tr>
            </a:tbl>
          </a:graphicData>
        </a:graphic>
      </p:graphicFrame>
      <p:sp>
        <p:nvSpPr>
          <p:cNvPr id="67" name="Rounded Rectangle 66"/>
          <p:cNvSpPr/>
          <p:nvPr/>
        </p:nvSpPr>
        <p:spPr>
          <a:xfrm>
            <a:off x="612648" y="4722876"/>
            <a:ext cx="10972800" cy="77724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Hexagon 67"/>
          <p:cNvSpPr/>
          <p:nvPr/>
        </p:nvSpPr>
        <p:spPr>
          <a:xfrm>
            <a:off x="813816" y="4974336"/>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252728" y="4722876"/>
            <a:ext cx="10149840" cy="77724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A proxy sees the structure a violation leaves behind, not the intent.</a:t>
            </a:r>
            <a:r>
              <a:rPr sz="1400" b="0" i="0">
                <a:solidFill>
                  <a:srgbClr val="FFFFFF"/>
                </a:solidFill>
                <a:latin typeface="Calibri"/>
              </a:rPr>
              <a:t> Every result is first a statement about the detector, which is why each one is validated against a reader (Part 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4</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SOLID proxies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SRP: God Class rubric with a cohesion suppressor</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24</a:t>
            </a:r>
          </a:p>
        </p:txBody>
      </p:sp>
      <p:sp>
        <p:nvSpPr>
          <p:cNvPr id="66" name="Rounded Rectangle 65"/>
          <p:cNvSpPr/>
          <p:nvPr/>
        </p:nvSpPr>
        <p:spPr>
          <a:xfrm>
            <a:off x="612648" y="914400"/>
            <a:ext cx="6172200" cy="132588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749808" y="987552"/>
            <a:ext cx="5897880" cy="365760"/>
          </a:xfrm>
          <a:prstGeom prst="rect">
            <a:avLst/>
          </a:prstGeom>
          <a:noFill/>
        </p:spPr>
        <p:txBody>
          <a:bodyPr wrap="square" lIns="45720" tIns="27432" rIns="45720" bIns="27432" anchor="t">
            <a:spAutoFit/>
          </a:bodyPr>
          <a:lstStyle/>
          <a:p>
            <a:pPr algn="l">
              <a:spcAft>
                <a:spcPts val="0"/>
              </a:spcAft>
            </a:pPr>
            <a:r>
              <a:rPr sz="1350" b="0" i="0">
                <a:solidFill>
                  <a:srgbClr val="2B3440"/>
                </a:solidFill>
                <a:latin typeface="Calibri"/>
              </a:rPr>
              <a:t>Six size and complexity metrics; one hit per threshold reached:</a:t>
            </a:r>
          </a:p>
        </p:txBody>
      </p:sp>
      <p:pic>
        <p:nvPicPr>
          <p:cNvPr id="68" name="Picture 67" descr="eq_02.png"/>
          <p:cNvPicPr>
            <a:picLocks noChangeAspect="1"/>
          </p:cNvPicPr>
          <p:nvPr/>
        </p:nvPicPr>
        <p:blipFill>
          <a:blip r:embed="rId2"/>
          <a:stretch>
            <a:fillRect/>
          </a:stretch>
        </p:blipFill>
        <p:spPr>
          <a:xfrm>
            <a:off x="886968" y="1600200"/>
            <a:ext cx="3534770" cy="457200"/>
          </a:xfrm>
          <a:prstGeom prst="rect">
            <a:avLst/>
          </a:prstGeom>
        </p:spPr>
      </p:pic>
      <p:sp>
        <p:nvSpPr>
          <p:cNvPr id="69" name="Rounded Rectangle 68"/>
          <p:cNvSpPr/>
          <p:nvPr/>
        </p:nvSpPr>
        <p:spPr>
          <a:xfrm>
            <a:off x="612648" y="2377440"/>
            <a:ext cx="6172200" cy="13716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749808" y="2450592"/>
            <a:ext cx="5897880" cy="548640"/>
          </a:xfrm>
          <a:prstGeom prst="rect">
            <a:avLst/>
          </a:prstGeom>
          <a:noFill/>
        </p:spPr>
        <p:txBody>
          <a:bodyPr wrap="square" lIns="45720" tIns="27432" rIns="45720" bIns="27432" anchor="t">
            <a:spAutoFit/>
          </a:bodyPr>
          <a:lstStyle/>
          <a:p>
            <a:pPr algn="l">
              <a:spcAft>
                <a:spcPts val="0"/>
              </a:spcAft>
            </a:pPr>
            <a:r>
              <a:rPr sz="1350" b="0" i="0">
                <a:solidFill>
                  <a:srgbClr val="2B3440"/>
                </a:solidFill>
                <a:latin typeface="Calibri"/>
              </a:rPr>
              <a:t>Cohesion, LCOM4 over the method graph (edge = shared field or a call), constructors excluded:</a:t>
            </a:r>
          </a:p>
        </p:txBody>
      </p:sp>
      <p:pic>
        <p:nvPicPr>
          <p:cNvPr id="71" name="Picture 70" descr="eq_03.png"/>
          <p:cNvPicPr>
            <a:picLocks noChangeAspect="1"/>
          </p:cNvPicPr>
          <p:nvPr/>
        </p:nvPicPr>
        <p:blipFill>
          <a:blip r:embed="rId3"/>
          <a:stretch>
            <a:fillRect/>
          </a:stretch>
        </p:blipFill>
        <p:spPr>
          <a:xfrm>
            <a:off x="886968" y="2999232"/>
            <a:ext cx="1916566" cy="685800"/>
          </a:xfrm>
          <a:prstGeom prst="rect">
            <a:avLst/>
          </a:prstGeom>
        </p:spPr>
      </p:pic>
      <p:sp>
        <p:nvSpPr>
          <p:cNvPr id="72" name="Rounded Rectangle 71"/>
          <p:cNvSpPr/>
          <p:nvPr/>
        </p:nvSpPr>
        <p:spPr>
          <a:xfrm>
            <a:off x="612648" y="3886200"/>
            <a:ext cx="6172200" cy="16002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749808" y="3959352"/>
            <a:ext cx="5897880" cy="365760"/>
          </a:xfrm>
          <a:prstGeom prst="rect">
            <a:avLst/>
          </a:prstGeom>
          <a:noFill/>
        </p:spPr>
        <p:txBody>
          <a:bodyPr wrap="square" lIns="45720" tIns="27432" rIns="45720" bIns="27432" anchor="t">
            <a:spAutoFit/>
          </a:bodyPr>
          <a:lstStyle/>
          <a:p>
            <a:pPr algn="l">
              <a:spcAft>
                <a:spcPts val="0"/>
              </a:spcAft>
            </a:pPr>
            <a:r>
              <a:rPr sz="1350" b="0" i="0">
                <a:solidFill>
                  <a:srgbClr val="2B3440"/>
                </a:solidFill>
                <a:latin typeface="Calibri"/>
              </a:rPr>
              <a:t>Conceptual cohesion over TF-IDF vectors of method token bags:</a:t>
            </a:r>
          </a:p>
        </p:txBody>
      </p:sp>
      <p:pic>
        <p:nvPicPr>
          <p:cNvPr id="74" name="Picture 73" descr="eq_04.png"/>
          <p:cNvPicPr>
            <a:picLocks noChangeAspect="1"/>
          </p:cNvPicPr>
          <p:nvPr/>
        </p:nvPicPr>
        <p:blipFill>
          <a:blip r:embed="rId4"/>
          <a:stretch>
            <a:fillRect/>
          </a:stretch>
        </p:blipFill>
        <p:spPr>
          <a:xfrm>
            <a:off x="886968" y="4370832"/>
            <a:ext cx="2045110" cy="457200"/>
          </a:xfrm>
          <a:prstGeom prst="rect">
            <a:avLst/>
          </a:prstGeom>
        </p:spPr>
      </p:pic>
      <p:pic>
        <p:nvPicPr>
          <p:cNvPr id="75" name="Picture 74" descr="eq_05.png"/>
          <p:cNvPicPr>
            <a:picLocks noChangeAspect="1"/>
          </p:cNvPicPr>
          <p:nvPr/>
        </p:nvPicPr>
        <p:blipFill>
          <a:blip r:embed="rId5"/>
          <a:stretch>
            <a:fillRect/>
          </a:stretch>
        </p:blipFill>
        <p:spPr>
          <a:xfrm>
            <a:off x="886968" y="4937760"/>
            <a:ext cx="4458724" cy="411480"/>
          </a:xfrm>
          <a:prstGeom prst="rect">
            <a:avLst/>
          </a:prstGeom>
        </p:spPr>
      </p:pic>
      <p:graphicFrame>
        <p:nvGraphicFramePr>
          <p:cNvPr id="76" name="Table 75"/>
          <p:cNvGraphicFramePr>
            <a:graphicFrameLocks noGrp="1"/>
          </p:cNvGraphicFramePr>
          <p:nvPr/>
        </p:nvGraphicFramePr>
        <p:xfrm>
          <a:off x="7040880" y="914400"/>
          <a:ext cx="4544568" cy="2816352"/>
        </p:xfrm>
        <a:graphic>
          <a:graphicData uri="http://schemas.openxmlformats.org/drawingml/2006/table">
            <a:tbl>
              <a:tblPr>
                <a:tableStyleId>{2D5ABB26-0587-4C30-8999-92F81FD0307C}</a:tableStyleId>
              </a:tblPr>
              <a:tblGrid>
                <a:gridCol w="21945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tblGrid>
              <a:tr h="402336">
                <a:tc>
                  <a:txBody>
                    <a:bodyPr/>
                    <a:lstStyle/>
                    <a:p>
                      <a:pPr algn="l">
                        <a:spcAft>
                          <a:spcPts val="0"/>
                        </a:spcAft>
                      </a:pPr>
                      <a:r>
                        <a:rPr sz="1350" b="1" i="0">
                          <a:solidFill>
                            <a:srgbClr val="FFFFFF"/>
                          </a:solidFill>
                          <a:latin typeface="Calibri"/>
                        </a:rPr>
                        <a:t>Threshold</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350" b="1" i="0">
                          <a:solidFill>
                            <a:srgbClr val="FFFFFF"/>
                          </a:solidFill>
                          <a:latin typeface="Calibri"/>
                        </a:rPr>
                        <a:t>Java</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350" b="1" i="0">
                          <a:solidFill>
                            <a:srgbClr val="FFFFFF"/>
                          </a:solidFill>
                          <a:latin typeface="Calibri"/>
                        </a:rPr>
                        <a:t>Python</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402336">
                <a:tc>
                  <a:txBody>
                    <a:bodyPr/>
                    <a:lstStyle/>
                    <a:p>
                      <a:pPr algn="l">
                        <a:spcAft>
                          <a:spcPts val="0"/>
                        </a:spcAft>
                      </a:pPr>
                      <a:r>
                        <a:rPr sz="1350" b="0" i="0">
                          <a:solidFill>
                            <a:srgbClr val="2B3440"/>
                          </a:solidFill>
                          <a:latin typeface="Calibri"/>
                        </a:rPr>
                        <a:t>class lines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362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250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402336">
                <a:tc>
                  <a:txBody>
                    <a:bodyPr/>
                    <a:lstStyle/>
                    <a:p>
                      <a:pPr algn="l">
                        <a:spcAft>
                          <a:spcPts val="0"/>
                        </a:spcAft>
                      </a:pPr>
                      <a:r>
                        <a:rPr sz="1350" b="0" i="0">
                          <a:solidFill>
                            <a:srgbClr val="2B3440"/>
                          </a:solidFill>
                          <a:latin typeface="Calibri"/>
                        </a:rPr>
                        <a:t>weighted methods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350" b="0" i="0">
                          <a:solidFill>
                            <a:srgbClr val="2B3440"/>
                          </a:solidFill>
                          <a:latin typeface="Calibri"/>
                        </a:rPr>
                        <a:t>45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350" b="0" i="0">
                          <a:solidFill>
                            <a:srgbClr val="2B3440"/>
                          </a:solidFill>
                          <a:latin typeface="Calibri"/>
                        </a:rPr>
                        <a:t>36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402336">
                <a:tc>
                  <a:txBody>
                    <a:bodyPr/>
                    <a:lstStyle/>
                    <a:p>
                      <a:pPr algn="l">
                        <a:spcAft>
                          <a:spcPts val="0"/>
                        </a:spcAft>
                      </a:pPr>
                      <a:r>
                        <a:rPr sz="1350" b="0" i="0">
                          <a:solidFill>
                            <a:srgbClr val="2B3440"/>
                          </a:solidFill>
                          <a:latin typeface="Calibri"/>
                        </a:rPr>
                        <a:t>methods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20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10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402336">
                <a:tc>
                  <a:txBody>
                    <a:bodyPr/>
                    <a:lstStyle/>
                    <a:p>
                      <a:pPr algn="l">
                        <a:spcAft>
                          <a:spcPts val="0"/>
                        </a:spcAft>
                      </a:pPr>
                      <a:r>
                        <a:rPr sz="1350" b="0" i="0">
                          <a:solidFill>
                            <a:srgbClr val="2B3440"/>
                          </a:solidFill>
                          <a:latin typeface="Calibri"/>
                        </a:rPr>
                        <a:t>method complexity</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350" b="0" i="0">
                          <a:solidFill>
                            <a:srgbClr val="2B3440"/>
                          </a:solidFill>
                          <a:latin typeface="Calibri"/>
                        </a:rPr>
                        <a:t>11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350" b="0" i="0">
                          <a:solidFill>
                            <a:srgbClr val="2B3440"/>
                          </a:solidFill>
                          <a:latin typeface="Calibri"/>
                        </a:rPr>
                        <a:t>12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r h="402336">
                <a:tc>
                  <a:txBody>
                    <a:bodyPr/>
                    <a:lstStyle/>
                    <a:p>
                      <a:pPr algn="l">
                        <a:spcAft>
                          <a:spcPts val="0"/>
                        </a:spcAft>
                      </a:pPr>
                      <a:r>
                        <a:rPr sz="1350" b="0" i="0">
                          <a:solidFill>
                            <a:srgbClr val="2B3440"/>
                          </a:solidFill>
                          <a:latin typeface="Calibri"/>
                        </a:rPr>
                        <a:t>parameters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5"/>
                  </a:ext>
                </a:extLst>
              </a:tr>
              <a:tr h="402336">
                <a:tc>
                  <a:txBody>
                    <a:bodyPr/>
                    <a:lstStyle/>
                    <a:p>
                      <a:pPr algn="l">
                        <a:spcAft>
                          <a:spcPts val="0"/>
                        </a:spcAft>
                      </a:pPr>
                      <a:r>
                        <a:rPr sz="1350" b="0" i="0">
                          <a:solidFill>
                            <a:srgbClr val="2B3440"/>
                          </a:solidFill>
                          <a:latin typeface="Calibri"/>
                        </a:rPr>
                        <a:t>LCOM</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350" b="0" i="0">
                          <a:solidFill>
                            <a:srgbClr val="2B3440"/>
                          </a:solidFill>
                          <a:latin typeface="Calibri"/>
                        </a:rPr>
                        <a:t>0.86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350" b="0" i="0">
                          <a:solidFill>
                            <a:srgbClr val="2B3440"/>
                          </a:solidFill>
                          <a:latin typeface="Calibri"/>
                        </a:rPr>
                        <a:t>0.8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6"/>
                  </a:ext>
                </a:extLst>
              </a:tr>
            </a:tbl>
          </a:graphicData>
        </a:graphic>
      </p:graphicFrame>
      <p:sp>
        <p:nvSpPr>
          <p:cNvPr id="77" name="Rounded Rectangle 76"/>
          <p:cNvSpPr/>
          <p:nvPr/>
        </p:nvSpPr>
        <p:spPr>
          <a:xfrm>
            <a:off x="7040880" y="3913632"/>
            <a:ext cx="4544568" cy="1572768"/>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7178040" y="4005072"/>
            <a:ext cx="4270248" cy="786384"/>
          </a:xfrm>
          <a:prstGeom prst="rect">
            <a:avLst/>
          </a:prstGeom>
          <a:noFill/>
        </p:spPr>
        <p:txBody>
          <a:bodyPr wrap="square" lIns="45720" tIns="27432" rIns="45720" bIns="27432" anchor="b">
            <a:spAutoFit/>
          </a:bodyPr>
          <a:lstStyle/>
          <a:p>
            <a:pPr algn="ctr">
              <a:spcAft>
                <a:spcPts val="0"/>
              </a:spcAft>
            </a:pPr>
            <a:r>
              <a:rPr sz="3200" b="1" i="0">
                <a:solidFill>
                  <a:srgbClr val="46CEAE"/>
                </a:solidFill>
                <a:latin typeface="Arial"/>
              </a:rPr>
              <a:t>0.350 / 0.110</a:t>
            </a:r>
          </a:p>
        </p:txBody>
      </p:sp>
      <p:sp>
        <p:nvSpPr>
          <p:cNvPr id="79" name="TextBox 78"/>
          <p:cNvSpPr txBox="1"/>
          <p:nvPr/>
        </p:nvSpPr>
        <p:spPr>
          <a:xfrm>
            <a:off x="7223760" y="4778654"/>
            <a:ext cx="4178808" cy="660563"/>
          </a:xfrm>
          <a:prstGeom prst="rect">
            <a:avLst/>
          </a:prstGeom>
          <a:noFill/>
        </p:spPr>
        <p:txBody>
          <a:bodyPr wrap="square" lIns="45720" tIns="27432" rIns="45720" bIns="27432" anchor="t">
            <a:spAutoFit/>
          </a:bodyPr>
          <a:lstStyle/>
          <a:p>
            <a:pPr algn="ctr">
              <a:spcAft>
                <a:spcPts val="0"/>
              </a:spcAft>
            </a:pPr>
            <a:r>
              <a:rPr sz="1300" b="0" i="0">
                <a:solidFill>
                  <a:srgbClr val="D5DCE4"/>
                </a:solidFill>
                <a:latin typeface="Calibri"/>
              </a:rPr>
              <a:t>precision, Java / Python</a:t>
            </a:r>
          </a:p>
        </p:txBody>
      </p:sp>
      <p:sp>
        <p:nvSpPr>
          <p:cNvPr id="80" name="Rounded Rectangle 79"/>
          <p:cNvSpPr/>
          <p:nvPr/>
        </p:nvSpPr>
        <p:spPr>
          <a:xfrm>
            <a:off x="612648" y="5669280"/>
            <a:ext cx="10972800" cy="64008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Hexagon 80"/>
          <p:cNvSpPr/>
          <p:nvPr/>
        </p:nvSpPr>
        <p:spPr>
          <a:xfrm>
            <a:off x="813816" y="585216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1252728" y="5669280"/>
            <a:ext cx="10149840" cy="640080"/>
          </a:xfrm>
          <a:prstGeom prst="rect">
            <a:avLst/>
          </a:prstGeom>
          <a:noFill/>
        </p:spPr>
        <p:txBody>
          <a:bodyPr wrap="square" lIns="45720" rIns="45720" anchor="ctr">
            <a:spAutoFit/>
          </a:bodyPr>
          <a:lstStyle/>
          <a:p>
            <a:pPr algn="l">
              <a:spcAft>
                <a:spcPts val="0"/>
              </a:spcAft>
            </a:pPr>
            <a:r>
              <a:rPr sz="1400" b="0" i="0">
                <a:solidFill>
                  <a:srgbClr val="FFFFFF"/>
                </a:solidFill>
                <a:latin typeface="Calibri"/>
              </a:rPr>
              <a:t>Each value is the 90th percentile of that corpus, fixed before any label existed.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4</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SOLID proxies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OCP: dispatch width with a closed-set suppressor</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25</a:t>
            </a:r>
          </a:p>
        </p:txBody>
      </p:sp>
      <p:sp>
        <p:nvSpPr>
          <p:cNvPr id="66" name="Rounded Rectangle 65"/>
          <p:cNvSpPr/>
          <p:nvPr/>
        </p:nvSpPr>
        <p:spPr>
          <a:xfrm>
            <a:off x="612648" y="914400"/>
            <a:ext cx="6172200" cy="18288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749808" y="1005840"/>
            <a:ext cx="5897880" cy="640080"/>
          </a:xfrm>
          <a:prstGeom prst="rect">
            <a:avLst/>
          </a:prstGeom>
          <a:noFill/>
        </p:spPr>
        <p:txBody>
          <a:bodyPr wrap="square" lIns="45720" tIns="27432" rIns="45720" bIns="27432" anchor="t">
            <a:spAutoFit/>
          </a:bodyPr>
          <a:lstStyle/>
          <a:p>
            <a:pPr algn="l">
              <a:spcAft>
                <a:spcPts val="0"/>
              </a:spcAft>
            </a:pPr>
            <a:r>
              <a:rPr sz="1350" b="0" i="0">
                <a:solidFill>
                  <a:srgbClr val="2B3440"/>
                </a:solidFill>
                <a:latin typeface="Calibri"/>
              </a:rPr>
              <a:t>A dispatch chain is an if/else if ladder or a switch branching on one subject. With b branches:</a:t>
            </a:r>
          </a:p>
        </p:txBody>
      </p:sp>
      <p:pic>
        <p:nvPicPr>
          <p:cNvPr id="68" name="Picture 67" descr="eq_06.png"/>
          <p:cNvPicPr>
            <a:picLocks noChangeAspect="1"/>
          </p:cNvPicPr>
          <p:nvPr/>
        </p:nvPicPr>
        <p:blipFill>
          <a:blip r:embed="rId2"/>
          <a:stretch>
            <a:fillRect/>
          </a:stretch>
        </p:blipFill>
        <p:spPr>
          <a:xfrm>
            <a:off x="886968" y="1920240"/>
            <a:ext cx="4640239" cy="457200"/>
          </a:xfrm>
          <a:prstGeom prst="rect">
            <a:avLst/>
          </a:prstGeom>
        </p:spPr>
      </p:pic>
      <p:sp>
        <p:nvSpPr>
          <p:cNvPr id="69" name="Rounded Rectangle 68"/>
          <p:cNvSpPr/>
          <p:nvPr/>
        </p:nvSpPr>
        <p:spPr>
          <a:xfrm>
            <a:off x="612648" y="2880360"/>
            <a:ext cx="6172200" cy="173736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749808" y="2971800"/>
            <a:ext cx="5897880" cy="1554480"/>
          </a:xfrm>
          <a:prstGeom prst="rect">
            <a:avLst/>
          </a:prstGeom>
          <a:noFill/>
        </p:spPr>
        <p:txBody>
          <a:bodyPr wrap="square" lIns="45720" tIns="27432" rIns="45720" bIns="27432" anchor="ctr">
            <a:spAutoFit/>
          </a:bodyPr>
          <a:lstStyle/>
          <a:p>
            <a:pPr algn="l">
              <a:spcAft>
                <a:spcPts val="0"/>
              </a:spcAft>
            </a:pPr>
            <a:r>
              <a:rPr sz="1400" b="1" i="0">
                <a:solidFill>
                  <a:srgbClr val="2B3440"/>
                </a:solidFill>
                <a:latin typeface="Calibri"/>
              </a:rPr>
              <a:t>closed</a:t>
            </a:r>
            <a:r>
              <a:rPr sz="1400" b="0" i="0">
                <a:solidFill>
                  <a:srgbClr val="2B3440"/>
                </a:solidFill>
                <a:latin typeface="Calibri"/>
              </a:rPr>
              <a:t> holds when the subject’s resolved type is an enumeration: a client cannot add a value. A pull request is flagged when it </a:t>
            </a:r>
            <a:r>
              <a:rPr sz="1400" b="1" i="0">
                <a:solidFill>
                  <a:srgbClr val="2B3440"/>
                </a:solidFill>
                <a:latin typeface="Calibri"/>
              </a:rPr>
              <a:t>creates or widens</a:t>
            </a:r>
            <a:r>
              <a:rPr sz="1400" b="0" i="0">
                <a:solidFill>
                  <a:srgbClr val="2B3440"/>
                </a:solidFill>
                <a:latin typeface="Calibri"/>
              </a:rPr>
              <a:t> such a chain.</a:t>
            </a:r>
          </a:p>
        </p:txBody>
      </p:sp>
      <p:graphicFrame>
        <p:nvGraphicFramePr>
          <p:cNvPr id="71" name="Table 70"/>
          <p:cNvGraphicFramePr>
            <a:graphicFrameLocks noGrp="1"/>
          </p:cNvGraphicFramePr>
          <p:nvPr/>
        </p:nvGraphicFramePr>
        <p:xfrm>
          <a:off x="7040880" y="914400"/>
          <a:ext cx="4544568" cy="1371600"/>
        </p:xfrm>
        <a:graphic>
          <a:graphicData uri="http://schemas.openxmlformats.org/drawingml/2006/table">
            <a:tbl>
              <a:tblPr>
                <a:tableStyleId>{2D5ABB26-0587-4C30-8999-92F81FD0307C}</a:tableStyleId>
              </a:tblPr>
              <a:tblGrid>
                <a:gridCol w="23774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69848">
                  <a:extLst>
                    <a:ext uri="{9D8B030D-6E8A-4147-A177-3AD203B41FA5}">
                      <a16:colId xmlns:a16="http://schemas.microsoft.com/office/drawing/2014/main" val="20002"/>
                    </a:ext>
                  </a:extLst>
                </a:gridCol>
              </a:tblGrid>
              <a:tr h="457200">
                <a:tc>
                  <a:txBody>
                    <a:bodyPr/>
                    <a:lstStyle/>
                    <a:p>
                      <a:pPr algn="l">
                        <a:spcAft>
                          <a:spcPts val="0"/>
                        </a:spcAft>
                      </a:pPr>
                      <a:r>
                        <a:rPr sz="1400" b="1" i="0">
                          <a:solidFill>
                            <a:srgbClr val="FFFFFF"/>
                          </a:solidFill>
                          <a:latin typeface="Calibri"/>
                        </a:rPr>
                        <a:t>τ</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Java</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Python</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457200">
                <a:tc>
                  <a:txBody>
                    <a:bodyPr/>
                    <a:lstStyle/>
                    <a:p>
                      <a:pPr algn="l">
                        <a:spcAft>
                          <a:spcPts val="0"/>
                        </a:spcAft>
                      </a:pPr>
                      <a:r>
                        <a:rPr sz="1400" b="0" i="0">
                          <a:solidFill>
                            <a:srgbClr val="2B3440"/>
                          </a:solidFill>
                          <a:latin typeface="Calibri"/>
                        </a:rPr>
                        <a:t>type chains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457200">
                <a:tc>
                  <a:txBody>
                    <a:bodyPr/>
                    <a:lstStyle/>
                    <a:p>
                      <a:pPr algn="l">
                        <a:spcAft>
                          <a:spcPts val="0"/>
                        </a:spcAft>
                      </a:pPr>
                      <a:r>
                        <a:rPr sz="1400" b="0" i="0">
                          <a:solidFill>
                            <a:srgbClr val="2B3440"/>
                          </a:solidFill>
                          <a:latin typeface="Calibri"/>
                        </a:rPr>
                        <a:t>tag / value chains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bl>
          </a:graphicData>
        </a:graphic>
      </p:graphicFrame>
      <p:sp>
        <p:nvSpPr>
          <p:cNvPr id="72" name="Rounded Rectangle 71"/>
          <p:cNvSpPr/>
          <p:nvPr/>
        </p:nvSpPr>
        <p:spPr>
          <a:xfrm>
            <a:off x="7040880" y="2468880"/>
            <a:ext cx="4544568" cy="2148840"/>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7178040" y="2560320"/>
            <a:ext cx="4270248" cy="1074420"/>
          </a:xfrm>
          <a:prstGeom prst="rect">
            <a:avLst/>
          </a:prstGeom>
          <a:noFill/>
        </p:spPr>
        <p:txBody>
          <a:bodyPr wrap="square" lIns="45720" tIns="27432" rIns="45720" bIns="27432" anchor="b">
            <a:spAutoFit/>
          </a:bodyPr>
          <a:lstStyle/>
          <a:p>
            <a:pPr algn="ctr">
              <a:spcAft>
                <a:spcPts val="0"/>
              </a:spcAft>
            </a:pPr>
            <a:r>
              <a:rPr sz="3200" b="1" i="0">
                <a:solidFill>
                  <a:srgbClr val="46CEAE"/>
                </a:solidFill>
                <a:latin typeface="Arial"/>
              </a:rPr>
              <a:t>0.330 / 0.390</a:t>
            </a:r>
          </a:p>
        </p:txBody>
      </p:sp>
      <p:sp>
        <p:nvSpPr>
          <p:cNvPr id="74" name="TextBox 73"/>
          <p:cNvSpPr txBox="1"/>
          <p:nvPr/>
        </p:nvSpPr>
        <p:spPr>
          <a:xfrm>
            <a:off x="7223760" y="3650742"/>
            <a:ext cx="4178808" cy="902513"/>
          </a:xfrm>
          <a:prstGeom prst="rect">
            <a:avLst/>
          </a:prstGeom>
          <a:noFill/>
        </p:spPr>
        <p:txBody>
          <a:bodyPr wrap="square" lIns="45720" tIns="27432" rIns="45720" bIns="27432" anchor="t">
            <a:spAutoFit/>
          </a:bodyPr>
          <a:lstStyle/>
          <a:p>
            <a:pPr algn="ctr">
              <a:spcAft>
                <a:spcPts val="0"/>
              </a:spcAft>
            </a:pPr>
            <a:r>
              <a:rPr sz="1300" b="0" i="0">
                <a:solidFill>
                  <a:srgbClr val="D5DCE4"/>
                </a:solidFill>
                <a:latin typeface="Calibri"/>
              </a:rPr>
              <a:t>precision, Java / Python</a:t>
            </a:r>
          </a:p>
        </p:txBody>
      </p:sp>
      <p:sp>
        <p:nvSpPr>
          <p:cNvPr id="75" name="Rounded Rectangle 74"/>
          <p:cNvSpPr/>
          <p:nvPr/>
        </p:nvSpPr>
        <p:spPr>
          <a:xfrm>
            <a:off x="612648" y="4892040"/>
            <a:ext cx="10972800" cy="109728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Hexagon 75"/>
          <p:cNvSpPr/>
          <p:nvPr/>
        </p:nvSpPr>
        <p:spPr>
          <a:xfrm>
            <a:off x="813816" y="530352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1252728" y="4892040"/>
            <a:ext cx="10149840" cy="109728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Width does not predict truth:</a:t>
            </a:r>
            <a:r>
              <a:rPr sz="1400" b="0" i="0">
                <a:solidFill>
                  <a:srgbClr val="FFFFFF"/>
                </a:solidFill>
                <a:latin typeface="Calibri"/>
              </a:rPr>
              <a:t> precision stays between 0.270 and 0.400 across every band. The sets that are closed in practice are fixed by specifications, not by the language.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4</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SOLID proxies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LSP: override compared with its nearest ancestor</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26</a:t>
            </a:r>
          </a:p>
        </p:txBody>
      </p:sp>
      <p:sp>
        <p:nvSpPr>
          <p:cNvPr id="66" name="Rounded Rectangle 65"/>
          <p:cNvSpPr/>
          <p:nvPr/>
        </p:nvSpPr>
        <p:spPr>
          <a:xfrm>
            <a:off x="612648" y="914400"/>
            <a:ext cx="6172200" cy="18288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749808" y="1005840"/>
            <a:ext cx="5897880" cy="640080"/>
          </a:xfrm>
          <a:prstGeom prst="rect">
            <a:avLst/>
          </a:prstGeom>
          <a:noFill/>
        </p:spPr>
        <p:txBody>
          <a:bodyPr wrap="square" lIns="45720" tIns="27432" rIns="45720" bIns="27432" anchor="t">
            <a:spAutoFit/>
          </a:bodyPr>
          <a:lstStyle/>
          <a:p>
            <a:pPr algn="l">
              <a:spcAft>
                <a:spcPts val="0"/>
              </a:spcAft>
            </a:pPr>
            <a:r>
              <a:rPr sz="1350" b="0" i="0">
                <a:solidFill>
                  <a:srgbClr val="2B3440"/>
                </a:solidFill>
                <a:latin typeface="Calibri"/>
              </a:rPr>
              <a:t>For each pair (subclass method, nearest ancestor method with the same signature and a real body):</a:t>
            </a:r>
          </a:p>
        </p:txBody>
      </p:sp>
      <p:pic>
        <p:nvPicPr>
          <p:cNvPr id="68" name="Picture 67" descr="eq_07.png"/>
          <p:cNvPicPr>
            <a:picLocks noChangeAspect="1"/>
          </p:cNvPicPr>
          <p:nvPr/>
        </p:nvPicPr>
        <p:blipFill>
          <a:blip r:embed="rId2"/>
          <a:stretch>
            <a:fillRect/>
          </a:stretch>
        </p:blipFill>
        <p:spPr>
          <a:xfrm>
            <a:off x="886968" y="1920240"/>
            <a:ext cx="4879075" cy="457200"/>
          </a:xfrm>
          <a:prstGeom prst="rect">
            <a:avLst/>
          </a:prstGeom>
        </p:spPr>
      </p:pic>
      <p:sp>
        <p:nvSpPr>
          <p:cNvPr id="69" name="Rounded Rectangle 68"/>
          <p:cNvSpPr/>
          <p:nvPr/>
        </p:nvSpPr>
        <p:spPr>
          <a:xfrm>
            <a:off x="612648" y="2880360"/>
            <a:ext cx="6172200" cy="173736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749808" y="2971800"/>
            <a:ext cx="5897880" cy="1554480"/>
          </a:xfrm>
          <a:prstGeom prst="rect">
            <a:avLst/>
          </a:prstGeom>
          <a:noFill/>
        </p:spPr>
        <p:txBody>
          <a:bodyPr wrap="square" lIns="45720" tIns="27432" rIns="45720" bIns="27432" anchor="ctr">
            <a:spAutoFit/>
          </a:bodyPr>
          <a:lstStyle/>
          <a:p>
            <a:pPr algn="l">
              <a:spcAft>
                <a:spcPts val="0"/>
              </a:spcAft>
            </a:pPr>
            <a:r>
              <a:rPr sz="1350" b="1" i="0">
                <a:solidFill>
                  <a:srgbClr val="2B3440"/>
                </a:solidFill>
                <a:latin typeface="Calibri"/>
              </a:rPr>
              <a:t>Java</a:t>
            </a:r>
            <a:r>
              <a:rPr sz="1350" b="0" i="0">
                <a:solidFill>
                  <a:srgbClr val="2B3440"/>
                </a:solidFill>
                <a:latin typeface="Calibri"/>
              </a:rPr>
              <a:t> S = refused bequest, strengthened precondition, weakened postcondition. </a:t>
            </a:r>
            <a:r>
              <a:rPr sz="1350" b="1" i="0">
                <a:solidFill>
                  <a:srgbClr val="2B3440"/>
                </a:solidFill>
                <a:latin typeface="Calibri"/>
              </a:rPr>
              <a:t>Python</a:t>
            </a:r>
            <a:r>
              <a:rPr sz="1350" b="0" i="0">
                <a:solidFill>
                  <a:srgbClr val="2B3440"/>
                </a:solidFill>
                <a:latin typeface="Calibri"/>
              </a:rPr>
              <a:t> S adds what no compiler checks: parameter removed, required parameter added, parameter type narrowed, return type widened.</a:t>
            </a:r>
          </a:p>
        </p:txBody>
      </p:sp>
      <p:graphicFrame>
        <p:nvGraphicFramePr>
          <p:cNvPr id="71" name="Table 70"/>
          <p:cNvGraphicFramePr>
            <a:graphicFrameLocks noGrp="1"/>
          </p:cNvGraphicFramePr>
          <p:nvPr/>
        </p:nvGraphicFramePr>
        <p:xfrm>
          <a:off x="7040880" y="914400"/>
          <a:ext cx="4544568" cy="1828800"/>
        </p:xfrm>
        <a:graphic>
          <a:graphicData uri="http://schemas.openxmlformats.org/drawingml/2006/table">
            <a:tbl>
              <a:tblPr>
                <a:tableStyleId>{2D5ABB26-0587-4C30-8999-92F81FD0307C}</a:tableStyleId>
              </a:tblPr>
              <a:tblGrid>
                <a:gridCol w="3017520">
                  <a:extLst>
                    <a:ext uri="{9D8B030D-6E8A-4147-A177-3AD203B41FA5}">
                      <a16:colId xmlns:a16="http://schemas.microsoft.com/office/drawing/2014/main" val="20000"/>
                    </a:ext>
                  </a:extLst>
                </a:gridCol>
                <a:gridCol w="1527048">
                  <a:extLst>
                    <a:ext uri="{9D8B030D-6E8A-4147-A177-3AD203B41FA5}">
                      <a16:colId xmlns:a16="http://schemas.microsoft.com/office/drawing/2014/main" val="20001"/>
                    </a:ext>
                  </a:extLst>
                </a:gridCol>
              </a:tblGrid>
              <a:tr h="457200">
                <a:tc>
                  <a:txBody>
                    <a:bodyPr/>
                    <a:lstStyle/>
                    <a:p>
                      <a:pPr algn="l">
                        <a:spcAft>
                          <a:spcPts val="0"/>
                        </a:spcAft>
                      </a:pPr>
                      <a:r>
                        <a:rPr sz="1350" b="1" i="0">
                          <a:solidFill>
                            <a:srgbClr val="FFFFFF"/>
                          </a:solidFill>
                          <a:latin typeface="Calibri"/>
                        </a:rPr>
                        <a:t>Java signal</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350" b="1" i="0">
                          <a:solidFill>
                            <a:srgbClr val="FFFFFF"/>
                          </a:solidFill>
                          <a:latin typeface="Calibri"/>
                        </a:rPr>
                        <a:t>precision</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457200">
                <a:tc>
                  <a:txBody>
                    <a:bodyPr/>
                    <a:lstStyle/>
                    <a:p>
                      <a:pPr algn="l">
                        <a:spcAft>
                          <a:spcPts val="0"/>
                        </a:spcAft>
                      </a:pPr>
                      <a:r>
                        <a:rPr sz="1350" b="0" i="0">
                          <a:solidFill>
                            <a:srgbClr val="2B3440"/>
                          </a:solidFill>
                          <a:latin typeface="Calibri"/>
                        </a:rPr>
                        <a:t>refused bequest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31/31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457200">
                <a:tc>
                  <a:txBody>
                    <a:bodyPr/>
                    <a:lstStyle/>
                    <a:p>
                      <a:pPr algn="l">
                        <a:spcAft>
                          <a:spcPts val="0"/>
                        </a:spcAft>
                      </a:pPr>
                      <a:r>
                        <a:rPr sz="1350" b="0" i="0">
                          <a:solidFill>
                            <a:srgbClr val="2B3440"/>
                          </a:solidFill>
                          <a:latin typeface="Calibri"/>
                        </a:rPr>
                        <a:t>weakened postcondition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350" b="0" i="0">
                          <a:solidFill>
                            <a:srgbClr val="2B3440"/>
                          </a:solidFill>
                          <a:latin typeface="Calibri"/>
                        </a:rPr>
                        <a:t>6/36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457200">
                <a:tc>
                  <a:txBody>
                    <a:bodyPr/>
                    <a:lstStyle/>
                    <a:p>
                      <a:pPr algn="l">
                        <a:spcAft>
                          <a:spcPts val="0"/>
                        </a:spcAft>
                      </a:pPr>
                      <a:r>
                        <a:rPr sz="1350" b="0" i="0">
                          <a:solidFill>
                            <a:srgbClr val="2B3440"/>
                          </a:solidFill>
                          <a:latin typeface="Calibri"/>
                        </a:rPr>
                        <a:t>strengthened precondition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3/33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bl>
          </a:graphicData>
        </a:graphic>
      </p:graphicFrame>
      <p:sp>
        <p:nvSpPr>
          <p:cNvPr id="72" name="Rounded Rectangle 71"/>
          <p:cNvSpPr/>
          <p:nvPr/>
        </p:nvSpPr>
        <p:spPr>
          <a:xfrm>
            <a:off x="7040880" y="2926080"/>
            <a:ext cx="4544568" cy="1691640"/>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7178040" y="3017520"/>
            <a:ext cx="4270248" cy="845820"/>
          </a:xfrm>
          <a:prstGeom prst="rect">
            <a:avLst/>
          </a:prstGeom>
          <a:noFill/>
        </p:spPr>
        <p:txBody>
          <a:bodyPr wrap="square" lIns="45720" tIns="27432" rIns="45720" bIns="27432" anchor="b">
            <a:spAutoFit/>
          </a:bodyPr>
          <a:lstStyle/>
          <a:p>
            <a:pPr algn="ctr">
              <a:spcAft>
                <a:spcPts val="0"/>
              </a:spcAft>
            </a:pPr>
            <a:r>
              <a:rPr sz="3000" b="1" i="0">
                <a:solidFill>
                  <a:srgbClr val="46CEAE"/>
                </a:solidFill>
                <a:latin typeface="Arial"/>
              </a:rPr>
              <a:t>0.420 / 0.510</a:t>
            </a:r>
          </a:p>
        </p:txBody>
      </p:sp>
      <p:sp>
        <p:nvSpPr>
          <p:cNvPr id="74" name="TextBox 73"/>
          <p:cNvSpPr txBox="1"/>
          <p:nvPr/>
        </p:nvSpPr>
        <p:spPr>
          <a:xfrm>
            <a:off x="7223760" y="3856482"/>
            <a:ext cx="4178808" cy="710489"/>
          </a:xfrm>
          <a:prstGeom prst="rect">
            <a:avLst/>
          </a:prstGeom>
          <a:noFill/>
        </p:spPr>
        <p:txBody>
          <a:bodyPr wrap="square" lIns="45720" tIns="27432" rIns="45720" bIns="27432" anchor="t">
            <a:spAutoFit/>
          </a:bodyPr>
          <a:lstStyle/>
          <a:p>
            <a:pPr algn="ctr">
              <a:spcAft>
                <a:spcPts val="0"/>
              </a:spcAft>
            </a:pPr>
            <a:r>
              <a:rPr sz="1300" b="0" i="0">
                <a:solidFill>
                  <a:srgbClr val="D5DCE4"/>
                </a:solidFill>
                <a:latin typeface="Calibri"/>
              </a:rPr>
              <a:t>precision of the full signal set, Java / Python</a:t>
            </a:r>
          </a:p>
        </p:txBody>
      </p:sp>
      <p:sp>
        <p:nvSpPr>
          <p:cNvPr id="75" name="Rounded Rectangle 74"/>
          <p:cNvSpPr/>
          <p:nvPr/>
        </p:nvSpPr>
        <p:spPr>
          <a:xfrm>
            <a:off x="612648" y="4892040"/>
            <a:ext cx="10972800" cy="91440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Hexagon 75"/>
          <p:cNvSpPr/>
          <p:nvPr/>
        </p:nvSpPr>
        <p:spPr>
          <a:xfrm>
            <a:off x="813816" y="521208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1252728" y="4892040"/>
            <a:ext cx="10149840" cy="91440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The shipped Java flag keeps refused bequest only:</a:t>
            </a:r>
            <a:r>
              <a:rPr sz="1400" b="0" i="0">
                <a:solidFill>
                  <a:srgbClr val="FFFFFF"/>
                </a:solidFill>
                <a:latin typeface="Calibri"/>
              </a:rPr>
              <a:t> 64 of 64 across two samples.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4</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SOLID proxies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ISP: contract width and implementer stubs</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27</a:t>
            </a:r>
          </a:p>
        </p:txBody>
      </p:sp>
      <p:sp>
        <p:nvSpPr>
          <p:cNvPr id="66" name="Rounded Rectangle 65"/>
          <p:cNvSpPr/>
          <p:nvPr/>
        </p:nvSpPr>
        <p:spPr>
          <a:xfrm>
            <a:off x="612648" y="914400"/>
            <a:ext cx="6172200" cy="21031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749808" y="1005840"/>
            <a:ext cx="5897880" cy="914400"/>
          </a:xfrm>
          <a:prstGeom prst="rect">
            <a:avLst/>
          </a:prstGeom>
          <a:noFill/>
        </p:spPr>
        <p:txBody>
          <a:bodyPr wrap="square" lIns="45720" tIns="27432" rIns="45720" bIns="27432" anchor="t">
            <a:spAutoFit/>
          </a:bodyPr>
          <a:lstStyle/>
          <a:p>
            <a:pPr algn="l">
              <a:spcAft>
                <a:spcPts val="0"/>
              </a:spcAft>
            </a:pPr>
            <a:r>
              <a:rPr sz="1350" b="0" i="0">
                <a:solidFill>
                  <a:srgbClr val="2B3440"/>
                </a:solidFill>
                <a:latin typeface="Calibri"/>
              </a:rPr>
              <a:t>A contract is an interface or abstract class with at least one abstract member and at least one implementer inside the repository. Width w = abstract members; for each implementer,</a:t>
            </a:r>
          </a:p>
        </p:txBody>
      </p:sp>
      <p:pic>
        <p:nvPicPr>
          <p:cNvPr id="68" name="Picture 67" descr="eq_08.png"/>
          <p:cNvPicPr>
            <a:picLocks noChangeAspect="1"/>
          </p:cNvPicPr>
          <p:nvPr/>
        </p:nvPicPr>
        <p:blipFill>
          <a:blip r:embed="rId2"/>
          <a:stretch>
            <a:fillRect/>
          </a:stretch>
        </p:blipFill>
        <p:spPr>
          <a:xfrm>
            <a:off x="886968" y="2240280"/>
            <a:ext cx="2753958" cy="640080"/>
          </a:xfrm>
          <a:prstGeom prst="rect">
            <a:avLst/>
          </a:prstGeom>
        </p:spPr>
      </p:pic>
      <p:sp>
        <p:nvSpPr>
          <p:cNvPr id="69" name="Rounded Rectangle 68"/>
          <p:cNvSpPr/>
          <p:nvPr/>
        </p:nvSpPr>
        <p:spPr>
          <a:xfrm>
            <a:off x="612648" y="3154680"/>
            <a:ext cx="6172200" cy="21031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749808" y="3200400"/>
            <a:ext cx="5897880" cy="2011680"/>
          </a:xfrm>
          <a:prstGeom prst="rect">
            <a:avLst/>
          </a:prstGeom>
          <a:noFill/>
        </p:spPr>
        <p:txBody>
          <a:bodyPr wrap="square" lIns="45720" tIns="27432" rIns="45720" bIns="27432" anchor="ctr">
            <a:spAutoFit/>
          </a:bodyPr>
          <a:lstStyle/>
          <a:p>
            <a:pPr algn="l">
              <a:spcAft>
                <a:spcPts val="600"/>
              </a:spcAft>
            </a:pPr>
            <a:r>
              <a:rPr sz="1350" b="1" i="0">
                <a:solidFill>
                  <a:srgbClr val="2B3440"/>
                </a:solidFill>
                <a:latin typeface="Calibri"/>
              </a:rPr>
              <a:t>Java:</a:t>
            </a:r>
            <a:r>
              <a:rPr sz="1350" b="0" i="0">
                <a:solidFill>
                  <a:srgbClr val="2B3440"/>
                </a:solidFill>
                <a:latin typeface="Calibri"/>
              </a:rPr>
              <a:t> contract fat if w ≥ 13; forced stub if stubs ≥ 2 and s ≥ 0.5. Flag if the request creates a fat contract, widens one, or leaves a forced stub.</a:t>
            </a:r>
          </a:p>
          <a:p>
            <a:pPr algn="l">
              <a:spcAft>
                <a:spcPts val="0"/>
              </a:spcAft>
            </a:pPr>
            <a:r>
              <a:rPr sz="1350" b="1" i="0">
                <a:solidFill>
                  <a:srgbClr val="2B3440"/>
                </a:solidFill>
                <a:latin typeface="Calibri"/>
              </a:rPr>
              <a:t>Python:</a:t>
            </a:r>
            <a:r>
              <a:rPr sz="1350" b="0" i="0">
                <a:solidFill>
                  <a:srgbClr val="2B3440"/>
                </a:solidFill>
                <a:latin typeface="Calibri"/>
              </a:rPr>
              <a:t> flag if at least two of: w &gt; 7; mean implementer coverage &lt; 0.75 over ≥ 2 implementers; an implementer with forced stubs.</a:t>
            </a:r>
          </a:p>
        </p:txBody>
      </p:sp>
      <p:graphicFrame>
        <p:nvGraphicFramePr>
          <p:cNvPr id="71" name="Table 70"/>
          <p:cNvGraphicFramePr>
            <a:graphicFrameLocks noGrp="1"/>
          </p:cNvGraphicFramePr>
          <p:nvPr/>
        </p:nvGraphicFramePr>
        <p:xfrm>
          <a:off x="7040880" y="914400"/>
          <a:ext cx="4544568" cy="2359152"/>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35608">
                  <a:extLst>
                    <a:ext uri="{9D8B030D-6E8A-4147-A177-3AD203B41FA5}">
                      <a16:colId xmlns:a16="http://schemas.microsoft.com/office/drawing/2014/main" val="20002"/>
                    </a:ext>
                  </a:extLst>
                </a:gridCol>
              </a:tblGrid>
              <a:tr h="393192">
                <a:tc>
                  <a:txBody>
                    <a:bodyPr/>
                    <a:lstStyle/>
                    <a:p>
                      <a:pPr algn="l">
                        <a:spcAft>
                          <a:spcPts val="0"/>
                        </a:spcAft>
                      </a:pPr>
                      <a:r>
                        <a:rPr sz="1350" b="1" i="0">
                          <a:solidFill>
                            <a:srgbClr val="FFFFFF"/>
                          </a:solidFill>
                          <a:latin typeface="Calibri"/>
                        </a:rPr>
                        <a:t>Members</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350" b="1" i="0">
                          <a:solidFill>
                            <a:srgbClr val="FFFFFF"/>
                          </a:solidFill>
                          <a:latin typeface="Calibri"/>
                        </a:rPr>
                        <a:t>judged</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350" b="1" i="0">
                          <a:solidFill>
                            <a:srgbClr val="FFFFFF"/>
                          </a:solidFill>
                          <a:latin typeface="Calibri"/>
                        </a:rPr>
                        <a:t>precision</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393192">
                <a:tc>
                  <a:txBody>
                    <a:bodyPr/>
                    <a:lstStyle/>
                    <a:p>
                      <a:pPr algn="l">
                        <a:spcAft>
                          <a:spcPts val="0"/>
                        </a:spcAft>
                      </a:pPr>
                      <a:r>
                        <a:rPr sz="1350" b="0" i="0">
                          <a:solidFill>
                            <a:srgbClr val="2B3440"/>
                          </a:solidFill>
                          <a:latin typeface="Calibri"/>
                        </a:rPr>
                        <a:t>0–17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43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0.116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393192">
                <a:tc>
                  <a:txBody>
                    <a:bodyPr/>
                    <a:lstStyle/>
                    <a:p>
                      <a:pPr algn="l">
                        <a:spcAft>
                          <a:spcPts val="0"/>
                        </a:spcAft>
                      </a:pPr>
                      <a:r>
                        <a:rPr sz="1350" b="0" i="0">
                          <a:solidFill>
                            <a:srgbClr val="2B3440"/>
                          </a:solidFill>
                          <a:latin typeface="Calibri"/>
                        </a:rPr>
                        <a:t>18–29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350" b="0" i="0">
                          <a:solidFill>
                            <a:srgbClr val="2B3440"/>
                          </a:solidFill>
                          <a:latin typeface="Calibri"/>
                        </a:rPr>
                        <a:t>28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350" b="0" i="0">
                          <a:solidFill>
                            <a:srgbClr val="2B3440"/>
                          </a:solidFill>
                          <a:latin typeface="Calibri"/>
                        </a:rPr>
                        <a:t>0.071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393192">
                <a:tc>
                  <a:txBody>
                    <a:bodyPr/>
                    <a:lstStyle/>
                    <a:p>
                      <a:pPr algn="l">
                        <a:spcAft>
                          <a:spcPts val="0"/>
                        </a:spcAft>
                      </a:pPr>
                      <a:r>
                        <a:rPr sz="1350" b="0" i="0">
                          <a:solidFill>
                            <a:srgbClr val="2B3440"/>
                          </a:solidFill>
                          <a:latin typeface="Calibri"/>
                        </a:rPr>
                        <a:t>30–49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14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0.786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393192">
                <a:tc>
                  <a:txBody>
                    <a:bodyPr/>
                    <a:lstStyle/>
                    <a:p>
                      <a:pPr algn="l">
                        <a:spcAft>
                          <a:spcPts val="0"/>
                        </a:spcAft>
                      </a:pPr>
                      <a:r>
                        <a:rPr sz="1350" b="0" i="0">
                          <a:solidFill>
                            <a:srgbClr val="2B3440"/>
                          </a:solidFill>
                          <a:latin typeface="Calibri"/>
                        </a:rPr>
                        <a:t>50–99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350" b="0" i="0">
                          <a:solidFill>
                            <a:srgbClr val="2B3440"/>
                          </a:solidFill>
                          <a:latin typeface="Calibri"/>
                        </a:rPr>
                        <a:t>10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350" b="0" i="0">
                          <a:solidFill>
                            <a:srgbClr val="2B3440"/>
                          </a:solidFill>
                          <a:latin typeface="Calibri"/>
                        </a:rPr>
                        <a:t>0.900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r h="393192">
                <a:tc>
                  <a:txBody>
                    <a:bodyPr/>
                    <a:lstStyle/>
                    <a:p>
                      <a:pPr algn="l">
                        <a:spcAft>
                          <a:spcPts val="0"/>
                        </a:spcAft>
                      </a:pPr>
                      <a:r>
                        <a:rPr sz="1350" b="0" i="0">
                          <a:solidFill>
                            <a:srgbClr val="2B3440"/>
                          </a:solidFill>
                          <a:latin typeface="Calibri"/>
                        </a:rPr>
                        <a:t>≥100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350" b="0" i="0">
                          <a:solidFill>
                            <a:srgbClr val="2B3440"/>
                          </a:solidFill>
                          <a:latin typeface="Calibri"/>
                        </a:rPr>
                        <a:t>1.000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5"/>
                  </a:ext>
                </a:extLst>
              </a:tr>
            </a:tbl>
          </a:graphicData>
        </a:graphic>
      </p:graphicFrame>
      <p:sp>
        <p:nvSpPr>
          <p:cNvPr id="72" name="Rounded Rectangle 71"/>
          <p:cNvSpPr/>
          <p:nvPr/>
        </p:nvSpPr>
        <p:spPr>
          <a:xfrm>
            <a:off x="7040880" y="3456432"/>
            <a:ext cx="4544568" cy="1801368"/>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7178040" y="3547872"/>
            <a:ext cx="4270248" cy="900684"/>
          </a:xfrm>
          <a:prstGeom prst="rect">
            <a:avLst/>
          </a:prstGeom>
          <a:noFill/>
        </p:spPr>
        <p:txBody>
          <a:bodyPr wrap="square" lIns="45720" tIns="27432" rIns="45720" bIns="27432" anchor="b">
            <a:spAutoFit/>
          </a:bodyPr>
          <a:lstStyle/>
          <a:p>
            <a:pPr algn="ctr">
              <a:spcAft>
                <a:spcPts val="0"/>
              </a:spcAft>
            </a:pPr>
            <a:r>
              <a:rPr sz="3000" b="1" i="0">
                <a:solidFill>
                  <a:srgbClr val="46CEAE"/>
                </a:solidFill>
                <a:latin typeface="Arial"/>
              </a:rPr>
              <a:t>0.335 / 0.425</a:t>
            </a:r>
          </a:p>
        </p:txBody>
      </p:sp>
      <p:sp>
        <p:nvSpPr>
          <p:cNvPr id="74" name="TextBox 73"/>
          <p:cNvSpPr txBox="1"/>
          <p:nvPr/>
        </p:nvSpPr>
        <p:spPr>
          <a:xfrm>
            <a:off x="7223760" y="4447184"/>
            <a:ext cx="4178808" cy="756575"/>
          </a:xfrm>
          <a:prstGeom prst="rect">
            <a:avLst/>
          </a:prstGeom>
          <a:noFill/>
        </p:spPr>
        <p:txBody>
          <a:bodyPr wrap="square" lIns="45720" tIns="27432" rIns="45720" bIns="27432" anchor="t">
            <a:spAutoFit/>
          </a:bodyPr>
          <a:lstStyle/>
          <a:p>
            <a:pPr algn="ctr">
              <a:spcAft>
                <a:spcPts val="0"/>
              </a:spcAft>
            </a:pPr>
            <a:r>
              <a:rPr sz="1300" b="0" i="0">
                <a:solidFill>
                  <a:srgbClr val="D5DCE4"/>
                </a:solidFill>
                <a:latin typeface="Calibri"/>
              </a:rPr>
              <a:t>precision, Java / Python</a:t>
            </a:r>
          </a:p>
        </p:txBody>
      </p:sp>
      <p:sp>
        <p:nvSpPr>
          <p:cNvPr id="75" name="Rounded Rectangle 74"/>
          <p:cNvSpPr/>
          <p:nvPr/>
        </p:nvSpPr>
        <p:spPr>
          <a:xfrm>
            <a:off x="612648" y="5440680"/>
            <a:ext cx="10972800" cy="77724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Hexagon 75"/>
          <p:cNvSpPr/>
          <p:nvPr/>
        </p:nvSpPr>
        <p:spPr>
          <a:xfrm>
            <a:off x="813816" y="569214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1252728" y="5440680"/>
            <a:ext cx="10149840" cy="777240"/>
          </a:xfrm>
          <a:prstGeom prst="rect">
            <a:avLst/>
          </a:prstGeom>
          <a:noFill/>
        </p:spPr>
        <p:txBody>
          <a:bodyPr wrap="square" lIns="45720" rIns="45720" anchor="ctr">
            <a:spAutoFit/>
          </a:bodyPr>
          <a:lstStyle/>
          <a:p>
            <a:pPr algn="l">
              <a:spcAft>
                <a:spcPts val="0"/>
              </a:spcAft>
            </a:pPr>
            <a:r>
              <a:rPr sz="1400" b="0" i="0">
                <a:solidFill>
                  <a:srgbClr val="FFFFFF"/>
                </a:solidFill>
                <a:latin typeface="Calibri"/>
              </a:rPr>
              <a:t>Width does separate violations here, which is why 13 was too low a bar.</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4</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SOLID proxies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DIP: new cycles in the import graph</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28</a:t>
            </a:r>
          </a:p>
        </p:txBody>
      </p:sp>
      <p:sp>
        <p:nvSpPr>
          <p:cNvPr id="66" name="Rounded Rectangle 65"/>
          <p:cNvSpPr/>
          <p:nvPr/>
        </p:nvSpPr>
        <p:spPr>
          <a:xfrm>
            <a:off x="612648" y="914400"/>
            <a:ext cx="6172200" cy="25146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749808" y="1005840"/>
            <a:ext cx="5897880" cy="914400"/>
          </a:xfrm>
          <a:prstGeom prst="rect">
            <a:avLst/>
          </a:prstGeom>
          <a:noFill/>
        </p:spPr>
        <p:txBody>
          <a:bodyPr wrap="square" lIns="45720" tIns="27432" rIns="45720" bIns="27432" anchor="t">
            <a:spAutoFit/>
          </a:bodyPr>
          <a:lstStyle/>
          <a:p>
            <a:pPr algn="l">
              <a:spcAft>
                <a:spcPts val="0"/>
              </a:spcAft>
            </a:pPr>
            <a:r>
              <a:rPr sz="1350" b="0" i="0">
                <a:solidFill>
                  <a:srgbClr val="2B3440"/>
                </a:solidFill>
                <a:latin typeface="Calibri"/>
              </a:rPr>
              <a:t>Build the internal import graph before and after the change and take strongly connected components with Tarjan’s algorithm. With P(G) the set of module pairs inside one component:</a:t>
            </a:r>
          </a:p>
        </p:txBody>
      </p:sp>
      <p:pic>
        <p:nvPicPr>
          <p:cNvPr id="68" name="Picture 67" descr="eq_09.png"/>
          <p:cNvPicPr>
            <a:picLocks noChangeAspect="1"/>
          </p:cNvPicPr>
          <p:nvPr/>
        </p:nvPicPr>
        <p:blipFill>
          <a:blip r:embed="rId2"/>
          <a:stretch>
            <a:fillRect/>
          </a:stretch>
        </p:blipFill>
        <p:spPr>
          <a:xfrm>
            <a:off x="886968" y="2103120"/>
            <a:ext cx="3725839" cy="457200"/>
          </a:xfrm>
          <a:prstGeom prst="rect">
            <a:avLst/>
          </a:prstGeom>
        </p:spPr>
      </p:pic>
      <p:pic>
        <p:nvPicPr>
          <p:cNvPr id="69" name="Picture 68" descr="eq_10.png"/>
          <p:cNvPicPr>
            <a:picLocks noChangeAspect="1"/>
          </p:cNvPicPr>
          <p:nvPr/>
        </p:nvPicPr>
        <p:blipFill>
          <a:blip r:embed="rId3"/>
          <a:stretch>
            <a:fillRect/>
          </a:stretch>
        </p:blipFill>
        <p:spPr>
          <a:xfrm>
            <a:off x="886968" y="2697480"/>
            <a:ext cx="5356746" cy="457200"/>
          </a:xfrm>
          <a:prstGeom prst="rect">
            <a:avLst/>
          </a:prstGeom>
        </p:spPr>
      </p:pic>
      <p:sp>
        <p:nvSpPr>
          <p:cNvPr id="70" name="Rounded Rectangle 69"/>
          <p:cNvSpPr/>
          <p:nvPr/>
        </p:nvSpPr>
        <p:spPr>
          <a:xfrm>
            <a:off x="612648" y="3566160"/>
            <a:ext cx="6172200" cy="128016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749808" y="3611880"/>
            <a:ext cx="5897880" cy="1188720"/>
          </a:xfrm>
          <a:prstGeom prst="rect">
            <a:avLst/>
          </a:prstGeom>
          <a:noFill/>
        </p:spPr>
        <p:txBody>
          <a:bodyPr wrap="square" lIns="45720" tIns="27432" rIns="45720" bIns="27432" anchor="ctr">
            <a:spAutoFit/>
          </a:bodyPr>
          <a:lstStyle/>
          <a:p>
            <a:pPr algn="l">
              <a:spcAft>
                <a:spcPts val="0"/>
              </a:spcAft>
            </a:pPr>
            <a:r>
              <a:rPr sz="1400" b="0" i="0">
                <a:solidFill>
                  <a:srgbClr val="2B3440"/>
                </a:solidFill>
                <a:latin typeface="Calibri"/>
              </a:rPr>
              <a:t>Also computed, as description only: I = C</a:t>
            </a:r>
            <a:r>
              <a:rPr sz="1400" b="0" i="0" baseline="-25000">
                <a:solidFill>
                  <a:srgbClr val="2B3440"/>
                </a:solidFill>
                <a:latin typeface="Calibri"/>
              </a:rPr>
              <a:t>e</a:t>
            </a:r>
            <a:r>
              <a:rPr sz="1400" b="0" i="0">
                <a:solidFill>
                  <a:srgbClr val="2B3440"/>
                </a:solidFill>
                <a:latin typeface="Calibri"/>
              </a:rPr>
              <a:t>/(C</a:t>
            </a:r>
            <a:r>
              <a:rPr sz="1400" b="0" i="0" baseline="-25000">
                <a:solidFill>
                  <a:srgbClr val="2B3440"/>
                </a:solidFill>
                <a:latin typeface="Calibri"/>
              </a:rPr>
              <a:t>a</a:t>
            </a:r>
            <a:r>
              <a:rPr sz="1400" b="0" i="0">
                <a:solidFill>
                  <a:srgbClr val="2B3440"/>
                </a:solidFill>
                <a:latin typeface="Calibri"/>
              </a:rPr>
              <a:t> + C</a:t>
            </a:r>
            <a:r>
              <a:rPr sz="1400" b="0" i="0" baseline="-25000">
                <a:solidFill>
                  <a:srgbClr val="2B3440"/>
                </a:solidFill>
                <a:latin typeface="Calibri"/>
              </a:rPr>
              <a:t>e</a:t>
            </a:r>
            <a:r>
              <a:rPr sz="1400" b="0" i="0">
                <a:solidFill>
                  <a:srgbClr val="2B3440"/>
                </a:solidFill>
                <a:latin typeface="Calibri"/>
              </a:rPr>
              <a:t>), A = N</a:t>
            </a:r>
            <a:r>
              <a:rPr sz="1400" b="0" i="0" baseline="-25000">
                <a:solidFill>
                  <a:srgbClr val="2B3440"/>
                </a:solidFill>
                <a:latin typeface="Calibri"/>
              </a:rPr>
              <a:t>a</a:t>
            </a:r>
            <a:r>
              <a:rPr sz="1400" b="0" i="0">
                <a:solidFill>
                  <a:srgbClr val="2B3440"/>
                </a:solidFill>
                <a:latin typeface="Calibri"/>
              </a:rPr>
              <a:t>/N</a:t>
            </a:r>
            <a:r>
              <a:rPr sz="1400" b="0" i="0" baseline="-25000">
                <a:solidFill>
                  <a:srgbClr val="2B3440"/>
                </a:solidFill>
                <a:latin typeface="Calibri"/>
              </a:rPr>
              <a:t>c</a:t>
            </a:r>
            <a:r>
              <a:rPr sz="1400" b="0" i="0">
                <a:solidFill>
                  <a:srgbClr val="2B3440"/>
                </a:solidFill>
                <a:latin typeface="Calibri"/>
              </a:rPr>
              <a:t>, D = |A + I − 1|.</a:t>
            </a:r>
          </a:p>
        </p:txBody>
      </p:sp>
      <p:sp>
        <p:nvSpPr>
          <p:cNvPr id="72" name="Rounded Rectangle 71"/>
          <p:cNvSpPr/>
          <p:nvPr/>
        </p:nvSpPr>
        <p:spPr>
          <a:xfrm>
            <a:off x="7040880" y="914400"/>
            <a:ext cx="4544568" cy="1600200"/>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7178040" y="1005840"/>
            <a:ext cx="4270248" cy="800100"/>
          </a:xfrm>
          <a:prstGeom prst="rect">
            <a:avLst/>
          </a:prstGeom>
          <a:noFill/>
        </p:spPr>
        <p:txBody>
          <a:bodyPr wrap="square" lIns="45720" tIns="27432" rIns="45720" bIns="27432" anchor="b">
            <a:spAutoFit/>
          </a:bodyPr>
          <a:lstStyle/>
          <a:p>
            <a:pPr algn="ctr">
              <a:spcAft>
                <a:spcPts val="0"/>
              </a:spcAft>
            </a:pPr>
            <a:r>
              <a:rPr sz="3200" b="1" i="0">
                <a:solidFill>
                  <a:srgbClr val="46CEAE"/>
                </a:solidFill>
                <a:latin typeface="Arial"/>
              </a:rPr>
              <a:t>0.892 / 1.000</a:t>
            </a:r>
          </a:p>
        </p:txBody>
      </p:sp>
      <p:sp>
        <p:nvSpPr>
          <p:cNvPr id="74" name="TextBox 73"/>
          <p:cNvSpPr txBox="1"/>
          <p:nvPr/>
        </p:nvSpPr>
        <p:spPr>
          <a:xfrm>
            <a:off x="7223760" y="1794510"/>
            <a:ext cx="4178808" cy="672084"/>
          </a:xfrm>
          <a:prstGeom prst="rect">
            <a:avLst/>
          </a:prstGeom>
          <a:noFill/>
        </p:spPr>
        <p:txBody>
          <a:bodyPr wrap="square" lIns="45720" tIns="27432" rIns="45720" bIns="27432" anchor="t">
            <a:spAutoFit/>
          </a:bodyPr>
          <a:lstStyle/>
          <a:p>
            <a:pPr algn="ctr">
              <a:spcAft>
                <a:spcPts val="0"/>
              </a:spcAft>
            </a:pPr>
            <a:r>
              <a:rPr sz="1300" b="0" i="0">
                <a:solidFill>
                  <a:srgbClr val="D5DCE4"/>
                </a:solidFill>
                <a:latin typeface="Calibri"/>
              </a:rPr>
              <a:t>precision, Java / Python</a:t>
            </a:r>
          </a:p>
        </p:txBody>
      </p:sp>
      <p:sp>
        <p:nvSpPr>
          <p:cNvPr id="75" name="Rounded Rectangle 74"/>
          <p:cNvSpPr/>
          <p:nvPr/>
        </p:nvSpPr>
        <p:spPr>
          <a:xfrm>
            <a:off x="7040880" y="2697480"/>
            <a:ext cx="4544568" cy="214884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7178040" y="2697480"/>
            <a:ext cx="4270248" cy="2148840"/>
          </a:xfrm>
          <a:prstGeom prst="rect">
            <a:avLst/>
          </a:prstGeom>
          <a:noFill/>
        </p:spPr>
        <p:txBody>
          <a:bodyPr wrap="square" lIns="45720" tIns="54864" rIns="45720" bIns="54864" anchor="ctr">
            <a:spAutoFit/>
          </a:bodyPr>
          <a:lstStyle/>
          <a:p>
            <a:pPr algn="l">
              <a:spcAft>
                <a:spcPts val="0"/>
              </a:spcAft>
            </a:pPr>
            <a:r>
              <a:rPr sz="1400" b="1" i="0">
                <a:solidFill>
                  <a:srgbClr val="2B3440"/>
                </a:solidFill>
                <a:latin typeface="Calibri"/>
              </a:rPr>
              <a:t>Java precision is exact:</a:t>
            </a:r>
            <a:r>
              <a:rPr sz="1400" b="0" i="0">
                <a:solidFill>
                  <a:srgbClr val="2B3440"/>
                </a:solidFill>
                <a:latin typeface="Calibri"/>
              </a:rPr>
              <a:t> all 195 flagged pull requests were judged. In Python, 100 of 173 were judged and all were correct.</a:t>
            </a:r>
          </a:p>
        </p:txBody>
      </p:sp>
      <p:sp>
        <p:nvSpPr>
          <p:cNvPr id="77" name="Rounded Rectangle 76"/>
          <p:cNvSpPr/>
          <p:nvPr/>
        </p:nvSpPr>
        <p:spPr>
          <a:xfrm>
            <a:off x="612648" y="5120640"/>
            <a:ext cx="10972800" cy="100584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Hexagon 77"/>
          <p:cNvSpPr/>
          <p:nvPr/>
        </p:nvSpPr>
        <p:spPr>
          <a:xfrm>
            <a:off x="813816" y="548640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1252728" y="5120640"/>
            <a:ext cx="10149840" cy="1005840"/>
          </a:xfrm>
          <a:prstGeom prst="rect">
            <a:avLst/>
          </a:prstGeom>
          <a:noFill/>
        </p:spPr>
        <p:txBody>
          <a:bodyPr wrap="square" lIns="45720" rIns="45720" anchor="ctr">
            <a:spAutoFit/>
          </a:bodyPr>
          <a:lstStyle/>
          <a:p>
            <a:pPr algn="l">
              <a:spcAft>
                <a:spcPts val="0"/>
              </a:spcAft>
            </a:pPr>
            <a:r>
              <a:rPr sz="1400" b="0" i="0">
                <a:solidFill>
                  <a:srgbClr val="FFFFFF"/>
                </a:solidFill>
                <a:latin typeface="Calibri"/>
              </a:rPr>
              <a:t>The distance D was tested as a change signal and confirmed </a:t>
            </a:r>
            <a:r>
              <a:rPr sz="1400" b="1" i="0">
                <a:solidFill>
                  <a:srgbClr val="FFFFFF"/>
                </a:solidFill>
                <a:latin typeface="Calibri"/>
              </a:rPr>
              <a:t>none of 17 flags</a:t>
            </a:r>
            <a:r>
              <a:rPr sz="1400" b="0" i="0">
                <a:solidFill>
                  <a:srgbClr val="FFFFFF"/>
                </a:solidFill>
                <a:latin typeface="Calibri"/>
              </a:rPr>
              <a:t>, so it describes packages and never raises a flag.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4</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SOLID proxies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Calibration: same rules, two languages</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29</a:t>
            </a:r>
          </a:p>
        </p:txBody>
      </p:sp>
      <p:graphicFrame>
        <p:nvGraphicFramePr>
          <p:cNvPr id="66" name="Table 65"/>
          <p:cNvGraphicFramePr>
            <a:graphicFrameLocks noGrp="1"/>
          </p:cNvGraphicFramePr>
          <p:nvPr/>
        </p:nvGraphicFramePr>
        <p:xfrm>
          <a:off x="612648" y="914400"/>
          <a:ext cx="10972800" cy="3657600"/>
        </p:xfrm>
        <a:graphic>
          <a:graphicData uri="http://schemas.openxmlformats.org/drawingml/2006/table">
            <a:tbl>
              <a:tblPr>
                <a:tableStyleId>{2D5ABB26-0587-4C30-8999-92F81FD0307C}</a:tableStyleId>
              </a:tblPr>
              <a:tblGrid>
                <a:gridCol w="128016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57200">
                <a:tc>
                  <a:txBody>
                    <a:bodyPr/>
                    <a:lstStyle/>
                    <a:p>
                      <a:pPr algn="l">
                        <a:spcAft>
                          <a:spcPts val="0"/>
                        </a:spcAft>
                      </a:pPr>
                      <a:r>
                        <a:rPr sz="1450" b="1" i="0">
                          <a:solidFill>
                            <a:srgbClr val="FFFFFF"/>
                          </a:solidFill>
                          <a:latin typeface="Calibri"/>
                        </a:rPr>
                        <a:t>Principle</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450" b="1" i="0">
                          <a:solidFill>
                            <a:srgbClr val="FFFFFF"/>
                          </a:solidFill>
                          <a:latin typeface="Calibri"/>
                        </a:rPr>
                        <a:t>Java</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450" b="1" i="0">
                          <a:solidFill>
                            <a:srgbClr val="FFFFFF"/>
                          </a:solidFill>
                          <a:latin typeface="Calibri"/>
                        </a:rPr>
                        <a:t>Python</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640080">
                <a:tc>
                  <a:txBody>
                    <a:bodyPr/>
                    <a:lstStyle/>
                    <a:p>
                      <a:pPr algn="l">
                        <a:spcAft>
                          <a:spcPts val="0"/>
                        </a:spcAft>
                      </a:pPr>
                      <a:r>
                        <a:rPr sz="1450" b="1" i="0">
                          <a:solidFill>
                            <a:srgbClr val="202A36"/>
                          </a:solidFill>
                          <a:latin typeface="Calibri"/>
                        </a:rPr>
                        <a:t>SRP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50" b="0" i="0">
                          <a:solidFill>
                            <a:srgbClr val="2B3440"/>
                          </a:solidFill>
                          <a:latin typeface="Calibri"/>
                        </a:rPr>
                        <a:t>six metrics, ≥2 hits; 362 / 45 / 20 / 11 / 5 / 0.86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50" b="0" i="0">
                          <a:solidFill>
                            <a:srgbClr val="2B3440"/>
                          </a:solidFill>
                          <a:latin typeface="Calibri"/>
                        </a:rPr>
                        <a:t>same rubric; 250 / 36 / 10 / 12 / 7 / 0.8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640080">
                <a:tc>
                  <a:txBody>
                    <a:bodyPr/>
                    <a:lstStyle/>
                    <a:p>
                      <a:pPr algn="l">
                        <a:spcAft>
                          <a:spcPts val="0"/>
                        </a:spcAft>
                      </a:pPr>
                      <a:r>
                        <a:rPr sz="1450" b="1" i="0">
                          <a:solidFill>
                            <a:srgbClr val="202A36"/>
                          </a:solidFill>
                          <a:latin typeface="Calibri"/>
                        </a:rPr>
                        <a:t>OCP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50" b="0" i="0">
                          <a:solidFill>
                            <a:srgbClr val="2B3440"/>
                          </a:solidFill>
                          <a:latin typeface="Calibri"/>
                        </a:rPr>
                        <a:t>type ≥3, tag ≥8 branches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50" b="0" i="0">
                          <a:solidFill>
                            <a:srgbClr val="2B3440"/>
                          </a:solidFill>
                          <a:latin typeface="Calibri"/>
                        </a:rPr>
                        <a:t>type ≥3, value ≥5 branches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640080">
                <a:tc>
                  <a:txBody>
                    <a:bodyPr/>
                    <a:lstStyle/>
                    <a:p>
                      <a:pPr algn="l">
                        <a:spcAft>
                          <a:spcPts val="0"/>
                        </a:spcAft>
                      </a:pPr>
                      <a:r>
                        <a:rPr sz="1450" b="1" i="0">
                          <a:solidFill>
                            <a:srgbClr val="202A36"/>
                          </a:solidFill>
                          <a:latin typeface="Calibri"/>
                        </a:rPr>
                        <a:t>LSP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50" b="0" i="0">
                          <a:solidFill>
                            <a:srgbClr val="2B3440"/>
                          </a:solidFill>
                          <a:latin typeface="Calibri"/>
                        </a:rPr>
                        <a:t>three behavioural signals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50" b="0" i="0">
                          <a:solidFill>
                            <a:srgbClr val="2B3440"/>
                          </a:solidFill>
                          <a:latin typeface="Calibri"/>
                        </a:rPr>
                        <a:t>five signals, adding what a compiler would reject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640080">
                <a:tc>
                  <a:txBody>
                    <a:bodyPr/>
                    <a:lstStyle/>
                    <a:p>
                      <a:pPr algn="l">
                        <a:spcAft>
                          <a:spcPts val="0"/>
                        </a:spcAft>
                      </a:pPr>
                      <a:r>
                        <a:rPr sz="1450" b="1" i="0">
                          <a:solidFill>
                            <a:srgbClr val="202A36"/>
                          </a:solidFill>
                          <a:latin typeface="Calibri"/>
                        </a:rPr>
                        <a:t>ISP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50" b="0" i="0">
                          <a:solidFill>
                            <a:srgbClr val="2B3440"/>
                          </a:solidFill>
                          <a:latin typeface="Calibri"/>
                        </a:rPr>
                        <a:t>contract ≥13 members, or a forced stub</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50" b="0" i="0">
                          <a:solidFill>
                            <a:srgbClr val="2B3440"/>
                          </a:solidFill>
                          <a:latin typeface="Calibri"/>
                        </a:rPr>
                        <a:t>at least two of three signals, width alone never flags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r h="640080">
                <a:tc>
                  <a:txBody>
                    <a:bodyPr/>
                    <a:lstStyle/>
                    <a:p>
                      <a:pPr algn="l">
                        <a:spcAft>
                          <a:spcPts val="0"/>
                        </a:spcAft>
                      </a:pPr>
                      <a:r>
                        <a:rPr sz="1450" b="1" i="0">
                          <a:solidFill>
                            <a:srgbClr val="202A36"/>
                          </a:solidFill>
                          <a:latin typeface="Calibri"/>
                        </a:rPr>
                        <a:t>DIP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50" b="0" i="0">
                          <a:solidFill>
                            <a:srgbClr val="2B3440"/>
                          </a:solidFill>
                          <a:latin typeface="Calibri"/>
                        </a:rPr>
                        <a:t>new cyclic pairs through a touched file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50" b="0" i="0">
                          <a:solidFill>
                            <a:srgbClr val="2B3440"/>
                          </a:solidFill>
                          <a:latin typeface="Calibri"/>
                        </a:rPr>
                        <a:t>new cyclic pairs through a touched module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5"/>
                  </a:ext>
                </a:extLst>
              </a:tr>
            </a:tbl>
          </a:graphicData>
        </a:graphic>
      </p:graphicFrame>
      <p:sp>
        <p:nvSpPr>
          <p:cNvPr id="67" name="Rounded Rectangle 66"/>
          <p:cNvSpPr/>
          <p:nvPr/>
        </p:nvSpPr>
        <p:spPr>
          <a:xfrm>
            <a:off x="612648" y="4846320"/>
            <a:ext cx="10972800" cy="91440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Hexagon 67"/>
          <p:cNvSpPr/>
          <p:nvPr/>
        </p:nvSpPr>
        <p:spPr>
          <a:xfrm>
            <a:off x="813816" y="516636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252728" y="4846320"/>
            <a:ext cx="10149840" cy="91440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Every threshold is the 90th percentile of its own corpus, set before any label existed;</a:t>
            </a:r>
            <a:r>
              <a:rPr sz="1400" b="0" i="0">
                <a:solidFill>
                  <a:srgbClr val="FFFFFF"/>
                </a:solidFill>
                <a:latin typeface="Calibri"/>
              </a:rPr>
              <a:t> the result files were then deleted and the pass re-run, so no flag predates its threshold.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组合 54"/>
          <p:cNvGrpSpPr/>
          <p:nvPr/>
        </p:nvGrpSpPr>
        <p:grpSpPr>
          <a:xfrm>
            <a:off x="2052459" y="1419448"/>
            <a:ext cx="2036802" cy="2036802"/>
            <a:chOff x="8125599" y="1434035"/>
            <a:chExt cx="2036802" cy="2036802"/>
          </a:xfrm>
        </p:grpSpPr>
        <p:sp>
          <p:nvSpPr>
            <p:cNvPr id="56" name="椭圆 55"/>
            <p:cNvSpPr/>
            <p:nvPr/>
          </p:nvSpPr>
          <p:spPr>
            <a:xfrm>
              <a:off x="8125599" y="1434035"/>
              <a:ext cx="2036802" cy="2036802"/>
            </a:xfrm>
            <a:prstGeom prst="ellipse">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Freeform 206"/>
            <p:cNvSpPr>
              <a:spLocks noChangeAspect="1" noEditPoints="1"/>
            </p:cNvSpPr>
            <p:nvPr/>
          </p:nvSpPr>
          <p:spPr bwMode="auto">
            <a:xfrm>
              <a:off x="8691164" y="1871942"/>
              <a:ext cx="935653" cy="1131009"/>
            </a:xfrm>
            <a:custGeom>
              <a:avLst/>
              <a:gdLst>
                <a:gd name="T0" fmla="*/ 0 w 77"/>
                <a:gd name="T1" fmla="*/ 85 h 93"/>
                <a:gd name="T2" fmla="*/ 30 w 77"/>
                <a:gd name="T3" fmla="*/ 20 h 93"/>
                <a:gd name="T4" fmla="*/ 38 w 77"/>
                <a:gd name="T5" fmla="*/ 26 h 93"/>
                <a:gd name="T6" fmla="*/ 39 w 77"/>
                <a:gd name="T7" fmla="*/ 27 h 93"/>
                <a:gd name="T8" fmla="*/ 39 w 77"/>
                <a:gd name="T9" fmla="*/ 27 h 93"/>
                <a:gd name="T10" fmla="*/ 40 w 77"/>
                <a:gd name="T11" fmla="*/ 27 h 93"/>
                <a:gd name="T12" fmla="*/ 40 w 77"/>
                <a:gd name="T13" fmla="*/ 28 h 93"/>
                <a:gd name="T14" fmla="*/ 40 w 77"/>
                <a:gd name="T15" fmla="*/ 28 h 93"/>
                <a:gd name="T16" fmla="*/ 41 w 77"/>
                <a:gd name="T17" fmla="*/ 28 h 93"/>
                <a:gd name="T18" fmla="*/ 41 w 77"/>
                <a:gd name="T19" fmla="*/ 29 h 93"/>
                <a:gd name="T20" fmla="*/ 42 w 77"/>
                <a:gd name="T21" fmla="*/ 29 h 93"/>
                <a:gd name="T22" fmla="*/ 42 w 77"/>
                <a:gd name="T23" fmla="*/ 29 h 93"/>
                <a:gd name="T24" fmla="*/ 43 w 77"/>
                <a:gd name="T25" fmla="*/ 29 h 93"/>
                <a:gd name="T26" fmla="*/ 43 w 77"/>
                <a:gd name="T27" fmla="*/ 30 h 93"/>
                <a:gd name="T28" fmla="*/ 43 w 77"/>
                <a:gd name="T29" fmla="*/ 30 h 93"/>
                <a:gd name="T30" fmla="*/ 48 w 77"/>
                <a:gd name="T31" fmla="*/ 33 h 93"/>
                <a:gd name="T32" fmla="*/ 48 w 77"/>
                <a:gd name="T33" fmla="*/ 33 h 93"/>
                <a:gd name="T34" fmla="*/ 49 w 77"/>
                <a:gd name="T35" fmla="*/ 34 h 93"/>
                <a:gd name="T36" fmla="*/ 49 w 77"/>
                <a:gd name="T37" fmla="*/ 34 h 93"/>
                <a:gd name="T38" fmla="*/ 50 w 77"/>
                <a:gd name="T39" fmla="*/ 34 h 93"/>
                <a:gd name="T40" fmla="*/ 50 w 77"/>
                <a:gd name="T41" fmla="*/ 35 h 93"/>
                <a:gd name="T42" fmla="*/ 50 w 77"/>
                <a:gd name="T43" fmla="*/ 35 h 93"/>
                <a:gd name="T44" fmla="*/ 51 w 77"/>
                <a:gd name="T45" fmla="*/ 35 h 93"/>
                <a:gd name="T46" fmla="*/ 51 w 77"/>
                <a:gd name="T47" fmla="*/ 36 h 93"/>
                <a:gd name="T48" fmla="*/ 52 w 77"/>
                <a:gd name="T49" fmla="*/ 36 h 93"/>
                <a:gd name="T50" fmla="*/ 52 w 77"/>
                <a:gd name="T51" fmla="*/ 36 h 93"/>
                <a:gd name="T52" fmla="*/ 53 w 77"/>
                <a:gd name="T53" fmla="*/ 37 h 93"/>
                <a:gd name="T54" fmla="*/ 53 w 77"/>
                <a:gd name="T55" fmla="*/ 37 h 93"/>
                <a:gd name="T56" fmla="*/ 48 w 77"/>
                <a:gd name="T57" fmla="*/ 79 h 93"/>
                <a:gd name="T58" fmla="*/ 7 w 77"/>
                <a:gd name="T59" fmla="*/ 91 h 93"/>
                <a:gd name="T60" fmla="*/ 35 w 77"/>
                <a:gd name="T61" fmla="*/ 64 h 93"/>
                <a:gd name="T62" fmla="*/ 19 w 77"/>
                <a:gd name="T63" fmla="*/ 53 h 93"/>
                <a:gd name="T64" fmla="*/ 3 w 77"/>
                <a:gd name="T65" fmla="*/ 88 h 93"/>
                <a:gd name="T66" fmla="*/ 73 w 77"/>
                <a:gd name="T67" fmla="*/ 93 h 93"/>
                <a:gd name="T68" fmla="*/ 54 w 77"/>
                <a:gd name="T69" fmla="*/ 83 h 93"/>
                <a:gd name="T70" fmla="*/ 69 w 77"/>
                <a:gd name="T71" fmla="*/ 42 h 93"/>
                <a:gd name="T72" fmla="*/ 34 w 77"/>
                <a:gd name="T73" fmla="*/ 0 h 93"/>
                <a:gd name="T74" fmla="*/ 69 w 77"/>
                <a:gd name="T75" fmla="*/ 42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7" h="93">
                  <a:moveTo>
                    <a:pt x="3" y="88"/>
                  </a:moveTo>
                  <a:cubicBezTo>
                    <a:pt x="2" y="87"/>
                    <a:pt x="1" y="86"/>
                    <a:pt x="0" y="85"/>
                  </a:cubicBezTo>
                  <a:cubicBezTo>
                    <a:pt x="0" y="72"/>
                    <a:pt x="0" y="58"/>
                    <a:pt x="0" y="45"/>
                  </a:cubicBezTo>
                  <a:cubicBezTo>
                    <a:pt x="12" y="40"/>
                    <a:pt x="21" y="32"/>
                    <a:pt x="30" y="20"/>
                  </a:cubicBezTo>
                  <a:cubicBezTo>
                    <a:pt x="38" y="26"/>
                    <a:pt x="38" y="26"/>
                    <a:pt x="38" y="26"/>
                  </a:cubicBezTo>
                  <a:cubicBezTo>
                    <a:pt x="38" y="26"/>
                    <a:pt x="38" y="26"/>
                    <a:pt x="38" y="26"/>
                  </a:cubicBezTo>
                  <a:cubicBezTo>
                    <a:pt x="38" y="27"/>
                    <a:pt x="38" y="27"/>
                    <a:pt x="38" y="27"/>
                  </a:cubicBezTo>
                  <a:cubicBezTo>
                    <a:pt x="39" y="27"/>
                    <a:pt x="39" y="27"/>
                    <a:pt x="39" y="27"/>
                  </a:cubicBezTo>
                  <a:cubicBezTo>
                    <a:pt x="39" y="27"/>
                    <a:pt x="39" y="27"/>
                    <a:pt x="39" y="27"/>
                  </a:cubicBezTo>
                  <a:cubicBezTo>
                    <a:pt x="39" y="27"/>
                    <a:pt x="39" y="27"/>
                    <a:pt x="39" y="27"/>
                  </a:cubicBezTo>
                  <a:cubicBezTo>
                    <a:pt x="39" y="27"/>
                    <a:pt x="39" y="27"/>
                    <a:pt x="39" y="27"/>
                  </a:cubicBezTo>
                  <a:cubicBezTo>
                    <a:pt x="40" y="27"/>
                    <a:pt x="40" y="27"/>
                    <a:pt x="40" y="27"/>
                  </a:cubicBezTo>
                  <a:cubicBezTo>
                    <a:pt x="40" y="27"/>
                    <a:pt x="40" y="27"/>
                    <a:pt x="40" y="27"/>
                  </a:cubicBezTo>
                  <a:cubicBezTo>
                    <a:pt x="40" y="28"/>
                    <a:pt x="40" y="28"/>
                    <a:pt x="40" y="28"/>
                  </a:cubicBezTo>
                  <a:cubicBezTo>
                    <a:pt x="40" y="28"/>
                    <a:pt x="40" y="28"/>
                    <a:pt x="40" y="28"/>
                  </a:cubicBezTo>
                  <a:cubicBezTo>
                    <a:pt x="40" y="28"/>
                    <a:pt x="40" y="28"/>
                    <a:pt x="40" y="28"/>
                  </a:cubicBezTo>
                  <a:cubicBezTo>
                    <a:pt x="41" y="28"/>
                    <a:pt x="41" y="28"/>
                    <a:pt x="41" y="28"/>
                  </a:cubicBezTo>
                  <a:cubicBezTo>
                    <a:pt x="41" y="28"/>
                    <a:pt x="41" y="28"/>
                    <a:pt x="41" y="28"/>
                  </a:cubicBezTo>
                  <a:cubicBezTo>
                    <a:pt x="41" y="28"/>
                    <a:pt x="41" y="28"/>
                    <a:pt x="41" y="28"/>
                  </a:cubicBezTo>
                  <a:cubicBezTo>
                    <a:pt x="41" y="29"/>
                    <a:pt x="41" y="29"/>
                    <a:pt x="41" y="29"/>
                  </a:cubicBezTo>
                  <a:cubicBezTo>
                    <a:pt x="42" y="29"/>
                    <a:pt x="42" y="29"/>
                    <a:pt x="42" y="29"/>
                  </a:cubicBezTo>
                  <a:cubicBezTo>
                    <a:pt x="42" y="29"/>
                    <a:pt x="42" y="29"/>
                    <a:pt x="42" y="29"/>
                  </a:cubicBezTo>
                  <a:cubicBezTo>
                    <a:pt x="42" y="29"/>
                    <a:pt x="42" y="29"/>
                    <a:pt x="42" y="29"/>
                  </a:cubicBezTo>
                  <a:cubicBezTo>
                    <a:pt x="42" y="29"/>
                    <a:pt x="42" y="29"/>
                    <a:pt x="42" y="29"/>
                  </a:cubicBezTo>
                  <a:cubicBezTo>
                    <a:pt x="42" y="29"/>
                    <a:pt x="42" y="29"/>
                    <a:pt x="42" y="29"/>
                  </a:cubicBezTo>
                  <a:cubicBezTo>
                    <a:pt x="43" y="29"/>
                    <a:pt x="43" y="29"/>
                    <a:pt x="43" y="29"/>
                  </a:cubicBezTo>
                  <a:cubicBezTo>
                    <a:pt x="43" y="30"/>
                    <a:pt x="43" y="30"/>
                    <a:pt x="43" y="30"/>
                  </a:cubicBezTo>
                  <a:cubicBezTo>
                    <a:pt x="43" y="30"/>
                    <a:pt x="43" y="30"/>
                    <a:pt x="43" y="30"/>
                  </a:cubicBezTo>
                  <a:cubicBezTo>
                    <a:pt x="43" y="30"/>
                    <a:pt x="43" y="30"/>
                    <a:pt x="43" y="30"/>
                  </a:cubicBezTo>
                  <a:cubicBezTo>
                    <a:pt x="43" y="30"/>
                    <a:pt x="43" y="30"/>
                    <a:pt x="43" y="30"/>
                  </a:cubicBezTo>
                  <a:cubicBezTo>
                    <a:pt x="44" y="30"/>
                    <a:pt x="44" y="30"/>
                    <a:pt x="44" y="30"/>
                  </a:cubicBezTo>
                  <a:cubicBezTo>
                    <a:pt x="48" y="33"/>
                    <a:pt x="48" y="33"/>
                    <a:pt x="48" y="33"/>
                  </a:cubicBezTo>
                  <a:cubicBezTo>
                    <a:pt x="48" y="33"/>
                    <a:pt x="48" y="33"/>
                    <a:pt x="48" y="33"/>
                  </a:cubicBezTo>
                  <a:cubicBezTo>
                    <a:pt x="48" y="33"/>
                    <a:pt x="48" y="33"/>
                    <a:pt x="48" y="33"/>
                  </a:cubicBezTo>
                  <a:cubicBezTo>
                    <a:pt x="48" y="34"/>
                    <a:pt x="48" y="34"/>
                    <a:pt x="48" y="34"/>
                  </a:cubicBezTo>
                  <a:cubicBezTo>
                    <a:pt x="49" y="34"/>
                    <a:pt x="49" y="34"/>
                    <a:pt x="49" y="34"/>
                  </a:cubicBezTo>
                  <a:cubicBezTo>
                    <a:pt x="49" y="34"/>
                    <a:pt x="49" y="34"/>
                    <a:pt x="49" y="34"/>
                  </a:cubicBezTo>
                  <a:cubicBezTo>
                    <a:pt x="49" y="34"/>
                    <a:pt x="49" y="34"/>
                    <a:pt x="49" y="34"/>
                  </a:cubicBezTo>
                  <a:cubicBezTo>
                    <a:pt x="49" y="34"/>
                    <a:pt x="49" y="34"/>
                    <a:pt x="49" y="34"/>
                  </a:cubicBezTo>
                  <a:cubicBezTo>
                    <a:pt x="50" y="34"/>
                    <a:pt x="50" y="34"/>
                    <a:pt x="50" y="34"/>
                  </a:cubicBezTo>
                  <a:cubicBezTo>
                    <a:pt x="50" y="35"/>
                    <a:pt x="50" y="35"/>
                    <a:pt x="50" y="35"/>
                  </a:cubicBezTo>
                  <a:cubicBezTo>
                    <a:pt x="50" y="35"/>
                    <a:pt x="50" y="35"/>
                    <a:pt x="50" y="35"/>
                  </a:cubicBezTo>
                  <a:cubicBezTo>
                    <a:pt x="50" y="35"/>
                    <a:pt x="50" y="35"/>
                    <a:pt x="50" y="35"/>
                  </a:cubicBezTo>
                  <a:cubicBezTo>
                    <a:pt x="50" y="35"/>
                    <a:pt x="50" y="35"/>
                    <a:pt x="50" y="35"/>
                  </a:cubicBezTo>
                  <a:cubicBezTo>
                    <a:pt x="51" y="35"/>
                    <a:pt x="51" y="35"/>
                    <a:pt x="51" y="35"/>
                  </a:cubicBezTo>
                  <a:cubicBezTo>
                    <a:pt x="51" y="35"/>
                    <a:pt x="51" y="35"/>
                    <a:pt x="51" y="35"/>
                  </a:cubicBezTo>
                  <a:cubicBezTo>
                    <a:pt x="51" y="35"/>
                    <a:pt x="51" y="35"/>
                    <a:pt x="51" y="35"/>
                  </a:cubicBezTo>
                  <a:cubicBezTo>
                    <a:pt x="51" y="36"/>
                    <a:pt x="51" y="36"/>
                    <a:pt x="51" y="36"/>
                  </a:cubicBezTo>
                  <a:cubicBezTo>
                    <a:pt x="52" y="36"/>
                    <a:pt x="52" y="36"/>
                    <a:pt x="52" y="36"/>
                  </a:cubicBezTo>
                  <a:cubicBezTo>
                    <a:pt x="52" y="36"/>
                    <a:pt x="52" y="36"/>
                    <a:pt x="52" y="36"/>
                  </a:cubicBezTo>
                  <a:cubicBezTo>
                    <a:pt x="52" y="36"/>
                    <a:pt x="52" y="36"/>
                    <a:pt x="52" y="36"/>
                  </a:cubicBezTo>
                  <a:cubicBezTo>
                    <a:pt x="52" y="36"/>
                    <a:pt x="52" y="36"/>
                    <a:pt x="52" y="36"/>
                  </a:cubicBezTo>
                  <a:cubicBezTo>
                    <a:pt x="52" y="36"/>
                    <a:pt x="52" y="36"/>
                    <a:pt x="52" y="36"/>
                  </a:cubicBezTo>
                  <a:cubicBezTo>
                    <a:pt x="53" y="37"/>
                    <a:pt x="53" y="37"/>
                    <a:pt x="53" y="37"/>
                  </a:cubicBezTo>
                  <a:cubicBezTo>
                    <a:pt x="53" y="37"/>
                    <a:pt x="53" y="37"/>
                    <a:pt x="53" y="37"/>
                  </a:cubicBezTo>
                  <a:cubicBezTo>
                    <a:pt x="53" y="37"/>
                    <a:pt x="53" y="37"/>
                    <a:pt x="53" y="37"/>
                  </a:cubicBezTo>
                  <a:cubicBezTo>
                    <a:pt x="62" y="43"/>
                    <a:pt x="62" y="43"/>
                    <a:pt x="62" y="43"/>
                  </a:cubicBezTo>
                  <a:cubicBezTo>
                    <a:pt x="53" y="55"/>
                    <a:pt x="49" y="67"/>
                    <a:pt x="48" y="79"/>
                  </a:cubicBezTo>
                  <a:cubicBezTo>
                    <a:pt x="36" y="84"/>
                    <a:pt x="23" y="88"/>
                    <a:pt x="11" y="93"/>
                  </a:cubicBezTo>
                  <a:cubicBezTo>
                    <a:pt x="9" y="92"/>
                    <a:pt x="8" y="91"/>
                    <a:pt x="7" y="91"/>
                  </a:cubicBezTo>
                  <a:cubicBezTo>
                    <a:pt x="23" y="68"/>
                    <a:pt x="23" y="68"/>
                    <a:pt x="23" y="68"/>
                  </a:cubicBezTo>
                  <a:cubicBezTo>
                    <a:pt x="27" y="69"/>
                    <a:pt x="32" y="68"/>
                    <a:pt x="35" y="64"/>
                  </a:cubicBezTo>
                  <a:cubicBezTo>
                    <a:pt x="38" y="60"/>
                    <a:pt x="37" y="54"/>
                    <a:pt x="32" y="51"/>
                  </a:cubicBezTo>
                  <a:cubicBezTo>
                    <a:pt x="28" y="47"/>
                    <a:pt x="22" y="49"/>
                    <a:pt x="19" y="53"/>
                  </a:cubicBezTo>
                  <a:cubicBezTo>
                    <a:pt x="16" y="57"/>
                    <a:pt x="16" y="62"/>
                    <a:pt x="19" y="65"/>
                  </a:cubicBezTo>
                  <a:cubicBezTo>
                    <a:pt x="3" y="88"/>
                    <a:pt x="3" y="88"/>
                    <a:pt x="3" y="88"/>
                  </a:cubicBezTo>
                  <a:close/>
                  <a:moveTo>
                    <a:pt x="27" y="93"/>
                  </a:moveTo>
                  <a:cubicBezTo>
                    <a:pt x="73" y="93"/>
                    <a:pt x="73" y="93"/>
                    <a:pt x="73" y="93"/>
                  </a:cubicBezTo>
                  <a:cubicBezTo>
                    <a:pt x="73" y="83"/>
                    <a:pt x="73" y="83"/>
                    <a:pt x="73" y="83"/>
                  </a:cubicBezTo>
                  <a:cubicBezTo>
                    <a:pt x="54" y="83"/>
                    <a:pt x="54" y="83"/>
                    <a:pt x="54" y="83"/>
                  </a:cubicBezTo>
                  <a:cubicBezTo>
                    <a:pt x="27" y="93"/>
                    <a:pt x="27" y="93"/>
                    <a:pt x="27" y="93"/>
                  </a:cubicBezTo>
                  <a:close/>
                  <a:moveTo>
                    <a:pt x="69" y="42"/>
                  </a:moveTo>
                  <a:cubicBezTo>
                    <a:pt x="77" y="31"/>
                    <a:pt x="77" y="31"/>
                    <a:pt x="77" y="31"/>
                  </a:cubicBezTo>
                  <a:cubicBezTo>
                    <a:pt x="34" y="0"/>
                    <a:pt x="34" y="0"/>
                    <a:pt x="34" y="0"/>
                  </a:cubicBezTo>
                  <a:cubicBezTo>
                    <a:pt x="26" y="12"/>
                    <a:pt x="26" y="12"/>
                    <a:pt x="26" y="12"/>
                  </a:cubicBezTo>
                  <a:lnTo>
                    <a:pt x="69" y="42"/>
                  </a:lnTo>
                  <a:close/>
                </a:path>
              </a:pathLst>
            </a:custGeom>
            <a:solidFill>
              <a:schemeClr val="bg1">
                <a:lumMod val="95000"/>
              </a:schemeClr>
            </a:solidFill>
            <a:ln>
              <a:noFill/>
            </a:ln>
          </p:spPr>
          <p:txBody>
            <a:bodyPr vert="horz" wrap="square" lIns="91440" tIns="45720" rIns="91440" bIns="45720" numCol="1" anchor="t" anchorCtr="0" compatLnSpc="1"/>
            <a:lstStyle/>
            <a:p>
              <a:endParaRPr lang="zh-CN" altLang="en-US">
                <a:latin typeface="Arial" panose="020B0604020202020204" pitchFamily="34" charset="0"/>
                <a:cs typeface="Arial" panose="020B0604020202020204" pitchFamily="34" charset="0"/>
              </a:endParaRPr>
            </a:p>
          </p:txBody>
        </p:sp>
      </p:grpSp>
      <p:sp>
        <p:nvSpPr>
          <p:cNvPr id="61" name="矩形 60"/>
          <p:cNvSpPr/>
          <p:nvPr/>
        </p:nvSpPr>
        <p:spPr>
          <a:xfrm>
            <a:off x="6095999" y="0"/>
            <a:ext cx="6099175" cy="6858000"/>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TextBox 61"/>
          <p:cNvSpPr txBox="1"/>
          <p:nvPr/>
        </p:nvSpPr>
        <p:spPr>
          <a:xfrm>
            <a:off x="457200" y="3749040"/>
            <a:ext cx="5184648" cy="548640"/>
          </a:xfrm>
          <a:prstGeom prst="rect">
            <a:avLst/>
          </a:prstGeom>
          <a:noFill/>
        </p:spPr>
        <p:txBody>
          <a:bodyPr wrap="square" lIns="45720" tIns="27432" rIns="45720" bIns="27432" anchor="t">
            <a:spAutoFit/>
          </a:bodyPr>
          <a:lstStyle/>
          <a:p>
            <a:pPr algn="ctr">
              <a:spcAft>
                <a:spcPts val="0"/>
              </a:spcAft>
            </a:pPr>
            <a:r>
              <a:rPr sz="2800" b="1" i="0">
                <a:solidFill>
                  <a:srgbClr val="46CEAE"/>
                </a:solidFill>
                <a:latin typeface="Arial"/>
              </a:rPr>
              <a:t>Part 5</a:t>
            </a:r>
          </a:p>
        </p:txBody>
      </p:sp>
      <p:sp>
        <p:nvSpPr>
          <p:cNvPr id="63" name="TextBox 62"/>
          <p:cNvSpPr txBox="1"/>
          <p:nvPr/>
        </p:nvSpPr>
        <p:spPr>
          <a:xfrm>
            <a:off x="457200" y="4315968"/>
            <a:ext cx="5184648" cy="1737360"/>
          </a:xfrm>
          <a:prstGeom prst="rect">
            <a:avLst/>
          </a:prstGeom>
          <a:noFill/>
        </p:spPr>
        <p:txBody>
          <a:bodyPr wrap="square" lIns="45720" tIns="27432" rIns="45720" bIns="27432" anchor="t">
            <a:spAutoFit/>
          </a:bodyPr>
          <a:lstStyle/>
          <a:p>
            <a:pPr algn="ctr">
              <a:lnSpc>
                <a:spcPct val="95000"/>
              </a:lnSpc>
              <a:spcAft>
                <a:spcPts val="0"/>
              </a:spcAft>
            </a:pPr>
            <a:r>
              <a:rPr sz="3200" b="1" i="0">
                <a:solidFill>
                  <a:srgbClr val="202A36"/>
                </a:solidFill>
                <a:latin typeface="Arial"/>
              </a:rPr>
              <a:t>Validation</a:t>
            </a:r>
          </a:p>
        </p:txBody>
      </p:sp>
      <p:cxnSp>
        <p:nvCxnSpPr>
          <p:cNvPr id="64" name="Connector 63"/>
          <p:cNvCxnSpPr/>
          <p:nvPr/>
        </p:nvCxnSpPr>
        <p:spPr>
          <a:xfrm>
            <a:off x="7863840" y="1088136"/>
            <a:ext cx="0" cy="4681728"/>
          </a:xfrm>
          <a:prstGeom prst="line">
            <a:avLst/>
          </a:prstGeom>
          <a:ln w="19050">
            <a:solidFill>
              <a:srgbClr val="8E98A5"/>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7790688" y="1380744"/>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8229600" y="1252728"/>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Why a reading judge</a:t>
            </a:r>
          </a:p>
        </p:txBody>
      </p:sp>
      <p:sp>
        <p:nvSpPr>
          <p:cNvPr id="67" name="Oval 66"/>
          <p:cNvSpPr/>
          <p:nvPr/>
        </p:nvSpPr>
        <p:spPr>
          <a:xfrm>
            <a:off x="7790688" y="2039112"/>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229600" y="1911096"/>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How a detector is validated</a:t>
            </a:r>
          </a:p>
        </p:txBody>
      </p:sp>
      <p:sp>
        <p:nvSpPr>
          <p:cNvPr id="69" name="Oval 68"/>
          <p:cNvSpPr/>
          <p:nvPr/>
        </p:nvSpPr>
        <p:spPr>
          <a:xfrm>
            <a:off x="7790688" y="2697480"/>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8229600" y="2569464"/>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Validation results</a:t>
            </a:r>
          </a:p>
        </p:txBody>
      </p:sp>
      <p:sp>
        <p:nvSpPr>
          <p:cNvPr id="71" name="Oval 70"/>
          <p:cNvSpPr/>
          <p:nvPr/>
        </p:nvSpPr>
        <p:spPr>
          <a:xfrm>
            <a:off x="7790688" y="3355848"/>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229600" y="3227832"/>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What the disagreements are made of</a:t>
            </a:r>
          </a:p>
        </p:txBody>
      </p:sp>
      <p:sp>
        <p:nvSpPr>
          <p:cNvPr id="73" name="Oval 72"/>
          <p:cNvSpPr/>
          <p:nvPr/>
        </p:nvSpPr>
        <p:spPr>
          <a:xfrm>
            <a:off x="7790688" y="4014216"/>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229600" y="3886200"/>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Two refinements</a:t>
            </a:r>
          </a:p>
        </p:txBody>
      </p:sp>
      <p:sp>
        <p:nvSpPr>
          <p:cNvPr id="75" name="Oval 74"/>
          <p:cNvSpPr/>
          <p:nvPr/>
        </p:nvSpPr>
        <p:spPr>
          <a:xfrm>
            <a:off x="7790688" y="4672584"/>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229600" y="4544568"/>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Can tuning fix the weak ones?</a:t>
            </a:r>
          </a:p>
        </p:txBody>
      </p:sp>
      <p:sp>
        <p:nvSpPr>
          <p:cNvPr id="77" name="Oval 76"/>
          <p:cNvSpPr/>
          <p:nvPr/>
        </p:nvSpPr>
        <p:spPr>
          <a:xfrm>
            <a:off x="7790688" y="5330952"/>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8229600" y="5202936"/>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Three published analysers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5</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Validation</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600" b="1" i="0">
                <a:solidFill>
                  <a:srgbClr val="202A36"/>
                </a:solidFill>
                <a:latin typeface="Arial"/>
              </a:rPr>
              <a:t>Why a reading judge: from checking by hand to an LLM judge</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31</a:t>
            </a:r>
          </a:p>
        </p:txBody>
      </p:sp>
      <p:sp>
        <p:nvSpPr>
          <p:cNvPr id="66" name="Rounded Rectangle 65"/>
          <p:cNvSpPr/>
          <p:nvPr/>
        </p:nvSpPr>
        <p:spPr>
          <a:xfrm>
            <a:off x="612648" y="914400"/>
            <a:ext cx="2606040" cy="39319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Hexagon 66"/>
          <p:cNvSpPr/>
          <p:nvPr/>
        </p:nvSpPr>
        <p:spPr>
          <a:xfrm>
            <a:off x="795528" y="1115568"/>
            <a:ext cx="633679" cy="54864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Arial"/>
              </a:rPr>
              <a:t>1</a:t>
            </a:r>
          </a:p>
        </p:txBody>
      </p:sp>
      <p:sp>
        <p:nvSpPr>
          <p:cNvPr id="68" name="TextBox 67"/>
          <p:cNvSpPr txBox="1"/>
          <p:nvPr/>
        </p:nvSpPr>
        <p:spPr>
          <a:xfrm>
            <a:off x="795528" y="1828800"/>
            <a:ext cx="2240280" cy="457200"/>
          </a:xfrm>
          <a:prstGeom prst="rect">
            <a:avLst/>
          </a:prstGeom>
          <a:noFill/>
        </p:spPr>
        <p:txBody>
          <a:bodyPr wrap="square" lIns="45720" tIns="27432" rIns="45720" bIns="27432" anchor="ctr">
            <a:spAutoFit/>
          </a:bodyPr>
          <a:lstStyle/>
          <a:p>
            <a:pPr algn="l">
              <a:spcAft>
                <a:spcPts val="0"/>
              </a:spcAft>
            </a:pPr>
            <a:r>
              <a:rPr sz="1600" b="1" i="0">
                <a:solidFill>
                  <a:srgbClr val="202A36"/>
                </a:solidFill>
                <a:latin typeface="Arial"/>
              </a:rPr>
              <a:t>Check by hand</a:t>
            </a:r>
          </a:p>
        </p:txBody>
      </p:sp>
      <p:sp>
        <p:nvSpPr>
          <p:cNvPr id="69" name="TextBox 68"/>
          <p:cNvSpPr txBox="1"/>
          <p:nvPr/>
        </p:nvSpPr>
        <p:spPr>
          <a:xfrm>
            <a:off x="795528" y="2377440"/>
            <a:ext cx="2240280" cy="2377440"/>
          </a:xfrm>
          <a:prstGeom prst="rect">
            <a:avLst/>
          </a:prstGeom>
          <a:noFill/>
        </p:spPr>
        <p:txBody>
          <a:bodyPr wrap="square" lIns="45720" tIns="27432" rIns="45720" bIns="27432" anchor="t">
            <a:spAutoFit/>
          </a:bodyPr>
          <a:lstStyle/>
          <a:p>
            <a:pPr algn="l">
              <a:spcAft>
                <a:spcPts val="0"/>
              </a:spcAft>
            </a:pPr>
            <a:r>
              <a:rPr sz="1350" b="0" i="0">
                <a:solidFill>
                  <a:srgbClr val="2B3440"/>
                </a:solidFill>
                <a:latin typeface="Calibri"/>
              </a:rPr>
              <a:t>We started by reading the flagged results ourselves, to see whether each detector did a good job. It worked, but it was a very long process.</a:t>
            </a:r>
          </a:p>
        </p:txBody>
      </p:sp>
      <p:sp>
        <p:nvSpPr>
          <p:cNvPr id="70" name="Rounded Rectangle 69"/>
          <p:cNvSpPr/>
          <p:nvPr/>
        </p:nvSpPr>
        <p:spPr>
          <a:xfrm>
            <a:off x="3401568" y="914400"/>
            <a:ext cx="2606040" cy="39319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Hexagon 70"/>
          <p:cNvSpPr/>
          <p:nvPr/>
        </p:nvSpPr>
        <p:spPr>
          <a:xfrm>
            <a:off x="3584448" y="1115568"/>
            <a:ext cx="633679" cy="54864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Arial"/>
              </a:rPr>
              <a:t>2</a:t>
            </a:r>
          </a:p>
        </p:txBody>
      </p:sp>
      <p:sp>
        <p:nvSpPr>
          <p:cNvPr id="72" name="TextBox 71"/>
          <p:cNvSpPr txBox="1"/>
          <p:nvPr/>
        </p:nvSpPr>
        <p:spPr>
          <a:xfrm>
            <a:off x="3584448" y="1828800"/>
            <a:ext cx="2240280" cy="457200"/>
          </a:xfrm>
          <a:prstGeom prst="rect">
            <a:avLst/>
          </a:prstGeom>
          <a:noFill/>
        </p:spPr>
        <p:txBody>
          <a:bodyPr wrap="square" lIns="45720" tIns="27432" rIns="45720" bIns="27432" anchor="ctr">
            <a:spAutoFit/>
          </a:bodyPr>
          <a:lstStyle/>
          <a:p>
            <a:pPr algn="l">
              <a:spcAft>
                <a:spcPts val="0"/>
              </a:spcAft>
            </a:pPr>
            <a:r>
              <a:rPr sz="1600" b="1" i="0">
                <a:solidFill>
                  <a:srgbClr val="202A36"/>
                </a:solidFill>
                <a:latin typeface="Arial"/>
              </a:rPr>
              <a:t>Automate the checking</a:t>
            </a:r>
          </a:p>
        </p:txBody>
      </p:sp>
      <p:sp>
        <p:nvSpPr>
          <p:cNvPr id="73" name="TextBox 72"/>
          <p:cNvSpPr txBox="1"/>
          <p:nvPr/>
        </p:nvSpPr>
        <p:spPr>
          <a:xfrm>
            <a:off x="3584448" y="2377440"/>
            <a:ext cx="2240280" cy="2377440"/>
          </a:xfrm>
          <a:prstGeom prst="rect">
            <a:avLst/>
          </a:prstGeom>
          <a:noFill/>
        </p:spPr>
        <p:txBody>
          <a:bodyPr wrap="square" lIns="45720" tIns="27432" rIns="45720" bIns="27432" anchor="t">
            <a:spAutoFit/>
          </a:bodyPr>
          <a:lstStyle/>
          <a:p>
            <a:pPr algn="l">
              <a:spcAft>
                <a:spcPts val="0"/>
              </a:spcAft>
            </a:pPr>
            <a:r>
              <a:rPr sz="1350" b="0" i="0">
                <a:solidFill>
                  <a:srgbClr val="2B3440"/>
                </a:solidFill>
                <a:latin typeface="Calibri"/>
              </a:rPr>
              <a:t>So we asked whether a data-science approach could do the checking at scale instead of a person reading everything.</a:t>
            </a:r>
          </a:p>
        </p:txBody>
      </p:sp>
      <p:sp>
        <p:nvSpPr>
          <p:cNvPr id="74" name="Rounded Rectangle 73"/>
          <p:cNvSpPr/>
          <p:nvPr/>
        </p:nvSpPr>
        <p:spPr>
          <a:xfrm>
            <a:off x="6190488" y="914400"/>
            <a:ext cx="2606040" cy="39319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Hexagon 74"/>
          <p:cNvSpPr/>
          <p:nvPr/>
        </p:nvSpPr>
        <p:spPr>
          <a:xfrm>
            <a:off x="6373368" y="1115568"/>
            <a:ext cx="633679" cy="54864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Arial"/>
              </a:rPr>
              <a:t>3</a:t>
            </a:r>
          </a:p>
        </p:txBody>
      </p:sp>
      <p:sp>
        <p:nvSpPr>
          <p:cNvPr id="76" name="TextBox 75"/>
          <p:cNvSpPr txBox="1"/>
          <p:nvPr/>
        </p:nvSpPr>
        <p:spPr>
          <a:xfrm>
            <a:off x="6373368" y="1828800"/>
            <a:ext cx="2240280" cy="457200"/>
          </a:xfrm>
          <a:prstGeom prst="rect">
            <a:avLst/>
          </a:prstGeom>
          <a:noFill/>
        </p:spPr>
        <p:txBody>
          <a:bodyPr wrap="square" lIns="45720" tIns="27432" rIns="45720" bIns="27432" anchor="ctr">
            <a:spAutoFit/>
          </a:bodyPr>
          <a:lstStyle/>
          <a:p>
            <a:pPr algn="l">
              <a:spcAft>
                <a:spcPts val="0"/>
              </a:spcAft>
            </a:pPr>
            <a:r>
              <a:rPr sz="1600" b="1" i="0">
                <a:solidFill>
                  <a:srgbClr val="202A36"/>
                </a:solidFill>
                <a:latin typeface="Arial"/>
              </a:rPr>
              <a:t>LLM as judge</a:t>
            </a:r>
          </a:p>
        </p:txBody>
      </p:sp>
      <p:sp>
        <p:nvSpPr>
          <p:cNvPr id="77" name="TextBox 76"/>
          <p:cNvSpPr txBox="1"/>
          <p:nvPr/>
        </p:nvSpPr>
        <p:spPr>
          <a:xfrm>
            <a:off x="6373368" y="2377440"/>
            <a:ext cx="2240280" cy="2377440"/>
          </a:xfrm>
          <a:prstGeom prst="rect">
            <a:avLst/>
          </a:prstGeom>
          <a:noFill/>
        </p:spPr>
        <p:txBody>
          <a:bodyPr wrap="square" lIns="45720" tIns="27432" rIns="45720" bIns="27432" anchor="t">
            <a:spAutoFit/>
          </a:bodyPr>
          <a:lstStyle/>
          <a:p>
            <a:pPr algn="l">
              <a:spcAft>
                <a:spcPts val="0"/>
              </a:spcAft>
            </a:pPr>
            <a:r>
              <a:rPr sz="1350" b="0" i="0">
                <a:solidFill>
                  <a:srgbClr val="2B3440"/>
                </a:solidFill>
                <a:latin typeface="Calibri"/>
              </a:rPr>
              <a:t>Research shows that language models can judge SOLID violations (Pehlivan et al., 2025: four models, 240 manually validated examples).</a:t>
            </a:r>
          </a:p>
        </p:txBody>
      </p:sp>
      <p:sp>
        <p:nvSpPr>
          <p:cNvPr id="78" name="Rounded Rectangle 77"/>
          <p:cNvSpPr/>
          <p:nvPr/>
        </p:nvSpPr>
        <p:spPr>
          <a:xfrm>
            <a:off x="8979408" y="914400"/>
            <a:ext cx="2606040" cy="39319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Hexagon 78"/>
          <p:cNvSpPr/>
          <p:nvPr/>
        </p:nvSpPr>
        <p:spPr>
          <a:xfrm>
            <a:off x="9162288" y="1115568"/>
            <a:ext cx="633679" cy="54864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Arial"/>
              </a:rPr>
              <a:t>4</a:t>
            </a:r>
          </a:p>
        </p:txBody>
      </p:sp>
      <p:sp>
        <p:nvSpPr>
          <p:cNvPr id="80" name="TextBox 79"/>
          <p:cNvSpPr txBox="1"/>
          <p:nvPr/>
        </p:nvSpPr>
        <p:spPr>
          <a:xfrm>
            <a:off x="9162288" y="1828800"/>
            <a:ext cx="2240280" cy="457200"/>
          </a:xfrm>
          <a:prstGeom prst="rect">
            <a:avLst/>
          </a:prstGeom>
          <a:noFill/>
        </p:spPr>
        <p:txBody>
          <a:bodyPr wrap="square" lIns="45720" tIns="27432" rIns="45720" bIns="27432" anchor="ctr">
            <a:spAutoFit/>
          </a:bodyPr>
          <a:lstStyle/>
          <a:p>
            <a:pPr algn="l">
              <a:spcAft>
                <a:spcPts val="0"/>
              </a:spcAft>
            </a:pPr>
            <a:r>
              <a:rPr sz="1600" b="1" i="0">
                <a:solidFill>
                  <a:srgbClr val="202A36"/>
                </a:solidFill>
                <a:latin typeface="Arial"/>
              </a:rPr>
              <a:t>Make the task easier</a:t>
            </a:r>
          </a:p>
        </p:txBody>
      </p:sp>
      <p:sp>
        <p:nvSpPr>
          <p:cNvPr id="81" name="TextBox 80"/>
          <p:cNvSpPr txBox="1"/>
          <p:nvPr/>
        </p:nvSpPr>
        <p:spPr>
          <a:xfrm>
            <a:off x="9162288" y="2377440"/>
            <a:ext cx="2240280" cy="2377440"/>
          </a:xfrm>
          <a:prstGeom prst="rect">
            <a:avLst/>
          </a:prstGeom>
          <a:noFill/>
        </p:spPr>
        <p:txBody>
          <a:bodyPr wrap="square" lIns="45720" tIns="27432" rIns="45720" bIns="27432" anchor="t">
            <a:spAutoFit/>
          </a:bodyPr>
          <a:lstStyle/>
          <a:p>
            <a:pPr algn="l">
              <a:spcAft>
                <a:spcPts val="0"/>
              </a:spcAft>
            </a:pPr>
            <a:r>
              <a:rPr sz="1350" b="0" i="0">
                <a:solidFill>
                  <a:srgbClr val="2B3440"/>
                </a:solidFill>
                <a:latin typeface="Calibri"/>
              </a:rPr>
              <a:t>The judge does not analyse repositories. It reads an already exported sample of results, the source of each entity, and returns a label and a written reason.</a:t>
            </a:r>
          </a:p>
        </p:txBody>
      </p:sp>
      <p:sp>
        <p:nvSpPr>
          <p:cNvPr id="82" name="Rounded Rectangle 81"/>
          <p:cNvSpPr/>
          <p:nvPr/>
        </p:nvSpPr>
        <p:spPr>
          <a:xfrm>
            <a:off x="612648" y="5074920"/>
            <a:ext cx="10972800" cy="118872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Hexagon 82"/>
          <p:cNvSpPr/>
          <p:nvPr/>
        </p:nvSpPr>
        <p:spPr>
          <a:xfrm>
            <a:off x="813816" y="553212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1252728" y="5074920"/>
            <a:ext cx="10149840" cy="118872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Second check:</a:t>
            </a:r>
            <a:r>
              <a:rPr sz="1400" b="0" i="0">
                <a:solidFill>
                  <a:srgbClr val="FFFFFF"/>
                </a:solidFill>
                <a:latin typeface="Calibri"/>
              </a:rPr>
              <a:t> the Java detectors were also compared with three published analysers (CK, PMD, DesigniteJava) run on the same source trees.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5</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Validation</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How a detector is validated</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32</a:t>
            </a:r>
          </a:p>
        </p:txBody>
      </p:sp>
      <p:sp>
        <p:nvSpPr>
          <p:cNvPr id="66" name="Rounded Rectangle 65"/>
          <p:cNvSpPr/>
          <p:nvPr/>
        </p:nvSpPr>
        <p:spPr>
          <a:xfrm>
            <a:off x="612648" y="1371600"/>
            <a:ext cx="10972800" cy="420624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Picture 66" descr="fig_validation_flow.png"/>
          <p:cNvPicPr>
            <a:picLocks noChangeAspect="1"/>
          </p:cNvPicPr>
          <p:nvPr/>
        </p:nvPicPr>
        <p:blipFill>
          <a:blip r:embed="rId2"/>
          <a:stretch>
            <a:fillRect/>
          </a:stretch>
        </p:blipFill>
        <p:spPr>
          <a:xfrm>
            <a:off x="749808" y="1678862"/>
            <a:ext cx="10698480" cy="3591717"/>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5</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Validation</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Validation results</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33</a:t>
            </a:r>
          </a:p>
        </p:txBody>
      </p:sp>
      <p:sp>
        <p:nvSpPr>
          <p:cNvPr id="66" name="Rounded Rectangle 65"/>
          <p:cNvSpPr/>
          <p:nvPr/>
        </p:nvSpPr>
        <p:spPr>
          <a:xfrm>
            <a:off x="612648" y="914400"/>
            <a:ext cx="7772400" cy="539496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Picture 66" descr="fig_validation_pr.png"/>
          <p:cNvPicPr>
            <a:picLocks noChangeAspect="1"/>
          </p:cNvPicPr>
          <p:nvPr/>
        </p:nvPicPr>
        <p:blipFill>
          <a:blip r:embed="rId2"/>
          <a:stretch>
            <a:fillRect/>
          </a:stretch>
        </p:blipFill>
        <p:spPr>
          <a:xfrm>
            <a:off x="722376" y="1380635"/>
            <a:ext cx="7552944" cy="4462490"/>
          </a:xfrm>
          <a:prstGeom prst="rect">
            <a:avLst/>
          </a:prstGeom>
        </p:spPr>
      </p:pic>
      <p:sp>
        <p:nvSpPr>
          <p:cNvPr id="68" name="Rounded Rectangle 67"/>
          <p:cNvSpPr/>
          <p:nvPr/>
        </p:nvSpPr>
        <p:spPr>
          <a:xfrm>
            <a:off x="8549640" y="914400"/>
            <a:ext cx="3035808" cy="2011680"/>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8686800" y="1005840"/>
            <a:ext cx="2761488" cy="1005840"/>
          </a:xfrm>
          <a:prstGeom prst="rect">
            <a:avLst/>
          </a:prstGeom>
          <a:noFill/>
        </p:spPr>
        <p:txBody>
          <a:bodyPr wrap="square" lIns="45720" tIns="27432" rIns="45720" bIns="27432" anchor="b">
            <a:spAutoFit/>
          </a:bodyPr>
          <a:lstStyle/>
          <a:p>
            <a:pPr algn="ctr">
              <a:spcAft>
                <a:spcPts val="0"/>
              </a:spcAft>
            </a:pPr>
            <a:r>
              <a:rPr sz="3600" b="1" i="0">
                <a:solidFill>
                  <a:srgbClr val="46CEAE"/>
                </a:solidFill>
                <a:latin typeface="Arial"/>
              </a:rPr>
              <a:t>2,475</a:t>
            </a:r>
          </a:p>
        </p:txBody>
      </p:sp>
      <p:sp>
        <p:nvSpPr>
          <p:cNvPr id="70" name="TextBox 69"/>
          <p:cNvSpPr txBox="1"/>
          <p:nvPr/>
        </p:nvSpPr>
        <p:spPr>
          <a:xfrm>
            <a:off x="8732520" y="2020824"/>
            <a:ext cx="2670048" cy="844906"/>
          </a:xfrm>
          <a:prstGeom prst="rect">
            <a:avLst/>
          </a:prstGeom>
          <a:noFill/>
        </p:spPr>
        <p:txBody>
          <a:bodyPr wrap="square" lIns="45720" tIns="27432" rIns="45720" bIns="27432" anchor="t">
            <a:spAutoFit/>
          </a:bodyPr>
          <a:lstStyle/>
          <a:p>
            <a:pPr algn="ctr">
              <a:spcAft>
                <a:spcPts val="0"/>
              </a:spcAft>
            </a:pPr>
            <a:r>
              <a:rPr sz="1300" b="0" i="0">
                <a:solidFill>
                  <a:srgbClr val="D5DCE4"/>
                </a:solidFill>
                <a:latin typeface="Calibri"/>
              </a:rPr>
              <a:t>entities judged, each with a written reason</a:t>
            </a:r>
          </a:p>
        </p:txBody>
      </p:sp>
      <p:sp>
        <p:nvSpPr>
          <p:cNvPr id="71" name="Rounded Rectangle 70"/>
          <p:cNvSpPr/>
          <p:nvPr/>
        </p:nvSpPr>
        <p:spPr>
          <a:xfrm>
            <a:off x="8549640" y="3108960"/>
            <a:ext cx="3035808" cy="320040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686800" y="3108960"/>
            <a:ext cx="2761488" cy="3200400"/>
          </a:xfrm>
          <a:prstGeom prst="rect">
            <a:avLst/>
          </a:prstGeom>
          <a:noFill/>
        </p:spPr>
        <p:txBody>
          <a:bodyPr wrap="square" lIns="45720" tIns="54864" rIns="45720" bIns="54864" anchor="ctr">
            <a:spAutoFit/>
          </a:bodyPr>
          <a:lstStyle/>
          <a:p>
            <a:pPr algn="l">
              <a:spcAft>
                <a:spcPts val="0"/>
              </a:spcAft>
            </a:pPr>
            <a:r>
              <a:rPr sz="1450" b="1" i="0">
                <a:solidFill>
                  <a:srgbClr val="2B3440"/>
                </a:solidFill>
                <a:latin typeface="Calibri"/>
              </a:rPr>
              <a:t>Dependency Inversion is precise in both languages;</a:t>
            </a:r>
            <a:r>
              <a:rPr sz="1450" b="0" i="0">
                <a:solidFill>
                  <a:srgbClr val="2B3440"/>
                </a:solidFill>
                <a:latin typeface="Calibri"/>
              </a:rPr>
              <a:t> Single Responsibility, Open/Closed and Interface Segregation are screens.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5</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Validation</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What the judge’s disagreements are made of</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34</a:t>
            </a:r>
          </a:p>
        </p:txBody>
      </p:sp>
      <p:sp>
        <p:nvSpPr>
          <p:cNvPr id="66" name="Rounded Rectangle 65"/>
          <p:cNvSpPr/>
          <p:nvPr/>
        </p:nvSpPr>
        <p:spPr>
          <a:xfrm>
            <a:off x="612648" y="914400"/>
            <a:ext cx="5577840" cy="39319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795528" y="1024128"/>
            <a:ext cx="5212080" cy="411480"/>
          </a:xfrm>
          <a:prstGeom prst="rect">
            <a:avLst/>
          </a:prstGeom>
          <a:noFill/>
        </p:spPr>
        <p:txBody>
          <a:bodyPr wrap="square" lIns="45720" tIns="27432" rIns="45720" bIns="27432" anchor="ctr">
            <a:spAutoFit/>
          </a:bodyPr>
          <a:lstStyle/>
          <a:p>
            <a:pPr algn="l">
              <a:spcAft>
                <a:spcPts val="0"/>
              </a:spcAft>
            </a:pPr>
            <a:r>
              <a:rPr sz="1600" b="1" i="0">
                <a:solidFill>
                  <a:srgbClr val="202A36"/>
                </a:solidFill>
                <a:latin typeface="Arial"/>
              </a:rPr>
              <a:t>Why flags fail</a:t>
            </a:r>
          </a:p>
        </p:txBody>
      </p:sp>
      <p:sp>
        <p:nvSpPr>
          <p:cNvPr id="68" name="TextBox 67"/>
          <p:cNvSpPr txBox="1"/>
          <p:nvPr/>
        </p:nvSpPr>
        <p:spPr>
          <a:xfrm>
            <a:off x="795528" y="1508760"/>
            <a:ext cx="5212080" cy="3246120"/>
          </a:xfrm>
          <a:prstGeom prst="rect">
            <a:avLst/>
          </a:prstGeom>
          <a:noFill/>
        </p:spPr>
        <p:txBody>
          <a:bodyPr wrap="square" lIns="45720" tIns="27432" rIns="45720" bIns="27432" anchor="t">
            <a:spAutoFit/>
          </a:bodyPr>
          <a:lstStyle/>
          <a:p>
            <a:pPr marL="182880" indent="-182880" algn="l">
              <a:spcAft>
                <a:spcPts val="1000"/>
              </a:spcAft>
              <a:buClr>
                <a:srgbClr val="1F9C82"/>
              </a:buClr>
              <a:buChar char="•"/>
            </a:pPr>
            <a:r>
              <a:rPr sz="1400" b="1" i="0">
                <a:solidFill>
                  <a:srgbClr val="2B3440"/>
                </a:solidFill>
                <a:latin typeface="Calibri"/>
              </a:rPr>
              <a:t>OCP:</a:t>
            </a:r>
            <a:r>
              <a:rPr sz="1400" b="0" i="0">
                <a:solidFill>
                  <a:srgbClr val="2B3440"/>
                </a:solidFill>
                <a:latin typeface="Calibri"/>
              </a:rPr>
              <a:t> the set is fixed by a specification, not by the language (JDBC codes, protobuf types, Unicode blocks, generated parser tables)</a:t>
            </a:r>
          </a:p>
          <a:p>
            <a:pPr marL="182880" indent="-182880" algn="l">
              <a:spcAft>
                <a:spcPts val="1000"/>
              </a:spcAft>
              <a:buClr>
                <a:srgbClr val="1F9C82"/>
              </a:buClr>
              <a:buChar char="•"/>
            </a:pPr>
            <a:r>
              <a:rPr sz="1400" b="1" i="0">
                <a:solidFill>
                  <a:srgbClr val="2B3440"/>
                </a:solidFill>
                <a:latin typeface="Calibri"/>
              </a:rPr>
              <a:t>Python SRP:</a:t>
            </a:r>
            <a:r>
              <a:rPr sz="1400" b="0" i="0">
                <a:solidFill>
                  <a:srgbClr val="2B3440"/>
                </a:solidFill>
                <a:latin typeface="Calibri"/>
              </a:rPr>
              <a:t> classes whose size a framework imposes (model heads, home-automation entities, training callbacks)</a:t>
            </a:r>
          </a:p>
          <a:p>
            <a:pPr marL="182880" indent="-182880" algn="l">
              <a:spcAft>
                <a:spcPts val="1000"/>
              </a:spcAft>
              <a:buClr>
                <a:srgbClr val="1F9C82"/>
              </a:buClr>
              <a:buChar char="•"/>
            </a:pPr>
            <a:r>
              <a:rPr sz="1400" b="1" i="0">
                <a:solidFill>
                  <a:srgbClr val="2B3440"/>
                </a:solidFill>
                <a:latin typeface="Calibri"/>
              </a:rPr>
              <a:t>ISP in Python:</a:t>
            </a:r>
            <a:r>
              <a:rPr sz="1400" b="0" i="0">
                <a:solidFill>
                  <a:srgbClr val="2B3440"/>
                </a:solidFill>
                <a:latin typeface="Calibri"/>
              </a:rPr>
              <a:t> test doubles and unfinished scaffolds that stub on purpose</a:t>
            </a:r>
          </a:p>
        </p:txBody>
      </p:sp>
      <p:sp>
        <p:nvSpPr>
          <p:cNvPr id="69" name="Rounded Rectangle 68"/>
          <p:cNvSpPr/>
          <p:nvPr/>
        </p:nvSpPr>
        <p:spPr>
          <a:xfrm>
            <a:off x="6355080" y="914400"/>
            <a:ext cx="5230368" cy="39319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537960" y="1024128"/>
            <a:ext cx="4846320" cy="411480"/>
          </a:xfrm>
          <a:prstGeom prst="rect">
            <a:avLst/>
          </a:prstGeom>
          <a:noFill/>
        </p:spPr>
        <p:txBody>
          <a:bodyPr wrap="square" lIns="45720" tIns="27432" rIns="45720" bIns="27432" anchor="ctr">
            <a:spAutoFit/>
          </a:bodyPr>
          <a:lstStyle/>
          <a:p>
            <a:pPr algn="l">
              <a:spcAft>
                <a:spcPts val="0"/>
              </a:spcAft>
            </a:pPr>
            <a:r>
              <a:rPr sz="1600" b="1" i="0">
                <a:solidFill>
                  <a:srgbClr val="202A36"/>
                </a:solidFill>
                <a:latin typeface="Arial"/>
              </a:rPr>
              <a:t>What the detectors miss</a:t>
            </a:r>
          </a:p>
        </p:txBody>
      </p:sp>
      <p:sp>
        <p:nvSpPr>
          <p:cNvPr id="71" name="TextBox 70"/>
          <p:cNvSpPr txBox="1"/>
          <p:nvPr/>
        </p:nvSpPr>
        <p:spPr>
          <a:xfrm>
            <a:off x="6537960" y="1508760"/>
            <a:ext cx="4846320" cy="3246120"/>
          </a:xfrm>
          <a:prstGeom prst="rect">
            <a:avLst/>
          </a:prstGeom>
          <a:noFill/>
        </p:spPr>
        <p:txBody>
          <a:bodyPr wrap="square" lIns="45720" tIns="27432" rIns="45720" bIns="27432" anchor="t">
            <a:spAutoFit/>
          </a:bodyPr>
          <a:lstStyle/>
          <a:p>
            <a:pPr marL="182880" indent="-182880" algn="l">
              <a:spcAft>
                <a:spcPts val="1000"/>
              </a:spcAft>
              <a:buClr>
                <a:srgbClr val="1F9C82"/>
              </a:buClr>
              <a:buChar char="•"/>
            </a:pPr>
            <a:r>
              <a:rPr sz="1400" b="0" i="0">
                <a:solidFill>
                  <a:srgbClr val="2B3440"/>
                </a:solidFill>
                <a:latin typeface="Calibri"/>
              </a:rPr>
              <a:t>The three Liskov violations found in the unflagged sample are silent: an override that throws for every argument, one with an empty body, one that assigns null</a:t>
            </a:r>
          </a:p>
          <a:p>
            <a:pPr marL="182880" indent="-182880" algn="l">
              <a:spcAft>
                <a:spcPts val="1000"/>
              </a:spcAft>
              <a:buClr>
                <a:srgbClr val="1F9C82"/>
              </a:buClr>
              <a:buChar char="•"/>
            </a:pPr>
            <a:r>
              <a:rPr sz="1400" b="0" i="0">
                <a:solidFill>
                  <a:srgbClr val="2B3440"/>
                </a:solidFill>
                <a:latin typeface="Calibri"/>
              </a:rPr>
              <a:t>Structural rules catch refusals that are declared, not refusals that are quiet</a:t>
            </a:r>
          </a:p>
        </p:txBody>
      </p:sp>
      <p:sp>
        <p:nvSpPr>
          <p:cNvPr id="72" name="Rounded Rectangle 71"/>
          <p:cNvSpPr/>
          <p:nvPr/>
        </p:nvSpPr>
        <p:spPr>
          <a:xfrm>
            <a:off x="612648" y="5074920"/>
            <a:ext cx="10972800" cy="118872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978408" y="5074920"/>
            <a:ext cx="2926080" cy="1188720"/>
          </a:xfrm>
          <a:prstGeom prst="rect">
            <a:avLst/>
          </a:prstGeom>
          <a:noFill/>
        </p:spPr>
        <p:txBody>
          <a:bodyPr wrap="square" lIns="45720" tIns="27432" rIns="45720" bIns="27432" anchor="ctr">
            <a:spAutoFit/>
          </a:bodyPr>
          <a:lstStyle/>
          <a:p>
            <a:pPr algn="ctr">
              <a:spcAft>
                <a:spcPts val="0"/>
              </a:spcAft>
            </a:pPr>
            <a:r>
              <a:rPr sz="4400" b="1" i="0">
                <a:solidFill>
                  <a:srgbClr val="46CEAE"/>
                </a:solidFill>
                <a:latin typeface="Arial"/>
              </a:rPr>
              <a:t>89.7%</a:t>
            </a:r>
          </a:p>
        </p:txBody>
      </p:sp>
      <p:sp>
        <p:nvSpPr>
          <p:cNvPr id="74" name="TextBox 73"/>
          <p:cNvSpPr txBox="1"/>
          <p:nvPr/>
        </p:nvSpPr>
        <p:spPr>
          <a:xfrm>
            <a:off x="4178808" y="5074920"/>
            <a:ext cx="7040880" cy="1188720"/>
          </a:xfrm>
          <a:prstGeom prst="rect">
            <a:avLst/>
          </a:prstGeom>
          <a:noFill/>
        </p:spPr>
        <p:txBody>
          <a:bodyPr wrap="square" lIns="45720" tIns="27432" rIns="45720" bIns="27432" anchor="ctr">
            <a:spAutoFit/>
          </a:bodyPr>
          <a:lstStyle/>
          <a:p>
            <a:pPr algn="l">
              <a:spcAft>
                <a:spcPts val="0"/>
              </a:spcAft>
            </a:pPr>
            <a:r>
              <a:rPr sz="1800" b="0" i="0">
                <a:solidFill>
                  <a:srgbClr val="FFFFFF"/>
                </a:solidFill>
                <a:latin typeface="Calibri"/>
              </a:rPr>
              <a:t>agreement when 174 Java entities were judged twice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5</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Validation</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Two refinements, and the test that separates them</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35</a:t>
            </a:r>
          </a:p>
        </p:txBody>
      </p:sp>
      <p:graphicFrame>
        <p:nvGraphicFramePr>
          <p:cNvPr id="66" name="Table 65"/>
          <p:cNvGraphicFramePr>
            <a:graphicFrameLocks noGrp="1"/>
          </p:cNvGraphicFramePr>
          <p:nvPr/>
        </p:nvGraphicFramePr>
        <p:xfrm>
          <a:off x="612648" y="914400"/>
          <a:ext cx="10972800" cy="1645920"/>
        </p:xfrm>
        <a:graphic>
          <a:graphicData uri="http://schemas.openxmlformats.org/drawingml/2006/table">
            <a:tbl>
              <a:tblPr>
                <a:tableStyleId>{2D5ABB26-0587-4C30-8999-92F81FD0307C}</a:tableStyleId>
              </a:tblPr>
              <a:tblGrid>
                <a:gridCol w="329184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57200">
                <a:tc>
                  <a:txBody>
                    <a:bodyPr/>
                    <a:lstStyle/>
                    <a:p>
                      <a:pPr algn="l">
                        <a:spcAft>
                          <a:spcPts val="0"/>
                        </a:spcAft>
                      </a:pPr>
                      <a:r>
                        <a:rPr sz="1500" b="1" i="0">
                          <a:solidFill>
                            <a:srgbClr val="FFFFFF"/>
                          </a:solidFill>
                          <a:latin typeface="Calibri"/>
                        </a:rPr>
                        <a:t>Refinement</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500" b="1" i="0">
                          <a:solidFill>
                            <a:srgbClr val="FFFFFF"/>
                          </a:solidFill>
                          <a:latin typeface="Calibri"/>
                        </a:rPr>
                        <a:t>Derivation sample</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500" b="1" i="0">
                          <a:solidFill>
                            <a:srgbClr val="FFFFFF"/>
                          </a:solidFill>
                          <a:latin typeface="Calibri"/>
                        </a:rPr>
                        <a:t>Java holdout</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500" b="1" i="0">
                          <a:solidFill>
                            <a:srgbClr val="FFFFFF"/>
                          </a:solidFill>
                          <a:latin typeface="Calibri"/>
                        </a:rPr>
                        <a:t>Python, unchanged rule</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594360">
                <a:tc>
                  <a:txBody>
                    <a:bodyPr/>
                    <a:lstStyle/>
                    <a:p>
                      <a:pPr algn="l">
                        <a:spcAft>
                          <a:spcPts val="0"/>
                        </a:spcAft>
                      </a:pPr>
                      <a:r>
                        <a:rPr sz="1500" b="1" i="0">
                          <a:solidFill>
                            <a:srgbClr val="202A36"/>
                          </a:solidFill>
                          <a:latin typeface="Calibri"/>
                        </a:rPr>
                        <a:t>LSP, refused bequest only</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1.000 (31/31)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1.000 (33/33)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0.857 (6/7)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594360">
                <a:tc>
                  <a:txBody>
                    <a:bodyPr/>
                    <a:lstStyle/>
                    <a:p>
                      <a:pPr algn="l">
                        <a:spcAft>
                          <a:spcPts val="0"/>
                        </a:spcAft>
                      </a:pPr>
                      <a:r>
                        <a:rPr sz="1500" b="1" i="0">
                          <a:solidFill>
                            <a:srgbClr val="202A36"/>
                          </a:solidFill>
                          <a:latin typeface="Calibri"/>
                        </a:rPr>
                        <a:t>ISP, ≥30 members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0.862 (25/29)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0.704 (19/27)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0.200 (1/5)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bl>
          </a:graphicData>
        </a:graphic>
      </p:graphicFrame>
      <p:sp>
        <p:nvSpPr>
          <p:cNvPr id="67" name="Rounded Rectangle 66"/>
          <p:cNvSpPr/>
          <p:nvPr/>
        </p:nvSpPr>
        <p:spPr>
          <a:xfrm>
            <a:off x="612648" y="2834640"/>
            <a:ext cx="5394960" cy="34290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795528" y="2926080"/>
            <a:ext cx="5029200" cy="3246120"/>
          </a:xfrm>
          <a:prstGeom prst="rect">
            <a:avLst/>
          </a:prstGeom>
          <a:noFill/>
        </p:spPr>
        <p:txBody>
          <a:bodyPr wrap="square" lIns="45720" tIns="27432" rIns="45720" bIns="27432" anchor="ctr">
            <a:spAutoFit/>
          </a:bodyPr>
          <a:lstStyle/>
          <a:p>
            <a:pPr marL="182880" indent="-182880" algn="l">
              <a:spcAft>
                <a:spcPts val="1200"/>
              </a:spcAft>
              <a:buClr>
                <a:srgbClr val="1F9C82"/>
              </a:buClr>
              <a:buChar char="•"/>
            </a:pPr>
            <a:r>
              <a:rPr sz="1500" b="0" i="0">
                <a:solidFill>
                  <a:srgbClr val="2B3440"/>
                </a:solidFill>
                <a:latin typeface="Calibri"/>
              </a:rPr>
              <a:t>Refused bequest is </a:t>
            </a:r>
            <a:r>
              <a:rPr sz="1500" b="1" i="0">
                <a:solidFill>
                  <a:srgbClr val="2B3440"/>
                </a:solidFill>
                <a:latin typeface="Calibri"/>
              </a:rPr>
              <a:t>categorical:</a:t>
            </a:r>
            <a:r>
              <a:rPr sz="1500" b="0" i="0">
                <a:solidFill>
                  <a:srgbClr val="2B3440"/>
                </a:solidFill>
                <a:latin typeface="Calibri"/>
              </a:rPr>
              <a:t> a body either is only a throw, or it is not.</a:t>
            </a:r>
          </a:p>
          <a:p>
            <a:pPr marL="182880" indent="-182880" algn="l">
              <a:spcAft>
                <a:spcPts val="1200"/>
              </a:spcAft>
              <a:buClr>
                <a:srgbClr val="1F9C82"/>
              </a:buClr>
              <a:buChar char="•"/>
            </a:pPr>
            <a:r>
              <a:rPr sz="1500" b="0" i="0">
                <a:solidFill>
                  <a:srgbClr val="2B3440"/>
                </a:solidFill>
                <a:latin typeface="Calibri"/>
              </a:rPr>
              <a:t>A width of 30 was chosen where the false positives stopped, and absorbed the noise of that sample.</a:t>
            </a:r>
          </a:p>
        </p:txBody>
      </p:sp>
      <p:sp>
        <p:nvSpPr>
          <p:cNvPr id="69" name="Rounded Rectangle 68"/>
          <p:cNvSpPr/>
          <p:nvPr/>
        </p:nvSpPr>
        <p:spPr>
          <a:xfrm>
            <a:off x="6190488" y="2834640"/>
            <a:ext cx="5394960" cy="34290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373368" y="2926080"/>
            <a:ext cx="5029200" cy="3246120"/>
          </a:xfrm>
          <a:prstGeom prst="rect">
            <a:avLst/>
          </a:prstGeom>
          <a:noFill/>
        </p:spPr>
        <p:txBody>
          <a:bodyPr wrap="square" lIns="45720" tIns="27432" rIns="45720" bIns="27432" anchor="ctr">
            <a:spAutoFit/>
          </a:bodyPr>
          <a:lstStyle/>
          <a:p>
            <a:pPr marL="182880" indent="-182880" algn="l">
              <a:spcAft>
                <a:spcPts val="1200"/>
              </a:spcAft>
              <a:buClr>
                <a:srgbClr val="1F9C82"/>
              </a:buClr>
              <a:buChar char="•"/>
            </a:pPr>
            <a:r>
              <a:rPr sz="1500" b="0" i="0">
                <a:solidFill>
                  <a:srgbClr val="2B3440"/>
                </a:solidFill>
                <a:latin typeface="Calibri"/>
              </a:rPr>
              <a:t>Both rules were fixed on Java data before any Python label existed, so Python is a second, out-of-language test.</a:t>
            </a:r>
          </a:p>
          <a:p>
            <a:pPr marL="182880" indent="-182880" algn="l">
              <a:spcAft>
                <a:spcPts val="1200"/>
              </a:spcAft>
              <a:buClr>
                <a:srgbClr val="1F9C82"/>
              </a:buClr>
              <a:buChar char="•"/>
            </a:pPr>
            <a:r>
              <a:rPr sz="1500" b="1" i="0">
                <a:solidFill>
                  <a:srgbClr val="2B3440"/>
                </a:solidFill>
                <a:latin typeface="Calibri"/>
              </a:rPr>
              <a:t>Lesson:</a:t>
            </a:r>
            <a:r>
              <a:rPr sz="1500" b="0" i="0">
                <a:solidFill>
                  <a:srgbClr val="2B3440"/>
                </a:solidFill>
                <a:latin typeface="Calibri"/>
              </a:rPr>
              <a:t> a rule that names a shape of code transfers; a tuned number does not.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5</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Validation</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600" b="1" i="0">
                <a:solidFill>
                  <a:srgbClr val="202A36"/>
                </a:solidFill>
                <a:latin typeface="Arial"/>
              </a:rPr>
              <a:t>“Three of your detectors are weak. Can you fix them?”</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36</a:t>
            </a:r>
          </a:p>
        </p:txBody>
      </p:sp>
      <p:graphicFrame>
        <p:nvGraphicFramePr>
          <p:cNvPr id="66" name="Table 65"/>
          <p:cNvGraphicFramePr>
            <a:graphicFrameLocks noGrp="1"/>
          </p:cNvGraphicFramePr>
          <p:nvPr/>
        </p:nvGraphicFramePr>
        <p:xfrm>
          <a:off x="612648" y="914400"/>
          <a:ext cx="10972800" cy="3657600"/>
        </p:xfrm>
        <a:graphic>
          <a:graphicData uri="http://schemas.openxmlformats.org/drawingml/2006/table">
            <a:tbl>
              <a:tblPr>
                <a:tableStyleId>{2D5ABB26-0587-4C30-8999-92F81FD0307C}</a:tableStyleId>
              </a:tblPr>
              <a:tblGrid>
                <a:gridCol w="118872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7498080">
                  <a:extLst>
                    <a:ext uri="{9D8B030D-6E8A-4147-A177-3AD203B41FA5}">
                      <a16:colId xmlns:a16="http://schemas.microsoft.com/office/drawing/2014/main" val="20002"/>
                    </a:ext>
                  </a:extLst>
                </a:gridCol>
              </a:tblGrid>
              <a:tr h="457200">
                <a:tc>
                  <a:txBody>
                    <a:bodyPr/>
                    <a:lstStyle/>
                    <a:p>
                      <a:pPr algn="l">
                        <a:spcAft>
                          <a:spcPts val="0"/>
                        </a:spcAft>
                      </a:pPr>
                      <a:r>
                        <a:rPr sz="1400" b="1" i="0">
                          <a:solidFill>
                            <a:srgbClr val="FFFFFF"/>
                          </a:solidFill>
                          <a:latin typeface="Calibri"/>
                        </a:rPr>
                        <a:t>Principle</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400" b="1" i="0">
                          <a:solidFill>
                            <a:srgbClr val="FFFFFF"/>
                          </a:solidFill>
                          <a:latin typeface="Calibri"/>
                        </a:rPr>
                        <a:t>Can tuning fix it?</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400" b="1" i="0">
                          <a:solidFill>
                            <a:srgbClr val="FFFFFF"/>
                          </a:solidFill>
                          <a:latin typeface="Calibri"/>
                        </a:rPr>
                        <a:t>Evidence</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640080">
                <a:tc>
                  <a:txBody>
                    <a:bodyPr/>
                    <a:lstStyle/>
                    <a:p>
                      <a:pPr algn="l">
                        <a:spcAft>
                          <a:spcPts val="0"/>
                        </a:spcAft>
                      </a:pPr>
                      <a:r>
                        <a:rPr sz="1400" b="1" i="0">
                          <a:solidFill>
                            <a:srgbClr val="202A36"/>
                          </a:solidFill>
                          <a:latin typeface="Calibri"/>
                        </a:rPr>
                        <a:t>SRP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Not by a threshold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0.350 Java, 0.110 Python. The Python false positives are classes whose size a framework imposes: that needs framework awareness, not a new number</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640080">
                <a:tc>
                  <a:txBody>
                    <a:bodyPr/>
                    <a:lstStyle/>
                    <a:p>
                      <a:pPr algn="l">
                        <a:spcAft>
                          <a:spcPts val="0"/>
                        </a:spcAft>
                      </a:pPr>
                      <a:r>
                        <a:rPr sz="1400" b="1" i="0">
                          <a:solidFill>
                            <a:srgbClr val="202A36"/>
                          </a:solidFill>
                          <a:latin typeface="Calibri"/>
                        </a:rPr>
                        <a:t>OCP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1" i="0">
                          <a:solidFill>
                            <a:srgbClr val="B03A36"/>
                          </a:solidFill>
                          <a:latin typeface="Calibri"/>
                        </a:rPr>
                        <a:t>No threshold exists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0" i="0">
                          <a:solidFill>
                            <a:srgbClr val="2B3440"/>
                          </a:solidFill>
                          <a:latin typeface="Calibri"/>
                        </a:rPr>
                        <a:t>Precision by branch count: 0.270, 0.391, 0.316, 0.400, 0.364. Flat. A 64-branch switch over protocol codes is closed, a 5-branch one over backends is open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640080">
                <a:tc>
                  <a:txBody>
                    <a:bodyPr/>
                    <a:lstStyle/>
                    <a:p>
                      <a:pPr algn="l">
                        <a:spcAft>
                          <a:spcPts val="0"/>
                        </a:spcAft>
                      </a:pPr>
                      <a:r>
                        <a:rPr sz="1400" b="1" i="0">
                          <a:solidFill>
                            <a:srgbClr val="202A36"/>
                          </a:solidFill>
                          <a:latin typeface="Calibri"/>
                        </a:rPr>
                        <a:t>LSP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1" i="0">
                          <a:solidFill>
                            <a:srgbClr val="1B7F68"/>
                          </a:solidFill>
                          <a:latin typeface="Calibri"/>
                        </a:rPr>
                        <a:t>Already done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0.420 → 1.000 restricted to refused bequest; holdout 33/33, Python 6/7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640080">
                <a:tc>
                  <a:txBody>
                    <a:bodyPr/>
                    <a:lstStyle/>
                    <a:p>
                      <a:pPr algn="l">
                        <a:spcAft>
                          <a:spcPts val="0"/>
                        </a:spcAft>
                      </a:pPr>
                      <a:r>
                        <a:rPr sz="1400" b="1" i="0">
                          <a:solidFill>
                            <a:srgbClr val="202A36"/>
                          </a:solidFill>
                          <a:latin typeface="Calibri"/>
                        </a:rPr>
                        <a:t>ISP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1" i="0">
                          <a:solidFill>
                            <a:srgbClr val="B03A36"/>
                          </a:solidFill>
                          <a:latin typeface="Calibri"/>
                        </a:rPr>
                        <a:t>Tried, and it failed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0" i="0">
                          <a:solidFill>
                            <a:srgbClr val="2B3440"/>
                          </a:solidFill>
                          <a:latin typeface="Calibri"/>
                        </a:rPr>
                        <a:t>The ≥30 rule: 0.862 where derived, 0.704 on the holdout, 0.200 in Python, outside its own interval</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r h="640080">
                <a:tc>
                  <a:txBody>
                    <a:bodyPr/>
                    <a:lstStyle/>
                    <a:p>
                      <a:pPr algn="l">
                        <a:spcAft>
                          <a:spcPts val="0"/>
                        </a:spcAft>
                      </a:pPr>
                      <a:r>
                        <a:rPr sz="1400" b="1" i="0">
                          <a:solidFill>
                            <a:srgbClr val="202A36"/>
                          </a:solidFill>
                          <a:latin typeface="Calibri"/>
                        </a:rPr>
                        <a:t>DIP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Nothing to fix</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0.892 on a census of all 195 Java flags, 1.000 in Python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5"/>
                  </a:ext>
                </a:extLst>
              </a:tr>
            </a:tbl>
          </a:graphicData>
        </a:graphic>
      </p:graphicFrame>
      <p:sp>
        <p:nvSpPr>
          <p:cNvPr id="67" name="Rounded Rectangle 66"/>
          <p:cNvSpPr/>
          <p:nvPr/>
        </p:nvSpPr>
        <p:spPr>
          <a:xfrm>
            <a:off x="612648" y="4800600"/>
            <a:ext cx="10972800" cy="100584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Hexagon 67"/>
          <p:cNvSpPr/>
          <p:nvPr/>
        </p:nvSpPr>
        <p:spPr>
          <a:xfrm>
            <a:off x="813816" y="516636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252728" y="4800600"/>
            <a:ext cx="10149840" cy="100584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A reported precision is the answer to RQ2, not a defect to hide.</a:t>
            </a:r>
            <a:r>
              <a:rPr sz="1400" b="0" i="0">
                <a:solidFill>
                  <a:srgbClr val="FFFFFF"/>
                </a:solidFill>
                <a:latin typeface="Calibri"/>
              </a:rPr>
              <a:t> Every rate here is already corrected by it: 7,501 SRP flags become about 2,600 genuine ones.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5</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Validation</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Second check: three published analysers (Java)</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37</a:t>
            </a:r>
          </a:p>
        </p:txBody>
      </p:sp>
      <p:graphicFrame>
        <p:nvGraphicFramePr>
          <p:cNvPr id="66" name="Table 65"/>
          <p:cNvGraphicFramePr>
            <a:graphicFrameLocks noGrp="1"/>
          </p:cNvGraphicFramePr>
          <p:nvPr/>
        </p:nvGraphicFramePr>
        <p:xfrm>
          <a:off x="612648" y="914400"/>
          <a:ext cx="5212080" cy="4572000"/>
        </p:xfrm>
        <a:graphic>
          <a:graphicData uri="http://schemas.openxmlformats.org/drawingml/2006/table">
            <a:tbl>
              <a:tblPr>
                <a:tableStyleId>{2D5ABB26-0587-4C30-8999-92F81FD0307C}</a:tableStyleId>
              </a:tblPr>
              <a:tblGrid>
                <a:gridCol w="36576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457200">
                <a:tc>
                  <a:txBody>
                    <a:bodyPr/>
                    <a:lstStyle/>
                    <a:p>
                      <a:pPr algn="l">
                        <a:spcAft>
                          <a:spcPts val="0"/>
                        </a:spcAft>
                      </a:pPr>
                      <a:r>
                        <a:rPr sz="1400" b="1" i="0">
                          <a:solidFill>
                            <a:srgbClr val="202A36"/>
                          </a:solidFill>
                          <a:latin typeface="Calibri"/>
                        </a:rPr>
                        <a:t>God Class detectors, 82,553 types</a:t>
                      </a:r>
                    </a:p>
                  </a:txBody>
                  <a:tcPr marL="73152" marR="73152" marT="27432" marB="27432" anchor="ctr">
                    <a:lnL w="0">
                      <a:noFill/>
                    </a:lnL>
                    <a:lnR w="0">
                      <a:noFill/>
                    </a:lnR>
                    <a:lnT w="0">
                      <a:noFill/>
                    </a:lnT>
                    <a:lnB w="6350">
                      <a:solidFill>
                        <a:srgbClr val="C9D0D8"/>
                      </a:solidFill>
                    </a:lnB>
                    <a:solidFill>
                      <a:srgbClr val="D9DFE6"/>
                    </a:solidFill>
                  </a:tcPr>
                </a:tc>
                <a:tc>
                  <a:txBody>
                    <a:bodyPr/>
                    <a:lstStyle/>
                    <a:p>
                      <a:pPr algn="l">
                        <a:spcAft>
                          <a:spcPts val="0"/>
                        </a:spcAft>
                      </a:pPr>
                      <a:r>
                        <a:rPr sz="1400" b="1" i="0">
                          <a:solidFill>
                            <a:srgbClr val="202A36"/>
                          </a:solidFill>
                          <a:latin typeface="Calibri"/>
                        </a:rPr>
                        <a:t>Cohen’s κ</a:t>
                      </a:r>
                    </a:p>
                  </a:txBody>
                  <a:tcPr marL="73152" marR="73152" marT="27432" marB="27432" anchor="ctr">
                    <a:lnL w="0">
                      <a:noFill/>
                    </a:lnL>
                    <a:lnR w="0">
                      <a:noFill/>
                    </a:lnR>
                    <a:lnT w="0">
                      <a:noFill/>
                    </a:lnT>
                    <a:lnB w="6350">
                      <a:solidFill>
                        <a:srgbClr val="C9D0D8"/>
                      </a:solidFill>
                    </a:lnB>
                    <a:solidFill>
                      <a:srgbClr val="D9DFE6"/>
                    </a:solidFill>
                  </a:tcPr>
                </a:tc>
                <a:extLst>
                  <a:ext uri="{0D108BD9-81ED-4DB2-BD59-A6C34878D82A}">
                    <a16:rowId xmlns:a16="http://schemas.microsoft.com/office/drawing/2014/main" val="10000"/>
                  </a:ext>
                </a:extLst>
              </a:tr>
              <a:tr h="457200">
                <a:tc>
                  <a:txBody>
                    <a:bodyPr/>
                    <a:lstStyle/>
                    <a:p>
                      <a:pPr algn="l">
                        <a:spcAft>
                          <a:spcPts val="0"/>
                        </a:spcAft>
                      </a:pPr>
                      <a:r>
                        <a:rPr sz="1400" b="0" i="0">
                          <a:solidFill>
                            <a:srgbClr val="2B3440"/>
                          </a:solidFill>
                          <a:latin typeface="Calibri"/>
                        </a:rPr>
                        <a:t>ours vs PMD GodClass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0.574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457200">
                <a:tc>
                  <a:txBody>
                    <a:bodyPr/>
                    <a:lstStyle/>
                    <a:p>
                      <a:pPr algn="l">
                        <a:spcAft>
                          <a:spcPts val="0"/>
                        </a:spcAft>
                      </a:pPr>
                      <a:r>
                        <a:rPr sz="1400" b="0" i="0">
                          <a:solidFill>
                            <a:srgbClr val="2B3440"/>
                          </a:solidFill>
                          <a:latin typeface="Calibri"/>
                        </a:rPr>
                        <a:t>ours vs DesigniteJava</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0.531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2"/>
                  </a:ext>
                </a:extLst>
              </a:tr>
              <a:tr h="457200">
                <a:tc>
                  <a:txBody>
                    <a:bodyPr/>
                    <a:lstStyle/>
                    <a:p>
                      <a:pPr algn="l">
                        <a:spcAft>
                          <a:spcPts val="0"/>
                        </a:spcAft>
                      </a:pPr>
                      <a:r>
                        <a:rPr sz="1400" b="0" i="0">
                          <a:solidFill>
                            <a:srgbClr val="2B3440"/>
                          </a:solidFill>
                          <a:latin typeface="Calibri"/>
                        </a:rPr>
                        <a:t>PMD vs DesigniteJava</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0.384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457200">
                <a:tc>
                  <a:txBody>
                    <a:bodyPr/>
                    <a:lstStyle/>
                    <a:p>
                      <a:pPr algn="l">
                        <a:spcAft>
                          <a:spcPts val="0"/>
                        </a:spcAft>
                      </a:pPr>
                      <a:r>
                        <a:rPr sz="1400" b="1" i="0">
                          <a:solidFill>
                            <a:srgbClr val="202A36"/>
                          </a:solidFill>
                          <a:latin typeface="Calibri"/>
                        </a:rPr>
                        <a:t>Open/Closed, 63,326 types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9DFE6"/>
                    </a:solidFill>
                  </a:tcPr>
                </a:tc>
                <a:tc>
                  <a:txBody>
                    <a:bodyPr/>
                    <a:lstStyle/>
                    <a:p>
                      <a:pPr algn="l">
                        <a:spcAft>
                          <a:spcPts val="0"/>
                        </a:spcAft>
                      </a:pPr>
                      <a:endParaRP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9DFE6"/>
                    </a:solidFill>
                  </a:tcPr>
                </a:tc>
                <a:extLst>
                  <a:ext uri="{0D108BD9-81ED-4DB2-BD59-A6C34878D82A}">
                    <a16:rowId xmlns:a16="http://schemas.microsoft.com/office/drawing/2014/main" val="10004"/>
                  </a:ext>
                </a:extLst>
              </a:tr>
              <a:tr h="457200">
                <a:tc>
                  <a:txBody>
                    <a:bodyPr/>
                    <a:lstStyle/>
                    <a:p>
                      <a:pPr algn="l">
                        <a:spcAft>
                          <a:spcPts val="0"/>
                        </a:spcAft>
                      </a:pPr>
                      <a:r>
                        <a:rPr sz="1400" b="0" i="0">
                          <a:solidFill>
                            <a:srgbClr val="2B3440"/>
                          </a:solidFill>
                          <a:latin typeface="Calibri"/>
                        </a:rPr>
                        <a:t>ours vs Designite type-conditional</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1" i="0">
                          <a:solidFill>
                            <a:srgbClr val="B03A36"/>
                          </a:solidFill>
                          <a:latin typeface="Calibri"/>
                        </a:rPr>
                        <a:t>0.122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5"/>
                  </a:ext>
                </a:extLst>
              </a:tr>
              <a:tr h="457200">
                <a:tc>
                  <a:txBody>
                    <a:bodyPr/>
                    <a:lstStyle/>
                    <a:p>
                      <a:pPr algn="l">
                        <a:spcAft>
                          <a:spcPts val="0"/>
                        </a:spcAft>
                      </a:pPr>
                      <a:r>
                        <a:rPr sz="1400" b="1" i="0">
                          <a:solidFill>
                            <a:srgbClr val="202A36"/>
                          </a:solidFill>
                          <a:latin typeface="Calibri"/>
                        </a:rPr>
                        <a:t>Rank correlation with CK</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9DFE6"/>
                    </a:solidFill>
                  </a:tcPr>
                </a:tc>
                <a:tc>
                  <a:txBody>
                    <a:bodyPr/>
                    <a:lstStyle/>
                    <a:p>
                      <a:pPr algn="l">
                        <a:spcAft>
                          <a:spcPts val="0"/>
                        </a:spcAft>
                      </a:pPr>
                      <a:r>
                        <a:rPr sz="1400" b="1" i="0">
                          <a:solidFill>
                            <a:srgbClr val="202A36"/>
                          </a:solidFill>
                          <a:latin typeface="Calibri"/>
                        </a:rPr>
                        <a:t>ρ</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9DFE6"/>
                    </a:solidFill>
                  </a:tcPr>
                </a:tc>
                <a:extLst>
                  <a:ext uri="{0D108BD9-81ED-4DB2-BD59-A6C34878D82A}">
                    <a16:rowId xmlns:a16="http://schemas.microsoft.com/office/drawing/2014/main" val="10006"/>
                  </a:ext>
                </a:extLst>
              </a:tr>
              <a:tr h="457200">
                <a:tc>
                  <a:txBody>
                    <a:bodyPr/>
                    <a:lstStyle/>
                    <a:p>
                      <a:pPr algn="l">
                        <a:spcAft>
                          <a:spcPts val="0"/>
                        </a:spcAft>
                      </a:pPr>
                      <a:r>
                        <a:rPr sz="1400" b="0" i="0">
                          <a:solidFill>
                            <a:srgbClr val="2B3440"/>
                          </a:solidFill>
                          <a:latin typeface="Calibri"/>
                        </a:rPr>
                        <a:t>weighted methods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0.977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7"/>
                  </a:ext>
                </a:extLst>
              </a:tr>
              <a:tr h="457200">
                <a:tc>
                  <a:txBody>
                    <a:bodyPr/>
                    <a:lstStyle/>
                    <a:p>
                      <a:pPr algn="l">
                        <a:spcAft>
                          <a:spcPts val="0"/>
                        </a:spcAft>
                      </a:pPr>
                      <a:r>
                        <a:rPr sz="1400" b="0" i="0">
                          <a:solidFill>
                            <a:srgbClr val="2B3440"/>
                          </a:solidFill>
                          <a:latin typeface="Calibri"/>
                        </a:rPr>
                        <a:t>lines of code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0.944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8"/>
                  </a:ext>
                </a:extLst>
              </a:tr>
              <a:tr h="457200">
                <a:tc>
                  <a:txBody>
                    <a:bodyPr/>
                    <a:lstStyle/>
                    <a:p>
                      <a:pPr algn="l">
                        <a:spcAft>
                          <a:spcPts val="0"/>
                        </a:spcAft>
                      </a:pPr>
                      <a:r>
                        <a:rPr sz="1400" b="0" i="0">
                          <a:solidFill>
                            <a:srgbClr val="2B3440"/>
                          </a:solidFill>
                          <a:latin typeface="Calibri"/>
                        </a:rPr>
                        <a:t>cohesion (LCOM1)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0.288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9"/>
                  </a:ext>
                </a:extLst>
              </a:tr>
            </a:tbl>
          </a:graphicData>
        </a:graphic>
      </p:graphicFrame>
      <p:sp>
        <p:nvSpPr>
          <p:cNvPr id="67" name="Rounded Rectangle 66"/>
          <p:cNvSpPr/>
          <p:nvPr/>
        </p:nvSpPr>
        <p:spPr>
          <a:xfrm>
            <a:off x="6172200" y="914400"/>
            <a:ext cx="5413248"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355080" y="914400"/>
            <a:ext cx="5047488"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150 random repositories, tools at their own default thresholds</a:t>
            </a:r>
          </a:p>
        </p:txBody>
      </p:sp>
      <p:sp>
        <p:nvSpPr>
          <p:cNvPr id="69" name="Rounded Rectangle 68"/>
          <p:cNvSpPr/>
          <p:nvPr/>
        </p:nvSpPr>
        <p:spPr>
          <a:xfrm>
            <a:off x="6172200" y="2034540"/>
            <a:ext cx="5413248"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355080" y="2034540"/>
            <a:ext cx="5047488"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Our rubric agrees with each tool more than the two tools agree with each other</a:t>
            </a:r>
          </a:p>
        </p:txBody>
      </p:sp>
      <p:sp>
        <p:nvSpPr>
          <p:cNvPr id="71" name="Rounded Rectangle 70"/>
          <p:cNvSpPr/>
          <p:nvPr/>
        </p:nvSpPr>
        <p:spPr>
          <a:xfrm>
            <a:off x="6172200" y="3154680"/>
            <a:ext cx="5413248"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355080" y="3154680"/>
            <a:ext cx="5047488"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68.0% of our flags are confirmed by at least one of them</a:t>
            </a:r>
          </a:p>
        </p:txBody>
      </p:sp>
      <p:sp>
        <p:nvSpPr>
          <p:cNvPr id="73" name="Rounded Rectangle 72"/>
          <p:cNvSpPr/>
          <p:nvPr/>
        </p:nvSpPr>
        <p:spPr>
          <a:xfrm>
            <a:off x="6172200" y="4274820"/>
            <a:ext cx="5413248"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355080" y="4274820"/>
            <a:ext cx="5047488" cy="91440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Cohesion disagrees everywhere, including CK with itself (0.490)</a:t>
            </a:r>
          </a:p>
        </p:txBody>
      </p:sp>
      <p:sp>
        <p:nvSpPr>
          <p:cNvPr id="75" name="Rounded Rectangle 74"/>
          <p:cNvSpPr/>
          <p:nvPr/>
        </p:nvSpPr>
        <p:spPr>
          <a:xfrm>
            <a:off x="6172200" y="5394960"/>
            <a:ext cx="5413248" cy="914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355080" y="5394960"/>
            <a:ext cx="5047488" cy="914400"/>
          </a:xfrm>
          <a:prstGeom prst="rect">
            <a:avLst/>
          </a:prstGeom>
          <a:noFill/>
        </p:spPr>
        <p:txBody>
          <a:bodyPr wrap="square" lIns="36576" tIns="36576" rIns="36576" bIns="36576" anchor="ctr">
            <a:spAutoFit/>
          </a:bodyPr>
          <a:lstStyle/>
          <a:p>
            <a:pPr algn="l">
              <a:spcAft>
                <a:spcPts val="300"/>
              </a:spcAft>
            </a:pPr>
            <a:r>
              <a:rPr sz="1400" b="1" i="0">
                <a:solidFill>
                  <a:srgbClr val="2B3440"/>
                </a:solidFill>
                <a:latin typeface="Calibri"/>
              </a:rPr>
              <a:t>Open/Closed is the exception:</a:t>
            </a:r>
            <a:r>
              <a:rPr sz="1400" b="0" i="0">
                <a:solidFill>
                  <a:srgbClr val="2B3440"/>
                </a:solidFill>
                <a:latin typeface="Calibri"/>
              </a:rPr>
              <a:t> it fires 3× as often as Designite’s smells and shares only 76 types, so it rests on the judge alone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6" name="组合 55"/>
          <p:cNvGrpSpPr/>
          <p:nvPr/>
        </p:nvGrpSpPr>
        <p:grpSpPr>
          <a:xfrm>
            <a:off x="2052459" y="1413384"/>
            <a:ext cx="2036802" cy="2036802"/>
            <a:chOff x="8077074" y="845254"/>
            <a:chExt cx="2036802" cy="2036802"/>
          </a:xfrm>
        </p:grpSpPr>
        <p:sp>
          <p:nvSpPr>
            <p:cNvPr id="57" name="椭圆 56"/>
            <p:cNvSpPr/>
            <p:nvPr/>
          </p:nvSpPr>
          <p:spPr>
            <a:xfrm>
              <a:off x="8077074" y="845254"/>
              <a:ext cx="2036802" cy="2036802"/>
            </a:xfrm>
            <a:prstGeom prst="ellipse">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Freeform 126"/>
            <p:cNvSpPr>
              <a:spLocks noChangeAspect="1" noEditPoints="1"/>
            </p:cNvSpPr>
            <p:nvPr/>
          </p:nvSpPr>
          <p:spPr bwMode="auto">
            <a:xfrm>
              <a:off x="8639337" y="1292886"/>
              <a:ext cx="912277" cy="1141539"/>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lumMod val="95000"/>
              </a:schemeClr>
            </a:solidFill>
            <a:ln>
              <a:noFill/>
            </a:ln>
          </p:spPr>
          <p:txBody>
            <a:bodyPr vert="horz" wrap="square" lIns="91440" tIns="45720" rIns="91440" bIns="45720" numCol="1" anchor="t" anchorCtr="0" compatLnSpc="1"/>
            <a:lstStyle/>
            <a:p>
              <a:endParaRPr lang="zh-CN" altLang="en-US">
                <a:latin typeface="Arial" panose="020B0604020202020204" pitchFamily="34" charset="0"/>
                <a:cs typeface="Arial" panose="020B0604020202020204" pitchFamily="34" charset="0"/>
              </a:endParaRPr>
            </a:p>
          </p:txBody>
        </p:sp>
      </p:grpSp>
      <p:sp>
        <p:nvSpPr>
          <p:cNvPr id="59" name="矩形 58"/>
          <p:cNvSpPr/>
          <p:nvPr/>
        </p:nvSpPr>
        <p:spPr>
          <a:xfrm>
            <a:off x="6095999" y="0"/>
            <a:ext cx="6099175" cy="6858000"/>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TextBox 59"/>
          <p:cNvSpPr txBox="1"/>
          <p:nvPr/>
        </p:nvSpPr>
        <p:spPr>
          <a:xfrm>
            <a:off x="457200" y="3749040"/>
            <a:ext cx="5184648" cy="548640"/>
          </a:xfrm>
          <a:prstGeom prst="rect">
            <a:avLst/>
          </a:prstGeom>
          <a:noFill/>
        </p:spPr>
        <p:txBody>
          <a:bodyPr wrap="square" lIns="45720" tIns="27432" rIns="45720" bIns="27432" anchor="t">
            <a:spAutoFit/>
          </a:bodyPr>
          <a:lstStyle/>
          <a:p>
            <a:pPr algn="ctr">
              <a:spcAft>
                <a:spcPts val="0"/>
              </a:spcAft>
            </a:pPr>
            <a:r>
              <a:rPr sz="2800" b="1" i="0">
                <a:solidFill>
                  <a:srgbClr val="46CEAE"/>
                </a:solidFill>
                <a:latin typeface="Arial"/>
              </a:rPr>
              <a:t>Part 6</a:t>
            </a:r>
          </a:p>
        </p:txBody>
      </p:sp>
      <p:sp>
        <p:nvSpPr>
          <p:cNvPr id="61" name="TextBox 60"/>
          <p:cNvSpPr txBox="1"/>
          <p:nvPr/>
        </p:nvSpPr>
        <p:spPr>
          <a:xfrm>
            <a:off x="457200" y="4315968"/>
            <a:ext cx="5184648" cy="1737360"/>
          </a:xfrm>
          <a:prstGeom prst="rect">
            <a:avLst/>
          </a:prstGeom>
          <a:noFill/>
        </p:spPr>
        <p:txBody>
          <a:bodyPr wrap="square" lIns="45720" tIns="27432" rIns="45720" bIns="27432" anchor="t">
            <a:spAutoFit/>
          </a:bodyPr>
          <a:lstStyle/>
          <a:p>
            <a:pPr algn="ctr">
              <a:lnSpc>
                <a:spcPct val="95000"/>
              </a:lnSpc>
              <a:spcAft>
                <a:spcPts val="0"/>
              </a:spcAft>
            </a:pPr>
            <a:r>
              <a:rPr sz="3200" b="1" i="0">
                <a:solidFill>
                  <a:srgbClr val="202A36"/>
                </a:solidFill>
                <a:latin typeface="Arial"/>
              </a:rPr>
              <a:t>Results</a:t>
            </a:r>
          </a:p>
        </p:txBody>
      </p:sp>
      <p:cxnSp>
        <p:nvCxnSpPr>
          <p:cNvPr id="62" name="Connector 61"/>
          <p:cNvCxnSpPr/>
          <p:nvPr/>
        </p:nvCxnSpPr>
        <p:spPr>
          <a:xfrm>
            <a:off x="7863840" y="1088136"/>
            <a:ext cx="0" cy="4681728"/>
          </a:xfrm>
          <a:prstGeom prst="line">
            <a:avLst/>
          </a:prstGeom>
          <a:ln w="19050">
            <a:solidFill>
              <a:srgbClr val="8E98A5"/>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7790688" y="1380744"/>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8229600" y="1252728"/>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How often principles are violated</a:t>
            </a:r>
          </a:p>
        </p:txBody>
      </p:sp>
      <p:sp>
        <p:nvSpPr>
          <p:cNvPr id="65" name="Oval 64"/>
          <p:cNvSpPr/>
          <p:nvPr/>
        </p:nvSpPr>
        <p:spPr>
          <a:xfrm>
            <a:off x="7790688" y="2039112"/>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8229600" y="1911096"/>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Flag rate by agent</a:t>
            </a:r>
          </a:p>
        </p:txBody>
      </p:sp>
      <p:sp>
        <p:nvSpPr>
          <p:cNvPr id="67" name="Oval 66"/>
          <p:cNvSpPr/>
          <p:nvPr/>
        </p:nvSpPr>
        <p:spPr>
          <a:xfrm>
            <a:off x="7790688" y="2697480"/>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229600" y="2569464"/>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Is the instrument fair?</a:t>
            </a:r>
          </a:p>
        </p:txBody>
      </p:sp>
      <p:sp>
        <p:nvSpPr>
          <p:cNvPr id="69" name="Oval 68"/>
          <p:cNvSpPr/>
          <p:nvPr/>
        </p:nvSpPr>
        <p:spPr>
          <a:xfrm>
            <a:off x="7790688" y="3355848"/>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8229600" y="3227832"/>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Change size and the joint model</a:t>
            </a:r>
          </a:p>
        </p:txBody>
      </p:sp>
      <p:sp>
        <p:nvSpPr>
          <p:cNvPr id="71" name="Oval 70"/>
          <p:cNvSpPr/>
          <p:nvPr/>
        </p:nvSpPr>
        <p:spPr>
          <a:xfrm>
            <a:off x="7790688" y="4014216"/>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229600" y="3886200"/>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Merged against unmerged code</a:t>
            </a:r>
          </a:p>
        </p:txBody>
      </p:sp>
      <p:sp>
        <p:nvSpPr>
          <p:cNvPr id="73" name="Oval 72"/>
          <p:cNvSpPr/>
          <p:nvPr/>
        </p:nvSpPr>
        <p:spPr>
          <a:xfrm>
            <a:off x="7790688" y="4672584"/>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229600" y="4544568"/>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Where the problems live</a:t>
            </a:r>
          </a:p>
        </p:txBody>
      </p:sp>
      <p:sp>
        <p:nvSpPr>
          <p:cNvPr id="75" name="Oval 74"/>
          <p:cNvSpPr/>
          <p:nvPr/>
        </p:nvSpPr>
        <p:spPr>
          <a:xfrm>
            <a:off x="7790688" y="5330952"/>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229600" y="5202936"/>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Repair or damage?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6</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Results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How often agents actually violate each principle</a:t>
            </a:r>
          </a:p>
        </p:txBody>
      </p:sp>
      <p:sp>
        <p:nvSpPr>
          <p:cNvPr id="65" name="TextBox 64"/>
          <p:cNvSpPr txBox="1"/>
          <p:nvPr/>
        </p:nvSpPr>
        <p:spPr>
          <a:xfrm>
            <a:off x="612648" y="548640"/>
            <a:ext cx="10972800" cy="292608"/>
          </a:xfrm>
          <a:prstGeom prst="rect">
            <a:avLst/>
          </a:prstGeom>
          <a:noFill/>
        </p:spPr>
        <p:txBody>
          <a:bodyPr wrap="square" lIns="18288" tIns="0" rIns="18288" bIns="0" anchor="ctr">
            <a:spAutoFit/>
          </a:bodyPr>
          <a:lstStyle/>
          <a:p>
            <a:pPr algn="l">
              <a:spcAft>
                <a:spcPts val="0"/>
              </a:spcAft>
            </a:pPr>
            <a:r>
              <a:rPr sz="1250" b="0" i="1">
                <a:solidFill>
                  <a:srgbClr val="5C6773"/>
                </a:solidFill>
                <a:latin typeface="Calibri"/>
              </a:rPr>
              <a:t>raw flag rate, corrected by the measured precision of its own detector</a:t>
            </a:r>
          </a:p>
        </p:txBody>
      </p:sp>
      <p:sp>
        <p:nvSpPr>
          <p:cNvPr id="66" name="TextBox 65"/>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39</a:t>
            </a:r>
          </a:p>
        </p:txBody>
      </p:sp>
      <p:graphicFrame>
        <p:nvGraphicFramePr>
          <p:cNvPr id="67" name="Table 66"/>
          <p:cNvGraphicFramePr>
            <a:graphicFrameLocks noGrp="1"/>
          </p:cNvGraphicFramePr>
          <p:nvPr/>
        </p:nvGraphicFramePr>
        <p:xfrm>
          <a:off x="612648" y="1005840"/>
          <a:ext cx="10972800" cy="3200400"/>
        </p:xfrm>
        <a:graphic>
          <a:graphicData uri="http://schemas.openxmlformats.org/drawingml/2006/table">
            <a:tbl>
              <a:tblPr>
                <a:tableStyleId>{2D5ABB26-0587-4C30-8999-92F81FD0307C}</a:tableStyleId>
              </a:tblPr>
              <a:tblGrid>
                <a:gridCol w="10972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040130">
                  <a:extLst>
                    <a:ext uri="{9D8B030D-6E8A-4147-A177-3AD203B41FA5}">
                      <a16:colId xmlns:a16="http://schemas.microsoft.com/office/drawing/2014/main" val="20002"/>
                    </a:ext>
                  </a:extLst>
                </a:gridCol>
                <a:gridCol w="1040130">
                  <a:extLst>
                    <a:ext uri="{9D8B030D-6E8A-4147-A177-3AD203B41FA5}">
                      <a16:colId xmlns:a16="http://schemas.microsoft.com/office/drawing/2014/main" val="20003"/>
                    </a:ext>
                  </a:extLst>
                </a:gridCol>
                <a:gridCol w="1040130">
                  <a:extLst>
                    <a:ext uri="{9D8B030D-6E8A-4147-A177-3AD203B41FA5}">
                      <a16:colId xmlns:a16="http://schemas.microsoft.com/office/drawing/2014/main" val="20004"/>
                    </a:ext>
                  </a:extLst>
                </a:gridCol>
                <a:gridCol w="1040130">
                  <a:extLst>
                    <a:ext uri="{9D8B030D-6E8A-4147-A177-3AD203B41FA5}">
                      <a16:colId xmlns:a16="http://schemas.microsoft.com/office/drawing/2014/main" val="20005"/>
                    </a:ext>
                  </a:extLst>
                </a:gridCol>
                <a:gridCol w="1040130">
                  <a:extLst>
                    <a:ext uri="{9D8B030D-6E8A-4147-A177-3AD203B41FA5}">
                      <a16:colId xmlns:a16="http://schemas.microsoft.com/office/drawing/2014/main" val="20006"/>
                    </a:ext>
                  </a:extLst>
                </a:gridCol>
                <a:gridCol w="1040130">
                  <a:extLst>
                    <a:ext uri="{9D8B030D-6E8A-4147-A177-3AD203B41FA5}">
                      <a16:colId xmlns:a16="http://schemas.microsoft.com/office/drawing/2014/main" val="20007"/>
                    </a:ext>
                  </a:extLst>
                </a:gridCol>
                <a:gridCol w="1040130">
                  <a:extLst>
                    <a:ext uri="{9D8B030D-6E8A-4147-A177-3AD203B41FA5}">
                      <a16:colId xmlns:a16="http://schemas.microsoft.com/office/drawing/2014/main" val="20008"/>
                    </a:ext>
                  </a:extLst>
                </a:gridCol>
                <a:gridCol w="1040130">
                  <a:extLst>
                    <a:ext uri="{9D8B030D-6E8A-4147-A177-3AD203B41FA5}">
                      <a16:colId xmlns:a16="http://schemas.microsoft.com/office/drawing/2014/main" val="20009"/>
                    </a:ext>
                  </a:extLst>
                </a:gridCol>
              </a:tblGrid>
              <a:tr h="457200">
                <a:tc>
                  <a:txBody>
                    <a:bodyPr/>
                    <a:lstStyle/>
                    <a:p>
                      <a:pPr algn="l">
                        <a:spcAft>
                          <a:spcPts val="0"/>
                        </a:spcAft>
                      </a:pPr>
                      <a:r>
                        <a:rPr sz="1400" b="1" i="0">
                          <a:solidFill>
                            <a:srgbClr val="FFFFFF"/>
                          </a:solidFill>
                          <a:latin typeface="Calibri"/>
                        </a:rPr>
                        <a:t>Principle</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400" b="1" i="0">
                          <a:solidFill>
                            <a:srgbClr val="FFFFFF"/>
                          </a:solidFill>
                          <a:latin typeface="Calibri"/>
                        </a:rPr>
                        <a:t>Unit</a:t>
                      </a:r>
                    </a:p>
                  </a:txBody>
                  <a:tcPr marL="73152" marR="73152" marT="27432" marB="27432" anchor="ctr">
                    <a:lnL w="0">
                      <a:noFill/>
                    </a:lnL>
                    <a:lnR w="0">
                      <a:noFill/>
                    </a:lnR>
                    <a:lnT w="0">
                      <a:noFill/>
                    </a:lnT>
                    <a:lnB w="6350">
                      <a:solidFill>
                        <a:srgbClr val="C9D0D8"/>
                      </a:solidFill>
                    </a:lnB>
                    <a:solidFill>
                      <a:srgbClr val="202A36"/>
                    </a:solidFill>
                  </a:tcPr>
                </a:tc>
                <a:tc gridSpan="4">
                  <a:txBody>
                    <a:bodyPr/>
                    <a:lstStyle/>
                    <a:p>
                      <a:pPr algn="ctr">
                        <a:spcAft>
                          <a:spcPts val="0"/>
                        </a:spcAft>
                      </a:pPr>
                      <a:r>
                        <a:rPr sz="1400" b="1" i="0">
                          <a:solidFill>
                            <a:srgbClr val="FFFFFF"/>
                          </a:solidFill>
                          <a:latin typeface="Calibri"/>
                        </a:rPr>
                        <a:t>Java</a:t>
                      </a:r>
                    </a:p>
                  </a:txBody>
                  <a:tcPr marL="73152" marR="73152" marT="27432" marB="27432" anchor="ctr">
                    <a:lnL w="0">
                      <a:noFill/>
                    </a:lnL>
                    <a:lnR w="0">
                      <a:noFill/>
                    </a:lnR>
                    <a:lnT w="0">
                      <a:noFill/>
                    </a:lnT>
                    <a:lnB w="6350">
                      <a:solidFill>
                        <a:srgbClr val="C9D0D8"/>
                      </a:solidFill>
                    </a:lnB>
                    <a:solidFill>
                      <a:srgbClr val="202A36"/>
                    </a:solidFill>
                  </a:tcPr>
                </a:tc>
                <a:tc hMerge="1">
                  <a:txBody>
                    <a:bodyPr/>
                    <a:lstStyle/>
                    <a:p>
                      <a:endParaRPr/>
                    </a:p>
                  </a:txBody>
                  <a:tcPr/>
                </a:tc>
                <a:tc hMerge="1">
                  <a:txBody>
                    <a:bodyPr/>
                    <a:lstStyle/>
                    <a:p>
                      <a:endParaRPr/>
                    </a:p>
                  </a:txBody>
                  <a:tcPr/>
                </a:tc>
                <a:tc hMerge="1">
                  <a:txBody>
                    <a:bodyPr/>
                    <a:lstStyle/>
                    <a:p>
                      <a:endParaRPr/>
                    </a:p>
                  </a:txBody>
                  <a:tcPr/>
                </a:tc>
                <a:tc gridSpan="4">
                  <a:txBody>
                    <a:bodyPr/>
                    <a:lstStyle/>
                    <a:p>
                      <a:pPr algn="ctr">
                        <a:spcAft>
                          <a:spcPts val="0"/>
                        </a:spcAft>
                      </a:pPr>
                      <a:r>
                        <a:rPr sz="1400" b="1" i="0">
                          <a:solidFill>
                            <a:srgbClr val="FFFFFF"/>
                          </a:solidFill>
                          <a:latin typeface="Calibri"/>
                        </a:rPr>
                        <a:t>Python</a:t>
                      </a:r>
                    </a:p>
                  </a:txBody>
                  <a:tcPr marL="73152" marR="73152" marT="27432" marB="27432" anchor="ctr">
                    <a:lnL w="0">
                      <a:noFill/>
                    </a:lnL>
                    <a:lnR w="0">
                      <a:noFill/>
                    </a:lnR>
                    <a:lnT w="0">
                      <a:noFill/>
                    </a:lnT>
                    <a:lnB w="6350">
                      <a:solidFill>
                        <a:srgbClr val="C9D0D8"/>
                      </a:solidFill>
                    </a:lnB>
                    <a:solidFill>
                      <a:srgbClr val="202A36"/>
                    </a:solidFill>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0"/>
                  </a:ext>
                </a:extLst>
              </a:tr>
              <a:tr h="457200">
                <a:tc>
                  <a:txBody>
                    <a:bodyPr/>
                    <a:lstStyle/>
                    <a:p>
                      <a:pPr algn="l">
                        <a:spcAft>
                          <a:spcPts val="0"/>
                        </a:spcAft>
                      </a:pPr>
                      <a:endParaRP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l">
                        <a:spcAft>
                          <a:spcPts val="0"/>
                        </a:spcAft>
                      </a:pPr>
                      <a:endParaRP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flagged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real</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prec.</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rec.</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flagged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real</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prec.</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rec.</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1"/>
                  </a:ext>
                </a:extLst>
              </a:tr>
              <a:tr h="457200">
                <a:tc>
                  <a:txBody>
                    <a:bodyPr/>
                    <a:lstStyle/>
                    <a:p>
                      <a:pPr algn="l">
                        <a:spcAft>
                          <a:spcPts val="0"/>
                        </a:spcAft>
                      </a:pPr>
                      <a:r>
                        <a:rPr sz="1400" b="1" i="0">
                          <a:solidFill>
                            <a:srgbClr val="202A36"/>
                          </a:solidFill>
                          <a:latin typeface="Calibri"/>
                        </a:rPr>
                        <a:t>SRP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class touched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12.2%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1" i="0">
                          <a:solidFill>
                            <a:srgbClr val="2B3440"/>
                          </a:solidFill>
                          <a:latin typeface="Calibri"/>
                        </a:rPr>
                        <a:t>4.3%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00" b="0" i="0">
                          <a:solidFill>
                            <a:srgbClr val="2B3440"/>
                          </a:solidFill>
                          <a:latin typeface="Calibri"/>
                        </a:rPr>
                        <a:t>0.350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0.828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11.6%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1" i="0">
                          <a:solidFill>
                            <a:srgbClr val="2B3440"/>
                          </a:solidFill>
                          <a:latin typeface="Calibri"/>
                        </a:rPr>
                        <a:t>1.3%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00" b="0" i="0">
                          <a:solidFill>
                            <a:srgbClr val="2B3440"/>
                          </a:solidFill>
                          <a:latin typeface="Calibri"/>
                        </a:rPr>
                        <a:t>0.110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1.000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2"/>
                  </a:ext>
                </a:extLst>
              </a:tr>
              <a:tr h="457200">
                <a:tc>
                  <a:txBody>
                    <a:bodyPr/>
                    <a:lstStyle/>
                    <a:p>
                      <a:pPr algn="l">
                        <a:spcAft>
                          <a:spcPts val="0"/>
                        </a:spcAft>
                      </a:pPr>
                      <a:r>
                        <a:rPr sz="1400" b="1" i="0">
                          <a:solidFill>
                            <a:srgbClr val="202A36"/>
                          </a:solidFill>
                          <a:latin typeface="Calibri"/>
                        </a:rPr>
                        <a:t>OCP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0" i="0">
                          <a:solidFill>
                            <a:srgbClr val="2B3440"/>
                          </a:solidFill>
                          <a:latin typeface="Calibri"/>
                        </a:rPr>
                        <a:t>pull request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6.7%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1" i="0">
                          <a:solidFill>
                            <a:srgbClr val="2B3440"/>
                          </a:solidFill>
                          <a:latin typeface="Calibri"/>
                        </a:rPr>
                        <a:t>2.2%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00" b="0" i="0">
                          <a:solidFill>
                            <a:srgbClr val="2B3440"/>
                          </a:solidFill>
                          <a:latin typeface="Calibri"/>
                        </a:rPr>
                        <a:t>0.330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0.742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6.4%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1" i="0">
                          <a:solidFill>
                            <a:srgbClr val="2B3440"/>
                          </a:solidFill>
                          <a:latin typeface="Calibri"/>
                        </a:rPr>
                        <a:t>2.5%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00" b="0" i="0">
                          <a:solidFill>
                            <a:srgbClr val="2B3440"/>
                          </a:solidFill>
                          <a:latin typeface="Calibri"/>
                        </a:rPr>
                        <a:t>0.390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0.364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3"/>
                  </a:ext>
                </a:extLst>
              </a:tr>
              <a:tr h="457200">
                <a:tc>
                  <a:txBody>
                    <a:bodyPr/>
                    <a:lstStyle/>
                    <a:p>
                      <a:pPr algn="l">
                        <a:spcAft>
                          <a:spcPts val="0"/>
                        </a:spcAft>
                      </a:pPr>
                      <a:r>
                        <a:rPr sz="1400" b="1" i="0">
                          <a:solidFill>
                            <a:srgbClr val="202A36"/>
                          </a:solidFill>
                          <a:latin typeface="Calibri"/>
                        </a:rPr>
                        <a:t>LSP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pull request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0.4%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1" i="0">
                          <a:solidFill>
                            <a:srgbClr val="2B3440"/>
                          </a:solidFill>
                          <a:latin typeface="Calibri"/>
                        </a:rPr>
                        <a:t>0.4%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00" b="0" i="0">
                          <a:solidFill>
                            <a:srgbClr val="2B3440"/>
                          </a:solidFill>
                          <a:latin typeface="Calibri"/>
                        </a:rPr>
                        <a:t>1.000</a:t>
                      </a:r>
                      <a:r>
                        <a:rPr sz="1400" b="0" i="0" baseline="30000">
                          <a:solidFill>
                            <a:srgbClr val="2B3440"/>
                          </a:solidFill>
                          <a:latin typeface="Calibri"/>
                        </a:rPr>
                        <a:t>a</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0.386</a:t>
                      </a:r>
                      <a:r>
                        <a:rPr sz="1400" b="0" i="0" baseline="30000">
                          <a:solidFill>
                            <a:srgbClr val="2B3440"/>
                          </a:solidFill>
                          <a:latin typeface="Calibri"/>
                        </a:rPr>
                        <a:t>b</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0.9%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1" i="0">
                          <a:solidFill>
                            <a:srgbClr val="2B3440"/>
                          </a:solidFill>
                          <a:latin typeface="Calibri"/>
                        </a:rPr>
                        <a:t>0.5%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00" b="0" i="0">
                          <a:solidFill>
                            <a:srgbClr val="2B3440"/>
                          </a:solidFill>
                          <a:latin typeface="Calibri"/>
                        </a:rPr>
                        <a:t>0.510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0.545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4"/>
                  </a:ext>
                </a:extLst>
              </a:tr>
              <a:tr h="457200">
                <a:tc>
                  <a:txBody>
                    <a:bodyPr/>
                    <a:lstStyle/>
                    <a:p>
                      <a:pPr algn="l">
                        <a:spcAft>
                          <a:spcPts val="0"/>
                        </a:spcAft>
                      </a:pPr>
                      <a:r>
                        <a:rPr sz="1400" b="1" i="0">
                          <a:solidFill>
                            <a:srgbClr val="202A36"/>
                          </a:solidFill>
                          <a:latin typeface="Calibri"/>
                        </a:rPr>
                        <a:t>ISP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00" b="0" i="0">
                          <a:solidFill>
                            <a:srgbClr val="2B3440"/>
                          </a:solidFill>
                          <a:latin typeface="Calibri"/>
                        </a:rPr>
                        <a:t>pull request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6.5%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1" i="0">
                          <a:solidFill>
                            <a:srgbClr val="2B3440"/>
                          </a:solidFill>
                          <a:latin typeface="Calibri"/>
                        </a:rPr>
                        <a:t>2.2%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00" b="0" i="0">
                          <a:solidFill>
                            <a:srgbClr val="2B3440"/>
                          </a:solidFill>
                          <a:latin typeface="Calibri"/>
                        </a:rPr>
                        <a:t>0.335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0.464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0.6%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1" i="0">
                          <a:solidFill>
                            <a:srgbClr val="2B3440"/>
                          </a:solidFill>
                          <a:latin typeface="Calibri"/>
                        </a:rPr>
                        <a:t>0.3%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00" b="0" i="0">
                          <a:solidFill>
                            <a:srgbClr val="2B3440"/>
                          </a:solidFill>
                          <a:latin typeface="Calibri"/>
                        </a:rPr>
                        <a:t>0.425</a:t>
                      </a:r>
                      <a:r>
                        <a:rPr sz="1400" b="0" i="0" baseline="30000">
                          <a:solidFill>
                            <a:srgbClr val="2B3440"/>
                          </a:solidFill>
                          <a:latin typeface="Calibri"/>
                        </a:rPr>
                        <a:t>c</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1.000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5"/>
                  </a:ext>
                </a:extLst>
              </a:tr>
              <a:tr h="457200">
                <a:tc>
                  <a:txBody>
                    <a:bodyPr/>
                    <a:lstStyle/>
                    <a:p>
                      <a:pPr algn="l">
                        <a:spcAft>
                          <a:spcPts val="0"/>
                        </a:spcAft>
                      </a:pPr>
                      <a:r>
                        <a:rPr sz="1400" b="1" i="0">
                          <a:solidFill>
                            <a:srgbClr val="202A36"/>
                          </a:solidFill>
                          <a:latin typeface="Calibri"/>
                        </a:rPr>
                        <a:t>DIP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00" b="0" i="0">
                          <a:solidFill>
                            <a:srgbClr val="2B3440"/>
                          </a:solidFill>
                          <a:latin typeface="Calibri"/>
                        </a:rPr>
                        <a:t>pull request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4.6%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1" i="0">
                          <a:solidFill>
                            <a:srgbClr val="2B3440"/>
                          </a:solidFill>
                          <a:latin typeface="Calibri"/>
                        </a:rPr>
                        <a:t>4.1%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00" b="0" i="0">
                          <a:solidFill>
                            <a:srgbClr val="2B3440"/>
                          </a:solidFill>
                          <a:latin typeface="Calibri"/>
                        </a:rPr>
                        <a:t>0.892</a:t>
                      </a:r>
                      <a:r>
                        <a:rPr sz="1400" b="0" i="0" baseline="30000">
                          <a:solidFill>
                            <a:srgbClr val="2B3440"/>
                          </a:solidFill>
                          <a:latin typeface="Calibri"/>
                        </a:rPr>
                        <a:t>c</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1.000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3.5%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1" i="0">
                          <a:solidFill>
                            <a:srgbClr val="2B3440"/>
                          </a:solidFill>
                          <a:latin typeface="Calibri"/>
                        </a:rPr>
                        <a:t>3.5%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00" b="0" i="0">
                          <a:solidFill>
                            <a:srgbClr val="2B3440"/>
                          </a:solidFill>
                          <a:latin typeface="Calibri"/>
                        </a:rPr>
                        <a:t>1.000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1.000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6"/>
                  </a:ext>
                </a:extLst>
              </a:tr>
            </a:tbl>
          </a:graphicData>
        </a:graphic>
      </p:graphicFrame>
      <p:sp>
        <p:nvSpPr>
          <p:cNvPr id="68" name="TextBox 67"/>
          <p:cNvSpPr txBox="1"/>
          <p:nvPr/>
        </p:nvSpPr>
        <p:spPr>
          <a:xfrm>
            <a:off x="612648" y="4343400"/>
            <a:ext cx="10972800" cy="914400"/>
          </a:xfrm>
          <a:prstGeom prst="rect">
            <a:avLst/>
          </a:prstGeom>
          <a:noFill/>
        </p:spPr>
        <p:txBody>
          <a:bodyPr wrap="square" lIns="45720" tIns="27432" rIns="45720" bIns="27432" anchor="t">
            <a:spAutoFit/>
          </a:bodyPr>
          <a:lstStyle/>
          <a:p>
            <a:pPr algn="l">
              <a:spcAft>
                <a:spcPts val="0"/>
              </a:spcAft>
            </a:pPr>
            <a:r>
              <a:rPr sz="1200" b="1" i="0">
                <a:solidFill>
                  <a:srgbClr val="5C6773"/>
                </a:solidFill>
                <a:latin typeface="Calibri"/>
              </a:rPr>
              <a:t>real = flagged × measured precision: the column to quote.</a:t>
            </a:r>
            <a:r>
              <a:rPr sz="1200" b="0" i="0">
                <a:solidFill>
                  <a:srgbClr val="5C6773"/>
                </a:solidFill>
                <a:latin typeface="Calibri"/>
              </a:rPr>
              <a:t> </a:t>
            </a:r>
            <a:r>
              <a:rPr sz="1200" b="0" i="0" baseline="30000">
                <a:solidFill>
                  <a:srgbClr val="5C6773"/>
                </a:solidFill>
                <a:latin typeface="Calibri"/>
              </a:rPr>
              <a:t>a</a:t>
            </a:r>
            <a:r>
              <a:rPr sz="1200" b="0" i="0">
                <a:solidFill>
                  <a:srgbClr val="5C6773"/>
                </a:solidFill>
                <a:latin typeface="Calibri"/>
              </a:rPr>
              <a:t> Java Liskov ships as refused bequest only, precision 1.000 on 64 judged flags. </a:t>
            </a:r>
            <a:r>
              <a:rPr sz="1200" b="0" i="0" baseline="30000">
                <a:solidFill>
                  <a:srgbClr val="5C6773"/>
                </a:solidFill>
                <a:latin typeface="Calibri"/>
              </a:rPr>
              <a:t>b</a:t>
            </a:r>
            <a:r>
              <a:rPr sz="1200" b="0" i="0">
                <a:solidFill>
                  <a:srgbClr val="5C6773"/>
                </a:solidFill>
                <a:latin typeface="Calibri"/>
              </a:rPr>
              <a:t> Recall is for the broader three-signal detector the sample was drawn from. </a:t>
            </a:r>
            <a:r>
              <a:rPr sz="1200" b="0" i="0" baseline="30000">
                <a:solidFill>
                  <a:srgbClr val="5C6773"/>
                </a:solidFill>
                <a:latin typeface="Calibri"/>
              </a:rPr>
              <a:t>c</a:t>
            </a:r>
            <a:r>
              <a:rPr sz="1200" b="0" i="0">
                <a:solidFill>
                  <a:srgbClr val="5C6773"/>
                </a:solidFill>
                <a:latin typeface="Calibri"/>
              </a:rPr>
              <a:t> Census, every flag judged: 195 Java DIP, 80 Python ISP. Recall is stratum-weighted; unweighted, Java LSP would read 0.966.</a:t>
            </a:r>
          </a:p>
        </p:txBody>
      </p:sp>
      <p:sp>
        <p:nvSpPr>
          <p:cNvPr id="69" name="Rounded Rectangle 68"/>
          <p:cNvSpPr/>
          <p:nvPr/>
        </p:nvSpPr>
        <p:spPr>
          <a:xfrm>
            <a:off x="612648" y="5212080"/>
            <a:ext cx="10972800" cy="105156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Hexagon 69"/>
          <p:cNvSpPr/>
          <p:nvPr/>
        </p:nvSpPr>
        <p:spPr>
          <a:xfrm>
            <a:off x="813816" y="560070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1252728" y="5212080"/>
            <a:ext cx="10149840" cy="105156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Nothing exceeds 4.3%.</a:t>
            </a:r>
            <a:r>
              <a:rPr sz="1400" b="0" i="0">
                <a:solidFill>
                  <a:srgbClr val="FFFFFF"/>
                </a:solidFill>
                <a:latin typeface="Calibri"/>
              </a:rPr>
              <a:t> Where a detector is imprecise the correction is large (Python SRP 11.6% to 1.3%); where it is precise the rate barely moves (DIP 4.6% to 4.1%).</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6</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Results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Flag rate by agent, both languages</a:t>
            </a:r>
          </a:p>
        </p:txBody>
      </p:sp>
      <p:sp>
        <p:nvSpPr>
          <p:cNvPr id="65" name="TextBox 64"/>
          <p:cNvSpPr txBox="1"/>
          <p:nvPr/>
        </p:nvSpPr>
        <p:spPr>
          <a:xfrm>
            <a:off x="612648" y="548640"/>
            <a:ext cx="10972800" cy="292608"/>
          </a:xfrm>
          <a:prstGeom prst="rect">
            <a:avLst/>
          </a:prstGeom>
          <a:noFill/>
        </p:spPr>
        <p:txBody>
          <a:bodyPr wrap="square" lIns="18288" tIns="0" rIns="18288" bIns="0" anchor="ctr">
            <a:spAutoFit/>
          </a:bodyPr>
          <a:lstStyle/>
          <a:p>
            <a:pPr algn="l">
              <a:spcAft>
                <a:spcPts val="0"/>
              </a:spcAft>
            </a:pPr>
            <a:r>
              <a:rPr sz="1250" b="0" i="1">
                <a:solidFill>
                  <a:srgbClr val="5C6773"/>
                </a:solidFill>
                <a:latin typeface="Calibri"/>
              </a:rPr>
              <a:t>pooled, with the average over repositories in brackets</a:t>
            </a:r>
          </a:p>
        </p:txBody>
      </p:sp>
      <p:sp>
        <p:nvSpPr>
          <p:cNvPr id="66" name="TextBox 65"/>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40</a:t>
            </a:r>
          </a:p>
        </p:txBody>
      </p:sp>
      <p:graphicFrame>
        <p:nvGraphicFramePr>
          <p:cNvPr id="67" name="Table 66"/>
          <p:cNvGraphicFramePr>
            <a:graphicFrameLocks noGrp="1"/>
          </p:cNvGraphicFramePr>
          <p:nvPr/>
        </p:nvGraphicFramePr>
        <p:xfrm>
          <a:off x="612648" y="1005840"/>
          <a:ext cx="10972800" cy="3767328"/>
        </p:xfrm>
        <a:graphic>
          <a:graphicData uri="http://schemas.openxmlformats.org/drawingml/2006/table">
            <a:tbl>
              <a:tblPr>
                <a:tableStyleId>{2D5ABB26-0587-4C30-8999-92F81FD0307C}</a:tableStyleId>
              </a:tblPr>
              <a:tblGrid>
                <a:gridCol w="2468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417320">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gridCol w="1417320">
                  <a:extLst>
                    <a:ext uri="{9D8B030D-6E8A-4147-A177-3AD203B41FA5}">
                      <a16:colId xmlns:a16="http://schemas.microsoft.com/office/drawing/2014/main" val="20006"/>
                    </a:ext>
                  </a:extLst>
                </a:gridCol>
              </a:tblGrid>
              <a:tr h="457200">
                <a:tc>
                  <a:txBody>
                    <a:bodyPr/>
                    <a:lstStyle/>
                    <a:p>
                      <a:pPr algn="l">
                        <a:spcAft>
                          <a:spcPts val="0"/>
                        </a:spcAft>
                      </a:pPr>
                      <a:r>
                        <a:rPr sz="1500" b="1" i="0">
                          <a:solidFill>
                            <a:srgbClr val="FFFFFF"/>
                          </a:solidFill>
                          <a:latin typeface="Calibri"/>
                        </a:rPr>
                        <a:t>Principle</a:t>
                      </a:r>
                    </a:p>
                  </a:txBody>
                  <a:tcPr marL="73152" marR="73152" marT="27432" marB="27432" anchor="ctr">
                    <a:lnL w="0">
                      <a:noFill/>
                    </a:lnL>
                    <a:lnR w="0">
                      <a:noFill/>
                    </a:lnR>
                    <a:lnT w="0">
                      <a:noFill/>
                    </a:lnT>
                    <a:lnB w="6350">
                      <a:solidFill>
                        <a:srgbClr val="C9D0D8"/>
                      </a:solidFill>
                    </a:lnB>
                    <a:solidFill>
                      <a:srgbClr val="202A36"/>
                    </a:solidFill>
                  </a:tcPr>
                </a:tc>
                <a:tc gridSpan="3">
                  <a:txBody>
                    <a:bodyPr/>
                    <a:lstStyle/>
                    <a:p>
                      <a:pPr algn="ctr">
                        <a:spcAft>
                          <a:spcPts val="0"/>
                        </a:spcAft>
                      </a:pPr>
                      <a:r>
                        <a:rPr sz="1500" b="1" i="0">
                          <a:solidFill>
                            <a:srgbClr val="FFFFFF"/>
                          </a:solidFill>
                          <a:latin typeface="Calibri"/>
                        </a:rPr>
                        <a:t>Java</a:t>
                      </a:r>
                    </a:p>
                  </a:txBody>
                  <a:tcPr marL="73152" marR="73152" marT="27432" marB="27432" anchor="ctr">
                    <a:lnL w="0">
                      <a:noFill/>
                    </a:lnL>
                    <a:lnR w="0">
                      <a:noFill/>
                    </a:lnR>
                    <a:lnT w="0">
                      <a:noFill/>
                    </a:lnT>
                    <a:lnB w="6350">
                      <a:solidFill>
                        <a:srgbClr val="C9D0D8"/>
                      </a:solidFill>
                    </a:lnB>
                    <a:solidFill>
                      <a:srgbClr val="202A36"/>
                    </a:solidFill>
                  </a:tcPr>
                </a:tc>
                <a:tc hMerge="1">
                  <a:txBody>
                    <a:bodyPr/>
                    <a:lstStyle/>
                    <a:p>
                      <a:endParaRPr/>
                    </a:p>
                  </a:txBody>
                  <a:tcPr/>
                </a:tc>
                <a:tc hMerge="1">
                  <a:txBody>
                    <a:bodyPr/>
                    <a:lstStyle/>
                    <a:p>
                      <a:endParaRPr/>
                    </a:p>
                  </a:txBody>
                  <a:tcPr/>
                </a:tc>
                <a:tc gridSpan="3">
                  <a:txBody>
                    <a:bodyPr/>
                    <a:lstStyle/>
                    <a:p>
                      <a:pPr algn="ctr">
                        <a:spcAft>
                          <a:spcPts val="0"/>
                        </a:spcAft>
                      </a:pPr>
                      <a:r>
                        <a:rPr sz="1500" b="1" i="0">
                          <a:solidFill>
                            <a:srgbClr val="FFFFFF"/>
                          </a:solidFill>
                          <a:latin typeface="Calibri"/>
                        </a:rPr>
                        <a:t>Python</a:t>
                      </a:r>
                    </a:p>
                  </a:txBody>
                  <a:tcPr marL="73152" marR="73152" marT="27432" marB="27432" anchor="ctr">
                    <a:lnL w="0">
                      <a:noFill/>
                    </a:lnL>
                    <a:lnR w="0">
                      <a:noFill/>
                    </a:lnR>
                    <a:lnT w="0">
                      <a:noFill/>
                    </a:lnT>
                    <a:lnB w="6350">
                      <a:solidFill>
                        <a:srgbClr val="C9D0D8"/>
                      </a:solidFill>
                    </a:lnB>
                    <a:solidFill>
                      <a:srgbClr val="202A36"/>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0"/>
                  </a:ext>
                </a:extLst>
              </a:tr>
              <a:tr h="457200">
                <a:tc>
                  <a:txBody>
                    <a:bodyPr/>
                    <a:lstStyle/>
                    <a:p>
                      <a:pPr algn="l">
                        <a:spcAft>
                          <a:spcPts val="0"/>
                        </a:spcAft>
                      </a:pPr>
                      <a:endParaRP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ctr">
                        <a:spcAft>
                          <a:spcPts val="0"/>
                        </a:spcAft>
                      </a:pPr>
                      <a:r>
                        <a:rPr sz="1500" b="1" i="0">
                          <a:solidFill>
                            <a:srgbClr val="FFFFFF"/>
                          </a:solidFill>
                          <a:latin typeface="Calibri"/>
                        </a:rPr>
                        <a:t>Claude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ctr">
                        <a:spcAft>
                          <a:spcPts val="0"/>
                        </a:spcAft>
                      </a:pPr>
                      <a:r>
                        <a:rPr sz="1500" b="1" i="0">
                          <a:solidFill>
                            <a:srgbClr val="FFFFFF"/>
                          </a:solidFill>
                          <a:latin typeface="Calibri"/>
                        </a:rPr>
                        <a:t>Copilot</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500" b="1" i="0">
                          <a:solidFill>
                            <a:srgbClr val="FFFFFF"/>
                          </a:solidFill>
                          <a:latin typeface="Calibri"/>
                        </a:rPr>
                        <a:t>Codex</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500" b="1" i="0">
                          <a:solidFill>
                            <a:srgbClr val="FFFFFF"/>
                          </a:solidFill>
                          <a:latin typeface="Calibri"/>
                        </a:rPr>
                        <a:t>Claude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ctr">
                        <a:spcAft>
                          <a:spcPts val="0"/>
                        </a:spcAft>
                      </a:pPr>
                      <a:r>
                        <a:rPr sz="1500" b="1" i="0">
                          <a:solidFill>
                            <a:srgbClr val="FFFFFF"/>
                          </a:solidFill>
                          <a:latin typeface="Calibri"/>
                        </a:rPr>
                        <a:t>Copilot</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500" b="1" i="0">
                          <a:solidFill>
                            <a:srgbClr val="FFFFFF"/>
                          </a:solidFill>
                          <a:latin typeface="Calibri"/>
                        </a:rPr>
                        <a:t>Codex</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1"/>
                  </a:ext>
                </a:extLst>
              </a:tr>
              <a:tr h="585216">
                <a:tc>
                  <a:txBody>
                    <a:bodyPr/>
                    <a:lstStyle/>
                    <a:p>
                      <a:pPr algn="l">
                        <a:spcAft>
                          <a:spcPts val="0"/>
                        </a:spcAft>
                      </a:pPr>
                      <a:r>
                        <a:rPr sz="1500" b="1" i="0">
                          <a:solidFill>
                            <a:srgbClr val="202A36"/>
                          </a:solidFill>
                          <a:latin typeface="Calibri"/>
                        </a:rPr>
                        <a:t>SRP (authored classes)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9.5 (8.4)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5.1 (3.5)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6.8 (7.4)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9.6 (11.0)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6.6 (10.3)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8.9 (8.1)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2"/>
                  </a:ext>
                </a:extLst>
              </a:tr>
              <a:tr h="566928">
                <a:tc>
                  <a:txBody>
                    <a:bodyPr/>
                    <a:lstStyle/>
                    <a:p>
                      <a:pPr algn="l">
                        <a:spcAft>
                          <a:spcPts val="0"/>
                        </a:spcAft>
                      </a:pPr>
                      <a:r>
                        <a:rPr sz="1500" b="1" i="0">
                          <a:solidFill>
                            <a:srgbClr val="202A36"/>
                          </a:solidFill>
                          <a:latin typeface="Calibri"/>
                        </a:rPr>
                        <a:t>OCP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10.6 (10.1)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6.4 (3.0)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2.1 (2.2)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9.7 (9.6)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3.5 (3.1)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5.7 (6.6)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3"/>
                  </a:ext>
                </a:extLst>
              </a:tr>
              <a:tr h="566928">
                <a:tc>
                  <a:txBody>
                    <a:bodyPr/>
                    <a:lstStyle/>
                    <a:p>
                      <a:pPr algn="l">
                        <a:spcAft>
                          <a:spcPts val="0"/>
                        </a:spcAft>
                      </a:pPr>
                      <a:r>
                        <a:rPr sz="1500" b="1" i="0">
                          <a:solidFill>
                            <a:srgbClr val="202A36"/>
                          </a:solidFill>
                          <a:latin typeface="Calibri"/>
                        </a:rPr>
                        <a:t>LSP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0.7 (0.3)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0.3 (0.1)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0.0 (0.0)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1.6 (1.2)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0.5 (0.3)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0.8 (0.8)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4"/>
                  </a:ext>
                </a:extLst>
              </a:tr>
              <a:tr h="566928">
                <a:tc>
                  <a:txBody>
                    <a:bodyPr/>
                    <a:lstStyle/>
                    <a:p>
                      <a:pPr algn="l">
                        <a:spcAft>
                          <a:spcPts val="0"/>
                        </a:spcAft>
                      </a:pPr>
                      <a:r>
                        <a:rPr sz="1500" b="1" i="0">
                          <a:solidFill>
                            <a:srgbClr val="202A36"/>
                          </a:solidFill>
                          <a:latin typeface="Calibri"/>
                        </a:rPr>
                        <a:t>ISP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8.7 (6.0)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6.7 (4.0)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2.9 (5.0)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1.3 (1.0)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0.4 (0.4)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0.3 (0.1)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5"/>
                  </a:ext>
                </a:extLst>
              </a:tr>
              <a:tr h="566928">
                <a:tc>
                  <a:txBody>
                    <a:bodyPr/>
                    <a:lstStyle/>
                    <a:p>
                      <a:pPr algn="l">
                        <a:spcAft>
                          <a:spcPts val="0"/>
                        </a:spcAft>
                      </a:pPr>
                      <a:r>
                        <a:rPr sz="1500" b="1" i="0">
                          <a:solidFill>
                            <a:srgbClr val="202A36"/>
                          </a:solidFill>
                          <a:latin typeface="Calibri"/>
                        </a:rPr>
                        <a:t>DIP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6.5 (5.1)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4.1 (2.8)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3.2 (5.4)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5.8 (5.6)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2.0 (1.5)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2.6 (2.3)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6"/>
                  </a:ext>
                </a:extLst>
              </a:tr>
            </a:tbl>
          </a:graphicData>
        </a:graphic>
      </p:graphicFrame>
      <p:sp>
        <p:nvSpPr>
          <p:cNvPr id="68" name="Rounded Rectangle 67"/>
          <p:cNvSpPr/>
          <p:nvPr/>
        </p:nvSpPr>
        <p:spPr>
          <a:xfrm>
            <a:off x="612648" y="5093208"/>
            <a:ext cx="10972800" cy="91440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Hexagon 68"/>
          <p:cNvSpPr/>
          <p:nvPr/>
        </p:nvSpPr>
        <p:spPr>
          <a:xfrm>
            <a:off x="813816" y="5413248"/>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1252728" y="5093208"/>
            <a:ext cx="10149840" cy="91440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Read this only with the next two slides:</a:t>
            </a:r>
            <a:r>
              <a:rPr sz="1400" b="0" i="0">
                <a:solidFill>
                  <a:srgbClr val="FFFFFF"/>
                </a:solidFill>
                <a:latin typeface="Calibri"/>
              </a:rPr>
              <a:t> the agents do not write changes of the same size, and most of this ordering follows from that.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6</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Results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Is the instrument fair to each agent?</a:t>
            </a:r>
          </a:p>
        </p:txBody>
      </p:sp>
      <p:sp>
        <p:nvSpPr>
          <p:cNvPr id="65" name="TextBox 64"/>
          <p:cNvSpPr txBox="1"/>
          <p:nvPr/>
        </p:nvSpPr>
        <p:spPr>
          <a:xfrm>
            <a:off x="612648" y="548640"/>
            <a:ext cx="10972800" cy="292608"/>
          </a:xfrm>
          <a:prstGeom prst="rect">
            <a:avLst/>
          </a:prstGeom>
          <a:noFill/>
        </p:spPr>
        <p:txBody>
          <a:bodyPr wrap="square" lIns="18288" tIns="0" rIns="18288" bIns="0" anchor="ctr">
            <a:spAutoFit/>
          </a:bodyPr>
          <a:lstStyle/>
          <a:p>
            <a:pPr algn="l">
              <a:spcAft>
                <a:spcPts val="0"/>
              </a:spcAft>
            </a:pPr>
            <a:r>
              <a:rPr sz="1250" b="0" i="1">
                <a:solidFill>
                  <a:srgbClr val="5C6773"/>
                </a:solidFill>
                <a:latin typeface="Calibri"/>
              </a:rPr>
              <a:t>precision by agent: true positives over flags judged</a:t>
            </a:r>
          </a:p>
        </p:txBody>
      </p:sp>
      <p:sp>
        <p:nvSpPr>
          <p:cNvPr id="66" name="TextBox 65"/>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41</a:t>
            </a:r>
          </a:p>
        </p:txBody>
      </p:sp>
      <p:graphicFrame>
        <p:nvGraphicFramePr>
          <p:cNvPr id="67" name="Table 66"/>
          <p:cNvGraphicFramePr>
            <a:graphicFrameLocks noGrp="1"/>
          </p:cNvGraphicFramePr>
          <p:nvPr/>
        </p:nvGraphicFramePr>
        <p:xfrm>
          <a:off x="612648" y="1005840"/>
          <a:ext cx="10972800" cy="3200400"/>
        </p:xfrm>
        <a:graphic>
          <a:graphicData uri="http://schemas.openxmlformats.org/drawingml/2006/table">
            <a:tbl>
              <a:tblPr>
                <a:tableStyleId>{2D5ABB26-0587-4C30-8999-92F81FD0307C}</a:tableStyleId>
              </a:tblPr>
              <a:tblGrid>
                <a:gridCol w="2468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417320">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gridCol w="1417320">
                  <a:extLst>
                    <a:ext uri="{9D8B030D-6E8A-4147-A177-3AD203B41FA5}">
                      <a16:colId xmlns:a16="http://schemas.microsoft.com/office/drawing/2014/main" val="20006"/>
                    </a:ext>
                  </a:extLst>
                </a:gridCol>
              </a:tblGrid>
              <a:tr h="457200">
                <a:tc>
                  <a:txBody>
                    <a:bodyPr/>
                    <a:lstStyle/>
                    <a:p>
                      <a:pPr algn="l">
                        <a:spcAft>
                          <a:spcPts val="0"/>
                        </a:spcAft>
                      </a:pPr>
                      <a:r>
                        <a:rPr sz="1450" b="1" i="0">
                          <a:solidFill>
                            <a:srgbClr val="FFFFFF"/>
                          </a:solidFill>
                          <a:latin typeface="Calibri"/>
                        </a:rPr>
                        <a:t>Principle</a:t>
                      </a:r>
                    </a:p>
                  </a:txBody>
                  <a:tcPr marL="73152" marR="73152" marT="27432" marB="27432" anchor="ctr">
                    <a:lnL w="0">
                      <a:noFill/>
                    </a:lnL>
                    <a:lnR w="0">
                      <a:noFill/>
                    </a:lnR>
                    <a:lnT w="0">
                      <a:noFill/>
                    </a:lnT>
                    <a:lnB w="6350">
                      <a:solidFill>
                        <a:srgbClr val="C9D0D8"/>
                      </a:solidFill>
                    </a:lnB>
                    <a:solidFill>
                      <a:srgbClr val="202A36"/>
                    </a:solidFill>
                  </a:tcPr>
                </a:tc>
                <a:tc gridSpan="3">
                  <a:txBody>
                    <a:bodyPr/>
                    <a:lstStyle/>
                    <a:p>
                      <a:pPr algn="ctr">
                        <a:spcAft>
                          <a:spcPts val="0"/>
                        </a:spcAft>
                      </a:pPr>
                      <a:r>
                        <a:rPr sz="1450" b="1" i="0">
                          <a:solidFill>
                            <a:srgbClr val="FFFFFF"/>
                          </a:solidFill>
                          <a:latin typeface="Calibri"/>
                        </a:rPr>
                        <a:t>Java</a:t>
                      </a:r>
                    </a:p>
                  </a:txBody>
                  <a:tcPr marL="73152" marR="73152" marT="27432" marB="27432" anchor="ctr">
                    <a:lnL w="0">
                      <a:noFill/>
                    </a:lnL>
                    <a:lnR w="0">
                      <a:noFill/>
                    </a:lnR>
                    <a:lnT w="0">
                      <a:noFill/>
                    </a:lnT>
                    <a:lnB w="6350">
                      <a:solidFill>
                        <a:srgbClr val="C9D0D8"/>
                      </a:solidFill>
                    </a:lnB>
                    <a:solidFill>
                      <a:srgbClr val="202A36"/>
                    </a:solidFill>
                  </a:tcPr>
                </a:tc>
                <a:tc hMerge="1">
                  <a:txBody>
                    <a:bodyPr/>
                    <a:lstStyle/>
                    <a:p>
                      <a:endParaRPr/>
                    </a:p>
                  </a:txBody>
                  <a:tcPr/>
                </a:tc>
                <a:tc hMerge="1">
                  <a:txBody>
                    <a:bodyPr/>
                    <a:lstStyle/>
                    <a:p>
                      <a:endParaRPr/>
                    </a:p>
                  </a:txBody>
                  <a:tcPr/>
                </a:tc>
                <a:tc gridSpan="3">
                  <a:txBody>
                    <a:bodyPr/>
                    <a:lstStyle/>
                    <a:p>
                      <a:pPr algn="ctr">
                        <a:spcAft>
                          <a:spcPts val="0"/>
                        </a:spcAft>
                      </a:pPr>
                      <a:r>
                        <a:rPr sz="1450" b="1" i="0">
                          <a:solidFill>
                            <a:srgbClr val="FFFFFF"/>
                          </a:solidFill>
                          <a:latin typeface="Calibri"/>
                        </a:rPr>
                        <a:t>Python</a:t>
                      </a:r>
                    </a:p>
                  </a:txBody>
                  <a:tcPr marL="73152" marR="73152" marT="27432" marB="27432" anchor="ctr">
                    <a:lnL w="0">
                      <a:noFill/>
                    </a:lnL>
                    <a:lnR w="0">
                      <a:noFill/>
                    </a:lnR>
                    <a:lnT w="0">
                      <a:noFill/>
                    </a:lnT>
                    <a:lnB w="6350">
                      <a:solidFill>
                        <a:srgbClr val="C9D0D8"/>
                      </a:solidFill>
                    </a:lnB>
                    <a:solidFill>
                      <a:srgbClr val="202A36"/>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0"/>
                  </a:ext>
                </a:extLst>
              </a:tr>
              <a:tr h="457200">
                <a:tc>
                  <a:txBody>
                    <a:bodyPr/>
                    <a:lstStyle/>
                    <a:p>
                      <a:pPr algn="l">
                        <a:spcAft>
                          <a:spcPts val="0"/>
                        </a:spcAft>
                      </a:pPr>
                      <a:endParaRP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Claude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Copilot</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Codex</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Claude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Copilot</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Codex</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1"/>
                  </a:ext>
                </a:extLst>
              </a:tr>
              <a:tr h="457200">
                <a:tc>
                  <a:txBody>
                    <a:bodyPr/>
                    <a:lstStyle/>
                    <a:p>
                      <a:pPr algn="l">
                        <a:spcAft>
                          <a:spcPts val="0"/>
                        </a:spcAft>
                      </a:pPr>
                      <a:r>
                        <a:rPr sz="1450" b="1" i="0">
                          <a:solidFill>
                            <a:srgbClr val="202A36"/>
                          </a:solidFill>
                          <a:latin typeface="Calibri"/>
                        </a:rPr>
                        <a:t>SRP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18/55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10/38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7/7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6/46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2/26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3/28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2"/>
                  </a:ext>
                </a:extLst>
              </a:tr>
              <a:tr h="457200">
                <a:tc>
                  <a:txBody>
                    <a:bodyPr/>
                    <a:lstStyle/>
                    <a:p>
                      <a:pPr algn="l">
                        <a:spcAft>
                          <a:spcPts val="0"/>
                        </a:spcAft>
                      </a:pPr>
                      <a:r>
                        <a:rPr sz="1450" b="1" i="0">
                          <a:solidFill>
                            <a:srgbClr val="202A36"/>
                          </a:solidFill>
                          <a:latin typeface="Calibri"/>
                        </a:rPr>
                        <a:t>OCP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23/68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7/25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3/7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20/45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7/19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12/36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3"/>
                  </a:ext>
                </a:extLst>
              </a:tr>
              <a:tr h="457200">
                <a:tc>
                  <a:txBody>
                    <a:bodyPr/>
                    <a:lstStyle/>
                    <a:p>
                      <a:pPr algn="l">
                        <a:spcAft>
                          <a:spcPts val="0"/>
                        </a:spcAft>
                      </a:pPr>
                      <a:r>
                        <a:rPr sz="1450" b="1" i="0">
                          <a:solidFill>
                            <a:srgbClr val="202A36"/>
                          </a:solidFill>
                          <a:latin typeface="Calibri"/>
                        </a:rPr>
                        <a:t>LSP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53/106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22/68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9/26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29/73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11/15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11/12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4"/>
                  </a:ext>
                </a:extLst>
              </a:tr>
              <a:tr h="457200">
                <a:tc>
                  <a:txBody>
                    <a:bodyPr/>
                    <a:lstStyle/>
                    <a:p>
                      <a:pPr algn="l">
                        <a:spcAft>
                          <a:spcPts val="0"/>
                        </a:spcAft>
                      </a:pPr>
                      <a:r>
                        <a:rPr sz="1450" b="1" i="0">
                          <a:solidFill>
                            <a:srgbClr val="202A36"/>
                          </a:solidFill>
                          <a:latin typeface="Calibri"/>
                        </a:rPr>
                        <a:t>ISP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35/83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26/93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6/24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23/48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6/17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5/15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5"/>
                  </a:ext>
                </a:extLst>
              </a:tr>
              <a:tr h="457200">
                <a:tc>
                  <a:txBody>
                    <a:bodyPr/>
                    <a:lstStyle/>
                    <a:p>
                      <a:pPr algn="l">
                        <a:spcAft>
                          <a:spcPts val="0"/>
                        </a:spcAft>
                      </a:pPr>
                      <a:r>
                        <a:rPr sz="1450" b="1" i="0">
                          <a:solidFill>
                            <a:srgbClr val="202A36"/>
                          </a:solidFill>
                          <a:latin typeface="Calibri"/>
                        </a:rPr>
                        <a:t>DIP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57/72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94/98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23/25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53/53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16/16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31/31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6"/>
                  </a:ext>
                </a:extLst>
              </a:tr>
            </a:tbl>
          </a:graphicData>
        </a:graphic>
      </p:graphicFrame>
      <p:sp>
        <p:nvSpPr>
          <p:cNvPr id="68" name="Rounded Rectangle 67"/>
          <p:cNvSpPr/>
          <p:nvPr/>
        </p:nvSpPr>
        <p:spPr>
          <a:xfrm>
            <a:off x="612648" y="4434840"/>
            <a:ext cx="10972800" cy="18745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841248" y="4480560"/>
            <a:ext cx="10515600" cy="1783080"/>
          </a:xfrm>
          <a:prstGeom prst="rect">
            <a:avLst/>
          </a:prstGeom>
          <a:noFill/>
        </p:spPr>
        <p:txBody>
          <a:bodyPr wrap="square" lIns="45720" tIns="27432" rIns="45720" bIns="27432" anchor="ctr">
            <a:spAutoFit/>
          </a:bodyPr>
          <a:lstStyle/>
          <a:p>
            <a:pPr marL="182880" indent="-182880" algn="l">
              <a:spcAft>
                <a:spcPts val="600"/>
              </a:spcAft>
              <a:buClr>
                <a:srgbClr val="1F9C82"/>
              </a:buClr>
              <a:buChar char="•"/>
            </a:pPr>
            <a:r>
              <a:rPr sz="1400" b="0" i="0">
                <a:solidFill>
                  <a:srgbClr val="2B3440"/>
                </a:solidFill>
                <a:latin typeface="Calibri"/>
              </a:rPr>
              <a:t>Claude Code’s flags are confirmed more often than Copilot’s on four of five Java principles, so its higher rates are not produced by the detector.</a:t>
            </a:r>
          </a:p>
          <a:p>
            <a:pPr marL="182880" indent="-182880" algn="l">
              <a:spcAft>
                <a:spcPts val="600"/>
              </a:spcAft>
              <a:buClr>
                <a:srgbClr val="1F9C82"/>
              </a:buClr>
              <a:buChar char="•"/>
            </a:pPr>
            <a:r>
              <a:rPr sz="1400" b="1" i="0">
                <a:solidFill>
                  <a:srgbClr val="2B3440"/>
                </a:solidFill>
                <a:latin typeface="Calibri"/>
              </a:rPr>
              <a:t>Dependency Inversion is the exception in Java</a:t>
            </a:r>
            <a:r>
              <a:rPr sz="1400" b="0" i="0">
                <a:solidFill>
                  <a:srgbClr val="2B3440"/>
                </a:solidFill>
                <a:latin typeface="Calibri"/>
              </a:rPr>
              <a:t> (0.792 against 0.959).</a:t>
            </a:r>
          </a:p>
          <a:p>
            <a:pPr marL="182880" indent="-182880" algn="l">
              <a:spcAft>
                <a:spcPts val="600"/>
              </a:spcAft>
              <a:buClr>
                <a:srgbClr val="1F9C82"/>
              </a:buClr>
              <a:buChar char="•"/>
            </a:pPr>
            <a:r>
              <a:rPr sz="1400" b="0" i="0">
                <a:solidFill>
                  <a:srgbClr val="2B3440"/>
                </a:solidFill>
                <a:latin typeface="Calibri"/>
              </a:rPr>
              <a:t>The judge is a Claude model and one agent is Claude Code: leniency would show up as fewer of its flags confirmed, and it does not.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6</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Results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Change size explains most of the difference</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42</a:t>
            </a:r>
          </a:p>
        </p:txBody>
      </p:sp>
      <p:sp>
        <p:nvSpPr>
          <p:cNvPr id="66" name="Rounded Rectangle 65"/>
          <p:cNvSpPr/>
          <p:nvPr/>
        </p:nvSpPr>
        <p:spPr>
          <a:xfrm>
            <a:off x="612648" y="914400"/>
            <a:ext cx="10972800" cy="77724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749808" y="914400"/>
            <a:ext cx="10698480" cy="777240"/>
          </a:xfrm>
          <a:prstGeom prst="rect">
            <a:avLst/>
          </a:prstGeom>
          <a:noFill/>
        </p:spPr>
        <p:txBody>
          <a:bodyPr wrap="square" lIns="45720" tIns="54864" rIns="45720" bIns="54864" anchor="ctr">
            <a:spAutoFit/>
          </a:bodyPr>
          <a:lstStyle/>
          <a:p>
            <a:pPr algn="l">
              <a:spcAft>
                <a:spcPts val="0"/>
              </a:spcAft>
            </a:pPr>
            <a:r>
              <a:rPr sz="1450" b="1" i="0">
                <a:solidFill>
                  <a:srgbClr val="2B3440"/>
                </a:solidFill>
                <a:latin typeface="Calibri"/>
              </a:rPr>
              <a:t>Mean files per pull request:</a:t>
            </a:r>
            <a:r>
              <a:rPr sz="1450" b="0" i="0">
                <a:solidFill>
                  <a:srgbClr val="2B3440"/>
                </a:solidFill>
                <a:latin typeface="Calibri"/>
              </a:rPr>
              <a:t>  Java: Claude 46.4, Copilot 18.5, Codex 10.9  ·  Python: Claude 16.5, Copilot 7.7, Codex 9.6</a:t>
            </a:r>
          </a:p>
        </p:txBody>
      </p:sp>
      <p:graphicFrame>
        <p:nvGraphicFramePr>
          <p:cNvPr id="68" name="Table 67"/>
          <p:cNvGraphicFramePr>
            <a:graphicFrameLocks noGrp="1"/>
          </p:cNvGraphicFramePr>
          <p:nvPr/>
        </p:nvGraphicFramePr>
        <p:xfrm>
          <a:off x="612648" y="1874520"/>
          <a:ext cx="5532120" cy="4114800"/>
        </p:xfrm>
        <a:graphic>
          <a:graphicData uri="http://schemas.openxmlformats.org/drawingml/2006/table">
            <a:tbl>
              <a:tblPr>
                <a:tableStyleId>{2D5ABB26-0587-4C30-8999-92F81FD0307C}</a:tableStyleId>
              </a:tblPr>
              <a:tblGrid>
                <a:gridCol w="15544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457200">
                <a:tc>
                  <a:txBody>
                    <a:bodyPr/>
                    <a:lstStyle/>
                    <a:p>
                      <a:pPr algn="l">
                        <a:spcAft>
                          <a:spcPts val="0"/>
                        </a:spcAft>
                      </a:pPr>
                      <a:r>
                        <a:rPr sz="1400" b="1" i="0">
                          <a:solidFill>
                            <a:srgbClr val="FFFFFF"/>
                          </a:solidFill>
                          <a:latin typeface="Calibri"/>
                        </a:rPr>
                        <a:t>Files</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Claude</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Copilot</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Codex</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457200">
                <a:tc gridSpan="4">
                  <a:txBody>
                    <a:bodyPr/>
                    <a:lstStyle/>
                    <a:p>
                      <a:pPr algn="l">
                        <a:spcAft>
                          <a:spcPts val="0"/>
                        </a:spcAft>
                      </a:pPr>
                      <a:r>
                        <a:rPr sz="1400" b="1" i="0">
                          <a:solidFill>
                            <a:srgbClr val="202A36"/>
                          </a:solidFill>
                          <a:latin typeface="Calibri"/>
                        </a:rPr>
                        <a:t>OCP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9DFE6"/>
                    </a:solidFill>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457200">
                <a:tc>
                  <a:txBody>
                    <a:bodyPr/>
                    <a:lstStyle/>
                    <a:p>
                      <a:pPr algn="l">
                        <a:spcAft>
                          <a:spcPts val="0"/>
                        </a:spcAft>
                      </a:pPr>
                      <a:r>
                        <a:rPr sz="1400" b="0" i="0">
                          <a:solidFill>
                            <a:srgbClr val="2B3440"/>
                          </a:solidFill>
                          <a:latin typeface="Calibri"/>
                        </a:rPr>
                        <a:t>1–3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1.3%</a:t>
                      </a:r>
                    </a:p>
                  </a:txBody>
                  <a:tcPr marL="73152" marR="73152" marT="27432" marB="27432" anchor="ctr">
                    <a:lnL w="0">
                      <a:noFill/>
                    </a:lnL>
                    <a:lnR w="0">
                      <a:noFill/>
                    </a:lnR>
                    <a:lnT w="0">
                      <a:noFill/>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1.9%</a:t>
                      </a:r>
                    </a:p>
                  </a:txBody>
                  <a:tcPr marL="73152" marR="73152" marT="27432" marB="27432" anchor="ctr">
                    <a:lnL w="0">
                      <a:noFill/>
                    </a:lnL>
                    <a:lnR w="0">
                      <a:noFill/>
                    </a:lnR>
                    <a:lnT w="0">
                      <a:noFill/>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0.4%</a:t>
                      </a:r>
                    </a:p>
                  </a:txBody>
                  <a:tcPr marL="73152" marR="73152" marT="27432" marB="27432" anchor="ctr">
                    <a:lnL w="0">
                      <a:noFill/>
                    </a:lnL>
                    <a:lnR w="0">
                      <a:noFill/>
                    </a:lnR>
                    <a:lnT w="0">
                      <a:noFill/>
                    </a:lnT>
                    <a:lnB w="6350">
                      <a:solidFill>
                        <a:srgbClr val="C9D0D8"/>
                      </a:solidFill>
                    </a:lnB>
                    <a:solidFill>
                      <a:srgbClr val="ECEFF3"/>
                    </a:solidFill>
                  </a:tcPr>
                </a:tc>
                <a:extLst>
                  <a:ext uri="{0D108BD9-81ED-4DB2-BD59-A6C34878D82A}">
                    <a16:rowId xmlns:a16="http://schemas.microsoft.com/office/drawing/2014/main" val="10002"/>
                  </a:ext>
                </a:extLst>
              </a:tr>
              <a:tr h="457200">
                <a:tc>
                  <a:txBody>
                    <a:bodyPr/>
                    <a:lstStyle/>
                    <a:p>
                      <a:pPr algn="l">
                        <a:spcAft>
                          <a:spcPts val="0"/>
                        </a:spcAft>
                      </a:pPr>
                      <a:r>
                        <a:rPr sz="1400" b="0" i="0">
                          <a:solidFill>
                            <a:srgbClr val="2B3440"/>
                          </a:solidFill>
                          <a:latin typeface="Calibri"/>
                        </a:rPr>
                        <a:t>4–10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7.0%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3.5%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457200">
                <a:tc>
                  <a:txBody>
                    <a:bodyPr/>
                    <a:lstStyle/>
                    <a:p>
                      <a:pPr algn="l">
                        <a:spcAft>
                          <a:spcPts val="0"/>
                        </a:spcAft>
                      </a:pPr>
                      <a:r>
                        <a:rPr sz="1400" b="0" i="0">
                          <a:solidFill>
                            <a:srgbClr val="2B3440"/>
                          </a:solidFill>
                          <a:latin typeface="Calibri"/>
                        </a:rPr>
                        <a:t>11+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31.3%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19.3%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8.9%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r h="457200">
                <a:tc gridSpan="4">
                  <a:txBody>
                    <a:bodyPr/>
                    <a:lstStyle/>
                    <a:p>
                      <a:pPr algn="l">
                        <a:spcAft>
                          <a:spcPts val="0"/>
                        </a:spcAft>
                      </a:pPr>
                      <a:r>
                        <a:rPr sz="1400" b="1" i="0">
                          <a:solidFill>
                            <a:srgbClr val="202A36"/>
                          </a:solidFill>
                          <a:latin typeface="Calibri"/>
                        </a:rPr>
                        <a:t>DIP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9DFE6"/>
                    </a:solidFill>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5"/>
                  </a:ext>
                </a:extLst>
              </a:tr>
              <a:tr h="457200">
                <a:tc>
                  <a:txBody>
                    <a:bodyPr/>
                    <a:lstStyle/>
                    <a:p>
                      <a:pPr algn="l">
                        <a:spcAft>
                          <a:spcPts val="0"/>
                        </a:spcAft>
                      </a:pPr>
                      <a:r>
                        <a:rPr sz="1400" b="0" i="0">
                          <a:solidFill>
                            <a:srgbClr val="2B3440"/>
                          </a:solidFill>
                          <a:latin typeface="Calibri"/>
                        </a:rPr>
                        <a:t>1–3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0.4%</a:t>
                      </a:r>
                    </a:p>
                  </a:txBody>
                  <a:tcPr marL="73152" marR="73152" marT="27432" marB="27432" anchor="ctr">
                    <a:lnL w="0">
                      <a:noFill/>
                    </a:lnL>
                    <a:lnR w="0">
                      <a:noFill/>
                    </a:lnR>
                    <a:lnT w="0">
                      <a:noFill/>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0.5%</a:t>
                      </a:r>
                    </a:p>
                  </a:txBody>
                  <a:tcPr marL="73152" marR="73152" marT="27432" marB="27432" anchor="ctr">
                    <a:lnL w="0">
                      <a:noFill/>
                    </a:lnL>
                    <a:lnR w="0">
                      <a:noFill/>
                    </a:lnR>
                    <a:lnT w="0">
                      <a:noFill/>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0.8%</a:t>
                      </a:r>
                    </a:p>
                  </a:txBody>
                  <a:tcPr marL="73152" marR="73152" marT="27432" marB="27432" anchor="ctr">
                    <a:lnL w="0">
                      <a:noFill/>
                    </a:lnL>
                    <a:lnR w="0">
                      <a:noFill/>
                    </a:lnR>
                    <a:lnT w="0">
                      <a:noFill/>
                    </a:lnT>
                    <a:lnB w="6350">
                      <a:solidFill>
                        <a:srgbClr val="C9D0D8"/>
                      </a:solidFill>
                    </a:lnB>
                    <a:solidFill>
                      <a:srgbClr val="ECEFF3"/>
                    </a:solidFill>
                  </a:tcPr>
                </a:tc>
                <a:extLst>
                  <a:ext uri="{0D108BD9-81ED-4DB2-BD59-A6C34878D82A}">
                    <a16:rowId xmlns:a16="http://schemas.microsoft.com/office/drawing/2014/main" val="10006"/>
                  </a:ext>
                </a:extLst>
              </a:tr>
              <a:tr h="457200">
                <a:tc>
                  <a:txBody>
                    <a:bodyPr/>
                    <a:lstStyle/>
                    <a:p>
                      <a:pPr algn="l">
                        <a:spcAft>
                          <a:spcPts val="0"/>
                        </a:spcAft>
                      </a:pPr>
                      <a:r>
                        <a:rPr sz="1400" b="0" i="0">
                          <a:solidFill>
                            <a:srgbClr val="2B3440"/>
                          </a:solidFill>
                          <a:latin typeface="Calibri"/>
                        </a:rPr>
                        <a:t>4–10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2.4%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3.7%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7"/>
                  </a:ext>
                </a:extLst>
              </a:tr>
              <a:tr h="457200">
                <a:tc>
                  <a:txBody>
                    <a:bodyPr/>
                    <a:lstStyle/>
                    <a:p>
                      <a:pPr algn="l">
                        <a:spcAft>
                          <a:spcPts val="0"/>
                        </a:spcAft>
                      </a:pPr>
                      <a:r>
                        <a:rPr sz="1400" b="0" i="0">
                          <a:solidFill>
                            <a:srgbClr val="2B3440"/>
                          </a:solidFill>
                          <a:latin typeface="Calibri"/>
                        </a:rPr>
                        <a:t>11+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22.3%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13.7%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12.1%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8"/>
                  </a:ext>
                </a:extLst>
              </a:tr>
            </a:tbl>
          </a:graphicData>
        </a:graphic>
      </p:graphicFrame>
      <p:sp>
        <p:nvSpPr>
          <p:cNvPr id="69" name="Rounded Rectangle 68"/>
          <p:cNvSpPr/>
          <p:nvPr/>
        </p:nvSpPr>
        <p:spPr>
          <a:xfrm>
            <a:off x="6400800" y="1874520"/>
            <a:ext cx="5184648" cy="128016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583680" y="1874520"/>
            <a:ext cx="4818888" cy="1280160"/>
          </a:xfrm>
          <a:prstGeom prst="rect">
            <a:avLst/>
          </a:prstGeom>
          <a:noFill/>
        </p:spPr>
        <p:txBody>
          <a:bodyPr wrap="square" lIns="36576" tIns="36576" rIns="36576" bIns="36576" anchor="ctr">
            <a:spAutoFit/>
          </a:bodyPr>
          <a:lstStyle/>
          <a:p>
            <a:pPr algn="l">
              <a:spcAft>
                <a:spcPts val="300"/>
              </a:spcAft>
            </a:pPr>
            <a:r>
              <a:rPr sz="1450" b="0" i="0">
                <a:solidFill>
                  <a:srgbClr val="2B3440"/>
                </a:solidFill>
                <a:latin typeface="Calibri"/>
              </a:rPr>
              <a:t>The ordering holds only among the largest changes.</a:t>
            </a:r>
          </a:p>
        </p:txBody>
      </p:sp>
      <p:sp>
        <p:nvSpPr>
          <p:cNvPr id="71" name="Rounded Rectangle 70"/>
          <p:cNvSpPr/>
          <p:nvPr/>
        </p:nvSpPr>
        <p:spPr>
          <a:xfrm>
            <a:off x="6400800" y="3291840"/>
            <a:ext cx="5184648" cy="128016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583680" y="3291840"/>
            <a:ext cx="4818888" cy="1280160"/>
          </a:xfrm>
          <a:prstGeom prst="rect">
            <a:avLst/>
          </a:prstGeom>
          <a:noFill/>
        </p:spPr>
        <p:txBody>
          <a:bodyPr wrap="square" lIns="36576" tIns="36576" rIns="36576" bIns="36576" anchor="ctr">
            <a:spAutoFit/>
          </a:bodyPr>
          <a:lstStyle/>
          <a:p>
            <a:pPr algn="l">
              <a:spcAft>
                <a:spcPts val="300"/>
              </a:spcAft>
            </a:pPr>
            <a:r>
              <a:rPr sz="1450" b="0" i="0">
                <a:solidFill>
                  <a:srgbClr val="2B3440"/>
                </a:solidFill>
                <a:latin typeface="Calibri"/>
              </a:rPr>
              <a:t>Among changes of three files or fewer, Copilot leads on Open/Closed and Codex on Dependency Inversion.</a:t>
            </a:r>
          </a:p>
        </p:txBody>
      </p:sp>
      <p:sp>
        <p:nvSpPr>
          <p:cNvPr id="73" name="Rounded Rectangle 72"/>
          <p:cNvSpPr/>
          <p:nvPr/>
        </p:nvSpPr>
        <p:spPr>
          <a:xfrm>
            <a:off x="6400800" y="4709160"/>
            <a:ext cx="5184648" cy="128016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583680" y="4709160"/>
            <a:ext cx="4818888" cy="1280160"/>
          </a:xfrm>
          <a:prstGeom prst="rect">
            <a:avLst/>
          </a:prstGeom>
          <a:noFill/>
        </p:spPr>
        <p:txBody>
          <a:bodyPr wrap="square" lIns="36576" tIns="36576" rIns="36576" bIns="36576" anchor="ctr">
            <a:spAutoFit/>
          </a:bodyPr>
          <a:lstStyle/>
          <a:p>
            <a:pPr algn="l">
              <a:spcAft>
                <a:spcPts val="300"/>
              </a:spcAft>
            </a:pPr>
            <a:r>
              <a:rPr sz="1450" b="0" i="0">
                <a:solidFill>
                  <a:srgbClr val="2B3440"/>
                </a:solidFill>
                <a:latin typeface="Calibri"/>
              </a:rPr>
              <a:t>A delta detector has more chances to fire when more code changes, so size has to be adjusted for, not just described.</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6</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Results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The joint model</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43</a:t>
            </a:r>
          </a:p>
        </p:txBody>
      </p:sp>
      <p:sp>
        <p:nvSpPr>
          <p:cNvPr id="66" name="Rounded Rectangle 65"/>
          <p:cNvSpPr/>
          <p:nvPr/>
        </p:nvSpPr>
        <p:spPr>
          <a:xfrm>
            <a:off x="612648" y="914400"/>
            <a:ext cx="5669280" cy="20574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Picture 66" descr="eq_11.png"/>
          <p:cNvPicPr>
            <a:picLocks noChangeAspect="1"/>
          </p:cNvPicPr>
          <p:nvPr/>
        </p:nvPicPr>
        <p:blipFill>
          <a:blip r:embed="rId2"/>
          <a:stretch>
            <a:fillRect/>
          </a:stretch>
        </p:blipFill>
        <p:spPr>
          <a:xfrm>
            <a:off x="886968" y="1051560"/>
            <a:ext cx="3352800" cy="457200"/>
          </a:xfrm>
          <a:prstGeom prst="rect">
            <a:avLst/>
          </a:prstGeom>
        </p:spPr>
      </p:pic>
      <p:pic>
        <p:nvPicPr>
          <p:cNvPr id="68" name="Picture 67" descr="eq_12.png"/>
          <p:cNvPicPr>
            <a:picLocks noChangeAspect="1"/>
          </p:cNvPicPr>
          <p:nvPr/>
        </p:nvPicPr>
        <p:blipFill>
          <a:blip r:embed="rId3"/>
          <a:stretch>
            <a:fillRect/>
          </a:stretch>
        </p:blipFill>
        <p:spPr>
          <a:xfrm>
            <a:off x="886968" y="1600200"/>
            <a:ext cx="4517409" cy="457200"/>
          </a:xfrm>
          <a:prstGeom prst="rect">
            <a:avLst/>
          </a:prstGeom>
        </p:spPr>
      </p:pic>
      <p:sp>
        <p:nvSpPr>
          <p:cNvPr id="69" name="TextBox 68"/>
          <p:cNvSpPr txBox="1"/>
          <p:nvPr/>
        </p:nvSpPr>
        <p:spPr>
          <a:xfrm>
            <a:off x="795528" y="2194560"/>
            <a:ext cx="5303520" cy="731520"/>
          </a:xfrm>
          <a:prstGeom prst="rect">
            <a:avLst/>
          </a:prstGeom>
          <a:noFill/>
        </p:spPr>
        <p:txBody>
          <a:bodyPr wrap="square" lIns="45720" tIns="27432" rIns="45720" bIns="27432" anchor="ctr">
            <a:spAutoFit/>
          </a:bodyPr>
          <a:lstStyle/>
          <a:p>
            <a:pPr algn="l">
              <a:spcAft>
                <a:spcPts val="0"/>
              </a:spcAft>
            </a:pPr>
            <a:r>
              <a:rPr sz="1300" b="0" i="0">
                <a:solidFill>
                  <a:srgbClr val="5C6773"/>
                </a:solidFill>
                <a:latin typeface="Calibri"/>
              </a:rPr>
              <a:t>estimated by GEE, exchangeable within repository, cluster-robust errors; Copilot is the reference.</a:t>
            </a:r>
          </a:p>
        </p:txBody>
      </p:sp>
      <p:graphicFrame>
        <p:nvGraphicFramePr>
          <p:cNvPr id="70" name="Table 69"/>
          <p:cNvGraphicFramePr>
            <a:graphicFrameLocks noGrp="1"/>
          </p:cNvGraphicFramePr>
          <p:nvPr/>
        </p:nvGraphicFramePr>
        <p:xfrm>
          <a:off x="612648" y="3154680"/>
          <a:ext cx="5669280" cy="2743200"/>
        </p:xfrm>
        <a:graphic>
          <a:graphicData uri="http://schemas.openxmlformats.org/drawingml/2006/table">
            <a:tbl>
              <a:tblPr>
                <a:tableStyleId>{2D5ABB26-0587-4C30-8999-92F81FD0307C}</a:tableStyleId>
              </a:tblPr>
              <a:tblGrid>
                <a:gridCol w="29260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457200">
                <a:tc>
                  <a:txBody>
                    <a:bodyPr/>
                    <a:lstStyle/>
                    <a:p>
                      <a:pPr algn="l">
                        <a:spcAft>
                          <a:spcPts val="0"/>
                        </a:spcAft>
                      </a:pPr>
                      <a:endParaRP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Java</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00" b="1" i="0">
                          <a:solidFill>
                            <a:srgbClr val="FFFFFF"/>
                          </a:solidFill>
                          <a:latin typeface="Calibri"/>
                        </a:rPr>
                        <a:t>Python</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457200">
                <a:tc>
                  <a:txBody>
                    <a:bodyPr/>
                    <a:lstStyle/>
                    <a:p>
                      <a:pPr algn="l">
                        <a:spcAft>
                          <a:spcPts val="0"/>
                        </a:spcAft>
                      </a:pPr>
                      <a:r>
                        <a:rPr sz="1400" b="0" i="0">
                          <a:solidFill>
                            <a:srgbClr val="2B3440"/>
                          </a:solidFill>
                          <a:latin typeface="Calibri"/>
                        </a:rPr>
                        <a:t>odds per doubling of files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1.88–1.95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2.01–2.18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457200">
                <a:tc>
                  <a:txBody>
                    <a:bodyPr/>
                    <a:lstStyle/>
                    <a:p>
                      <a:pPr algn="l">
                        <a:spcAft>
                          <a:spcPts val="0"/>
                        </a:spcAft>
                      </a:pPr>
                      <a:r>
                        <a:rPr sz="1400" b="0" i="0">
                          <a:solidFill>
                            <a:srgbClr val="2B3440"/>
                          </a:solidFill>
                          <a:latin typeface="Calibri"/>
                        </a:rPr>
                        <a:t>Claude Code, OCP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2.22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2.09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457200">
                <a:tc>
                  <a:txBody>
                    <a:bodyPr/>
                    <a:lstStyle/>
                    <a:p>
                      <a:pPr algn="l">
                        <a:spcAft>
                          <a:spcPts val="0"/>
                        </a:spcAft>
                      </a:pPr>
                      <a:r>
                        <a:rPr sz="1400" b="0" i="0">
                          <a:solidFill>
                            <a:srgbClr val="2B3440"/>
                          </a:solidFill>
                          <a:latin typeface="Calibri"/>
                        </a:rPr>
                        <a:t>95% interval</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1.21–4.07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1.44–3.04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457200">
                <a:tc>
                  <a:txBody>
                    <a:bodyPr/>
                    <a:lstStyle/>
                    <a:p>
                      <a:pPr algn="l">
                        <a:spcAft>
                          <a:spcPts val="0"/>
                        </a:spcAft>
                      </a:pPr>
                      <a:r>
                        <a:rPr sz="1400" b="0" i="0">
                          <a:solidFill>
                            <a:srgbClr val="2B3440"/>
                          </a:solidFill>
                          <a:latin typeface="Calibri"/>
                        </a:rPr>
                        <a:t>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0.010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00" b="0" i="0">
                          <a:solidFill>
                            <a:srgbClr val="2B3440"/>
                          </a:solidFill>
                          <a:latin typeface="Calibri"/>
                        </a:rPr>
                        <a:t>0.0001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r h="457200">
                <a:tc>
                  <a:txBody>
                    <a:bodyPr/>
                    <a:lstStyle/>
                    <a:p>
                      <a:pPr algn="l">
                        <a:spcAft>
                          <a:spcPts val="0"/>
                        </a:spcAft>
                      </a:pPr>
                      <a:r>
                        <a:rPr sz="1400" b="0" i="0">
                          <a:solidFill>
                            <a:srgbClr val="2B3440"/>
                          </a:solidFill>
                          <a:latin typeface="Calibri"/>
                        </a:rPr>
                        <a:t>time, per month</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00" b="0" i="0">
                          <a:solidFill>
                            <a:srgbClr val="2B3440"/>
                          </a:solidFill>
                          <a:latin typeface="Calibri"/>
                        </a:rPr>
                        <a:t>≈1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5"/>
                  </a:ext>
                </a:extLst>
              </a:tr>
            </a:tbl>
          </a:graphicData>
        </a:graphic>
      </p:graphicFrame>
      <p:sp>
        <p:nvSpPr>
          <p:cNvPr id="71" name="Rounded Rectangle 70"/>
          <p:cNvSpPr/>
          <p:nvPr/>
        </p:nvSpPr>
        <p:spPr>
          <a:xfrm>
            <a:off x="6492240" y="914400"/>
            <a:ext cx="5093208" cy="1252728"/>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675120" y="914400"/>
            <a:ext cx="4727448" cy="1252728"/>
          </a:xfrm>
          <a:prstGeom prst="rect">
            <a:avLst/>
          </a:prstGeom>
          <a:noFill/>
        </p:spPr>
        <p:txBody>
          <a:bodyPr wrap="square" lIns="36576" tIns="36576" rIns="36576" bIns="36576" anchor="ctr">
            <a:spAutoFit/>
          </a:bodyPr>
          <a:lstStyle/>
          <a:p>
            <a:pPr algn="l">
              <a:spcAft>
                <a:spcPts val="300"/>
              </a:spcAft>
            </a:pPr>
            <a:r>
              <a:rPr sz="1400" b="1" i="0">
                <a:solidFill>
                  <a:srgbClr val="2B3440"/>
                </a:solidFill>
                <a:latin typeface="Calibri"/>
              </a:rPr>
              <a:t>Change size dominates every principle in both languages.</a:t>
            </a:r>
          </a:p>
        </p:txBody>
      </p:sp>
      <p:sp>
        <p:nvSpPr>
          <p:cNvPr id="73" name="Rounded Rectangle 72"/>
          <p:cNvSpPr/>
          <p:nvPr/>
        </p:nvSpPr>
        <p:spPr>
          <a:xfrm>
            <a:off x="6492240" y="2295144"/>
            <a:ext cx="5093208" cy="1252728"/>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675120" y="2295144"/>
            <a:ext cx="4727448" cy="1252728"/>
          </a:xfrm>
          <a:prstGeom prst="rect">
            <a:avLst/>
          </a:prstGeom>
          <a:noFill/>
        </p:spPr>
        <p:txBody>
          <a:bodyPr wrap="square" lIns="36576" tIns="36576" rIns="36576" bIns="36576" anchor="ctr">
            <a:spAutoFit/>
          </a:bodyPr>
          <a:lstStyle/>
          <a:p>
            <a:pPr algn="l">
              <a:spcAft>
                <a:spcPts val="300"/>
              </a:spcAft>
            </a:pPr>
            <a:r>
              <a:rPr sz="1400" b="1" i="0">
                <a:solidFill>
                  <a:srgbClr val="2B3440"/>
                </a:solidFill>
                <a:latin typeface="Calibri"/>
              </a:rPr>
              <a:t>One agent difference replicates:</a:t>
            </a:r>
            <a:r>
              <a:rPr sz="1400" b="0" i="0">
                <a:solidFill>
                  <a:srgbClr val="2B3440"/>
                </a:solidFill>
                <a:latin typeface="Calibri"/>
              </a:rPr>
              <a:t> Claude Code on Open/Closed.</a:t>
            </a:r>
          </a:p>
        </p:txBody>
      </p:sp>
      <p:sp>
        <p:nvSpPr>
          <p:cNvPr id="75" name="Rounded Rectangle 74"/>
          <p:cNvSpPr/>
          <p:nvPr/>
        </p:nvSpPr>
        <p:spPr>
          <a:xfrm>
            <a:off x="6492240" y="3675888"/>
            <a:ext cx="5093208" cy="1252728"/>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675120" y="3675888"/>
            <a:ext cx="4727448" cy="1252728"/>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Six agent coefficients are tested in Java and ten in Python. Java alone would not pass a Bonferroni correction; Python does, so the claim rests on the replication.</a:t>
            </a:r>
          </a:p>
        </p:txBody>
      </p:sp>
      <p:sp>
        <p:nvSpPr>
          <p:cNvPr id="77" name="Rounded Rectangle 76"/>
          <p:cNvSpPr/>
          <p:nvPr/>
        </p:nvSpPr>
        <p:spPr>
          <a:xfrm>
            <a:off x="6492240" y="5056632"/>
            <a:ext cx="5093208" cy="1252728"/>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6675120" y="5056632"/>
            <a:ext cx="4727448" cy="1252728"/>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Python’s import-cycle effect (1.88, p=0.0096) does not pass and is reported as unconfirmed.</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6</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Results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Merged against unmerged code</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44</a:t>
            </a:r>
          </a:p>
        </p:txBody>
      </p:sp>
      <p:sp>
        <p:nvSpPr>
          <p:cNvPr id="66" name="TextBox 65"/>
          <p:cNvSpPr txBox="1"/>
          <p:nvPr/>
        </p:nvSpPr>
        <p:spPr>
          <a:xfrm>
            <a:off x="612648" y="914400"/>
            <a:ext cx="5303520" cy="274320"/>
          </a:xfrm>
          <a:prstGeom prst="rect">
            <a:avLst/>
          </a:prstGeom>
          <a:noFill/>
        </p:spPr>
        <p:txBody>
          <a:bodyPr wrap="square" lIns="18288" tIns="18288" rIns="18288" bIns="18288" anchor="t">
            <a:spAutoFit/>
          </a:bodyPr>
          <a:lstStyle/>
          <a:p>
            <a:pPr algn="l">
              <a:spcAft>
                <a:spcPts val="0"/>
              </a:spcAft>
            </a:pPr>
            <a:r>
              <a:rPr sz="1200" b="1" i="0">
                <a:solidFill>
                  <a:srgbClr val="34495E"/>
                </a:solidFill>
                <a:latin typeface="Arial"/>
              </a:rPr>
              <a:t>JAVA, SAME RECOVERY METHOD</a:t>
            </a:r>
          </a:p>
        </p:txBody>
      </p:sp>
      <p:graphicFrame>
        <p:nvGraphicFramePr>
          <p:cNvPr id="67" name="Table 66"/>
          <p:cNvGraphicFramePr>
            <a:graphicFrameLocks noGrp="1"/>
          </p:cNvGraphicFramePr>
          <p:nvPr/>
        </p:nvGraphicFramePr>
        <p:xfrm>
          <a:off x="612648" y="1280160"/>
          <a:ext cx="5349240" cy="1965960"/>
        </p:xfrm>
        <a:graphic>
          <a:graphicData uri="http://schemas.openxmlformats.org/drawingml/2006/table">
            <a:tbl>
              <a:tblPr>
                <a:tableStyleId>{2D5ABB26-0587-4C30-8999-92F81FD0307C}</a:tableStyleId>
              </a:tblPr>
              <a:tblGrid>
                <a:gridCol w="210312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57200">
                <a:tc>
                  <a:txBody>
                    <a:bodyPr/>
                    <a:lstStyle/>
                    <a:p>
                      <a:pPr algn="l">
                        <a:spcAft>
                          <a:spcPts val="0"/>
                        </a:spcAft>
                      </a:pPr>
                      <a:r>
                        <a:rPr sz="1450" b="1" i="0">
                          <a:solidFill>
                            <a:srgbClr val="FFFFFF"/>
                          </a:solidFill>
                          <a:latin typeface="Calibri"/>
                        </a:rPr>
                        <a:t>Stratum</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n</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OCP</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DIP</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502920">
                <a:tc>
                  <a:txBody>
                    <a:bodyPr/>
                    <a:lstStyle/>
                    <a:p>
                      <a:pPr algn="l">
                        <a:spcAft>
                          <a:spcPts val="0"/>
                        </a:spcAft>
                      </a:pPr>
                      <a:r>
                        <a:rPr sz="1450" b="1" i="0">
                          <a:solidFill>
                            <a:srgbClr val="202A36"/>
                          </a:solidFill>
                          <a:latin typeface="Calibri"/>
                        </a:rPr>
                        <a:t>merged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1,521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8.3%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4.6%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502920">
                <a:tc>
                  <a:txBody>
                    <a:bodyPr/>
                    <a:lstStyle/>
                    <a:p>
                      <a:pPr algn="l">
                        <a:spcAft>
                          <a:spcPts val="0"/>
                        </a:spcAft>
                      </a:pPr>
                      <a:r>
                        <a:rPr sz="1450" b="1" i="0">
                          <a:solidFill>
                            <a:srgbClr val="202A36"/>
                          </a:solidFill>
                          <a:latin typeface="Calibri"/>
                        </a:rPr>
                        <a:t>unreviewed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1,006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7.5%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5.6%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502920">
                <a:tc>
                  <a:txBody>
                    <a:bodyPr/>
                    <a:lstStyle/>
                    <a:p>
                      <a:pPr algn="l">
                        <a:spcAft>
                          <a:spcPts val="0"/>
                        </a:spcAft>
                      </a:pPr>
                      <a:r>
                        <a:rPr sz="1450" b="1" i="0">
                          <a:solidFill>
                            <a:srgbClr val="202A36"/>
                          </a:solidFill>
                          <a:latin typeface="Calibri"/>
                        </a:rPr>
                        <a:t>reviewed, closed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135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12.6%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12.6%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bl>
          </a:graphicData>
        </a:graphic>
      </p:graphicFrame>
      <p:sp>
        <p:nvSpPr>
          <p:cNvPr id="68" name="Rounded Rectangle 67"/>
          <p:cNvSpPr/>
          <p:nvPr/>
        </p:nvSpPr>
        <p:spPr>
          <a:xfrm>
            <a:off x="612648" y="3520440"/>
            <a:ext cx="5349240" cy="105156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749808" y="3520440"/>
            <a:ext cx="5074920" cy="1051560"/>
          </a:xfrm>
          <a:prstGeom prst="rect">
            <a:avLst/>
          </a:prstGeom>
          <a:noFill/>
        </p:spPr>
        <p:txBody>
          <a:bodyPr wrap="square" lIns="45720" tIns="54864" rIns="45720" bIns="54864" anchor="ctr">
            <a:spAutoFit/>
          </a:bodyPr>
          <a:lstStyle/>
          <a:p>
            <a:pPr algn="l">
              <a:spcAft>
                <a:spcPts val="0"/>
              </a:spcAft>
            </a:pPr>
            <a:r>
              <a:rPr sz="1450" b="1" i="0">
                <a:solidFill>
                  <a:srgbClr val="2B3440"/>
                </a:solidFill>
                <a:latin typeface="Calibri"/>
              </a:rPr>
              <a:t>Merged code is indistinguishable from code closed without review.</a:t>
            </a:r>
          </a:p>
        </p:txBody>
      </p:sp>
      <p:sp>
        <p:nvSpPr>
          <p:cNvPr id="70" name="TextBox 69"/>
          <p:cNvSpPr txBox="1"/>
          <p:nvPr/>
        </p:nvSpPr>
        <p:spPr>
          <a:xfrm>
            <a:off x="6236208" y="914400"/>
            <a:ext cx="5303520" cy="274320"/>
          </a:xfrm>
          <a:prstGeom prst="rect">
            <a:avLst/>
          </a:prstGeom>
          <a:noFill/>
        </p:spPr>
        <p:txBody>
          <a:bodyPr wrap="square" lIns="18288" tIns="18288" rIns="18288" bIns="18288" anchor="t">
            <a:spAutoFit/>
          </a:bodyPr>
          <a:lstStyle/>
          <a:p>
            <a:pPr algn="l">
              <a:spcAft>
                <a:spcPts val="0"/>
              </a:spcAft>
            </a:pPr>
            <a:r>
              <a:rPr sz="1200" b="1" i="0">
                <a:solidFill>
                  <a:srgbClr val="34495E"/>
                </a:solidFill>
                <a:latin typeface="Arial"/>
              </a:rPr>
              <a:t>PYTHON, SAME RECOVERY METHOD</a:t>
            </a:r>
          </a:p>
        </p:txBody>
      </p:sp>
      <p:graphicFrame>
        <p:nvGraphicFramePr>
          <p:cNvPr id="71" name="Table 70"/>
          <p:cNvGraphicFramePr>
            <a:graphicFrameLocks noGrp="1"/>
          </p:cNvGraphicFramePr>
          <p:nvPr/>
        </p:nvGraphicFramePr>
        <p:xfrm>
          <a:off x="6236208" y="1280160"/>
          <a:ext cx="5349240" cy="1965960"/>
        </p:xfrm>
        <a:graphic>
          <a:graphicData uri="http://schemas.openxmlformats.org/drawingml/2006/table">
            <a:tbl>
              <a:tblPr>
                <a:tableStyleId>{2D5ABB26-0587-4C30-8999-92F81FD0307C}</a:tableStyleId>
              </a:tblPr>
              <a:tblGrid>
                <a:gridCol w="210312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57200">
                <a:tc>
                  <a:txBody>
                    <a:bodyPr/>
                    <a:lstStyle/>
                    <a:p>
                      <a:pPr algn="l">
                        <a:spcAft>
                          <a:spcPts val="0"/>
                        </a:spcAft>
                      </a:pPr>
                      <a:r>
                        <a:rPr sz="1450" b="1" i="0">
                          <a:solidFill>
                            <a:srgbClr val="FFFFFF"/>
                          </a:solidFill>
                          <a:latin typeface="Calibri"/>
                        </a:rPr>
                        <a:t>Stratum</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n</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OCP</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DIP</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502920">
                <a:tc>
                  <a:txBody>
                    <a:bodyPr/>
                    <a:lstStyle/>
                    <a:p>
                      <a:pPr algn="l">
                        <a:spcAft>
                          <a:spcPts val="0"/>
                        </a:spcAft>
                      </a:pPr>
                      <a:r>
                        <a:rPr sz="1450" b="1" i="0">
                          <a:solidFill>
                            <a:srgbClr val="202A36"/>
                          </a:solidFill>
                          <a:latin typeface="Calibri"/>
                        </a:rPr>
                        <a:t>merged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1,734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4.9%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3.1%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502920">
                <a:tc>
                  <a:txBody>
                    <a:bodyPr/>
                    <a:lstStyle/>
                    <a:p>
                      <a:pPr algn="l">
                        <a:spcAft>
                          <a:spcPts val="0"/>
                        </a:spcAft>
                      </a:pPr>
                      <a:r>
                        <a:rPr sz="1450" b="1" i="0">
                          <a:solidFill>
                            <a:srgbClr val="202A36"/>
                          </a:solidFill>
                          <a:latin typeface="Calibri"/>
                        </a:rPr>
                        <a:t>unreviewed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1,300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9.1%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4.5%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502920">
                <a:tc>
                  <a:txBody>
                    <a:bodyPr/>
                    <a:lstStyle/>
                    <a:p>
                      <a:pPr algn="l">
                        <a:spcAft>
                          <a:spcPts val="0"/>
                        </a:spcAft>
                      </a:pPr>
                      <a:r>
                        <a:rPr sz="1450" b="1" i="0">
                          <a:solidFill>
                            <a:srgbClr val="202A36"/>
                          </a:solidFill>
                          <a:latin typeface="Calibri"/>
                        </a:rPr>
                        <a:t>reviewed, closed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163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7.4%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8.6%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bl>
          </a:graphicData>
        </a:graphic>
      </p:graphicFrame>
      <p:sp>
        <p:nvSpPr>
          <p:cNvPr id="72" name="Rounded Rectangle 71"/>
          <p:cNvSpPr/>
          <p:nvPr/>
        </p:nvSpPr>
        <p:spPr>
          <a:xfrm>
            <a:off x="6236208" y="3520440"/>
            <a:ext cx="5349240" cy="105156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6373368" y="3520440"/>
            <a:ext cx="5074920" cy="1051560"/>
          </a:xfrm>
          <a:prstGeom prst="rect">
            <a:avLst/>
          </a:prstGeom>
          <a:noFill/>
        </p:spPr>
        <p:txBody>
          <a:bodyPr wrap="square" lIns="45720" tIns="54864" rIns="45720" bIns="54864" anchor="ctr">
            <a:spAutoFit/>
          </a:bodyPr>
          <a:lstStyle/>
          <a:p>
            <a:pPr algn="l">
              <a:spcAft>
                <a:spcPts val="0"/>
              </a:spcAft>
            </a:pPr>
            <a:r>
              <a:rPr sz="1450" b="1" i="0">
                <a:solidFill>
                  <a:srgbClr val="2B3440"/>
                </a:solidFill>
                <a:latin typeface="Calibri"/>
              </a:rPr>
              <a:t>Merged code is cleaner:</a:t>
            </a:r>
            <a:r>
              <a:rPr sz="1450" b="0" i="0">
                <a:solidFill>
                  <a:srgbClr val="2B3440"/>
                </a:solidFill>
                <a:latin typeface="Calibri"/>
              </a:rPr>
              <a:t> unmerged odds 1.57 (OCP) and 2.43 (LSP) after size and agent.</a:t>
            </a:r>
          </a:p>
        </p:txBody>
      </p:sp>
      <p:sp>
        <p:nvSpPr>
          <p:cNvPr id="74" name="Rounded Rectangle 73"/>
          <p:cNvSpPr/>
          <p:nvPr/>
        </p:nvSpPr>
        <p:spPr>
          <a:xfrm>
            <a:off x="612648" y="4937760"/>
            <a:ext cx="10972800" cy="109728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Hexagon 74"/>
          <p:cNvSpPr/>
          <p:nvPr/>
        </p:nvSpPr>
        <p:spPr>
          <a:xfrm>
            <a:off x="813816" y="534924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1252728" y="4937760"/>
            <a:ext cx="10149840" cy="1097280"/>
          </a:xfrm>
          <a:prstGeom prst="rect">
            <a:avLst/>
          </a:prstGeom>
          <a:noFill/>
        </p:spPr>
        <p:txBody>
          <a:bodyPr wrap="square" lIns="45720" rIns="45720" anchor="ctr">
            <a:spAutoFit/>
          </a:bodyPr>
          <a:lstStyle/>
          <a:p>
            <a:pPr algn="l">
              <a:spcAft>
                <a:spcPts val="0"/>
              </a:spcAft>
            </a:pPr>
            <a:r>
              <a:rPr sz="1400" b="0" i="0">
                <a:solidFill>
                  <a:srgbClr val="FFFFFF"/>
                </a:solidFill>
                <a:latin typeface="Calibri"/>
              </a:rPr>
              <a:t>Only 171 of 1,177 unmerged Java requests and 196 of 1,496 Python ones were ever reviewed, so </a:t>
            </a:r>
            <a:r>
              <a:rPr sz="1400" b="1" i="0">
                <a:solidFill>
                  <a:srgbClr val="FFFFFF"/>
                </a:solidFill>
                <a:latin typeface="Calibri"/>
              </a:rPr>
              <a:t>neither result shows what reviewers select on.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6</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Results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Where the problems live</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45</a:t>
            </a:r>
          </a:p>
        </p:txBody>
      </p:sp>
      <p:sp>
        <p:nvSpPr>
          <p:cNvPr id="66" name="Rounded Rectangle 65"/>
          <p:cNvSpPr/>
          <p:nvPr/>
        </p:nvSpPr>
        <p:spPr>
          <a:xfrm>
            <a:off x="612648" y="1371600"/>
            <a:ext cx="10972800" cy="420624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Picture 66" descr="fig_intra_inter.png"/>
          <p:cNvPicPr>
            <a:picLocks noChangeAspect="1"/>
          </p:cNvPicPr>
          <p:nvPr/>
        </p:nvPicPr>
        <p:blipFill>
          <a:blip r:embed="rId2"/>
          <a:stretch>
            <a:fillRect/>
          </a:stretch>
        </p:blipFill>
        <p:spPr>
          <a:xfrm>
            <a:off x="749808" y="1736000"/>
            <a:ext cx="10698480" cy="347744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6</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Results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Most violations were there before the change</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46</a:t>
            </a:r>
          </a:p>
        </p:txBody>
      </p:sp>
      <p:sp>
        <p:nvSpPr>
          <p:cNvPr id="66" name="Rounded Rectangle 65"/>
          <p:cNvSpPr/>
          <p:nvPr/>
        </p:nvSpPr>
        <p:spPr>
          <a:xfrm>
            <a:off x="612648" y="914400"/>
            <a:ext cx="7772400" cy="539496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Picture 66" descr="fig_present_introduced.png"/>
          <p:cNvPicPr>
            <a:picLocks noChangeAspect="1"/>
          </p:cNvPicPr>
          <p:nvPr/>
        </p:nvPicPr>
        <p:blipFill>
          <a:blip r:embed="rId2"/>
          <a:stretch>
            <a:fillRect/>
          </a:stretch>
        </p:blipFill>
        <p:spPr>
          <a:xfrm>
            <a:off x="722376" y="1345997"/>
            <a:ext cx="7552944" cy="4531766"/>
          </a:xfrm>
          <a:prstGeom prst="rect">
            <a:avLst/>
          </a:prstGeom>
        </p:spPr>
      </p:pic>
      <p:sp>
        <p:nvSpPr>
          <p:cNvPr id="68" name="Rounded Rectangle 67"/>
          <p:cNvSpPr/>
          <p:nvPr/>
        </p:nvSpPr>
        <p:spPr>
          <a:xfrm>
            <a:off x="8549640" y="914400"/>
            <a:ext cx="3035808" cy="1600200"/>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8686800" y="1005840"/>
            <a:ext cx="2761488" cy="800100"/>
          </a:xfrm>
          <a:prstGeom prst="rect">
            <a:avLst/>
          </a:prstGeom>
          <a:noFill/>
        </p:spPr>
        <p:txBody>
          <a:bodyPr wrap="square" lIns="45720" tIns="27432" rIns="45720" bIns="27432" anchor="b">
            <a:spAutoFit/>
          </a:bodyPr>
          <a:lstStyle/>
          <a:p>
            <a:pPr algn="ctr">
              <a:spcAft>
                <a:spcPts val="0"/>
              </a:spcAft>
            </a:pPr>
            <a:r>
              <a:rPr sz="3200" b="1" i="0">
                <a:solidFill>
                  <a:srgbClr val="46CEAE"/>
                </a:solidFill>
                <a:latin typeface="Arial"/>
              </a:rPr>
              <a:t>183 vs 16</a:t>
            </a:r>
          </a:p>
        </p:txBody>
      </p:sp>
      <p:sp>
        <p:nvSpPr>
          <p:cNvPr id="70" name="TextBox 69"/>
          <p:cNvSpPr txBox="1"/>
          <p:nvPr/>
        </p:nvSpPr>
        <p:spPr>
          <a:xfrm>
            <a:off x="8732520" y="1794510"/>
            <a:ext cx="2670048" cy="672084"/>
          </a:xfrm>
          <a:prstGeom prst="rect">
            <a:avLst/>
          </a:prstGeom>
          <a:noFill/>
        </p:spPr>
        <p:txBody>
          <a:bodyPr wrap="square" lIns="45720" tIns="27432" rIns="45720" bIns="27432" anchor="t">
            <a:spAutoFit/>
          </a:bodyPr>
          <a:lstStyle/>
          <a:p>
            <a:pPr algn="ctr">
              <a:spcAft>
                <a:spcPts val="0"/>
              </a:spcAft>
            </a:pPr>
            <a:r>
              <a:rPr sz="1250" b="0" i="0">
                <a:solidFill>
                  <a:srgbClr val="D5DCE4"/>
                </a:solidFill>
                <a:latin typeface="Calibri"/>
              </a:rPr>
              <a:t>refused bequest present vs introducing pull requests, Java</a:t>
            </a:r>
          </a:p>
        </p:txBody>
      </p:sp>
      <p:sp>
        <p:nvSpPr>
          <p:cNvPr id="71" name="Rounded Rectangle 70"/>
          <p:cNvSpPr/>
          <p:nvPr/>
        </p:nvSpPr>
        <p:spPr>
          <a:xfrm>
            <a:off x="8549640" y="2651760"/>
            <a:ext cx="3035808" cy="1600200"/>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686800" y="2743200"/>
            <a:ext cx="2761488" cy="800100"/>
          </a:xfrm>
          <a:prstGeom prst="rect">
            <a:avLst/>
          </a:prstGeom>
          <a:noFill/>
        </p:spPr>
        <p:txBody>
          <a:bodyPr wrap="square" lIns="45720" tIns="27432" rIns="45720" bIns="27432" anchor="b">
            <a:spAutoFit/>
          </a:bodyPr>
          <a:lstStyle/>
          <a:p>
            <a:pPr algn="ctr">
              <a:spcAft>
                <a:spcPts val="0"/>
              </a:spcAft>
            </a:pPr>
            <a:r>
              <a:rPr sz="3200" b="1" i="0">
                <a:solidFill>
                  <a:srgbClr val="46CEAE"/>
                </a:solidFill>
                <a:latin typeface="Arial"/>
              </a:rPr>
              <a:t>176 vs 5</a:t>
            </a:r>
          </a:p>
        </p:txBody>
      </p:sp>
      <p:sp>
        <p:nvSpPr>
          <p:cNvPr id="73" name="TextBox 72"/>
          <p:cNvSpPr txBox="1"/>
          <p:nvPr/>
        </p:nvSpPr>
        <p:spPr>
          <a:xfrm>
            <a:off x="8732520" y="3531870"/>
            <a:ext cx="2670048" cy="672084"/>
          </a:xfrm>
          <a:prstGeom prst="rect">
            <a:avLst/>
          </a:prstGeom>
          <a:noFill/>
        </p:spPr>
        <p:txBody>
          <a:bodyPr wrap="square" lIns="45720" tIns="27432" rIns="45720" bIns="27432" anchor="t">
            <a:spAutoFit/>
          </a:bodyPr>
          <a:lstStyle/>
          <a:p>
            <a:pPr algn="ctr">
              <a:spcAft>
                <a:spcPts val="0"/>
              </a:spcAft>
            </a:pPr>
            <a:r>
              <a:rPr sz="1250" b="0" i="0">
                <a:solidFill>
                  <a:srgbClr val="D5DCE4"/>
                </a:solidFill>
                <a:latin typeface="Calibri"/>
              </a:rPr>
              <a:t>refused bequest present vs introducing pull requests, Python</a:t>
            </a:r>
          </a:p>
        </p:txBody>
      </p:sp>
      <p:sp>
        <p:nvSpPr>
          <p:cNvPr id="74" name="Rounded Rectangle 73"/>
          <p:cNvSpPr/>
          <p:nvPr/>
        </p:nvSpPr>
        <p:spPr>
          <a:xfrm>
            <a:off x="8549640" y="4389120"/>
            <a:ext cx="3035808" cy="1920240"/>
          </a:xfrm>
          <a:prstGeom prst="roundRect">
            <a:avLst>
              <a:gd name="adj" fmla="val 6000"/>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8686800" y="4389120"/>
            <a:ext cx="2761488" cy="1920240"/>
          </a:xfrm>
          <a:prstGeom prst="rect">
            <a:avLst/>
          </a:prstGeom>
          <a:noFill/>
        </p:spPr>
        <p:txBody>
          <a:bodyPr wrap="square" lIns="45720" tIns="54864" rIns="45720" bIns="54864" anchor="ctr">
            <a:spAutoFit/>
          </a:bodyPr>
          <a:lstStyle/>
          <a:p>
            <a:pPr algn="l">
              <a:spcAft>
                <a:spcPts val="0"/>
              </a:spcAft>
            </a:pPr>
            <a:r>
              <a:rPr sz="1450" b="0" i="0">
                <a:solidFill>
                  <a:srgbClr val="2B3440"/>
                </a:solidFill>
                <a:latin typeface="Calibri"/>
              </a:rPr>
              <a:t>After correcting for precision, </a:t>
            </a:r>
            <a:r>
              <a:rPr sz="1450" b="1" i="0">
                <a:solidFill>
                  <a:srgbClr val="2B3440"/>
                </a:solidFill>
                <a:latin typeface="Calibri"/>
              </a:rPr>
              <a:t>0.4% to 4.1%</a:t>
            </a:r>
            <a:r>
              <a:rPr sz="1450" b="0" i="0">
                <a:solidFill>
                  <a:srgbClr val="2B3440"/>
                </a:solidFill>
                <a:latin typeface="Calibri"/>
              </a:rPr>
              <a:t> of Java requests introduce a violation.</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6</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Results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600" b="1" i="0">
                <a:solidFill>
                  <a:srgbClr val="202A36"/>
                </a:solidFill>
                <a:latin typeface="Arial"/>
              </a:rPr>
              <a:t>Agent-written classes are flagged less than the code they edit</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47</a:t>
            </a:r>
          </a:p>
        </p:txBody>
      </p:sp>
      <p:sp>
        <p:nvSpPr>
          <p:cNvPr id="66" name="Rounded Rectangle 65"/>
          <p:cNvSpPr/>
          <p:nvPr/>
        </p:nvSpPr>
        <p:spPr>
          <a:xfrm>
            <a:off x="612648" y="914400"/>
            <a:ext cx="10972800" cy="41605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Picture 66" descr="fig_srp_agents.png"/>
          <p:cNvPicPr>
            <a:picLocks noChangeAspect="1"/>
          </p:cNvPicPr>
          <p:nvPr/>
        </p:nvPicPr>
        <p:blipFill>
          <a:blip r:embed="rId2"/>
          <a:stretch>
            <a:fillRect/>
          </a:stretch>
        </p:blipFill>
        <p:spPr>
          <a:xfrm>
            <a:off x="722376" y="1037388"/>
            <a:ext cx="10753344" cy="3914543"/>
          </a:xfrm>
          <a:prstGeom prst="rect">
            <a:avLst/>
          </a:prstGeom>
        </p:spPr>
      </p:pic>
      <p:sp>
        <p:nvSpPr>
          <p:cNvPr id="68" name="Rounded Rectangle 67"/>
          <p:cNvSpPr/>
          <p:nvPr/>
        </p:nvSpPr>
        <p:spPr>
          <a:xfrm>
            <a:off x="612648" y="5303520"/>
            <a:ext cx="10972800" cy="96012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Hexagon 68"/>
          <p:cNvSpPr/>
          <p:nvPr/>
        </p:nvSpPr>
        <p:spPr>
          <a:xfrm>
            <a:off x="813816" y="564642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1252728" y="5303520"/>
            <a:ext cx="10149840" cy="96012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Pooled:</a:t>
            </a:r>
            <a:r>
              <a:rPr sz="1400" b="0" i="0">
                <a:solidFill>
                  <a:srgbClr val="FFFFFF"/>
                </a:solidFill>
                <a:latin typeface="Calibri"/>
              </a:rPr>
              <a:t> 7.7% against 13.5% in Java, 8.9% against 12.1% in Python. New classes are also smaller and younger, so this describes the corpus; it does not rank agents against people.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6</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Results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Do agents repair design, or damage it?</a:t>
            </a:r>
          </a:p>
        </p:txBody>
      </p:sp>
      <p:sp>
        <p:nvSpPr>
          <p:cNvPr id="65" name="TextBox 64"/>
          <p:cNvSpPr txBox="1"/>
          <p:nvPr/>
        </p:nvSpPr>
        <p:spPr>
          <a:xfrm>
            <a:off x="612648" y="548640"/>
            <a:ext cx="10972800" cy="292608"/>
          </a:xfrm>
          <a:prstGeom prst="rect">
            <a:avLst/>
          </a:prstGeom>
          <a:noFill/>
        </p:spPr>
        <p:txBody>
          <a:bodyPr wrap="square" lIns="18288" tIns="0" rIns="18288" bIns="0" anchor="ctr">
            <a:spAutoFit/>
          </a:bodyPr>
          <a:lstStyle/>
          <a:p>
            <a:pPr algn="l">
              <a:spcAft>
                <a:spcPts val="0"/>
              </a:spcAft>
            </a:pPr>
            <a:r>
              <a:rPr sz="1250" b="0" i="1">
                <a:solidFill>
                  <a:srgbClr val="5C6773"/>
                </a:solidFill>
                <a:latin typeface="Calibri"/>
              </a:rPr>
              <a:t>cycles in the touched code, before against after</a:t>
            </a:r>
          </a:p>
        </p:txBody>
      </p:sp>
      <p:sp>
        <p:nvSpPr>
          <p:cNvPr id="66" name="TextBox 65"/>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48</a:t>
            </a:r>
          </a:p>
        </p:txBody>
      </p:sp>
      <p:graphicFrame>
        <p:nvGraphicFramePr>
          <p:cNvPr id="67" name="Table 66"/>
          <p:cNvGraphicFramePr>
            <a:graphicFrameLocks noGrp="1"/>
          </p:cNvGraphicFramePr>
          <p:nvPr/>
        </p:nvGraphicFramePr>
        <p:xfrm>
          <a:off x="612648" y="1005840"/>
          <a:ext cx="7863840" cy="2798064"/>
        </p:xfrm>
        <a:graphic>
          <a:graphicData uri="http://schemas.openxmlformats.org/drawingml/2006/table">
            <a:tbl>
              <a:tblPr>
                <a:tableStyleId>{2D5ABB26-0587-4C30-8999-92F81FD0307C}</a:tableStyleId>
              </a:tblPr>
              <a:tblGrid>
                <a:gridCol w="320040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457200">
                <a:tc>
                  <a:txBody>
                    <a:bodyPr/>
                    <a:lstStyle/>
                    <a:p>
                      <a:pPr algn="l">
                        <a:spcAft>
                          <a:spcPts val="0"/>
                        </a:spcAft>
                      </a:pPr>
                      <a:endParaRP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500" b="1" i="0">
                          <a:solidFill>
                            <a:srgbClr val="FFFFFF"/>
                          </a:solidFill>
                          <a:latin typeface="Calibri"/>
                        </a:rPr>
                        <a:t>Java (4,245 PRs)</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500" b="1" i="0">
                          <a:solidFill>
                            <a:srgbClr val="FFFFFF"/>
                          </a:solidFill>
                          <a:latin typeface="Calibri"/>
                        </a:rPr>
                        <a:t>Python (4,946 PRs)</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585216">
                <a:tc>
                  <a:txBody>
                    <a:bodyPr/>
                    <a:lstStyle/>
                    <a:p>
                      <a:pPr algn="l">
                        <a:spcAft>
                          <a:spcPts val="0"/>
                        </a:spcAft>
                      </a:pPr>
                      <a:r>
                        <a:rPr sz="1500" b="1" i="0">
                          <a:solidFill>
                            <a:srgbClr val="202A36"/>
                          </a:solidFill>
                          <a:latin typeface="Calibri"/>
                        </a:rPr>
                        <a:t>more cycles after</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188 (4.4%)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58 (1.2%)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585216">
                <a:tc>
                  <a:txBody>
                    <a:bodyPr/>
                    <a:lstStyle/>
                    <a:p>
                      <a:pPr algn="l">
                        <a:spcAft>
                          <a:spcPts val="0"/>
                        </a:spcAft>
                      </a:pPr>
                      <a:r>
                        <a:rPr sz="1500" b="1" i="0">
                          <a:solidFill>
                            <a:srgbClr val="202A36"/>
                          </a:solidFill>
                          <a:latin typeface="Calibri"/>
                        </a:rPr>
                        <a:t>fewer cycles after</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20 (0.5%)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32 (0.6%)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585216">
                <a:tc>
                  <a:txBody>
                    <a:bodyPr/>
                    <a:lstStyle/>
                    <a:p>
                      <a:pPr algn="l">
                        <a:spcAft>
                          <a:spcPts val="0"/>
                        </a:spcAft>
                      </a:pPr>
                      <a:r>
                        <a:rPr sz="1500" b="1" i="0">
                          <a:solidFill>
                            <a:srgbClr val="202A36"/>
                          </a:solidFill>
                          <a:latin typeface="Calibri"/>
                        </a:rPr>
                        <a:t>unchanged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4,037 (95.1%)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500" b="0" i="0">
                          <a:solidFill>
                            <a:srgbClr val="2B3440"/>
                          </a:solidFill>
                          <a:latin typeface="Calibri"/>
                        </a:rPr>
                        <a:t>4,856 (98.2%)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585216">
                <a:tc>
                  <a:txBody>
                    <a:bodyPr/>
                    <a:lstStyle/>
                    <a:p>
                      <a:pPr algn="l">
                        <a:spcAft>
                          <a:spcPts val="0"/>
                        </a:spcAft>
                      </a:pPr>
                      <a:r>
                        <a:rPr sz="1500" b="1" i="0">
                          <a:solidFill>
                            <a:srgbClr val="202A36"/>
                          </a:solidFill>
                          <a:latin typeface="Calibri"/>
                        </a:rPr>
                        <a:t>total cycles, before → after</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8,028 → 8,398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500" b="0" i="0">
                          <a:solidFill>
                            <a:srgbClr val="2B3440"/>
                          </a:solidFill>
                          <a:latin typeface="Calibri"/>
                        </a:rPr>
                        <a:t>1,485 → 1,516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bl>
          </a:graphicData>
        </a:graphic>
      </p:graphicFrame>
      <p:sp>
        <p:nvSpPr>
          <p:cNvPr id="68" name="Rounded Rectangle 67"/>
          <p:cNvSpPr/>
          <p:nvPr/>
        </p:nvSpPr>
        <p:spPr>
          <a:xfrm>
            <a:off x="8686800" y="1005840"/>
            <a:ext cx="2898648" cy="2798064"/>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8823960" y="1097280"/>
            <a:ext cx="2624328" cy="1399032"/>
          </a:xfrm>
          <a:prstGeom prst="rect">
            <a:avLst/>
          </a:prstGeom>
          <a:noFill/>
        </p:spPr>
        <p:txBody>
          <a:bodyPr wrap="square" lIns="45720" tIns="27432" rIns="45720" bIns="27432" anchor="b">
            <a:spAutoFit/>
          </a:bodyPr>
          <a:lstStyle/>
          <a:p>
            <a:pPr algn="ctr">
              <a:spcAft>
                <a:spcPts val="0"/>
              </a:spcAft>
            </a:pPr>
            <a:r>
              <a:rPr sz="3400" b="1" i="0">
                <a:solidFill>
                  <a:srgbClr val="46CEAE"/>
                </a:solidFill>
                <a:latin typeface="Arial"/>
              </a:rPr>
              <a:t>≈ 9 : 1</a:t>
            </a:r>
          </a:p>
        </p:txBody>
      </p:sp>
      <p:sp>
        <p:nvSpPr>
          <p:cNvPr id="70" name="TextBox 69"/>
          <p:cNvSpPr txBox="1"/>
          <p:nvPr/>
        </p:nvSpPr>
        <p:spPr>
          <a:xfrm>
            <a:off x="8869680" y="2544775"/>
            <a:ext cx="2532888" cy="1175187"/>
          </a:xfrm>
          <a:prstGeom prst="rect">
            <a:avLst/>
          </a:prstGeom>
          <a:noFill/>
        </p:spPr>
        <p:txBody>
          <a:bodyPr wrap="square" lIns="45720" tIns="27432" rIns="45720" bIns="27432" anchor="t">
            <a:spAutoFit/>
          </a:bodyPr>
          <a:lstStyle/>
          <a:p>
            <a:pPr algn="ctr">
              <a:spcAft>
                <a:spcPts val="0"/>
              </a:spcAft>
            </a:pPr>
            <a:r>
              <a:rPr sz="1300" b="0" i="0">
                <a:solidFill>
                  <a:srgbClr val="D5DCE4"/>
                </a:solidFill>
                <a:latin typeface="Calibri"/>
              </a:rPr>
              <a:t>more cycles added than removed in Java (188 against 20)</a:t>
            </a:r>
          </a:p>
        </p:txBody>
      </p:sp>
      <p:sp>
        <p:nvSpPr>
          <p:cNvPr id="71" name="Rounded Rectangle 70"/>
          <p:cNvSpPr/>
          <p:nvPr/>
        </p:nvSpPr>
        <p:spPr>
          <a:xfrm>
            <a:off x="612648" y="4123944"/>
            <a:ext cx="10972800" cy="141732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Hexagon 71"/>
          <p:cNvSpPr/>
          <p:nvPr/>
        </p:nvSpPr>
        <p:spPr>
          <a:xfrm>
            <a:off x="813816" y="4695444"/>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1252728" y="4123944"/>
            <a:ext cx="10149840" cy="1417320"/>
          </a:xfrm>
          <a:prstGeom prst="rect">
            <a:avLst/>
          </a:prstGeom>
          <a:noFill/>
        </p:spPr>
        <p:txBody>
          <a:bodyPr wrap="square" lIns="45720" rIns="45720" anchor="ctr">
            <a:spAutoFit/>
          </a:bodyPr>
          <a:lstStyle/>
          <a:p>
            <a:pPr algn="l">
              <a:spcAft>
                <a:spcPts val="0"/>
              </a:spcAft>
            </a:pPr>
            <a:r>
              <a:rPr sz="1400" b="0" i="0">
                <a:solidFill>
                  <a:srgbClr val="FFFFFF"/>
                </a:solidFill>
                <a:latin typeface="Calibri"/>
              </a:rPr>
              <a:t>Agents add cycles more often than they remove them, by about nine to one in Java. The amounts are small next to the 8,028 already present, and this is the only principle where a repair can be counted, because only Dependency Inversion stores a before count.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9" name="组合 58"/>
          <p:cNvGrpSpPr/>
          <p:nvPr/>
        </p:nvGrpSpPr>
        <p:grpSpPr>
          <a:xfrm>
            <a:off x="2052459" y="1413384"/>
            <a:ext cx="2036802" cy="2036802"/>
            <a:chOff x="8125599" y="1434035"/>
            <a:chExt cx="2036802" cy="2036802"/>
          </a:xfrm>
        </p:grpSpPr>
        <p:sp>
          <p:nvSpPr>
            <p:cNvPr id="60" name="椭圆 59"/>
            <p:cNvSpPr/>
            <p:nvPr/>
          </p:nvSpPr>
          <p:spPr>
            <a:xfrm>
              <a:off x="8125599" y="1434035"/>
              <a:ext cx="2036802" cy="2036802"/>
            </a:xfrm>
            <a:prstGeom prst="ellipse">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Freeform 9"/>
            <p:cNvSpPr>
              <a:spLocks noEditPoints="1"/>
            </p:cNvSpPr>
            <p:nvPr/>
          </p:nvSpPr>
          <p:spPr bwMode="auto">
            <a:xfrm rot="19469485">
              <a:off x="8577909" y="1818269"/>
              <a:ext cx="1162163" cy="1238355"/>
            </a:xfrm>
            <a:custGeom>
              <a:avLst/>
              <a:gdLst>
                <a:gd name="T0" fmla="*/ 147 w 243"/>
                <a:gd name="T1" fmla="*/ 240 h 269"/>
                <a:gd name="T2" fmla="*/ 90 w 243"/>
                <a:gd name="T3" fmla="*/ 234 h 269"/>
                <a:gd name="T4" fmla="*/ 147 w 243"/>
                <a:gd name="T5" fmla="*/ 227 h 269"/>
                <a:gd name="T6" fmla="*/ 147 w 243"/>
                <a:gd name="T7" fmla="*/ 243 h 269"/>
                <a:gd name="T8" fmla="*/ 90 w 243"/>
                <a:gd name="T9" fmla="*/ 252 h 269"/>
                <a:gd name="T10" fmla="*/ 96 w 243"/>
                <a:gd name="T11" fmla="*/ 256 h 269"/>
                <a:gd name="T12" fmla="*/ 105 w 243"/>
                <a:gd name="T13" fmla="*/ 262 h 269"/>
                <a:gd name="T14" fmla="*/ 126 w 243"/>
                <a:gd name="T15" fmla="*/ 269 h 269"/>
                <a:gd name="T16" fmla="*/ 138 w 243"/>
                <a:gd name="T17" fmla="*/ 261 h 269"/>
                <a:gd name="T18" fmla="*/ 147 w 243"/>
                <a:gd name="T19" fmla="*/ 256 h 269"/>
                <a:gd name="T20" fmla="*/ 147 w 243"/>
                <a:gd name="T21" fmla="*/ 243 h 269"/>
                <a:gd name="T22" fmla="*/ 128 w 243"/>
                <a:gd name="T23" fmla="*/ 32 h 269"/>
                <a:gd name="T24" fmla="*/ 122 w 243"/>
                <a:gd name="T25" fmla="*/ 0 h 269"/>
                <a:gd name="T26" fmla="*/ 115 w 243"/>
                <a:gd name="T27" fmla="*/ 32 h 269"/>
                <a:gd name="T28" fmla="*/ 54 w 243"/>
                <a:gd name="T29" fmla="*/ 63 h 269"/>
                <a:gd name="T30" fmla="*/ 63 w 243"/>
                <a:gd name="T31" fmla="*/ 63 h 269"/>
                <a:gd name="T32" fmla="*/ 45 w 243"/>
                <a:gd name="T33" fmla="*/ 36 h 269"/>
                <a:gd name="T34" fmla="*/ 36 w 243"/>
                <a:gd name="T35" fmla="*/ 45 h 269"/>
                <a:gd name="T36" fmla="*/ 38 w 243"/>
                <a:gd name="T37" fmla="*/ 122 h 269"/>
                <a:gd name="T38" fmla="*/ 6 w 243"/>
                <a:gd name="T39" fmla="*/ 115 h 269"/>
                <a:gd name="T40" fmla="*/ 6 w 243"/>
                <a:gd name="T41" fmla="*/ 128 h 269"/>
                <a:gd name="T42" fmla="*/ 38 w 243"/>
                <a:gd name="T43" fmla="*/ 122 h 269"/>
                <a:gd name="T44" fmla="*/ 36 w 243"/>
                <a:gd name="T45" fmla="*/ 199 h 269"/>
                <a:gd name="T46" fmla="*/ 40 w 243"/>
                <a:gd name="T47" fmla="*/ 209 h 269"/>
                <a:gd name="T48" fmla="*/ 63 w 243"/>
                <a:gd name="T49" fmla="*/ 189 h 269"/>
                <a:gd name="T50" fmla="*/ 54 w 243"/>
                <a:gd name="T51" fmla="*/ 180 h 269"/>
                <a:gd name="T52" fmla="*/ 180 w 243"/>
                <a:gd name="T53" fmla="*/ 180 h 269"/>
                <a:gd name="T54" fmla="*/ 199 w 243"/>
                <a:gd name="T55" fmla="*/ 208 h 269"/>
                <a:gd name="T56" fmla="*/ 208 w 243"/>
                <a:gd name="T57" fmla="*/ 208 h 269"/>
                <a:gd name="T58" fmla="*/ 189 w 243"/>
                <a:gd name="T59" fmla="*/ 180 h 269"/>
                <a:gd name="T60" fmla="*/ 211 w 243"/>
                <a:gd name="T61" fmla="*/ 115 h 269"/>
                <a:gd name="T62" fmla="*/ 211 w 243"/>
                <a:gd name="T63" fmla="*/ 128 h 269"/>
                <a:gd name="T64" fmla="*/ 243 w 243"/>
                <a:gd name="T65" fmla="*/ 122 h 269"/>
                <a:gd name="T66" fmla="*/ 185 w 243"/>
                <a:gd name="T67" fmla="*/ 65 h 269"/>
                <a:gd name="T68" fmla="*/ 208 w 243"/>
                <a:gd name="T69" fmla="*/ 45 h 269"/>
                <a:gd name="T70" fmla="*/ 199 w 243"/>
                <a:gd name="T71" fmla="*/ 36 h 269"/>
                <a:gd name="T72" fmla="*/ 180 w 243"/>
                <a:gd name="T73" fmla="*/ 63 h 269"/>
                <a:gd name="T74" fmla="*/ 154 w 243"/>
                <a:gd name="T75" fmla="*/ 218 h 269"/>
                <a:gd name="T76" fmla="*/ 96 w 243"/>
                <a:gd name="T77" fmla="*/ 224 h 269"/>
                <a:gd name="T78" fmla="*/ 96 w 243"/>
                <a:gd name="T79" fmla="*/ 211 h 269"/>
                <a:gd name="T80" fmla="*/ 122 w 243"/>
                <a:gd name="T81" fmla="*/ 58 h 269"/>
                <a:gd name="T82" fmla="*/ 148 w 243"/>
                <a:gd name="T83" fmla="*/ 211 h 269"/>
                <a:gd name="T84" fmla="*/ 107 w 243"/>
                <a:gd name="T85" fmla="*/ 76 h 269"/>
                <a:gd name="T86" fmla="*/ 67 w 243"/>
                <a:gd name="T87" fmla="*/ 111 h 269"/>
                <a:gd name="T88" fmla="*/ 72 w 243"/>
                <a:gd name="T89" fmla="*/ 117 h 269"/>
                <a:gd name="T90" fmla="*/ 104 w 243"/>
                <a:gd name="T91" fmla="*/ 82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43" h="269">
                  <a:moveTo>
                    <a:pt x="154" y="234"/>
                  </a:moveTo>
                  <a:cubicBezTo>
                    <a:pt x="154" y="237"/>
                    <a:pt x="151" y="240"/>
                    <a:pt x="147" y="240"/>
                  </a:cubicBezTo>
                  <a:cubicBezTo>
                    <a:pt x="96" y="240"/>
                    <a:pt x="96" y="240"/>
                    <a:pt x="96" y="240"/>
                  </a:cubicBezTo>
                  <a:cubicBezTo>
                    <a:pt x="92" y="240"/>
                    <a:pt x="90" y="237"/>
                    <a:pt x="90" y="234"/>
                  </a:cubicBezTo>
                  <a:cubicBezTo>
                    <a:pt x="90" y="230"/>
                    <a:pt x="92" y="227"/>
                    <a:pt x="96" y="227"/>
                  </a:cubicBezTo>
                  <a:cubicBezTo>
                    <a:pt x="147" y="227"/>
                    <a:pt x="147" y="227"/>
                    <a:pt x="147" y="227"/>
                  </a:cubicBezTo>
                  <a:cubicBezTo>
                    <a:pt x="151" y="227"/>
                    <a:pt x="154" y="230"/>
                    <a:pt x="154" y="234"/>
                  </a:cubicBezTo>
                  <a:close/>
                  <a:moveTo>
                    <a:pt x="147" y="243"/>
                  </a:moveTo>
                  <a:cubicBezTo>
                    <a:pt x="96" y="243"/>
                    <a:pt x="96" y="243"/>
                    <a:pt x="96" y="243"/>
                  </a:cubicBezTo>
                  <a:cubicBezTo>
                    <a:pt x="92" y="243"/>
                    <a:pt x="89" y="247"/>
                    <a:pt x="90" y="252"/>
                  </a:cubicBezTo>
                  <a:cubicBezTo>
                    <a:pt x="91" y="254"/>
                    <a:pt x="93" y="256"/>
                    <a:pt x="96" y="256"/>
                  </a:cubicBezTo>
                  <a:cubicBezTo>
                    <a:pt x="96" y="256"/>
                    <a:pt x="96" y="256"/>
                    <a:pt x="96" y="256"/>
                  </a:cubicBezTo>
                  <a:cubicBezTo>
                    <a:pt x="100" y="256"/>
                    <a:pt x="103" y="258"/>
                    <a:pt x="105" y="261"/>
                  </a:cubicBezTo>
                  <a:cubicBezTo>
                    <a:pt x="105" y="262"/>
                    <a:pt x="105" y="262"/>
                    <a:pt x="105" y="262"/>
                  </a:cubicBezTo>
                  <a:cubicBezTo>
                    <a:pt x="107" y="266"/>
                    <a:pt x="112" y="269"/>
                    <a:pt x="117" y="269"/>
                  </a:cubicBezTo>
                  <a:cubicBezTo>
                    <a:pt x="126" y="269"/>
                    <a:pt x="126" y="269"/>
                    <a:pt x="126" y="269"/>
                  </a:cubicBezTo>
                  <a:cubicBezTo>
                    <a:pt x="131" y="269"/>
                    <a:pt x="136" y="266"/>
                    <a:pt x="138" y="262"/>
                  </a:cubicBezTo>
                  <a:cubicBezTo>
                    <a:pt x="138" y="261"/>
                    <a:pt x="138" y="261"/>
                    <a:pt x="138" y="261"/>
                  </a:cubicBezTo>
                  <a:cubicBezTo>
                    <a:pt x="140" y="258"/>
                    <a:pt x="143" y="256"/>
                    <a:pt x="147" y="256"/>
                  </a:cubicBezTo>
                  <a:cubicBezTo>
                    <a:pt x="147" y="256"/>
                    <a:pt x="147" y="256"/>
                    <a:pt x="147" y="256"/>
                  </a:cubicBezTo>
                  <a:cubicBezTo>
                    <a:pt x="150" y="256"/>
                    <a:pt x="152" y="254"/>
                    <a:pt x="153" y="252"/>
                  </a:cubicBezTo>
                  <a:cubicBezTo>
                    <a:pt x="155" y="247"/>
                    <a:pt x="151" y="243"/>
                    <a:pt x="147" y="243"/>
                  </a:cubicBezTo>
                  <a:close/>
                  <a:moveTo>
                    <a:pt x="122" y="38"/>
                  </a:moveTo>
                  <a:cubicBezTo>
                    <a:pt x="125" y="38"/>
                    <a:pt x="128" y="36"/>
                    <a:pt x="128" y="32"/>
                  </a:cubicBezTo>
                  <a:cubicBezTo>
                    <a:pt x="128" y="6"/>
                    <a:pt x="128" y="6"/>
                    <a:pt x="128" y="6"/>
                  </a:cubicBezTo>
                  <a:cubicBezTo>
                    <a:pt x="128" y="3"/>
                    <a:pt x="125" y="0"/>
                    <a:pt x="122" y="0"/>
                  </a:cubicBezTo>
                  <a:cubicBezTo>
                    <a:pt x="118" y="0"/>
                    <a:pt x="115" y="3"/>
                    <a:pt x="115" y="6"/>
                  </a:cubicBezTo>
                  <a:cubicBezTo>
                    <a:pt x="115" y="32"/>
                    <a:pt x="115" y="32"/>
                    <a:pt x="115" y="32"/>
                  </a:cubicBezTo>
                  <a:cubicBezTo>
                    <a:pt x="115" y="36"/>
                    <a:pt x="118" y="38"/>
                    <a:pt x="122" y="38"/>
                  </a:cubicBezTo>
                  <a:close/>
                  <a:moveTo>
                    <a:pt x="54" y="63"/>
                  </a:moveTo>
                  <a:cubicBezTo>
                    <a:pt x="55" y="64"/>
                    <a:pt x="57" y="65"/>
                    <a:pt x="58" y="65"/>
                  </a:cubicBezTo>
                  <a:cubicBezTo>
                    <a:pt x="60" y="65"/>
                    <a:pt x="62" y="64"/>
                    <a:pt x="63" y="63"/>
                  </a:cubicBezTo>
                  <a:cubicBezTo>
                    <a:pt x="65" y="60"/>
                    <a:pt x="65" y="56"/>
                    <a:pt x="63" y="54"/>
                  </a:cubicBezTo>
                  <a:cubicBezTo>
                    <a:pt x="45" y="36"/>
                    <a:pt x="45" y="36"/>
                    <a:pt x="45" y="36"/>
                  </a:cubicBezTo>
                  <a:cubicBezTo>
                    <a:pt x="42" y="33"/>
                    <a:pt x="38" y="33"/>
                    <a:pt x="36" y="36"/>
                  </a:cubicBezTo>
                  <a:cubicBezTo>
                    <a:pt x="33" y="38"/>
                    <a:pt x="33" y="42"/>
                    <a:pt x="36" y="45"/>
                  </a:cubicBezTo>
                  <a:lnTo>
                    <a:pt x="54" y="63"/>
                  </a:lnTo>
                  <a:close/>
                  <a:moveTo>
                    <a:pt x="38" y="122"/>
                  </a:moveTo>
                  <a:cubicBezTo>
                    <a:pt x="38" y="118"/>
                    <a:pt x="36" y="115"/>
                    <a:pt x="32" y="115"/>
                  </a:cubicBezTo>
                  <a:cubicBezTo>
                    <a:pt x="6" y="115"/>
                    <a:pt x="6" y="115"/>
                    <a:pt x="6" y="115"/>
                  </a:cubicBezTo>
                  <a:cubicBezTo>
                    <a:pt x="3" y="115"/>
                    <a:pt x="0" y="118"/>
                    <a:pt x="0" y="122"/>
                  </a:cubicBezTo>
                  <a:cubicBezTo>
                    <a:pt x="0" y="125"/>
                    <a:pt x="3" y="128"/>
                    <a:pt x="6" y="128"/>
                  </a:cubicBezTo>
                  <a:cubicBezTo>
                    <a:pt x="32" y="128"/>
                    <a:pt x="32" y="128"/>
                    <a:pt x="32" y="128"/>
                  </a:cubicBezTo>
                  <a:cubicBezTo>
                    <a:pt x="36" y="128"/>
                    <a:pt x="38" y="125"/>
                    <a:pt x="38" y="122"/>
                  </a:cubicBezTo>
                  <a:close/>
                  <a:moveTo>
                    <a:pt x="54" y="180"/>
                  </a:moveTo>
                  <a:cubicBezTo>
                    <a:pt x="36" y="199"/>
                    <a:pt x="36" y="199"/>
                    <a:pt x="36" y="199"/>
                  </a:cubicBezTo>
                  <a:cubicBezTo>
                    <a:pt x="33" y="201"/>
                    <a:pt x="33" y="205"/>
                    <a:pt x="36" y="208"/>
                  </a:cubicBezTo>
                  <a:cubicBezTo>
                    <a:pt x="37" y="209"/>
                    <a:pt x="39" y="209"/>
                    <a:pt x="40" y="209"/>
                  </a:cubicBezTo>
                  <a:cubicBezTo>
                    <a:pt x="42" y="209"/>
                    <a:pt x="43" y="209"/>
                    <a:pt x="45" y="208"/>
                  </a:cubicBezTo>
                  <a:cubicBezTo>
                    <a:pt x="63" y="189"/>
                    <a:pt x="63" y="189"/>
                    <a:pt x="63" y="189"/>
                  </a:cubicBezTo>
                  <a:cubicBezTo>
                    <a:pt x="65" y="187"/>
                    <a:pt x="65" y="183"/>
                    <a:pt x="63" y="180"/>
                  </a:cubicBezTo>
                  <a:cubicBezTo>
                    <a:pt x="60" y="178"/>
                    <a:pt x="56" y="178"/>
                    <a:pt x="54" y="180"/>
                  </a:cubicBezTo>
                  <a:close/>
                  <a:moveTo>
                    <a:pt x="189" y="180"/>
                  </a:moveTo>
                  <a:cubicBezTo>
                    <a:pt x="187" y="178"/>
                    <a:pt x="183" y="178"/>
                    <a:pt x="180" y="180"/>
                  </a:cubicBezTo>
                  <a:cubicBezTo>
                    <a:pt x="178" y="183"/>
                    <a:pt x="178" y="187"/>
                    <a:pt x="180" y="189"/>
                  </a:cubicBezTo>
                  <a:cubicBezTo>
                    <a:pt x="199" y="208"/>
                    <a:pt x="199" y="208"/>
                    <a:pt x="199" y="208"/>
                  </a:cubicBezTo>
                  <a:cubicBezTo>
                    <a:pt x="200" y="209"/>
                    <a:pt x="201" y="209"/>
                    <a:pt x="203" y="209"/>
                  </a:cubicBezTo>
                  <a:cubicBezTo>
                    <a:pt x="205" y="209"/>
                    <a:pt x="206" y="209"/>
                    <a:pt x="208" y="208"/>
                  </a:cubicBezTo>
                  <a:cubicBezTo>
                    <a:pt x="210" y="205"/>
                    <a:pt x="210" y="201"/>
                    <a:pt x="208" y="199"/>
                  </a:cubicBezTo>
                  <a:lnTo>
                    <a:pt x="189" y="180"/>
                  </a:lnTo>
                  <a:close/>
                  <a:moveTo>
                    <a:pt x="237" y="115"/>
                  </a:moveTo>
                  <a:cubicBezTo>
                    <a:pt x="211" y="115"/>
                    <a:pt x="211" y="115"/>
                    <a:pt x="211" y="115"/>
                  </a:cubicBezTo>
                  <a:cubicBezTo>
                    <a:pt x="208" y="115"/>
                    <a:pt x="205" y="118"/>
                    <a:pt x="205" y="122"/>
                  </a:cubicBezTo>
                  <a:cubicBezTo>
                    <a:pt x="205" y="125"/>
                    <a:pt x="208" y="128"/>
                    <a:pt x="211" y="128"/>
                  </a:cubicBezTo>
                  <a:cubicBezTo>
                    <a:pt x="237" y="128"/>
                    <a:pt x="237" y="128"/>
                    <a:pt x="237" y="128"/>
                  </a:cubicBezTo>
                  <a:cubicBezTo>
                    <a:pt x="240" y="128"/>
                    <a:pt x="243" y="125"/>
                    <a:pt x="243" y="122"/>
                  </a:cubicBezTo>
                  <a:cubicBezTo>
                    <a:pt x="243" y="118"/>
                    <a:pt x="240" y="115"/>
                    <a:pt x="237" y="115"/>
                  </a:cubicBezTo>
                  <a:close/>
                  <a:moveTo>
                    <a:pt x="185" y="65"/>
                  </a:moveTo>
                  <a:cubicBezTo>
                    <a:pt x="187" y="65"/>
                    <a:pt x="188" y="64"/>
                    <a:pt x="189" y="63"/>
                  </a:cubicBezTo>
                  <a:cubicBezTo>
                    <a:pt x="208" y="45"/>
                    <a:pt x="208" y="45"/>
                    <a:pt x="208" y="45"/>
                  </a:cubicBezTo>
                  <a:cubicBezTo>
                    <a:pt x="210" y="42"/>
                    <a:pt x="210" y="38"/>
                    <a:pt x="208" y="36"/>
                  </a:cubicBezTo>
                  <a:cubicBezTo>
                    <a:pt x="205" y="33"/>
                    <a:pt x="201" y="33"/>
                    <a:pt x="199" y="36"/>
                  </a:cubicBezTo>
                  <a:cubicBezTo>
                    <a:pt x="180" y="54"/>
                    <a:pt x="180" y="54"/>
                    <a:pt x="180" y="54"/>
                  </a:cubicBezTo>
                  <a:cubicBezTo>
                    <a:pt x="178" y="56"/>
                    <a:pt x="178" y="60"/>
                    <a:pt x="180" y="63"/>
                  </a:cubicBezTo>
                  <a:cubicBezTo>
                    <a:pt x="182" y="64"/>
                    <a:pt x="183" y="65"/>
                    <a:pt x="185" y="65"/>
                  </a:cubicBezTo>
                  <a:close/>
                  <a:moveTo>
                    <a:pt x="154" y="218"/>
                  </a:moveTo>
                  <a:cubicBezTo>
                    <a:pt x="154" y="221"/>
                    <a:pt x="151" y="224"/>
                    <a:pt x="147" y="224"/>
                  </a:cubicBezTo>
                  <a:cubicBezTo>
                    <a:pt x="96" y="224"/>
                    <a:pt x="96" y="224"/>
                    <a:pt x="96" y="224"/>
                  </a:cubicBezTo>
                  <a:cubicBezTo>
                    <a:pt x="92" y="224"/>
                    <a:pt x="90" y="221"/>
                    <a:pt x="90" y="218"/>
                  </a:cubicBezTo>
                  <a:cubicBezTo>
                    <a:pt x="90" y="214"/>
                    <a:pt x="92" y="211"/>
                    <a:pt x="96" y="211"/>
                  </a:cubicBezTo>
                  <a:cubicBezTo>
                    <a:pt x="92" y="175"/>
                    <a:pt x="54" y="167"/>
                    <a:pt x="54" y="125"/>
                  </a:cubicBezTo>
                  <a:cubicBezTo>
                    <a:pt x="54" y="88"/>
                    <a:pt x="84" y="58"/>
                    <a:pt x="122" y="58"/>
                  </a:cubicBezTo>
                  <a:cubicBezTo>
                    <a:pt x="159" y="58"/>
                    <a:pt x="189" y="88"/>
                    <a:pt x="189" y="125"/>
                  </a:cubicBezTo>
                  <a:cubicBezTo>
                    <a:pt x="189" y="167"/>
                    <a:pt x="152" y="175"/>
                    <a:pt x="148" y="211"/>
                  </a:cubicBezTo>
                  <a:cubicBezTo>
                    <a:pt x="151" y="211"/>
                    <a:pt x="154" y="214"/>
                    <a:pt x="154" y="218"/>
                  </a:cubicBezTo>
                  <a:close/>
                  <a:moveTo>
                    <a:pt x="107" y="76"/>
                  </a:moveTo>
                  <a:cubicBezTo>
                    <a:pt x="106" y="73"/>
                    <a:pt x="103" y="72"/>
                    <a:pt x="101" y="73"/>
                  </a:cubicBezTo>
                  <a:cubicBezTo>
                    <a:pt x="84" y="80"/>
                    <a:pt x="72" y="94"/>
                    <a:pt x="67" y="111"/>
                  </a:cubicBezTo>
                  <a:cubicBezTo>
                    <a:pt x="67" y="113"/>
                    <a:pt x="68" y="116"/>
                    <a:pt x="71" y="117"/>
                  </a:cubicBezTo>
                  <a:cubicBezTo>
                    <a:pt x="71" y="117"/>
                    <a:pt x="72" y="117"/>
                    <a:pt x="72" y="117"/>
                  </a:cubicBezTo>
                  <a:cubicBezTo>
                    <a:pt x="74" y="117"/>
                    <a:pt x="76" y="115"/>
                    <a:pt x="77" y="113"/>
                  </a:cubicBezTo>
                  <a:cubicBezTo>
                    <a:pt x="80" y="99"/>
                    <a:pt x="91" y="87"/>
                    <a:pt x="104" y="82"/>
                  </a:cubicBezTo>
                  <a:cubicBezTo>
                    <a:pt x="107" y="81"/>
                    <a:pt x="108" y="78"/>
                    <a:pt x="107" y="76"/>
                  </a:cubicBezTo>
                  <a:close/>
                </a:path>
              </a:pathLst>
            </a:custGeom>
            <a:solidFill>
              <a:schemeClr val="bg1">
                <a:lumMod val="95000"/>
              </a:schemeClr>
            </a:solidFill>
            <a:ln>
              <a:noFill/>
            </a:ln>
          </p:spPr>
          <p:txBody>
            <a:bodyPr vert="horz" wrap="square" lIns="91440" tIns="45720" rIns="91440" bIns="45720" numCol="1" anchor="t" anchorCtr="0" compatLnSpc="1"/>
            <a:lstStyle/>
            <a:p>
              <a:endParaRPr lang="zh-CN" altLang="en-US"/>
            </a:p>
          </p:txBody>
        </p:sp>
      </p:grpSp>
      <p:sp>
        <p:nvSpPr>
          <p:cNvPr id="71" name="矩形 70"/>
          <p:cNvSpPr/>
          <p:nvPr/>
        </p:nvSpPr>
        <p:spPr>
          <a:xfrm>
            <a:off x="6095999" y="0"/>
            <a:ext cx="6099175" cy="6858000"/>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TextBox 71"/>
          <p:cNvSpPr txBox="1"/>
          <p:nvPr/>
        </p:nvSpPr>
        <p:spPr>
          <a:xfrm>
            <a:off x="457200" y="3749040"/>
            <a:ext cx="5184648" cy="548640"/>
          </a:xfrm>
          <a:prstGeom prst="rect">
            <a:avLst/>
          </a:prstGeom>
          <a:noFill/>
        </p:spPr>
        <p:txBody>
          <a:bodyPr wrap="square" lIns="45720" tIns="27432" rIns="45720" bIns="27432" anchor="t">
            <a:spAutoFit/>
          </a:bodyPr>
          <a:lstStyle/>
          <a:p>
            <a:pPr algn="ctr">
              <a:spcAft>
                <a:spcPts val="0"/>
              </a:spcAft>
            </a:pPr>
            <a:r>
              <a:rPr sz="2800" b="1" i="0">
                <a:solidFill>
                  <a:srgbClr val="46CEAE"/>
                </a:solidFill>
                <a:latin typeface="Arial"/>
              </a:rPr>
              <a:t>Part 7</a:t>
            </a:r>
          </a:p>
        </p:txBody>
      </p:sp>
      <p:sp>
        <p:nvSpPr>
          <p:cNvPr id="73" name="TextBox 72"/>
          <p:cNvSpPr txBox="1"/>
          <p:nvPr/>
        </p:nvSpPr>
        <p:spPr>
          <a:xfrm>
            <a:off x="457200" y="4315968"/>
            <a:ext cx="5184648" cy="1737360"/>
          </a:xfrm>
          <a:prstGeom prst="rect">
            <a:avLst/>
          </a:prstGeom>
          <a:noFill/>
        </p:spPr>
        <p:txBody>
          <a:bodyPr wrap="square" lIns="45720" tIns="27432" rIns="45720" bIns="27432" anchor="t">
            <a:spAutoFit/>
          </a:bodyPr>
          <a:lstStyle/>
          <a:p>
            <a:pPr algn="ctr">
              <a:lnSpc>
                <a:spcPct val="95000"/>
              </a:lnSpc>
              <a:spcAft>
                <a:spcPts val="0"/>
              </a:spcAft>
            </a:pPr>
            <a:r>
              <a:rPr sz="3200" b="1" i="0">
                <a:solidFill>
                  <a:srgbClr val="202A36"/>
                </a:solidFill>
                <a:latin typeface="Arial"/>
              </a:rPr>
              <a:t>Findings and conclusions</a:t>
            </a:r>
          </a:p>
        </p:txBody>
      </p:sp>
      <p:cxnSp>
        <p:nvCxnSpPr>
          <p:cNvPr id="74" name="Connector 73"/>
          <p:cNvCxnSpPr/>
          <p:nvPr/>
        </p:nvCxnSpPr>
        <p:spPr>
          <a:xfrm>
            <a:off x="7863840" y="1088136"/>
            <a:ext cx="0" cy="4681728"/>
          </a:xfrm>
          <a:prstGeom prst="line">
            <a:avLst/>
          </a:prstGeom>
          <a:ln w="19050">
            <a:solidFill>
              <a:srgbClr val="8E98A5"/>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7790688" y="1380744"/>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229600" y="1252728"/>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Answers to the research questions</a:t>
            </a:r>
          </a:p>
        </p:txBody>
      </p:sp>
      <p:sp>
        <p:nvSpPr>
          <p:cNvPr id="77" name="Oval 76"/>
          <p:cNvSpPr/>
          <p:nvPr/>
        </p:nvSpPr>
        <p:spPr>
          <a:xfrm>
            <a:off x="7790688" y="2039112"/>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8229600" y="1911096"/>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What holds in both languages</a:t>
            </a:r>
          </a:p>
        </p:txBody>
      </p:sp>
      <p:sp>
        <p:nvSpPr>
          <p:cNvPr id="79" name="Oval 78"/>
          <p:cNvSpPr/>
          <p:nvPr/>
        </p:nvSpPr>
        <p:spPr>
          <a:xfrm>
            <a:off x="7790688" y="2697480"/>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8229600" y="2569464"/>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Findings</a:t>
            </a:r>
          </a:p>
        </p:txBody>
      </p:sp>
      <p:sp>
        <p:nvSpPr>
          <p:cNvPr id="81" name="Oval 80"/>
          <p:cNvSpPr/>
          <p:nvPr/>
        </p:nvSpPr>
        <p:spPr>
          <a:xfrm>
            <a:off x="7790688" y="3355848"/>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229600" y="3227832"/>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Against the state of the art</a:t>
            </a:r>
          </a:p>
        </p:txBody>
      </p:sp>
      <p:sp>
        <p:nvSpPr>
          <p:cNvPr id="83" name="Oval 82"/>
          <p:cNvSpPr/>
          <p:nvPr/>
        </p:nvSpPr>
        <p:spPr>
          <a:xfrm>
            <a:off x="7790688" y="4014216"/>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8229600" y="3886200"/>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Contributions and practical use</a:t>
            </a:r>
          </a:p>
        </p:txBody>
      </p:sp>
      <p:sp>
        <p:nvSpPr>
          <p:cNvPr id="85" name="Oval 84"/>
          <p:cNvSpPr/>
          <p:nvPr/>
        </p:nvSpPr>
        <p:spPr>
          <a:xfrm>
            <a:off x="7790688" y="4672584"/>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8229600" y="4544568"/>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Limitations</a:t>
            </a:r>
          </a:p>
        </p:txBody>
      </p:sp>
      <p:sp>
        <p:nvSpPr>
          <p:cNvPr id="87" name="Oval 86"/>
          <p:cNvSpPr/>
          <p:nvPr/>
        </p:nvSpPr>
        <p:spPr>
          <a:xfrm>
            <a:off x="7790688" y="5330952"/>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8229600" y="5202936"/>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Conclusion and future work</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7</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Findings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Answers to the two research questions</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50</a:t>
            </a:r>
          </a:p>
        </p:txBody>
      </p:sp>
      <p:sp>
        <p:nvSpPr>
          <p:cNvPr id="66" name="Rounded Rectangle 65"/>
          <p:cNvSpPr/>
          <p:nvPr/>
        </p:nvSpPr>
        <p:spPr>
          <a:xfrm>
            <a:off x="612648" y="914400"/>
            <a:ext cx="10972800" cy="27432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ounded Rectangle 66"/>
          <p:cNvSpPr/>
          <p:nvPr/>
        </p:nvSpPr>
        <p:spPr>
          <a:xfrm>
            <a:off x="795528" y="1033272"/>
            <a:ext cx="868680" cy="384048"/>
          </a:xfrm>
          <a:prstGeom prst="roundRect">
            <a:avLst>
              <a:gd name="adj" fmla="val 20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795528" y="1033272"/>
            <a:ext cx="868680" cy="384048"/>
          </a:xfrm>
          <a:prstGeom prst="rect">
            <a:avLst/>
          </a:prstGeom>
          <a:noFill/>
        </p:spPr>
        <p:txBody>
          <a:bodyPr wrap="square" lIns="0" tIns="0" rIns="0" bIns="0" anchor="ctr">
            <a:spAutoFit/>
          </a:bodyPr>
          <a:lstStyle/>
          <a:p>
            <a:pPr algn="ctr">
              <a:spcAft>
                <a:spcPts val="0"/>
              </a:spcAft>
            </a:pPr>
            <a:r>
              <a:rPr sz="1600" b="1" i="0">
                <a:solidFill>
                  <a:srgbClr val="FFFFFF"/>
                </a:solidFill>
                <a:latin typeface="Arial"/>
              </a:rPr>
              <a:t>RQ1</a:t>
            </a:r>
          </a:p>
        </p:txBody>
      </p:sp>
      <p:sp>
        <p:nvSpPr>
          <p:cNvPr id="69" name="TextBox 68"/>
          <p:cNvSpPr txBox="1"/>
          <p:nvPr/>
        </p:nvSpPr>
        <p:spPr>
          <a:xfrm>
            <a:off x="1847088" y="1005840"/>
            <a:ext cx="9418320" cy="457200"/>
          </a:xfrm>
          <a:prstGeom prst="rect">
            <a:avLst/>
          </a:prstGeom>
          <a:noFill/>
        </p:spPr>
        <p:txBody>
          <a:bodyPr wrap="square" lIns="45720" tIns="27432" rIns="45720" bIns="27432" anchor="ctr">
            <a:spAutoFit/>
          </a:bodyPr>
          <a:lstStyle/>
          <a:p>
            <a:pPr algn="l">
              <a:spcAft>
                <a:spcPts val="0"/>
              </a:spcAft>
            </a:pPr>
            <a:r>
              <a:rPr sz="1650" b="1" i="0">
                <a:solidFill>
                  <a:srgbClr val="202A36"/>
                </a:solidFill>
                <a:latin typeface="Arial"/>
              </a:rPr>
              <a:t>Agents do violate SOLID, rarely, and most problems were already there</a:t>
            </a:r>
          </a:p>
        </p:txBody>
      </p:sp>
      <p:sp>
        <p:nvSpPr>
          <p:cNvPr id="70" name="TextBox 69"/>
          <p:cNvSpPr txBox="1"/>
          <p:nvPr/>
        </p:nvSpPr>
        <p:spPr>
          <a:xfrm>
            <a:off x="795528" y="1554480"/>
            <a:ext cx="10607040" cy="2057400"/>
          </a:xfrm>
          <a:prstGeom prst="rect">
            <a:avLst/>
          </a:prstGeom>
          <a:noFill/>
        </p:spPr>
        <p:txBody>
          <a:bodyPr wrap="square" lIns="45720" tIns="27432" rIns="45720" bIns="27432" anchor="t">
            <a:spAutoFit/>
          </a:bodyPr>
          <a:lstStyle/>
          <a:p>
            <a:pPr marL="182880" indent="-182880" algn="l">
              <a:spcAft>
                <a:spcPts val="700"/>
              </a:spcAft>
              <a:buClr>
                <a:srgbClr val="1F9C82"/>
              </a:buClr>
              <a:buChar char="•"/>
            </a:pPr>
            <a:r>
              <a:rPr sz="1450" b="1" i="0">
                <a:solidFill>
                  <a:srgbClr val="2B3440"/>
                </a:solidFill>
                <a:latin typeface="Calibri"/>
              </a:rPr>
              <a:t>Low introduction rate.</a:t>
            </a:r>
            <a:r>
              <a:rPr sz="1450" b="0" i="0">
                <a:solidFill>
                  <a:srgbClr val="2B3440"/>
                </a:solidFill>
                <a:latin typeface="Calibri"/>
              </a:rPr>
              <a:t> 0.4% to 4.1% of Java and 0.3% to 3.5% of Python pull requests introduce a violation of a given principle (corrected by measured precision).</a:t>
            </a:r>
          </a:p>
          <a:p>
            <a:pPr marL="182880" indent="-182880" algn="l">
              <a:spcAft>
                <a:spcPts val="700"/>
              </a:spcAft>
              <a:buClr>
                <a:srgbClr val="1F9C82"/>
              </a:buClr>
              <a:buChar char="•"/>
            </a:pPr>
            <a:r>
              <a:rPr sz="1450" b="1" i="0">
                <a:solidFill>
                  <a:srgbClr val="2B3440"/>
                </a:solidFill>
                <a:latin typeface="Calibri"/>
              </a:rPr>
              <a:t>Present far exceeds introduced.</a:t>
            </a:r>
            <a:r>
              <a:rPr sz="1450" b="0" i="0">
                <a:solidFill>
                  <a:srgbClr val="2B3440"/>
                </a:solidFill>
                <a:latin typeface="Calibri"/>
              </a:rPr>
              <a:t> 183 refused-bequest relations against 16 introducing pull requests in Java, 176 against 5 in Python.</a:t>
            </a:r>
          </a:p>
          <a:p>
            <a:pPr marL="182880" indent="-182880" algn="l">
              <a:spcAft>
                <a:spcPts val="700"/>
              </a:spcAft>
              <a:buClr>
                <a:srgbClr val="1F9C82"/>
              </a:buClr>
              <a:buChar char="•"/>
            </a:pPr>
            <a:r>
              <a:rPr sz="1450" b="1" i="0">
                <a:solidFill>
                  <a:srgbClr val="2B3440"/>
                </a:solidFill>
                <a:latin typeface="Calibri"/>
              </a:rPr>
              <a:t>Size beats agent.</a:t>
            </a:r>
            <a:r>
              <a:rPr sz="1450" b="0" i="0">
                <a:solidFill>
                  <a:srgbClr val="2B3440"/>
                </a:solidFill>
                <a:latin typeface="Calibri"/>
              </a:rPr>
              <a:t> Each doubling of files touched multiplies the odds of a flag by 1.88–1.95 (Java) and 2.01–2.18 (Python). One agent gap replicates: Claude Code on Open/Closed (2.22 Java, 2.09 Python).</a:t>
            </a:r>
          </a:p>
          <a:p>
            <a:pPr marL="182880" indent="-182880" algn="l">
              <a:spcAft>
                <a:spcPts val="700"/>
              </a:spcAft>
              <a:buClr>
                <a:srgbClr val="1F9C82"/>
              </a:buClr>
              <a:buChar char="•"/>
            </a:pPr>
            <a:r>
              <a:rPr sz="1450" b="1" i="0">
                <a:solidFill>
                  <a:srgbClr val="2B3440"/>
                </a:solidFill>
                <a:latin typeface="Calibri"/>
              </a:rPr>
              <a:t>Outcomes.</a:t>
            </a:r>
            <a:r>
              <a:rPr sz="1450" b="0" i="0">
                <a:solidFill>
                  <a:srgbClr val="2B3440"/>
                </a:solidFill>
                <a:latin typeface="Calibri"/>
              </a:rPr>
              <a:t> Merged Java code looks like unreviewed code; merged Python code is cleaner.</a:t>
            </a:r>
          </a:p>
        </p:txBody>
      </p:sp>
      <p:sp>
        <p:nvSpPr>
          <p:cNvPr id="71" name="Rounded Rectangle 70"/>
          <p:cNvSpPr/>
          <p:nvPr/>
        </p:nvSpPr>
        <p:spPr>
          <a:xfrm>
            <a:off x="612648" y="3794760"/>
            <a:ext cx="10972800" cy="251460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ounded Rectangle 71"/>
          <p:cNvSpPr/>
          <p:nvPr/>
        </p:nvSpPr>
        <p:spPr>
          <a:xfrm>
            <a:off x="795528" y="3913632"/>
            <a:ext cx="868680" cy="384048"/>
          </a:xfrm>
          <a:prstGeom prst="roundRect">
            <a:avLst>
              <a:gd name="adj" fmla="val 20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795528" y="3913632"/>
            <a:ext cx="868680" cy="384048"/>
          </a:xfrm>
          <a:prstGeom prst="rect">
            <a:avLst/>
          </a:prstGeom>
          <a:noFill/>
        </p:spPr>
        <p:txBody>
          <a:bodyPr wrap="square" lIns="0" tIns="0" rIns="0" bIns="0" anchor="ctr">
            <a:spAutoFit/>
          </a:bodyPr>
          <a:lstStyle/>
          <a:p>
            <a:pPr algn="ctr">
              <a:spcAft>
                <a:spcPts val="0"/>
              </a:spcAft>
            </a:pPr>
            <a:r>
              <a:rPr sz="1600" b="1" i="0">
                <a:solidFill>
                  <a:srgbClr val="FFFFFF"/>
                </a:solidFill>
                <a:latin typeface="Arial"/>
              </a:rPr>
              <a:t>RQ2</a:t>
            </a:r>
          </a:p>
        </p:txBody>
      </p:sp>
      <p:sp>
        <p:nvSpPr>
          <p:cNvPr id="74" name="TextBox 73"/>
          <p:cNvSpPr txBox="1"/>
          <p:nvPr/>
        </p:nvSpPr>
        <p:spPr>
          <a:xfrm>
            <a:off x="1847088" y="3886200"/>
            <a:ext cx="9418320" cy="457200"/>
          </a:xfrm>
          <a:prstGeom prst="rect">
            <a:avLst/>
          </a:prstGeom>
          <a:noFill/>
        </p:spPr>
        <p:txBody>
          <a:bodyPr wrap="square" lIns="45720" tIns="27432" rIns="45720" bIns="27432" anchor="ctr">
            <a:spAutoFit/>
          </a:bodyPr>
          <a:lstStyle/>
          <a:p>
            <a:pPr algn="l">
              <a:spcAft>
                <a:spcPts val="0"/>
              </a:spcAft>
            </a:pPr>
            <a:r>
              <a:rPr sz="1650" b="1" i="0">
                <a:solidFill>
                  <a:srgbClr val="202A36"/>
                </a:solidFill>
                <a:latin typeface="Arial"/>
              </a:rPr>
              <a:t>Partly, and the answer differs by principle</a:t>
            </a:r>
          </a:p>
        </p:txBody>
      </p:sp>
      <p:sp>
        <p:nvSpPr>
          <p:cNvPr id="75" name="TextBox 74"/>
          <p:cNvSpPr txBox="1"/>
          <p:nvPr/>
        </p:nvSpPr>
        <p:spPr>
          <a:xfrm>
            <a:off x="795528" y="4434840"/>
            <a:ext cx="10607040" cy="1828800"/>
          </a:xfrm>
          <a:prstGeom prst="rect">
            <a:avLst/>
          </a:prstGeom>
          <a:noFill/>
        </p:spPr>
        <p:txBody>
          <a:bodyPr wrap="square" lIns="45720" tIns="27432" rIns="45720" bIns="27432" anchor="t">
            <a:spAutoFit/>
          </a:bodyPr>
          <a:lstStyle/>
          <a:p>
            <a:pPr marL="182880" indent="-182880" algn="l">
              <a:spcAft>
                <a:spcPts val="700"/>
              </a:spcAft>
              <a:buClr>
                <a:srgbClr val="1F9C82"/>
              </a:buClr>
              <a:buChar char="•"/>
            </a:pPr>
            <a:r>
              <a:rPr sz="1450" b="1" i="0">
                <a:solidFill>
                  <a:srgbClr val="2B3440"/>
                </a:solidFill>
                <a:latin typeface="Calibri"/>
              </a:rPr>
              <a:t>Two principles agree with the judge.</a:t>
            </a:r>
            <a:r>
              <a:rPr sz="1450" b="0" i="0">
                <a:solidFill>
                  <a:srgbClr val="2B3440"/>
                </a:solidFill>
                <a:latin typeface="Calibri"/>
              </a:rPr>
              <a:t> Dependency Inversion: precision 0.892 Java, 1.000 Python. Liskov restricted to refused bequest: 1.000 on 64 Java flags, 0.857 in Python.</a:t>
            </a:r>
          </a:p>
          <a:p>
            <a:pPr marL="182880" indent="-182880" algn="l">
              <a:spcAft>
                <a:spcPts val="700"/>
              </a:spcAft>
              <a:buClr>
                <a:srgbClr val="1F9C82"/>
              </a:buClr>
              <a:buChar char="•"/>
            </a:pPr>
            <a:r>
              <a:rPr sz="1450" b="1" i="0">
                <a:solidFill>
                  <a:srgbClr val="2B3440"/>
                </a:solidFill>
                <a:latin typeface="Calibri"/>
              </a:rPr>
              <a:t>Three are screens.</a:t>
            </a:r>
            <a:r>
              <a:rPr sz="1450" b="0" i="0">
                <a:solidFill>
                  <a:srgbClr val="2B3440"/>
                </a:solidFill>
                <a:latin typeface="Calibri"/>
              </a:rPr>
              <a:t> SRP, OCP and ISP have precision 0.110 to 0.425: their flags locate code worth reading, not violations.</a:t>
            </a:r>
          </a:p>
          <a:p>
            <a:pPr marL="182880" indent="-182880" algn="l">
              <a:spcAft>
                <a:spcPts val="700"/>
              </a:spcAft>
              <a:buClr>
                <a:srgbClr val="1F9C82"/>
              </a:buClr>
              <a:buChar char="•"/>
            </a:pPr>
            <a:r>
              <a:rPr sz="1450" b="1" i="0">
                <a:solidFill>
                  <a:srgbClr val="2B3440"/>
                </a:solidFill>
                <a:latin typeface="Calibri"/>
              </a:rPr>
              <a:t>Published analysers.</a:t>
            </a:r>
            <a:r>
              <a:rPr sz="1450" b="0" i="0">
                <a:solidFill>
                  <a:srgbClr val="2B3440"/>
                </a:solidFill>
                <a:latin typeface="Calibri"/>
              </a:rPr>
              <a:t> The SRP rubric agrees with PMD (κ 0.574) and DesigniteJava (0.531) more than they agree with each other (0.384); no tool corroborates OCP (0.122).</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7</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Findings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RQ1: what holds in both languages</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51</a:t>
            </a:r>
          </a:p>
        </p:txBody>
      </p:sp>
      <p:graphicFrame>
        <p:nvGraphicFramePr>
          <p:cNvPr id="66" name="Table 65"/>
          <p:cNvGraphicFramePr>
            <a:graphicFrameLocks noGrp="1"/>
          </p:cNvGraphicFramePr>
          <p:nvPr/>
        </p:nvGraphicFramePr>
        <p:xfrm>
          <a:off x="612648" y="914400"/>
          <a:ext cx="10972800" cy="4846320"/>
        </p:xfrm>
        <a:graphic>
          <a:graphicData uri="http://schemas.openxmlformats.org/drawingml/2006/table">
            <a:tbl>
              <a:tblPr>
                <a:tableStyleId>{2D5ABB26-0587-4C30-8999-92F81FD0307C}</a:tableStyleId>
              </a:tblPr>
              <a:tblGrid>
                <a:gridCol w="47548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57200">
                <a:tc>
                  <a:txBody>
                    <a:bodyPr/>
                    <a:lstStyle/>
                    <a:p>
                      <a:pPr algn="l">
                        <a:spcAft>
                          <a:spcPts val="0"/>
                        </a:spcAft>
                      </a:pPr>
                      <a:r>
                        <a:rPr sz="1500" b="1" i="0">
                          <a:solidFill>
                            <a:srgbClr val="FFFFFF"/>
                          </a:solidFill>
                          <a:latin typeface="Calibri"/>
                        </a:rPr>
                        <a:t>Result</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500" b="1" i="0">
                          <a:solidFill>
                            <a:srgbClr val="FFFFFF"/>
                          </a:solidFill>
                          <a:latin typeface="Calibri"/>
                        </a:rPr>
                        <a:t>Java</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500" b="1" i="0">
                          <a:solidFill>
                            <a:srgbClr val="FFFFFF"/>
                          </a:solidFill>
                          <a:latin typeface="Calibri"/>
                        </a:rPr>
                        <a:t>Python</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548640">
                <a:tc>
                  <a:txBody>
                    <a:bodyPr/>
                    <a:lstStyle/>
                    <a:p>
                      <a:pPr algn="l">
                        <a:spcAft>
                          <a:spcPts val="0"/>
                        </a:spcAft>
                      </a:pPr>
                      <a:r>
                        <a:rPr sz="1500" b="1" i="0">
                          <a:solidFill>
                            <a:srgbClr val="202A36"/>
                          </a:solidFill>
                          <a:latin typeface="Calibri"/>
                        </a:rPr>
                        <a:t>Change size dominates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500" b="0" i="0">
                          <a:solidFill>
                            <a:srgbClr val="2B3440"/>
                          </a:solidFill>
                          <a:latin typeface="Calibri"/>
                        </a:rPr>
                        <a:t>OR 1.88–1.95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500" b="1" i="0">
                          <a:solidFill>
                            <a:srgbClr val="1B7F68"/>
                          </a:solidFill>
                          <a:latin typeface="Calibri"/>
                        </a:rPr>
                        <a:t>holds</a:t>
                      </a:r>
                      <a:r>
                        <a:rPr sz="1500" b="0" i="0">
                          <a:solidFill>
                            <a:srgbClr val="2B3440"/>
                          </a:solidFill>
                          <a:latin typeface="Calibri"/>
                        </a:rPr>
                        <a:t> 2.01–2.18</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548640">
                <a:tc>
                  <a:txBody>
                    <a:bodyPr/>
                    <a:lstStyle/>
                    <a:p>
                      <a:pPr algn="l">
                        <a:spcAft>
                          <a:spcPts val="0"/>
                        </a:spcAft>
                      </a:pPr>
                      <a:r>
                        <a:rPr sz="1500" b="1" i="0">
                          <a:solidFill>
                            <a:srgbClr val="202A36"/>
                          </a:solidFill>
                          <a:latin typeface="Calibri"/>
                        </a:rPr>
                        <a:t>Claude Code on Open/Closed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500" b="0" i="0">
                          <a:solidFill>
                            <a:srgbClr val="2B3440"/>
                          </a:solidFill>
                          <a:latin typeface="Calibri"/>
                        </a:rPr>
                        <a:t>2.22 (1.21–4.07)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500" b="1" i="0">
                          <a:solidFill>
                            <a:srgbClr val="1B7F68"/>
                          </a:solidFill>
                          <a:latin typeface="Calibri"/>
                        </a:rPr>
                        <a:t>holds</a:t>
                      </a:r>
                      <a:r>
                        <a:rPr sz="1500" b="0" i="0">
                          <a:solidFill>
                            <a:srgbClr val="2B3440"/>
                          </a:solidFill>
                          <a:latin typeface="Calibri"/>
                        </a:rPr>
                        <a:t> 2.09 (1.44–3.04)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548640">
                <a:tc>
                  <a:txBody>
                    <a:bodyPr/>
                    <a:lstStyle/>
                    <a:p>
                      <a:pPr algn="l">
                        <a:spcAft>
                          <a:spcPts val="0"/>
                        </a:spcAft>
                      </a:pPr>
                      <a:r>
                        <a:rPr sz="1500" b="1" i="0">
                          <a:solidFill>
                            <a:srgbClr val="202A36"/>
                          </a:solidFill>
                          <a:latin typeface="Calibri"/>
                        </a:rPr>
                        <a:t>Present far exceeds introduced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500" b="0" i="0">
                          <a:solidFill>
                            <a:srgbClr val="2B3440"/>
                          </a:solidFill>
                          <a:latin typeface="Calibri"/>
                        </a:rPr>
                        <a:t>183 vs 16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500" b="1" i="0">
                          <a:solidFill>
                            <a:srgbClr val="1B7F68"/>
                          </a:solidFill>
                          <a:latin typeface="Calibri"/>
                        </a:rPr>
                        <a:t>holds</a:t>
                      </a:r>
                      <a:r>
                        <a:rPr sz="1500" b="0" i="0">
                          <a:solidFill>
                            <a:srgbClr val="2B3440"/>
                          </a:solidFill>
                          <a:latin typeface="Calibri"/>
                        </a:rPr>
                        <a:t> 176 vs 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548640">
                <a:tc>
                  <a:txBody>
                    <a:bodyPr/>
                    <a:lstStyle/>
                    <a:p>
                      <a:pPr algn="l">
                        <a:spcAft>
                          <a:spcPts val="0"/>
                        </a:spcAft>
                      </a:pPr>
                      <a:r>
                        <a:rPr sz="1500" b="1" i="0">
                          <a:solidFill>
                            <a:srgbClr val="202A36"/>
                          </a:solidFill>
                          <a:latin typeface="Calibri"/>
                        </a:rPr>
                        <a:t>Authored flagged less than edited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500" b="0" i="0">
                          <a:solidFill>
                            <a:srgbClr val="2B3440"/>
                          </a:solidFill>
                          <a:latin typeface="Calibri"/>
                        </a:rPr>
                        <a:t>7.7% vs 13.5%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500" b="1" i="0">
                          <a:solidFill>
                            <a:srgbClr val="1B7F68"/>
                          </a:solidFill>
                          <a:latin typeface="Calibri"/>
                        </a:rPr>
                        <a:t>holds</a:t>
                      </a:r>
                      <a:r>
                        <a:rPr sz="1500" b="0" i="0">
                          <a:solidFill>
                            <a:srgbClr val="2B3440"/>
                          </a:solidFill>
                          <a:latin typeface="Calibri"/>
                        </a:rPr>
                        <a:t> 8.9% vs 12.1%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r h="548640">
                <a:tc>
                  <a:txBody>
                    <a:bodyPr/>
                    <a:lstStyle/>
                    <a:p>
                      <a:pPr algn="l">
                        <a:spcAft>
                          <a:spcPts val="0"/>
                        </a:spcAft>
                      </a:pPr>
                      <a:r>
                        <a:rPr sz="1500" b="1" i="0">
                          <a:solidFill>
                            <a:srgbClr val="202A36"/>
                          </a:solidFill>
                          <a:latin typeface="Calibri"/>
                        </a:rPr>
                        <a:t>Shape rule transfers, number does not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500" b="0" i="0">
                          <a:solidFill>
                            <a:srgbClr val="2B3440"/>
                          </a:solidFill>
                          <a:latin typeface="Calibri"/>
                        </a:rPr>
                        <a:t>1.000 vs 0.704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500" b="1" i="0">
                          <a:solidFill>
                            <a:srgbClr val="1B7F68"/>
                          </a:solidFill>
                          <a:latin typeface="Calibri"/>
                        </a:rPr>
                        <a:t>holds</a:t>
                      </a:r>
                      <a:r>
                        <a:rPr sz="1500" b="0" i="0">
                          <a:solidFill>
                            <a:srgbClr val="2B3440"/>
                          </a:solidFill>
                          <a:latin typeface="Calibri"/>
                        </a:rPr>
                        <a:t> 0.857 vs 0.200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5"/>
                  </a:ext>
                </a:extLst>
              </a:tr>
              <a:tr h="548640">
                <a:tc>
                  <a:txBody>
                    <a:bodyPr/>
                    <a:lstStyle/>
                    <a:p>
                      <a:pPr algn="l">
                        <a:spcAft>
                          <a:spcPts val="0"/>
                        </a:spcAft>
                      </a:pPr>
                      <a:r>
                        <a:rPr sz="1500" b="1" i="0">
                          <a:solidFill>
                            <a:srgbClr val="202A36"/>
                          </a:solidFill>
                          <a:latin typeface="Calibri"/>
                        </a:rPr>
                        <a:t>Compiler removes a family of LSP faults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500" b="0" i="0">
                          <a:solidFill>
                            <a:srgbClr val="2B3440"/>
                          </a:solidFill>
                          <a:latin typeface="Calibri"/>
                        </a:rPr>
                        <a:t>inferred from Java</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500" b="1" i="0">
                          <a:solidFill>
                            <a:srgbClr val="1B7F68"/>
                          </a:solidFill>
                          <a:latin typeface="Calibri"/>
                        </a:rPr>
                        <a:t>confirmed</a:t>
                      </a:r>
                      <a:r>
                        <a:rPr sz="1500" b="0" i="0">
                          <a:solidFill>
                            <a:srgbClr val="2B3440"/>
                          </a:solidFill>
                          <a:latin typeface="Calibri"/>
                        </a:rPr>
                        <a:t> 46 of 51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6"/>
                  </a:ext>
                </a:extLst>
              </a:tr>
              <a:tr h="548640">
                <a:tc>
                  <a:txBody>
                    <a:bodyPr/>
                    <a:lstStyle/>
                    <a:p>
                      <a:pPr algn="l">
                        <a:spcAft>
                          <a:spcPts val="0"/>
                        </a:spcAft>
                      </a:pPr>
                      <a:r>
                        <a:rPr sz="1500" b="1" i="0">
                          <a:solidFill>
                            <a:srgbClr val="202A36"/>
                          </a:solidFill>
                          <a:latin typeface="Calibri"/>
                        </a:rPr>
                        <a:t>Merged equals unreviewed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500" b="0" i="0">
                          <a:solidFill>
                            <a:srgbClr val="2B3440"/>
                          </a:solidFill>
                          <a:latin typeface="Calibri"/>
                        </a:rPr>
                        <a:t>yes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500" b="1" i="0">
                          <a:solidFill>
                            <a:srgbClr val="B03A36"/>
                          </a:solidFill>
                          <a:latin typeface="Calibri"/>
                        </a:rPr>
                        <a:t>does not hold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7"/>
                  </a:ext>
                </a:extLst>
              </a:tr>
              <a:tr h="548640">
                <a:tc>
                  <a:txBody>
                    <a:bodyPr/>
                    <a:lstStyle/>
                    <a:p>
                      <a:pPr algn="l">
                        <a:spcAft>
                          <a:spcPts val="0"/>
                        </a:spcAft>
                      </a:pPr>
                      <a:r>
                        <a:rPr sz="1500" b="1" i="0">
                          <a:solidFill>
                            <a:srgbClr val="202A36"/>
                          </a:solidFill>
                          <a:latin typeface="Calibri"/>
                        </a:rPr>
                        <a:t>SRP screen precision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500" b="0" i="0">
                          <a:solidFill>
                            <a:srgbClr val="2B3440"/>
                          </a:solidFill>
                          <a:latin typeface="Calibri"/>
                        </a:rPr>
                        <a:t>0.350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500" b="1" i="0">
                          <a:solidFill>
                            <a:srgbClr val="B03A36"/>
                          </a:solidFill>
                          <a:latin typeface="Calibri"/>
                        </a:rPr>
                        <a:t>drops to 0.110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7</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Findings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Findings</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52</a:t>
            </a:r>
          </a:p>
        </p:txBody>
      </p:sp>
      <p:sp>
        <p:nvSpPr>
          <p:cNvPr id="66" name="Rounded Rectangle 65"/>
          <p:cNvSpPr/>
          <p:nvPr/>
        </p:nvSpPr>
        <p:spPr>
          <a:xfrm>
            <a:off x="612648" y="914400"/>
            <a:ext cx="3547872" cy="260604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Hexagon 66"/>
          <p:cNvSpPr/>
          <p:nvPr/>
        </p:nvSpPr>
        <p:spPr>
          <a:xfrm>
            <a:off x="813816" y="1115568"/>
            <a:ext cx="633679" cy="54864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Arial"/>
              </a:rPr>
              <a:t>1</a:t>
            </a:r>
          </a:p>
        </p:txBody>
      </p:sp>
      <p:sp>
        <p:nvSpPr>
          <p:cNvPr id="68" name="TextBox 67"/>
          <p:cNvSpPr txBox="1"/>
          <p:nvPr/>
        </p:nvSpPr>
        <p:spPr>
          <a:xfrm>
            <a:off x="795528" y="1828800"/>
            <a:ext cx="3182112" cy="1645920"/>
          </a:xfrm>
          <a:prstGeom prst="rect">
            <a:avLst/>
          </a:prstGeom>
          <a:noFill/>
        </p:spPr>
        <p:txBody>
          <a:bodyPr wrap="square" lIns="45720" tIns="27432" rIns="45720" bIns="27432" anchor="t">
            <a:spAutoFit/>
          </a:bodyPr>
          <a:lstStyle/>
          <a:p>
            <a:pPr algn="l">
              <a:spcAft>
                <a:spcPts val="0"/>
              </a:spcAft>
            </a:pPr>
            <a:r>
              <a:rPr sz="1650" b="1" i="0">
                <a:solidFill>
                  <a:srgbClr val="2B3440"/>
                </a:solidFill>
                <a:latin typeface="Calibri"/>
              </a:rPr>
              <a:t>What a compiler enforces decides which violations can exist:</a:t>
            </a:r>
            <a:r>
              <a:rPr sz="1650" b="0" i="0">
                <a:solidFill>
                  <a:srgbClr val="2B3440"/>
                </a:solidFill>
                <a:latin typeface="Calibri"/>
              </a:rPr>
              <a:t> 46 of 51 confirmed Python Liskov violations are faults javac rejects.</a:t>
            </a:r>
          </a:p>
        </p:txBody>
      </p:sp>
      <p:sp>
        <p:nvSpPr>
          <p:cNvPr id="69" name="Rounded Rectangle 68"/>
          <p:cNvSpPr/>
          <p:nvPr/>
        </p:nvSpPr>
        <p:spPr>
          <a:xfrm>
            <a:off x="4325112" y="914400"/>
            <a:ext cx="3547872" cy="260604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Hexagon 69"/>
          <p:cNvSpPr/>
          <p:nvPr/>
        </p:nvSpPr>
        <p:spPr>
          <a:xfrm>
            <a:off x="4526280" y="1115568"/>
            <a:ext cx="633679" cy="54864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Arial"/>
              </a:rPr>
              <a:t>2</a:t>
            </a:r>
          </a:p>
        </p:txBody>
      </p:sp>
      <p:sp>
        <p:nvSpPr>
          <p:cNvPr id="71" name="TextBox 70"/>
          <p:cNvSpPr txBox="1"/>
          <p:nvPr/>
        </p:nvSpPr>
        <p:spPr>
          <a:xfrm>
            <a:off x="4507992" y="1828800"/>
            <a:ext cx="3182112" cy="1645920"/>
          </a:xfrm>
          <a:prstGeom prst="rect">
            <a:avLst/>
          </a:prstGeom>
          <a:noFill/>
        </p:spPr>
        <p:txBody>
          <a:bodyPr wrap="square" lIns="45720" tIns="27432" rIns="45720" bIns="27432" anchor="t">
            <a:spAutoFit/>
          </a:bodyPr>
          <a:lstStyle/>
          <a:p>
            <a:pPr algn="l">
              <a:spcAft>
                <a:spcPts val="0"/>
              </a:spcAft>
            </a:pPr>
            <a:r>
              <a:rPr sz="1650" b="1" i="0">
                <a:solidFill>
                  <a:srgbClr val="2B3440"/>
                </a:solidFill>
                <a:latin typeface="Calibri"/>
              </a:rPr>
              <a:t>Width predicts Interface Segregation violations and not Open/Closed ones,</a:t>
            </a:r>
            <a:r>
              <a:rPr sz="1650" b="0" i="0">
                <a:solidFill>
                  <a:srgbClr val="2B3440"/>
                </a:solidFill>
                <a:latin typeface="Calibri"/>
              </a:rPr>
              <a:t> because one principle is about size and the other about whether a set can grow.</a:t>
            </a:r>
          </a:p>
        </p:txBody>
      </p:sp>
      <p:sp>
        <p:nvSpPr>
          <p:cNvPr id="72" name="Rounded Rectangle 71"/>
          <p:cNvSpPr/>
          <p:nvPr/>
        </p:nvSpPr>
        <p:spPr>
          <a:xfrm>
            <a:off x="8037576" y="914400"/>
            <a:ext cx="3547872" cy="260604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Hexagon 72"/>
          <p:cNvSpPr/>
          <p:nvPr/>
        </p:nvSpPr>
        <p:spPr>
          <a:xfrm>
            <a:off x="8238744" y="1115568"/>
            <a:ext cx="633679" cy="54864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Arial"/>
              </a:rPr>
              <a:t>3</a:t>
            </a:r>
          </a:p>
        </p:txBody>
      </p:sp>
      <p:sp>
        <p:nvSpPr>
          <p:cNvPr id="74" name="TextBox 73"/>
          <p:cNvSpPr txBox="1"/>
          <p:nvPr/>
        </p:nvSpPr>
        <p:spPr>
          <a:xfrm>
            <a:off x="8220456" y="1828800"/>
            <a:ext cx="3182112" cy="1645920"/>
          </a:xfrm>
          <a:prstGeom prst="rect">
            <a:avLst/>
          </a:prstGeom>
          <a:noFill/>
        </p:spPr>
        <p:txBody>
          <a:bodyPr wrap="square" lIns="45720" tIns="27432" rIns="45720" bIns="27432" anchor="t">
            <a:spAutoFit/>
          </a:bodyPr>
          <a:lstStyle/>
          <a:p>
            <a:pPr algn="l">
              <a:spcAft>
                <a:spcPts val="0"/>
              </a:spcAft>
            </a:pPr>
            <a:r>
              <a:rPr sz="1650" b="1" i="0">
                <a:solidFill>
                  <a:srgbClr val="2B3440"/>
                </a:solidFill>
                <a:latin typeface="Calibri"/>
              </a:rPr>
              <a:t>The closed sets that matter are fixed by specifications,</a:t>
            </a:r>
            <a:r>
              <a:rPr sz="1650" b="0" i="0">
                <a:solidFill>
                  <a:srgbClr val="2B3440"/>
                </a:solidFill>
                <a:latin typeface="Calibri"/>
              </a:rPr>
              <a:t> not by the language.</a:t>
            </a:r>
          </a:p>
        </p:txBody>
      </p:sp>
      <p:sp>
        <p:nvSpPr>
          <p:cNvPr id="75" name="Rounded Rectangle 74"/>
          <p:cNvSpPr/>
          <p:nvPr/>
        </p:nvSpPr>
        <p:spPr>
          <a:xfrm>
            <a:off x="612648" y="3703320"/>
            <a:ext cx="3547872" cy="260604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Hexagon 75"/>
          <p:cNvSpPr/>
          <p:nvPr/>
        </p:nvSpPr>
        <p:spPr>
          <a:xfrm>
            <a:off x="813816" y="3904488"/>
            <a:ext cx="633679" cy="54864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Arial"/>
              </a:rPr>
              <a:t>4</a:t>
            </a:r>
          </a:p>
        </p:txBody>
      </p:sp>
      <p:sp>
        <p:nvSpPr>
          <p:cNvPr id="77" name="TextBox 76"/>
          <p:cNvSpPr txBox="1"/>
          <p:nvPr/>
        </p:nvSpPr>
        <p:spPr>
          <a:xfrm>
            <a:off x="795528" y="4617720"/>
            <a:ext cx="3182112" cy="1645920"/>
          </a:xfrm>
          <a:prstGeom prst="rect">
            <a:avLst/>
          </a:prstGeom>
          <a:noFill/>
        </p:spPr>
        <p:txBody>
          <a:bodyPr wrap="square" lIns="45720" tIns="27432" rIns="45720" bIns="27432" anchor="t">
            <a:spAutoFit/>
          </a:bodyPr>
          <a:lstStyle/>
          <a:p>
            <a:pPr algn="l">
              <a:spcAft>
                <a:spcPts val="0"/>
              </a:spcAft>
            </a:pPr>
            <a:r>
              <a:rPr sz="1650" b="1" i="0">
                <a:solidFill>
                  <a:srgbClr val="2B3440"/>
                </a:solidFill>
                <a:latin typeface="Calibri"/>
              </a:rPr>
              <a:t>Most flagged problems in the touched code predate the change.</a:t>
            </a:r>
          </a:p>
        </p:txBody>
      </p:sp>
      <p:sp>
        <p:nvSpPr>
          <p:cNvPr id="78" name="Rounded Rectangle 77"/>
          <p:cNvSpPr/>
          <p:nvPr/>
        </p:nvSpPr>
        <p:spPr>
          <a:xfrm>
            <a:off x="4325112" y="3703320"/>
            <a:ext cx="3547872" cy="260604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Hexagon 78"/>
          <p:cNvSpPr/>
          <p:nvPr/>
        </p:nvSpPr>
        <p:spPr>
          <a:xfrm>
            <a:off x="4526280" y="3904488"/>
            <a:ext cx="633679" cy="54864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Arial"/>
              </a:rPr>
              <a:t>5</a:t>
            </a:r>
          </a:p>
        </p:txBody>
      </p:sp>
      <p:sp>
        <p:nvSpPr>
          <p:cNvPr id="80" name="TextBox 79"/>
          <p:cNvSpPr txBox="1"/>
          <p:nvPr/>
        </p:nvSpPr>
        <p:spPr>
          <a:xfrm>
            <a:off x="4507992" y="4617720"/>
            <a:ext cx="3182112" cy="1645920"/>
          </a:xfrm>
          <a:prstGeom prst="rect">
            <a:avLst/>
          </a:prstGeom>
          <a:noFill/>
        </p:spPr>
        <p:txBody>
          <a:bodyPr wrap="square" lIns="45720" tIns="27432" rIns="45720" bIns="27432" anchor="t">
            <a:spAutoFit/>
          </a:bodyPr>
          <a:lstStyle/>
          <a:p>
            <a:pPr algn="l">
              <a:spcAft>
                <a:spcPts val="0"/>
              </a:spcAft>
            </a:pPr>
            <a:r>
              <a:rPr sz="1650" b="1" i="0">
                <a:solidFill>
                  <a:srgbClr val="2B3440"/>
                </a:solidFill>
                <a:latin typeface="Calibri"/>
              </a:rPr>
              <a:t>Classes the agents wrote are flagged less often</a:t>
            </a:r>
            <a:r>
              <a:rPr sz="1650" b="0" i="0">
                <a:solidFill>
                  <a:srgbClr val="2B3440"/>
                </a:solidFill>
                <a:latin typeface="Calibri"/>
              </a:rPr>
              <a:t> than the classes they edit.</a:t>
            </a:r>
          </a:p>
        </p:txBody>
      </p:sp>
      <p:sp>
        <p:nvSpPr>
          <p:cNvPr id="81" name="Rounded Rectangle 80"/>
          <p:cNvSpPr/>
          <p:nvPr/>
        </p:nvSpPr>
        <p:spPr>
          <a:xfrm>
            <a:off x="8037576" y="3703320"/>
            <a:ext cx="3547872" cy="260604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Hexagon 81"/>
          <p:cNvSpPr/>
          <p:nvPr/>
        </p:nvSpPr>
        <p:spPr>
          <a:xfrm>
            <a:off x="8238744" y="3904488"/>
            <a:ext cx="633679" cy="54864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Arial"/>
              </a:rPr>
              <a:t>6</a:t>
            </a:r>
          </a:p>
        </p:txBody>
      </p:sp>
      <p:sp>
        <p:nvSpPr>
          <p:cNvPr id="83" name="TextBox 82"/>
          <p:cNvSpPr txBox="1"/>
          <p:nvPr/>
        </p:nvSpPr>
        <p:spPr>
          <a:xfrm>
            <a:off x="8220456" y="4617720"/>
            <a:ext cx="3182112" cy="1645920"/>
          </a:xfrm>
          <a:prstGeom prst="rect">
            <a:avLst/>
          </a:prstGeom>
          <a:noFill/>
        </p:spPr>
        <p:txBody>
          <a:bodyPr wrap="square" lIns="45720" tIns="27432" rIns="45720" bIns="27432" anchor="t">
            <a:spAutoFit/>
          </a:bodyPr>
          <a:lstStyle/>
          <a:p>
            <a:pPr algn="l">
              <a:spcAft>
                <a:spcPts val="0"/>
              </a:spcAft>
            </a:pPr>
            <a:r>
              <a:rPr sz="1650" b="1" i="0">
                <a:solidFill>
                  <a:srgbClr val="2B3440"/>
                </a:solidFill>
                <a:latin typeface="Calibri"/>
              </a:rPr>
              <a:t>Merged code is not a biased sample of unreviewed agent code in Java,</a:t>
            </a:r>
            <a:r>
              <a:rPr sz="1650" b="0" i="0">
                <a:solidFill>
                  <a:srgbClr val="2B3440"/>
                </a:solidFill>
                <a:latin typeface="Calibri"/>
              </a:rPr>
              <a:t> but it is cleaner than abandoned code in Python.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7</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Findings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Against the state of the art: what we confirm</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53</a:t>
            </a:r>
          </a:p>
        </p:txBody>
      </p:sp>
      <p:graphicFrame>
        <p:nvGraphicFramePr>
          <p:cNvPr id="66" name="Table 65"/>
          <p:cNvGraphicFramePr>
            <a:graphicFrameLocks noGrp="1"/>
          </p:cNvGraphicFramePr>
          <p:nvPr/>
        </p:nvGraphicFramePr>
        <p:xfrm>
          <a:off x="612648" y="914400"/>
          <a:ext cx="10972800" cy="4480560"/>
        </p:xfrm>
        <a:graphic>
          <a:graphicData uri="http://schemas.openxmlformats.org/drawingml/2006/table">
            <a:tbl>
              <a:tblPr>
                <a:tableStyleId>{2D5ABB26-0587-4C30-8999-92F81FD0307C}</a:tableStyleId>
              </a:tblPr>
              <a:tblGrid>
                <a:gridCol w="320040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457200">
                <a:tc>
                  <a:txBody>
                    <a:bodyPr/>
                    <a:lstStyle/>
                    <a:p>
                      <a:pPr algn="l">
                        <a:spcAft>
                          <a:spcPts val="0"/>
                        </a:spcAft>
                      </a:pPr>
                      <a:r>
                        <a:rPr sz="1350" b="1" i="0">
                          <a:solidFill>
                            <a:srgbClr val="FFFFFF"/>
                          </a:solidFill>
                          <a:latin typeface="Calibri"/>
                        </a:rPr>
                        <a:t>Earlier finding</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350" b="1" i="0">
                          <a:solidFill>
                            <a:srgbClr val="FFFFFF"/>
                          </a:solidFill>
                          <a:latin typeface="Calibri"/>
                        </a:rPr>
                        <a:t>What we measured</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350" b="1" i="0">
                          <a:solidFill>
                            <a:srgbClr val="FFFFFF"/>
                          </a:solidFill>
                          <a:latin typeface="Calibri"/>
                        </a:rPr>
                        <a:t>Outcome</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1005840">
                <a:tc>
                  <a:txBody>
                    <a:bodyPr/>
                    <a:lstStyle/>
                    <a:p>
                      <a:pPr algn="l">
                        <a:spcAft>
                          <a:spcPts val="0"/>
                        </a:spcAft>
                      </a:pPr>
                      <a:r>
                        <a:rPr sz="1350" b="1" i="0">
                          <a:solidFill>
                            <a:srgbClr val="202A36"/>
                          </a:solidFill>
                          <a:latin typeface="Calibri"/>
                        </a:rPr>
                        <a:t>Volume-Quality Inverse Law (Zhu, Yuecai)</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350" b="0" i="0">
                          <a:solidFill>
                            <a:srgbClr val="2B3440"/>
                          </a:solidFill>
                          <a:latin typeface="Calibri"/>
                        </a:rPr>
                        <a:t>Each doubling of files touched multiplies the odds of a flag by 1.88–1.95 (Java) and 2.01–2.18 (Python), on every modelled principle</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350" b="1" i="0">
                          <a:solidFill>
                            <a:srgbClr val="1B7F68"/>
                          </a:solidFill>
                          <a:latin typeface="Calibri"/>
                        </a:rPr>
                        <a:t>Confirmed.</a:t>
                      </a:r>
                      <a:r>
                        <a:rPr sz="1350" b="0" i="0">
                          <a:solidFill>
                            <a:srgbClr val="2B3440"/>
                          </a:solidFill>
                          <a:latin typeface="Calibri"/>
                        </a:rPr>
                        <a:t> Our strongest result, in both languages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1005840">
                <a:tc>
                  <a:txBody>
                    <a:bodyPr/>
                    <a:lstStyle/>
                    <a:p>
                      <a:pPr algn="l">
                        <a:spcAft>
                          <a:spcPts val="0"/>
                        </a:spcAft>
                      </a:pPr>
                      <a:r>
                        <a:rPr sz="1350" b="1" i="0">
                          <a:solidFill>
                            <a:srgbClr val="202A36"/>
                          </a:solidFill>
                          <a:latin typeface="Calibri"/>
                        </a:rPr>
                        <a:t>Agent differences vanish after churn normalisation (Cynthia et al.)</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350" b="0" i="0">
                          <a:solidFill>
                            <a:srgbClr val="2B3440"/>
                          </a:solidFill>
                          <a:latin typeface="Calibri"/>
                        </a:rPr>
                        <a:t>After adjusting for files, repository and time, only Claude Code on Open/Closed survives: 2.22 Java, 2.09 Python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350" b="1" i="0">
                          <a:solidFill>
                            <a:srgbClr val="1B7F68"/>
                          </a:solidFill>
                          <a:latin typeface="Calibri"/>
                        </a:rPr>
                        <a:t>Confirmed,</a:t>
                      </a:r>
                      <a:r>
                        <a:rPr sz="1350" b="0" i="0">
                          <a:solidFill>
                            <a:srgbClr val="2B3440"/>
                          </a:solidFill>
                          <a:latin typeface="Calibri"/>
                        </a:rPr>
                        <a:t> with one exception that replicates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1005840">
                <a:tc>
                  <a:txBody>
                    <a:bodyPr/>
                    <a:lstStyle/>
                    <a:p>
                      <a:pPr algn="l">
                        <a:spcAft>
                          <a:spcPts val="0"/>
                        </a:spcAft>
                      </a:pPr>
                      <a:r>
                        <a:rPr sz="1350" b="1" i="0">
                          <a:solidFill>
                            <a:srgbClr val="202A36"/>
                          </a:solidFill>
                          <a:latin typeface="Calibri"/>
                        </a:rPr>
                        <a:t>Passing tests ≠ a change a maintainer accepts (Whitfill et al.)</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350" b="0" i="0">
                          <a:solidFill>
                            <a:srgbClr val="2B3440"/>
                          </a:solidFill>
                          <a:latin typeface="Calibri"/>
                        </a:rPr>
                        <a:t>Merged Java pull requests are structurally indistinguishable from those closed without review</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350" b="1" i="0">
                          <a:solidFill>
                            <a:srgbClr val="1B7F68"/>
                          </a:solidFill>
                          <a:latin typeface="Calibri"/>
                        </a:rPr>
                        <a:t>Consistent.</a:t>
                      </a:r>
                      <a:r>
                        <a:rPr sz="1350" b="0" i="0">
                          <a:solidFill>
                            <a:srgbClr val="2B3440"/>
                          </a:solidFill>
                          <a:latin typeface="Calibri"/>
                        </a:rPr>
                        <a:t> Merge status carries little structural information</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r h="1005840">
                <a:tc>
                  <a:txBody>
                    <a:bodyPr/>
                    <a:lstStyle/>
                    <a:p>
                      <a:pPr algn="l">
                        <a:spcAft>
                          <a:spcPts val="0"/>
                        </a:spcAft>
                      </a:pPr>
                      <a:r>
                        <a:rPr sz="1350" b="1" i="0">
                          <a:solidFill>
                            <a:srgbClr val="202A36"/>
                          </a:solidFill>
                          <a:latin typeface="Calibri"/>
                        </a:rPr>
                        <a:t>91% correct, yet thousands of design issues (Kashif et al.)</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350" b="0" i="0">
                          <a:solidFill>
                            <a:srgbClr val="2B3440"/>
                          </a:solidFill>
                          <a:latin typeface="Calibri"/>
                        </a:rPr>
                        <a:t>Violations already present outnumber those introduced by about 11:1 (Java) and 35:1 (Python) for refused bequest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350" b="1" i="0">
                          <a:solidFill>
                            <a:srgbClr val="1B7F68"/>
                          </a:solidFill>
                          <a:latin typeface="Calibri"/>
                        </a:rPr>
                        <a:t>Consistent,</a:t>
                      </a:r>
                      <a:r>
                        <a:rPr sz="1350" b="0" i="0">
                          <a:solidFill>
                            <a:srgbClr val="2B3440"/>
                          </a:solidFill>
                          <a:latin typeface="Calibri"/>
                        </a:rPr>
                        <a:t> though they build new projects and we edit existing ones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7</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Findings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Against the state of the art: where we differ</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54</a:t>
            </a:r>
          </a:p>
        </p:txBody>
      </p:sp>
      <p:graphicFrame>
        <p:nvGraphicFramePr>
          <p:cNvPr id="66" name="Table 65"/>
          <p:cNvGraphicFramePr>
            <a:graphicFrameLocks noGrp="1"/>
          </p:cNvGraphicFramePr>
          <p:nvPr/>
        </p:nvGraphicFramePr>
        <p:xfrm>
          <a:off x="612648" y="914400"/>
          <a:ext cx="10972800" cy="3611880"/>
        </p:xfrm>
        <a:graphic>
          <a:graphicData uri="http://schemas.openxmlformats.org/drawingml/2006/table">
            <a:tbl>
              <a:tblPr>
                <a:tableStyleId>{2D5ABB26-0587-4C30-8999-92F81FD0307C}</a:tableStyleId>
              </a:tblPr>
              <a:tblGrid>
                <a:gridCol w="320040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457200">
                <a:tc>
                  <a:txBody>
                    <a:bodyPr/>
                    <a:lstStyle/>
                    <a:p>
                      <a:pPr algn="l">
                        <a:spcAft>
                          <a:spcPts val="0"/>
                        </a:spcAft>
                      </a:pPr>
                      <a:r>
                        <a:rPr sz="1350" b="1" i="0">
                          <a:solidFill>
                            <a:srgbClr val="FFFFFF"/>
                          </a:solidFill>
                          <a:latin typeface="Calibri"/>
                        </a:rPr>
                        <a:t>Earlier finding</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350" b="1" i="0">
                          <a:solidFill>
                            <a:srgbClr val="FFFFFF"/>
                          </a:solidFill>
                          <a:latin typeface="Calibri"/>
                        </a:rPr>
                        <a:t>What we measured</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350" b="1" i="0">
                          <a:solidFill>
                            <a:srgbClr val="FFFFFF"/>
                          </a:solidFill>
                          <a:latin typeface="Calibri"/>
                        </a:rPr>
                        <a:t>Outcome</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0"/>
                  </a:ext>
                </a:extLst>
              </a:tr>
              <a:tr h="1051560">
                <a:tc>
                  <a:txBody>
                    <a:bodyPr/>
                    <a:lstStyle/>
                    <a:p>
                      <a:pPr algn="l">
                        <a:spcAft>
                          <a:spcPts val="0"/>
                        </a:spcAft>
                      </a:pPr>
                      <a:r>
                        <a:rPr sz="1350" b="1" i="0">
                          <a:solidFill>
                            <a:srgbClr val="202A36"/>
                          </a:solidFill>
                          <a:latin typeface="Calibri"/>
                        </a:rPr>
                        <a:t>SRP easiest to detect, DIP hardest (Pehlivan et al.)</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350" b="0" i="0">
                          <a:solidFill>
                            <a:srgbClr val="2B3440"/>
                          </a:solidFill>
                          <a:latin typeface="Calibri"/>
                        </a:rPr>
                        <a:t>For structural detectors the order reverses: DIP is the most precise (0.892 Java, 1.000 Python), SRP the least (0.350, 0.110)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350" b="1" i="0">
                          <a:solidFill>
                            <a:srgbClr val="2B3440"/>
                          </a:solidFill>
                          <a:latin typeface="Calibri"/>
                        </a:rPr>
                        <a:t>Reversed,</a:t>
                      </a:r>
                      <a:r>
                        <a:rPr sz="1350" b="0" i="0">
                          <a:solidFill>
                            <a:srgbClr val="2B3440"/>
                          </a:solidFill>
                          <a:latin typeface="Calibri"/>
                        </a:rPr>
                        <a:t> because a model reads examples while a static rule computes a whole-repository graph</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1"/>
                  </a:ext>
                </a:extLst>
              </a:tr>
              <a:tr h="1051560">
                <a:tc>
                  <a:txBody>
                    <a:bodyPr/>
                    <a:lstStyle/>
                    <a:p>
                      <a:pPr algn="l">
                        <a:spcAft>
                          <a:spcPts val="0"/>
                        </a:spcAft>
                      </a:pPr>
                      <a:r>
                        <a:rPr sz="1350" b="1" i="0">
                          <a:solidFill>
                            <a:srgbClr val="202A36"/>
                          </a:solidFill>
                          <a:latin typeface="Calibri"/>
                        </a:rPr>
                        <a:t>Agents succeed at only 4.3% of dependency-control tasks, in C++ (Zhu, Haichao, NITR)</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350" b="0" i="0">
                          <a:solidFill>
                            <a:srgbClr val="2B3440"/>
                          </a:solidFill>
                          <a:latin typeface="Calibri"/>
                        </a:rPr>
                        <a:t>Agents seldom introduce dependency or responsibility violations into existing Java and Python repositories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350" b="1" i="0">
                          <a:solidFill>
                            <a:srgbClr val="2B3440"/>
                          </a:solidFill>
                          <a:latin typeface="Calibri"/>
                        </a:rPr>
                        <a:t>Different question:</a:t>
                      </a:r>
                      <a:r>
                        <a:rPr sz="1350" b="0" i="0">
                          <a:solidFill>
                            <a:srgbClr val="2B3440"/>
                          </a:solidFill>
                          <a:latin typeface="Calibri"/>
                        </a:rPr>
                        <a:t> that benchmark asks agents to repair structure, we ask whether they damage it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extLst>
                  <a:ext uri="{0D108BD9-81ED-4DB2-BD59-A6C34878D82A}">
                    <a16:rowId xmlns:a16="http://schemas.microsoft.com/office/drawing/2014/main" val="10002"/>
                  </a:ext>
                </a:extLst>
              </a:tr>
              <a:tr h="1051560">
                <a:tc>
                  <a:txBody>
                    <a:bodyPr/>
                    <a:lstStyle/>
                    <a:p>
                      <a:pPr algn="l">
                        <a:spcAft>
                          <a:spcPts val="0"/>
                        </a:spcAft>
                      </a:pPr>
                      <a:r>
                        <a:rPr sz="1350" b="1" i="0">
                          <a:solidFill>
                            <a:srgbClr val="202A36"/>
                          </a:solidFill>
                          <a:latin typeface="Calibri"/>
                        </a:rPr>
                        <a:t>Erosion grows across 77% of long-horizon trajectories (SlopCodeBench)</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350" b="0" i="0">
                          <a:solidFill>
                            <a:srgbClr val="2B3440"/>
                          </a:solidFill>
                          <a:latin typeface="Calibri"/>
                        </a:rPr>
                        <a:t>The time coefficient is inert for every delta principle, in both languages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350" b="1" i="0">
                          <a:solidFill>
                            <a:srgbClr val="2B3440"/>
                          </a:solidFill>
                          <a:latin typeface="Calibri"/>
                        </a:rPr>
                        <a:t>Not tested:</a:t>
                      </a:r>
                      <a:r>
                        <a:rPr sz="1350" b="0" i="0">
                          <a:solidFill>
                            <a:srgbClr val="2B3440"/>
                          </a:solidFill>
                          <a:latin typeface="Calibri"/>
                        </a:rPr>
                        <a:t> our unit is one pull request, not a trajectory of successive edits</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extLst>
                  <a:ext uri="{0D108BD9-81ED-4DB2-BD59-A6C34878D82A}">
                    <a16:rowId xmlns:a16="http://schemas.microsoft.com/office/drawing/2014/main" val="10003"/>
                  </a:ext>
                </a:extLst>
              </a:tr>
            </a:tbl>
          </a:graphicData>
        </a:graphic>
      </p:graphicFrame>
      <p:sp>
        <p:nvSpPr>
          <p:cNvPr id="67" name="Rounded Rectangle 66"/>
          <p:cNvSpPr/>
          <p:nvPr/>
        </p:nvSpPr>
        <p:spPr>
          <a:xfrm>
            <a:off x="612648" y="4800600"/>
            <a:ext cx="10972800" cy="91440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Hexagon 67"/>
          <p:cNvSpPr/>
          <p:nvPr/>
        </p:nvSpPr>
        <p:spPr>
          <a:xfrm>
            <a:off x="813816" y="512064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252728" y="4800600"/>
            <a:ext cx="10149840" cy="91440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Taken together with Pehlivan:</a:t>
            </a:r>
            <a:r>
              <a:rPr sz="1400" b="0" i="0">
                <a:solidFill>
                  <a:srgbClr val="FFFFFF"/>
                </a:solidFill>
                <a:latin typeface="Calibri"/>
              </a:rPr>
              <a:t> a graph-based detector and a reading model fail on opposite principles, so combining them beats choosing one.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7</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Findings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Contributions and practical use</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55</a:t>
            </a:r>
          </a:p>
        </p:txBody>
      </p:sp>
      <p:sp>
        <p:nvSpPr>
          <p:cNvPr id="66" name="Rounded Rectangle 65"/>
          <p:cNvSpPr/>
          <p:nvPr/>
        </p:nvSpPr>
        <p:spPr>
          <a:xfrm>
            <a:off x="612648" y="914400"/>
            <a:ext cx="5394960" cy="457200"/>
          </a:xfrm>
          <a:prstGeom prst="roundRect">
            <a:avLst>
              <a:gd name="adj" fmla="val 15000"/>
            </a:avLst>
          </a:prstGeom>
          <a:solidFill>
            <a:srgbClr val="3449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795528" y="914400"/>
            <a:ext cx="5029200" cy="457200"/>
          </a:xfrm>
          <a:prstGeom prst="rect">
            <a:avLst/>
          </a:prstGeom>
          <a:noFill/>
        </p:spPr>
        <p:txBody>
          <a:bodyPr wrap="square" lIns="45720" tIns="27432" rIns="45720" bIns="27432" anchor="ctr">
            <a:spAutoFit/>
          </a:bodyPr>
          <a:lstStyle/>
          <a:p>
            <a:pPr algn="l">
              <a:spcAft>
                <a:spcPts val="0"/>
              </a:spcAft>
            </a:pPr>
            <a:r>
              <a:rPr sz="1600" b="1" i="0">
                <a:solidFill>
                  <a:srgbClr val="FFFFFF"/>
                </a:solidFill>
                <a:latin typeface="Arial"/>
              </a:rPr>
              <a:t>Contributions</a:t>
            </a:r>
          </a:p>
        </p:txBody>
      </p:sp>
      <p:sp>
        <p:nvSpPr>
          <p:cNvPr id="68" name="Rounded Rectangle 67"/>
          <p:cNvSpPr/>
          <p:nvPr/>
        </p:nvSpPr>
        <p:spPr>
          <a:xfrm>
            <a:off x="612648" y="1508760"/>
            <a:ext cx="5394960" cy="850392"/>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Hexagon 68"/>
          <p:cNvSpPr/>
          <p:nvPr/>
        </p:nvSpPr>
        <p:spPr>
          <a:xfrm>
            <a:off x="795528" y="1705356"/>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1</a:t>
            </a:r>
          </a:p>
        </p:txBody>
      </p:sp>
      <p:sp>
        <p:nvSpPr>
          <p:cNvPr id="70" name="TextBox 69"/>
          <p:cNvSpPr txBox="1"/>
          <p:nvPr/>
        </p:nvSpPr>
        <p:spPr>
          <a:xfrm>
            <a:off x="1481328" y="1508760"/>
            <a:ext cx="4343400" cy="850392"/>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A validated SOLID instrument over real agent pull requests, all five principles</a:t>
            </a:r>
          </a:p>
        </p:txBody>
      </p:sp>
      <p:sp>
        <p:nvSpPr>
          <p:cNvPr id="71" name="Rounded Rectangle 70"/>
          <p:cNvSpPr/>
          <p:nvPr/>
        </p:nvSpPr>
        <p:spPr>
          <a:xfrm>
            <a:off x="612648" y="2450592"/>
            <a:ext cx="5394960" cy="850392"/>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Hexagon 71"/>
          <p:cNvSpPr/>
          <p:nvPr/>
        </p:nvSpPr>
        <p:spPr>
          <a:xfrm>
            <a:off x="795528" y="2647188"/>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2</a:t>
            </a:r>
          </a:p>
        </p:txBody>
      </p:sp>
      <p:sp>
        <p:nvSpPr>
          <p:cNvPr id="73" name="TextBox 72"/>
          <p:cNvSpPr txBox="1"/>
          <p:nvPr/>
        </p:nvSpPr>
        <p:spPr>
          <a:xfrm>
            <a:off x="1481328" y="2450592"/>
            <a:ext cx="4343400" cy="850392"/>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A corpus with merged, rejected and open requests</a:t>
            </a:r>
          </a:p>
        </p:txBody>
      </p:sp>
      <p:sp>
        <p:nvSpPr>
          <p:cNvPr id="74" name="Rounded Rectangle 73"/>
          <p:cNvSpPr/>
          <p:nvPr/>
        </p:nvSpPr>
        <p:spPr>
          <a:xfrm>
            <a:off x="612648" y="3392424"/>
            <a:ext cx="5394960" cy="850392"/>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Hexagon 74"/>
          <p:cNvSpPr/>
          <p:nvPr/>
        </p:nvSpPr>
        <p:spPr>
          <a:xfrm>
            <a:off x="795528" y="358902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3</a:t>
            </a:r>
          </a:p>
        </p:txBody>
      </p:sp>
      <p:sp>
        <p:nvSpPr>
          <p:cNvPr id="76" name="TextBox 75"/>
          <p:cNvSpPr txBox="1"/>
          <p:nvPr/>
        </p:nvSpPr>
        <p:spPr>
          <a:xfrm>
            <a:off x="1481328" y="3392424"/>
            <a:ext cx="4343400" cy="850392"/>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A map of which principles a rule measures and which it only screens</a:t>
            </a:r>
          </a:p>
        </p:txBody>
      </p:sp>
      <p:sp>
        <p:nvSpPr>
          <p:cNvPr id="77" name="Rounded Rectangle 76"/>
          <p:cNvSpPr/>
          <p:nvPr/>
        </p:nvSpPr>
        <p:spPr>
          <a:xfrm>
            <a:off x="612648" y="4334256"/>
            <a:ext cx="5394960" cy="850392"/>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Hexagon 77"/>
          <p:cNvSpPr/>
          <p:nvPr/>
        </p:nvSpPr>
        <p:spPr>
          <a:xfrm>
            <a:off x="795528" y="4530852"/>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4</a:t>
            </a:r>
          </a:p>
        </p:txBody>
      </p:sp>
      <p:sp>
        <p:nvSpPr>
          <p:cNvPr id="79" name="TextBox 78"/>
          <p:cNvSpPr txBox="1"/>
          <p:nvPr/>
        </p:nvSpPr>
        <p:spPr>
          <a:xfrm>
            <a:off x="1481328" y="4334256"/>
            <a:ext cx="4343400" cy="850392"/>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Evidence in two languages on where design risk sits</a:t>
            </a:r>
          </a:p>
        </p:txBody>
      </p:sp>
      <p:sp>
        <p:nvSpPr>
          <p:cNvPr id="80" name="Rounded Rectangle 79"/>
          <p:cNvSpPr/>
          <p:nvPr/>
        </p:nvSpPr>
        <p:spPr>
          <a:xfrm>
            <a:off x="612648" y="5276088"/>
            <a:ext cx="5394960" cy="850392"/>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Hexagon 80"/>
          <p:cNvSpPr/>
          <p:nvPr/>
        </p:nvSpPr>
        <p:spPr>
          <a:xfrm>
            <a:off x="795528" y="5472684"/>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5</a:t>
            </a:r>
          </a:p>
        </p:txBody>
      </p:sp>
      <p:sp>
        <p:nvSpPr>
          <p:cNvPr id="82" name="TextBox 81"/>
          <p:cNvSpPr txBox="1"/>
          <p:nvPr/>
        </p:nvSpPr>
        <p:spPr>
          <a:xfrm>
            <a:off x="1481328" y="5276088"/>
            <a:ext cx="4343400" cy="850392"/>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A replication with the same agents in a second language</a:t>
            </a:r>
          </a:p>
        </p:txBody>
      </p:sp>
      <p:sp>
        <p:nvSpPr>
          <p:cNvPr id="83" name="Rounded Rectangle 82"/>
          <p:cNvSpPr/>
          <p:nvPr/>
        </p:nvSpPr>
        <p:spPr>
          <a:xfrm>
            <a:off x="6190488" y="914400"/>
            <a:ext cx="5394960" cy="457200"/>
          </a:xfrm>
          <a:prstGeom prst="roundRect">
            <a:avLst>
              <a:gd name="adj" fmla="val 15000"/>
            </a:avLst>
          </a:prstGeom>
          <a:solidFill>
            <a:srgbClr val="3449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6373368" y="914400"/>
            <a:ext cx="5029200" cy="457200"/>
          </a:xfrm>
          <a:prstGeom prst="rect">
            <a:avLst/>
          </a:prstGeom>
          <a:noFill/>
        </p:spPr>
        <p:txBody>
          <a:bodyPr wrap="square" lIns="45720" tIns="27432" rIns="45720" bIns="27432" anchor="ctr">
            <a:spAutoFit/>
          </a:bodyPr>
          <a:lstStyle/>
          <a:p>
            <a:pPr algn="l">
              <a:spcAft>
                <a:spcPts val="0"/>
              </a:spcAft>
            </a:pPr>
            <a:r>
              <a:rPr sz="1600" b="1" i="0">
                <a:solidFill>
                  <a:srgbClr val="FFFFFF"/>
                </a:solidFill>
                <a:latin typeface="Arial"/>
              </a:rPr>
              <a:t>For a review check</a:t>
            </a:r>
          </a:p>
        </p:txBody>
      </p:sp>
      <p:sp>
        <p:nvSpPr>
          <p:cNvPr id="85" name="Rounded Rectangle 84"/>
          <p:cNvSpPr/>
          <p:nvPr/>
        </p:nvSpPr>
        <p:spPr>
          <a:xfrm>
            <a:off x="6190488" y="1508760"/>
            <a:ext cx="5394960" cy="850392"/>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Hexagon 85"/>
          <p:cNvSpPr/>
          <p:nvPr/>
        </p:nvSpPr>
        <p:spPr>
          <a:xfrm>
            <a:off x="6373368" y="1705356"/>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1</a:t>
            </a:r>
          </a:p>
        </p:txBody>
      </p:sp>
      <p:sp>
        <p:nvSpPr>
          <p:cNvPr id="87" name="TextBox 86"/>
          <p:cNvSpPr txBox="1"/>
          <p:nvPr/>
        </p:nvSpPr>
        <p:spPr>
          <a:xfrm>
            <a:off x="7059168" y="1508760"/>
            <a:ext cx="4343400" cy="850392"/>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Add refused bequest: 64/64 in Java, 6/7 in Python</a:t>
            </a:r>
          </a:p>
        </p:txBody>
      </p:sp>
      <p:sp>
        <p:nvSpPr>
          <p:cNvPr id="88" name="Rounded Rectangle 87"/>
          <p:cNvSpPr/>
          <p:nvPr/>
        </p:nvSpPr>
        <p:spPr>
          <a:xfrm>
            <a:off x="6190488" y="2450592"/>
            <a:ext cx="5394960" cy="850392"/>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Hexagon 88"/>
          <p:cNvSpPr/>
          <p:nvPr/>
        </p:nvSpPr>
        <p:spPr>
          <a:xfrm>
            <a:off x="6373368" y="2647188"/>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2</a:t>
            </a:r>
          </a:p>
        </p:txBody>
      </p:sp>
      <p:sp>
        <p:nvSpPr>
          <p:cNvPr id="90" name="TextBox 89"/>
          <p:cNvSpPr txBox="1"/>
          <p:nvPr/>
        </p:nvSpPr>
        <p:spPr>
          <a:xfrm>
            <a:off x="7059168" y="2450592"/>
            <a:ext cx="4343400" cy="850392"/>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In dynamic languages, also check that an override still accepts the base’s calls</a:t>
            </a:r>
          </a:p>
        </p:txBody>
      </p:sp>
      <p:sp>
        <p:nvSpPr>
          <p:cNvPr id="91" name="Rounded Rectangle 90"/>
          <p:cNvSpPr/>
          <p:nvPr/>
        </p:nvSpPr>
        <p:spPr>
          <a:xfrm>
            <a:off x="6190488" y="3392424"/>
            <a:ext cx="5394960" cy="850392"/>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Hexagon 91"/>
          <p:cNvSpPr/>
          <p:nvPr/>
        </p:nvSpPr>
        <p:spPr>
          <a:xfrm>
            <a:off x="6373368" y="358902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3</a:t>
            </a:r>
          </a:p>
        </p:txBody>
      </p:sp>
      <p:sp>
        <p:nvSpPr>
          <p:cNvPr id="93" name="TextBox 92"/>
          <p:cNvSpPr txBox="1"/>
          <p:nvPr/>
        </p:nvSpPr>
        <p:spPr>
          <a:xfrm>
            <a:off x="7059168" y="3392424"/>
            <a:ext cx="4343400" cy="850392"/>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Do not rely on interface-width thresholds</a:t>
            </a:r>
          </a:p>
        </p:txBody>
      </p:sp>
      <p:sp>
        <p:nvSpPr>
          <p:cNvPr id="94" name="Rounded Rectangle 93"/>
          <p:cNvSpPr/>
          <p:nvPr/>
        </p:nvSpPr>
        <p:spPr>
          <a:xfrm>
            <a:off x="6190488" y="4334256"/>
            <a:ext cx="5394960" cy="850392"/>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Hexagon 94"/>
          <p:cNvSpPr/>
          <p:nvPr/>
        </p:nvSpPr>
        <p:spPr>
          <a:xfrm>
            <a:off x="6373368" y="4530852"/>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4</a:t>
            </a:r>
          </a:p>
        </p:txBody>
      </p:sp>
      <p:sp>
        <p:nvSpPr>
          <p:cNvPr id="96" name="TextBox 95"/>
          <p:cNvSpPr txBox="1"/>
          <p:nvPr/>
        </p:nvSpPr>
        <p:spPr>
          <a:xfrm>
            <a:off x="7059168" y="4334256"/>
            <a:ext cx="4343400" cy="850392"/>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Treat SRP and OCP flags as prompts for discussion, not as blockers</a:t>
            </a:r>
          </a:p>
        </p:txBody>
      </p:sp>
      <p:sp>
        <p:nvSpPr>
          <p:cNvPr id="97" name="Rounded Rectangle 96"/>
          <p:cNvSpPr/>
          <p:nvPr/>
        </p:nvSpPr>
        <p:spPr>
          <a:xfrm>
            <a:off x="6190488" y="5276088"/>
            <a:ext cx="5394960" cy="850392"/>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Hexagon 97"/>
          <p:cNvSpPr/>
          <p:nvPr/>
        </p:nvSpPr>
        <p:spPr>
          <a:xfrm>
            <a:off x="6373368" y="5472684"/>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5</a:t>
            </a:r>
          </a:p>
        </p:txBody>
      </p:sp>
      <p:sp>
        <p:nvSpPr>
          <p:cNvPr id="99" name="TextBox 98"/>
          <p:cNvSpPr txBox="1"/>
          <p:nvPr/>
        </p:nvSpPr>
        <p:spPr>
          <a:xfrm>
            <a:off x="7059168" y="5276088"/>
            <a:ext cx="4343400" cy="850392"/>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Structural checks cannot see relation-level damage: that needs repository history</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7</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Findings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Limitations</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56</a:t>
            </a:r>
          </a:p>
        </p:txBody>
      </p:sp>
      <p:sp>
        <p:nvSpPr>
          <p:cNvPr id="66" name="Rounded Rectangle 65"/>
          <p:cNvSpPr/>
          <p:nvPr/>
        </p:nvSpPr>
        <p:spPr>
          <a:xfrm>
            <a:off x="612648" y="914400"/>
            <a:ext cx="5394960" cy="1266444"/>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Hexagon 66"/>
          <p:cNvSpPr/>
          <p:nvPr/>
        </p:nvSpPr>
        <p:spPr>
          <a:xfrm>
            <a:off x="795528" y="1319022"/>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1</a:t>
            </a:r>
          </a:p>
        </p:txBody>
      </p:sp>
      <p:sp>
        <p:nvSpPr>
          <p:cNvPr id="68" name="TextBox 67"/>
          <p:cNvSpPr txBox="1"/>
          <p:nvPr/>
        </p:nvSpPr>
        <p:spPr>
          <a:xfrm>
            <a:off x="1481328" y="914400"/>
            <a:ext cx="4343400" cy="1266444"/>
          </a:xfrm>
          <a:prstGeom prst="rect">
            <a:avLst/>
          </a:prstGeom>
          <a:noFill/>
        </p:spPr>
        <p:txBody>
          <a:bodyPr wrap="square" lIns="36576" tIns="36576" rIns="36576" bIns="36576" anchor="ctr">
            <a:spAutoFit/>
          </a:bodyPr>
          <a:lstStyle/>
          <a:p>
            <a:pPr algn="l">
              <a:spcAft>
                <a:spcPts val="300"/>
              </a:spcAft>
            </a:pPr>
            <a:r>
              <a:rPr sz="1550" b="0" i="0">
                <a:solidFill>
                  <a:srgbClr val="2B3440"/>
                </a:solidFill>
                <a:latin typeface="Calibri"/>
              </a:rPr>
              <a:t>SOLID adherence is not measured design quality or cost; nothing here observes an outcome</a:t>
            </a:r>
          </a:p>
        </p:txBody>
      </p:sp>
      <p:sp>
        <p:nvSpPr>
          <p:cNvPr id="69" name="Rounded Rectangle 68"/>
          <p:cNvSpPr/>
          <p:nvPr/>
        </p:nvSpPr>
        <p:spPr>
          <a:xfrm>
            <a:off x="612648" y="2290572"/>
            <a:ext cx="5394960" cy="1266444"/>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Hexagon 69"/>
          <p:cNvSpPr/>
          <p:nvPr/>
        </p:nvSpPr>
        <p:spPr>
          <a:xfrm>
            <a:off x="795528" y="2695194"/>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2</a:t>
            </a:r>
          </a:p>
        </p:txBody>
      </p:sp>
      <p:sp>
        <p:nvSpPr>
          <p:cNvPr id="71" name="TextBox 70"/>
          <p:cNvSpPr txBox="1"/>
          <p:nvPr/>
        </p:nvSpPr>
        <p:spPr>
          <a:xfrm>
            <a:off x="1481328" y="2290572"/>
            <a:ext cx="4343400" cy="1266444"/>
          </a:xfrm>
          <a:prstGeom prst="rect">
            <a:avLst/>
          </a:prstGeom>
          <a:noFill/>
        </p:spPr>
        <p:txBody>
          <a:bodyPr wrap="square" lIns="36576" tIns="36576" rIns="36576" bIns="36576" anchor="ctr">
            <a:spAutoFit/>
          </a:bodyPr>
          <a:lstStyle/>
          <a:p>
            <a:pPr algn="l">
              <a:spcAft>
                <a:spcPts val="300"/>
              </a:spcAft>
            </a:pPr>
            <a:r>
              <a:rPr sz="1550" b="0" i="0">
                <a:solidFill>
                  <a:srgbClr val="2B3440"/>
                </a:solidFill>
                <a:latin typeface="Calibri"/>
              </a:rPr>
              <a:t>Symbol resolution is incomplete, so Liskov and Interface Segregation rates are lower bounds</a:t>
            </a:r>
          </a:p>
        </p:txBody>
      </p:sp>
      <p:sp>
        <p:nvSpPr>
          <p:cNvPr id="72" name="Rounded Rectangle 71"/>
          <p:cNvSpPr/>
          <p:nvPr/>
        </p:nvSpPr>
        <p:spPr>
          <a:xfrm>
            <a:off x="612648" y="3666744"/>
            <a:ext cx="5394960" cy="1266444"/>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Hexagon 72"/>
          <p:cNvSpPr/>
          <p:nvPr/>
        </p:nvSpPr>
        <p:spPr>
          <a:xfrm>
            <a:off x="795528" y="4071366"/>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3</a:t>
            </a:r>
          </a:p>
        </p:txBody>
      </p:sp>
      <p:sp>
        <p:nvSpPr>
          <p:cNvPr id="74" name="TextBox 73"/>
          <p:cNvSpPr txBox="1"/>
          <p:nvPr/>
        </p:nvSpPr>
        <p:spPr>
          <a:xfrm>
            <a:off x="1481328" y="3666744"/>
            <a:ext cx="4343400" cy="1266444"/>
          </a:xfrm>
          <a:prstGeom prst="rect">
            <a:avLst/>
          </a:prstGeom>
          <a:noFill/>
        </p:spPr>
        <p:txBody>
          <a:bodyPr wrap="square" lIns="36576" tIns="36576" rIns="36576" bIns="36576" anchor="ctr">
            <a:spAutoFit/>
          </a:bodyPr>
          <a:lstStyle/>
          <a:p>
            <a:pPr algn="l">
              <a:spcAft>
                <a:spcPts val="300"/>
              </a:spcAft>
            </a:pPr>
            <a:r>
              <a:rPr sz="1550" b="0" i="0">
                <a:solidFill>
                  <a:srgbClr val="2B3440"/>
                </a:solidFill>
                <a:latin typeface="Calibri"/>
              </a:rPr>
              <a:t>No tool corroborates OCP (κ 0.122); none exists for ISP or Python</a:t>
            </a:r>
          </a:p>
        </p:txBody>
      </p:sp>
      <p:sp>
        <p:nvSpPr>
          <p:cNvPr id="75" name="Rounded Rectangle 74"/>
          <p:cNvSpPr/>
          <p:nvPr/>
        </p:nvSpPr>
        <p:spPr>
          <a:xfrm>
            <a:off x="612648" y="5042916"/>
            <a:ext cx="5394960" cy="1266444"/>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Hexagon 75"/>
          <p:cNvSpPr/>
          <p:nvPr/>
        </p:nvSpPr>
        <p:spPr>
          <a:xfrm>
            <a:off x="795528" y="5447538"/>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4</a:t>
            </a:r>
          </a:p>
        </p:txBody>
      </p:sp>
      <p:sp>
        <p:nvSpPr>
          <p:cNvPr id="77" name="TextBox 76"/>
          <p:cNvSpPr txBox="1"/>
          <p:nvPr/>
        </p:nvSpPr>
        <p:spPr>
          <a:xfrm>
            <a:off x="1481328" y="5042916"/>
            <a:ext cx="4343400" cy="1266444"/>
          </a:xfrm>
          <a:prstGeom prst="rect">
            <a:avLst/>
          </a:prstGeom>
          <a:noFill/>
        </p:spPr>
        <p:txBody>
          <a:bodyPr wrap="square" lIns="36576" tIns="36576" rIns="36576" bIns="36576" anchor="ctr">
            <a:spAutoFit/>
          </a:bodyPr>
          <a:lstStyle/>
          <a:p>
            <a:pPr algn="l">
              <a:spcAft>
                <a:spcPts val="300"/>
              </a:spcAft>
            </a:pPr>
            <a:r>
              <a:rPr sz="1550" b="0" i="0">
                <a:solidFill>
                  <a:srgbClr val="2B3440"/>
                </a:solidFill>
                <a:latin typeface="Calibri"/>
              </a:rPr>
              <a:t>Agents chose their own tasks: these are associations, not causes</a:t>
            </a:r>
          </a:p>
        </p:txBody>
      </p:sp>
      <p:sp>
        <p:nvSpPr>
          <p:cNvPr id="78" name="Rounded Rectangle 77"/>
          <p:cNvSpPr/>
          <p:nvPr/>
        </p:nvSpPr>
        <p:spPr>
          <a:xfrm>
            <a:off x="6190488" y="914400"/>
            <a:ext cx="5394960" cy="99121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Hexagon 78"/>
          <p:cNvSpPr/>
          <p:nvPr/>
        </p:nvSpPr>
        <p:spPr>
          <a:xfrm>
            <a:off x="6373368" y="1181405"/>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5</a:t>
            </a:r>
          </a:p>
        </p:txBody>
      </p:sp>
      <p:sp>
        <p:nvSpPr>
          <p:cNvPr id="80" name="TextBox 79"/>
          <p:cNvSpPr txBox="1"/>
          <p:nvPr/>
        </p:nvSpPr>
        <p:spPr>
          <a:xfrm>
            <a:off x="7059168" y="914400"/>
            <a:ext cx="4343400" cy="991210"/>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Few reviewed rejections (171 Java, 196 Python)</a:t>
            </a:r>
          </a:p>
        </p:txBody>
      </p:sp>
      <p:sp>
        <p:nvSpPr>
          <p:cNvPr id="81" name="Rounded Rectangle 80"/>
          <p:cNvSpPr/>
          <p:nvPr/>
        </p:nvSpPr>
        <p:spPr>
          <a:xfrm>
            <a:off x="6190488" y="2015338"/>
            <a:ext cx="5394960" cy="99121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Hexagon 81"/>
          <p:cNvSpPr/>
          <p:nvPr/>
        </p:nvSpPr>
        <p:spPr>
          <a:xfrm>
            <a:off x="6373368" y="2282342"/>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6</a:t>
            </a:r>
          </a:p>
        </p:txBody>
      </p:sp>
      <p:sp>
        <p:nvSpPr>
          <p:cNvPr id="83" name="TextBox 82"/>
          <p:cNvSpPr txBox="1"/>
          <p:nvPr/>
        </p:nvSpPr>
        <p:spPr>
          <a:xfrm>
            <a:off x="7059168" y="2015338"/>
            <a:ext cx="4343400" cy="991210"/>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One snapshot per pull request: slow erosion is invisible</a:t>
            </a:r>
          </a:p>
        </p:txBody>
      </p:sp>
      <p:sp>
        <p:nvSpPr>
          <p:cNvPr id="84" name="Rounded Rectangle 83"/>
          <p:cNvSpPr/>
          <p:nvPr/>
        </p:nvSpPr>
        <p:spPr>
          <a:xfrm>
            <a:off x="6190488" y="3116275"/>
            <a:ext cx="5394960" cy="99121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Hexagon 84"/>
          <p:cNvSpPr/>
          <p:nvPr/>
        </p:nvSpPr>
        <p:spPr>
          <a:xfrm>
            <a:off x="6373368" y="338328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7</a:t>
            </a:r>
          </a:p>
        </p:txBody>
      </p:sp>
      <p:sp>
        <p:nvSpPr>
          <p:cNvPr id="86" name="TextBox 85"/>
          <p:cNvSpPr txBox="1"/>
          <p:nvPr/>
        </p:nvSpPr>
        <p:spPr>
          <a:xfrm>
            <a:off x="7059168" y="3116275"/>
            <a:ext cx="4343400" cy="991210"/>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Both corpora come from one dataset; 7.0% of Python source is gone</a:t>
            </a:r>
          </a:p>
        </p:txBody>
      </p:sp>
      <p:sp>
        <p:nvSpPr>
          <p:cNvPr id="87" name="Rounded Rectangle 86"/>
          <p:cNvSpPr/>
          <p:nvPr/>
        </p:nvSpPr>
        <p:spPr>
          <a:xfrm>
            <a:off x="6190488" y="4217213"/>
            <a:ext cx="5394960" cy="99121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Hexagon 87"/>
          <p:cNvSpPr/>
          <p:nvPr/>
        </p:nvSpPr>
        <p:spPr>
          <a:xfrm>
            <a:off x="6373368" y="4484218"/>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8</a:t>
            </a:r>
          </a:p>
        </p:txBody>
      </p:sp>
      <p:sp>
        <p:nvSpPr>
          <p:cNvPr id="89" name="TextBox 88"/>
          <p:cNvSpPr txBox="1"/>
          <p:nvPr/>
        </p:nvSpPr>
        <p:spPr>
          <a:xfrm>
            <a:off x="7059168" y="4217213"/>
            <a:ext cx="4343400" cy="991210"/>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Small counts for the relation-level principles, so their intervals are wide</a:t>
            </a:r>
          </a:p>
        </p:txBody>
      </p:sp>
      <p:sp>
        <p:nvSpPr>
          <p:cNvPr id="90" name="Rounded Rectangle 89"/>
          <p:cNvSpPr/>
          <p:nvPr/>
        </p:nvSpPr>
        <p:spPr>
          <a:xfrm>
            <a:off x="6190488" y="5318150"/>
            <a:ext cx="5394960" cy="99121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Hexagon 90"/>
          <p:cNvSpPr/>
          <p:nvPr/>
        </p:nvSpPr>
        <p:spPr>
          <a:xfrm>
            <a:off x="6373368" y="5585155"/>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9</a:t>
            </a:r>
          </a:p>
        </p:txBody>
      </p:sp>
      <p:sp>
        <p:nvSpPr>
          <p:cNvPr id="92" name="TextBox 91"/>
          <p:cNvSpPr txBox="1"/>
          <p:nvPr/>
        </p:nvSpPr>
        <p:spPr>
          <a:xfrm>
            <a:off x="7059168" y="5318150"/>
            <a:ext cx="4343400" cy="991210"/>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Python Interface Segregation is defined differently, so raw rates are not comparable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Part 7</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Findings</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Conclusion and future work</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57</a:t>
            </a:r>
          </a:p>
        </p:txBody>
      </p:sp>
      <p:sp>
        <p:nvSpPr>
          <p:cNvPr id="66" name="Rounded Rectangle 65"/>
          <p:cNvSpPr/>
          <p:nvPr/>
        </p:nvSpPr>
        <p:spPr>
          <a:xfrm>
            <a:off x="612648" y="914400"/>
            <a:ext cx="10972800" cy="128016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Hexagon 66"/>
          <p:cNvSpPr/>
          <p:nvPr/>
        </p:nvSpPr>
        <p:spPr>
          <a:xfrm>
            <a:off x="813816" y="141732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1252728" y="914400"/>
            <a:ext cx="10149840" cy="1280160"/>
          </a:xfrm>
          <a:prstGeom prst="rect">
            <a:avLst/>
          </a:prstGeom>
          <a:noFill/>
        </p:spPr>
        <p:txBody>
          <a:bodyPr wrap="square" lIns="45720" rIns="45720" anchor="ctr">
            <a:spAutoFit/>
          </a:bodyPr>
          <a:lstStyle/>
          <a:p>
            <a:pPr algn="l">
              <a:spcAft>
                <a:spcPts val="0"/>
              </a:spcAft>
            </a:pPr>
            <a:r>
              <a:rPr sz="1550" b="1" i="0">
                <a:solidFill>
                  <a:srgbClr val="FFFFFF"/>
                </a:solidFill>
                <a:latin typeface="Calibri"/>
              </a:rPr>
              <a:t>Most design problems in the code these agents touch were there before them, and how much an agent changes matters more than which agent it is.</a:t>
            </a:r>
            <a:r>
              <a:rPr sz="1550" b="0" i="0">
                <a:solidFill>
                  <a:srgbClr val="FFFFFF"/>
                </a:solidFill>
                <a:latin typeface="Calibri"/>
              </a:rPr>
              <a:t> Both results hold in Java and in Python.</a:t>
            </a:r>
          </a:p>
        </p:txBody>
      </p:sp>
      <p:sp>
        <p:nvSpPr>
          <p:cNvPr id="69" name="TextBox 68"/>
          <p:cNvSpPr txBox="1"/>
          <p:nvPr/>
        </p:nvSpPr>
        <p:spPr>
          <a:xfrm>
            <a:off x="612648" y="2395728"/>
            <a:ext cx="10972800" cy="274320"/>
          </a:xfrm>
          <a:prstGeom prst="rect">
            <a:avLst/>
          </a:prstGeom>
          <a:noFill/>
        </p:spPr>
        <p:txBody>
          <a:bodyPr wrap="square" lIns="18288" tIns="18288" rIns="18288" bIns="18288" anchor="t">
            <a:spAutoFit/>
          </a:bodyPr>
          <a:lstStyle/>
          <a:p>
            <a:pPr algn="l">
              <a:spcAft>
                <a:spcPts val="0"/>
              </a:spcAft>
            </a:pPr>
            <a:r>
              <a:rPr sz="1200" b="1" i="0">
                <a:solidFill>
                  <a:srgbClr val="34495E"/>
                </a:solidFill>
                <a:latin typeface="Arial"/>
              </a:rPr>
              <a:t>NEXT STEPS</a:t>
            </a:r>
          </a:p>
        </p:txBody>
      </p:sp>
      <p:sp>
        <p:nvSpPr>
          <p:cNvPr id="70" name="Rounded Rectangle 69"/>
          <p:cNvSpPr/>
          <p:nvPr/>
        </p:nvSpPr>
        <p:spPr>
          <a:xfrm>
            <a:off x="612648" y="2743200"/>
            <a:ext cx="5394960" cy="100584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Hexagon 70"/>
          <p:cNvSpPr/>
          <p:nvPr/>
        </p:nvSpPr>
        <p:spPr>
          <a:xfrm>
            <a:off x="795528" y="301752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1</a:t>
            </a:r>
          </a:p>
        </p:txBody>
      </p:sp>
      <p:sp>
        <p:nvSpPr>
          <p:cNvPr id="72" name="TextBox 71"/>
          <p:cNvSpPr txBox="1"/>
          <p:nvPr/>
        </p:nvSpPr>
        <p:spPr>
          <a:xfrm>
            <a:off x="1481328" y="2743200"/>
            <a:ext cx="4343400" cy="1005840"/>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Recognise specification-fixed sets for Open/Closed, and a churn signal for what is not closed</a:t>
            </a:r>
          </a:p>
        </p:txBody>
      </p:sp>
      <p:sp>
        <p:nvSpPr>
          <p:cNvPr id="73" name="Rounded Rectangle 72"/>
          <p:cNvSpPr/>
          <p:nvPr/>
        </p:nvSpPr>
        <p:spPr>
          <a:xfrm>
            <a:off x="612648" y="3840480"/>
            <a:ext cx="5394960" cy="100584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Hexagon 73"/>
          <p:cNvSpPr/>
          <p:nvPr/>
        </p:nvSpPr>
        <p:spPr>
          <a:xfrm>
            <a:off x="795528" y="411480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2</a:t>
            </a:r>
          </a:p>
        </p:txBody>
      </p:sp>
      <p:sp>
        <p:nvSpPr>
          <p:cNvPr id="75" name="TextBox 74"/>
          <p:cNvSpPr txBox="1"/>
          <p:nvPr/>
        </p:nvSpPr>
        <p:spPr>
          <a:xfrm>
            <a:off x="1481328" y="3840480"/>
            <a:ext cx="4343400" cy="1005840"/>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An Open/Closed proxy that agrees with published smells (κ=0.122 today)</a:t>
            </a:r>
          </a:p>
        </p:txBody>
      </p:sp>
      <p:sp>
        <p:nvSpPr>
          <p:cNvPr id="76" name="Rounded Rectangle 75"/>
          <p:cNvSpPr/>
          <p:nvPr/>
        </p:nvSpPr>
        <p:spPr>
          <a:xfrm>
            <a:off x="612648" y="4937760"/>
            <a:ext cx="5394960" cy="100584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Hexagon 76"/>
          <p:cNvSpPr/>
          <p:nvPr/>
        </p:nvSpPr>
        <p:spPr>
          <a:xfrm>
            <a:off x="795528" y="521208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3</a:t>
            </a:r>
          </a:p>
        </p:txBody>
      </p:sp>
      <p:sp>
        <p:nvSpPr>
          <p:cNvPr id="78" name="TextBox 77"/>
          <p:cNvSpPr txBox="1"/>
          <p:nvPr/>
        </p:nvSpPr>
        <p:spPr>
          <a:xfrm>
            <a:off x="1481328" y="4937760"/>
            <a:ext cx="4343400" cy="1005840"/>
          </a:xfrm>
          <a:prstGeom prst="rect">
            <a:avLst/>
          </a:prstGeom>
          <a:noFill/>
        </p:spPr>
        <p:txBody>
          <a:bodyPr wrap="square" lIns="36576" tIns="36576" rIns="36576" bIns="36576" anchor="ctr">
            <a:spAutoFit/>
          </a:bodyPr>
          <a:lstStyle/>
          <a:p>
            <a:pPr algn="l">
              <a:spcAft>
                <a:spcPts val="300"/>
              </a:spcAft>
            </a:pPr>
            <a:r>
              <a:rPr sz="1500" b="0" i="0">
                <a:solidFill>
                  <a:srgbClr val="2B3440"/>
                </a:solidFill>
                <a:latin typeface="Calibri"/>
              </a:rPr>
              <a:t>A framework-aware responsibility screen for Python</a:t>
            </a:r>
          </a:p>
        </p:txBody>
      </p:sp>
      <p:sp>
        <p:nvSpPr>
          <p:cNvPr id="79" name="Rounded Rectangle 78"/>
          <p:cNvSpPr/>
          <p:nvPr/>
        </p:nvSpPr>
        <p:spPr>
          <a:xfrm>
            <a:off x="6190488" y="2743200"/>
            <a:ext cx="5394960" cy="7315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Hexagon 79"/>
          <p:cNvSpPr/>
          <p:nvPr/>
        </p:nvSpPr>
        <p:spPr>
          <a:xfrm>
            <a:off x="6373368" y="288036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4</a:t>
            </a:r>
          </a:p>
        </p:txBody>
      </p:sp>
      <p:sp>
        <p:nvSpPr>
          <p:cNvPr id="81" name="TextBox 80"/>
          <p:cNvSpPr txBox="1"/>
          <p:nvPr/>
        </p:nvSpPr>
        <p:spPr>
          <a:xfrm>
            <a:off x="7059168" y="2743200"/>
            <a:ext cx="4343400" cy="731520"/>
          </a:xfrm>
          <a:prstGeom prst="rect">
            <a:avLst/>
          </a:prstGeom>
          <a:noFill/>
        </p:spPr>
        <p:txBody>
          <a:bodyPr wrap="square" lIns="36576" tIns="36576" rIns="36576" bIns="36576" anchor="ctr">
            <a:spAutoFit/>
          </a:bodyPr>
          <a:lstStyle/>
          <a:p>
            <a:pPr algn="l">
              <a:spcAft>
                <a:spcPts val="300"/>
              </a:spcAft>
            </a:pPr>
            <a:r>
              <a:rPr sz="1450" b="0" i="0">
                <a:solidFill>
                  <a:srgbClr val="2B3440"/>
                </a:solidFill>
                <a:latin typeface="Calibri"/>
              </a:rPr>
              <a:t>Narrow recall by sampling unflagged entities</a:t>
            </a:r>
          </a:p>
        </p:txBody>
      </p:sp>
      <p:sp>
        <p:nvSpPr>
          <p:cNvPr id="82" name="Rounded Rectangle 81"/>
          <p:cNvSpPr/>
          <p:nvPr/>
        </p:nvSpPr>
        <p:spPr>
          <a:xfrm>
            <a:off x="6190488" y="3566160"/>
            <a:ext cx="5394960" cy="7315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Hexagon 82"/>
          <p:cNvSpPr/>
          <p:nvPr/>
        </p:nvSpPr>
        <p:spPr>
          <a:xfrm>
            <a:off x="6373368" y="370332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5</a:t>
            </a:r>
          </a:p>
        </p:txBody>
      </p:sp>
      <p:sp>
        <p:nvSpPr>
          <p:cNvPr id="84" name="TextBox 83"/>
          <p:cNvSpPr txBox="1"/>
          <p:nvPr/>
        </p:nvSpPr>
        <p:spPr>
          <a:xfrm>
            <a:off x="7059168" y="3566160"/>
            <a:ext cx="4343400" cy="731520"/>
          </a:xfrm>
          <a:prstGeom prst="rect">
            <a:avLst/>
          </a:prstGeom>
          <a:noFill/>
        </p:spPr>
        <p:txBody>
          <a:bodyPr wrap="square" lIns="36576" tIns="36576" rIns="36576" bIns="36576" anchor="ctr">
            <a:spAutoFit/>
          </a:bodyPr>
          <a:lstStyle/>
          <a:p>
            <a:pPr algn="l">
              <a:spcAft>
                <a:spcPts val="300"/>
              </a:spcAft>
            </a:pPr>
            <a:r>
              <a:rPr sz="1450" b="0" i="0">
                <a:solidFill>
                  <a:srgbClr val="2B3440"/>
                </a:solidFill>
                <a:latin typeface="Calibri"/>
              </a:rPr>
              <a:t>Exclude test doubles from Interface Segregation implementers</a:t>
            </a:r>
          </a:p>
        </p:txBody>
      </p:sp>
      <p:sp>
        <p:nvSpPr>
          <p:cNvPr id="85" name="Rounded Rectangle 84"/>
          <p:cNvSpPr/>
          <p:nvPr/>
        </p:nvSpPr>
        <p:spPr>
          <a:xfrm>
            <a:off x="6190488" y="4389120"/>
            <a:ext cx="5394960" cy="7315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Hexagon 85"/>
          <p:cNvSpPr/>
          <p:nvPr/>
        </p:nvSpPr>
        <p:spPr>
          <a:xfrm>
            <a:off x="6373368" y="452628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6</a:t>
            </a:r>
          </a:p>
        </p:txBody>
      </p:sp>
      <p:sp>
        <p:nvSpPr>
          <p:cNvPr id="87" name="TextBox 86"/>
          <p:cNvSpPr txBox="1"/>
          <p:nvPr/>
        </p:nvSpPr>
        <p:spPr>
          <a:xfrm>
            <a:off x="7059168" y="4389120"/>
            <a:ext cx="4343400" cy="731520"/>
          </a:xfrm>
          <a:prstGeom prst="rect">
            <a:avLst/>
          </a:prstGeom>
          <a:noFill/>
        </p:spPr>
        <p:txBody>
          <a:bodyPr wrap="square" lIns="36576" tIns="36576" rIns="36576" bIns="36576" anchor="ctr">
            <a:spAutoFit/>
          </a:bodyPr>
          <a:lstStyle/>
          <a:p>
            <a:pPr algn="l">
              <a:spcAft>
                <a:spcPts val="300"/>
              </a:spcAft>
            </a:pPr>
            <a:r>
              <a:rPr sz="1450" b="0" i="0">
                <a:solidFill>
                  <a:srgbClr val="2B3440"/>
                </a:solidFill>
                <a:latin typeface="Calibri"/>
              </a:rPr>
              <a:t>A corpus with many reviewed rejections</a:t>
            </a:r>
          </a:p>
        </p:txBody>
      </p:sp>
      <p:sp>
        <p:nvSpPr>
          <p:cNvPr id="88" name="Rounded Rectangle 87"/>
          <p:cNvSpPr/>
          <p:nvPr/>
        </p:nvSpPr>
        <p:spPr>
          <a:xfrm>
            <a:off x="6190488" y="5212080"/>
            <a:ext cx="5394960" cy="7315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Hexagon 88"/>
          <p:cNvSpPr/>
          <p:nvPr/>
        </p:nvSpPr>
        <p:spPr>
          <a:xfrm>
            <a:off x="6373368" y="5349240"/>
            <a:ext cx="528066" cy="457200"/>
          </a:xfrm>
          <a:prstGeom prst="hexagon">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1" i="0">
                <a:solidFill>
                  <a:srgbClr val="FFFFFF"/>
                </a:solidFill>
                <a:latin typeface="Arial"/>
              </a:rPr>
              <a:t>7</a:t>
            </a:r>
          </a:p>
        </p:txBody>
      </p:sp>
      <p:sp>
        <p:nvSpPr>
          <p:cNvPr id="90" name="TextBox 89"/>
          <p:cNvSpPr txBox="1"/>
          <p:nvPr/>
        </p:nvSpPr>
        <p:spPr>
          <a:xfrm>
            <a:off x="7059168" y="5212080"/>
            <a:ext cx="4343400" cy="731520"/>
          </a:xfrm>
          <a:prstGeom prst="rect">
            <a:avLst/>
          </a:prstGeom>
          <a:noFill/>
        </p:spPr>
        <p:txBody>
          <a:bodyPr wrap="square" lIns="36576" tIns="36576" rIns="36576" bIns="36576" anchor="ctr">
            <a:spAutoFit/>
          </a:bodyPr>
          <a:lstStyle/>
          <a:p>
            <a:pPr algn="l">
              <a:spcAft>
                <a:spcPts val="300"/>
              </a:spcAft>
            </a:pPr>
            <a:r>
              <a:rPr sz="1450" b="0" i="0">
                <a:solidFill>
                  <a:srgbClr val="2B3440"/>
                </a:solidFill>
                <a:latin typeface="Calibri"/>
              </a:rPr>
              <a:t>Repository history as the unit of analysis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23093" y="1917661"/>
            <a:ext cx="12241360" cy="312366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p:cNvSpPr/>
          <p:nvPr/>
        </p:nvSpPr>
        <p:spPr>
          <a:xfrm>
            <a:off x="1" y="2061677"/>
            <a:ext cx="12218266" cy="2808312"/>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23092" y="1700808"/>
            <a:ext cx="12241359" cy="3601229"/>
          </a:xfrm>
          <a:prstGeom prst="rect">
            <a:avLst/>
          </a:prstGeom>
          <a:solidFill>
            <a:srgbClr val="202A36">
              <a:alpha val="1098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0" y="6741368"/>
            <a:ext cx="12195175" cy="116632"/>
          </a:xfrm>
          <a:prstGeom prst="rect">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19"/>
          <p:cNvSpPr txBox="1"/>
          <p:nvPr/>
        </p:nvSpPr>
        <p:spPr>
          <a:xfrm>
            <a:off x="1374711" y="2586804"/>
            <a:ext cx="9445752" cy="978729"/>
          </a:xfrm>
          <a:prstGeom prst="rect">
            <a:avLst/>
          </a:prstGeom>
          <a:noFill/>
        </p:spPr>
        <p:txBody>
          <a:bodyPr wrap="square" lIns="45720" tIns="27432" rIns="45720" bIns="27432" anchor="ctr">
            <a:spAutoFit/>
          </a:bodyPr>
          <a:lstStyle/>
          <a:p>
            <a:pPr algn="ctr">
              <a:spcAft>
                <a:spcPts val="0"/>
              </a:spcAft>
            </a:pPr>
            <a:r>
              <a:rPr lang="pl-PL" sz="6000" b="1" dirty="0">
                <a:solidFill>
                  <a:srgbClr val="202A36"/>
                </a:solidFill>
                <a:latin typeface="Arial"/>
              </a:rPr>
              <a:t>Dziękuję</a:t>
            </a:r>
            <a:endParaRPr sz="6000" b="1" i="0" dirty="0">
              <a:solidFill>
                <a:srgbClr val="202A36"/>
              </a:solidFill>
              <a:latin typeface="Arial"/>
            </a:endParaRPr>
          </a:p>
        </p:txBody>
      </p:sp>
      <p:sp>
        <p:nvSpPr>
          <p:cNvPr id="3" name="TextBox 2">
            <a:extLst>
              <a:ext uri="{FF2B5EF4-FFF2-40B4-BE49-F238E27FC236}">
                <a16:creationId xmlns:a16="http://schemas.microsoft.com/office/drawing/2014/main" id="{7C32676C-7F5C-8B9D-4582-34928EBB6C30}"/>
              </a:ext>
            </a:extLst>
          </p:cNvPr>
          <p:cNvSpPr txBox="1"/>
          <p:nvPr/>
        </p:nvSpPr>
        <p:spPr>
          <a:xfrm>
            <a:off x="1386258" y="3608363"/>
            <a:ext cx="9445752" cy="609398"/>
          </a:xfrm>
          <a:prstGeom prst="rect">
            <a:avLst/>
          </a:prstGeom>
          <a:noFill/>
        </p:spPr>
        <p:txBody>
          <a:bodyPr wrap="square" lIns="45720" tIns="27432" rIns="45720" bIns="27432" anchor="ctr">
            <a:spAutoFit/>
          </a:bodyPr>
          <a:lstStyle/>
          <a:p>
            <a:pPr algn="ctr">
              <a:spcAft>
                <a:spcPts val="0"/>
              </a:spcAft>
            </a:pPr>
            <a:r>
              <a:rPr lang="fr-TN" sz="3600" b="1" dirty="0" err="1">
                <a:solidFill>
                  <a:srgbClr val="202A36"/>
                </a:solidFill>
                <a:latin typeface="Arial"/>
              </a:rPr>
              <a:t>Thank</a:t>
            </a:r>
            <a:r>
              <a:rPr lang="fr-TN" sz="3600" b="1" dirty="0">
                <a:solidFill>
                  <a:srgbClr val="202A36"/>
                </a:solidFill>
                <a:latin typeface="Arial"/>
              </a:rPr>
              <a:t> </a:t>
            </a:r>
            <a:r>
              <a:rPr lang="fr-TN" sz="3600" b="1" dirty="0" err="1">
                <a:solidFill>
                  <a:srgbClr val="202A36"/>
                </a:solidFill>
                <a:latin typeface="Arial"/>
              </a:rPr>
              <a:t>you</a:t>
            </a:r>
            <a:endParaRPr sz="6000" b="1" i="0" dirty="0">
              <a:solidFill>
                <a:srgbClr val="202A36"/>
              </a:solidFill>
              <a:latin typeface="Arial"/>
            </a:endParaRPr>
          </a:p>
        </p:txBody>
      </p:sp>
      <p:sp>
        <p:nvSpPr>
          <p:cNvPr id="5" name="TextBox 4">
            <a:extLst>
              <a:ext uri="{FF2B5EF4-FFF2-40B4-BE49-F238E27FC236}">
                <a16:creationId xmlns:a16="http://schemas.microsoft.com/office/drawing/2014/main" id="{6FB4F9EE-AF0B-D9EE-E7FD-D071457F6739}"/>
              </a:ext>
            </a:extLst>
          </p:cNvPr>
          <p:cNvSpPr txBox="1"/>
          <p:nvPr/>
        </p:nvSpPr>
        <p:spPr>
          <a:xfrm>
            <a:off x="4648808" y="5764447"/>
            <a:ext cx="2897557" cy="369332"/>
          </a:xfrm>
          <a:prstGeom prst="rect">
            <a:avLst/>
          </a:prstGeom>
          <a:noFill/>
        </p:spPr>
        <p:txBody>
          <a:bodyPr wrap="square">
            <a:spAutoFit/>
          </a:bodyPr>
          <a:lstStyle/>
          <a:p>
            <a:pPr algn="ctr"/>
            <a:r>
              <a:rPr lang="en-US" dirty="0"/>
              <a:t>https://kiraieee.github.io/</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组合 54"/>
          <p:cNvGrpSpPr/>
          <p:nvPr/>
        </p:nvGrpSpPr>
        <p:grpSpPr>
          <a:xfrm>
            <a:off x="2052459" y="1419448"/>
            <a:ext cx="2036802" cy="2036802"/>
            <a:chOff x="8125599" y="1434035"/>
            <a:chExt cx="2036802" cy="2036802"/>
          </a:xfrm>
        </p:grpSpPr>
        <p:sp>
          <p:nvSpPr>
            <p:cNvPr id="56" name="椭圆 55"/>
            <p:cNvSpPr/>
            <p:nvPr/>
          </p:nvSpPr>
          <p:spPr>
            <a:xfrm>
              <a:off x="8125599" y="1434035"/>
              <a:ext cx="2036802" cy="2036802"/>
            </a:xfrm>
            <a:prstGeom prst="ellipse">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Freeform 206"/>
            <p:cNvSpPr>
              <a:spLocks noChangeAspect="1" noEditPoints="1"/>
            </p:cNvSpPr>
            <p:nvPr/>
          </p:nvSpPr>
          <p:spPr bwMode="auto">
            <a:xfrm>
              <a:off x="8691164" y="1871942"/>
              <a:ext cx="935653" cy="1131009"/>
            </a:xfrm>
            <a:custGeom>
              <a:avLst/>
              <a:gdLst>
                <a:gd name="T0" fmla="*/ 0 w 77"/>
                <a:gd name="T1" fmla="*/ 85 h 93"/>
                <a:gd name="T2" fmla="*/ 30 w 77"/>
                <a:gd name="T3" fmla="*/ 20 h 93"/>
                <a:gd name="T4" fmla="*/ 38 w 77"/>
                <a:gd name="T5" fmla="*/ 26 h 93"/>
                <a:gd name="T6" fmla="*/ 39 w 77"/>
                <a:gd name="T7" fmla="*/ 27 h 93"/>
                <a:gd name="T8" fmla="*/ 39 w 77"/>
                <a:gd name="T9" fmla="*/ 27 h 93"/>
                <a:gd name="T10" fmla="*/ 40 w 77"/>
                <a:gd name="T11" fmla="*/ 27 h 93"/>
                <a:gd name="T12" fmla="*/ 40 w 77"/>
                <a:gd name="T13" fmla="*/ 28 h 93"/>
                <a:gd name="T14" fmla="*/ 40 w 77"/>
                <a:gd name="T15" fmla="*/ 28 h 93"/>
                <a:gd name="T16" fmla="*/ 41 w 77"/>
                <a:gd name="T17" fmla="*/ 28 h 93"/>
                <a:gd name="T18" fmla="*/ 41 w 77"/>
                <a:gd name="T19" fmla="*/ 29 h 93"/>
                <a:gd name="T20" fmla="*/ 42 w 77"/>
                <a:gd name="T21" fmla="*/ 29 h 93"/>
                <a:gd name="T22" fmla="*/ 42 w 77"/>
                <a:gd name="T23" fmla="*/ 29 h 93"/>
                <a:gd name="T24" fmla="*/ 43 w 77"/>
                <a:gd name="T25" fmla="*/ 29 h 93"/>
                <a:gd name="T26" fmla="*/ 43 w 77"/>
                <a:gd name="T27" fmla="*/ 30 h 93"/>
                <a:gd name="T28" fmla="*/ 43 w 77"/>
                <a:gd name="T29" fmla="*/ 30 h 93"/>
                <a:gd name="T30" fmla="*/ 48 w 77"/>
                <a:gd name="T31" fmla="*/ 33 h 93"/>
                <a:gd name="T32" fmla="*/ 48 w 77"/>
                <a:gd name="T33" fmla="*/ 33 h 93"/>
                <a:gd name="T34" fmla="*/ 49 w 77"/>
                <a:gd name="T35" fmla="*/ 34 h 93"/>
                <a:gd name="T36" fmla="*/ 49 w 77"/>
                <a:gd name="T37" fmla="*/ 34 h 93"/>
                <a:gd name="T38" fmla="*/ 50 w 77"/>
                <a:gd name="T39" fmla="*/ 34 h 93"/>
                <a:gd name="T40" fmla="*/ 50 w 77"/>
                <a:gd name="T41" fmla="*/ 35 h 93"/>
                <a:gd name="T42" fmla="*/ 50 w 77"/>
                <a:gd name="T43" fmla="*/ 35 h 93"/>
                <a:gd name="T44" fmla="*/ 51 w 77"/>
                <a:gd name="T45" fmla="*/ 35 h 93"/>
                <a:gd name="T46" fmla="*/ 51 w 77"/>
                <a:gd name="T47" fmla="*/ 36 h 93"/>
                <a:gd name="T48" fmla="*/ 52 w 77"/>
                <a:gd name="T49" fmla="*/ 36 h 93"/>
                <a:gd name="T50" fmla="*/ 52 w 77"/>
                <a:gd name="T51" fmla="*/ 36 h 93"/>
                <a:gd name="T52" fmla="*/ 53 w 77"/>
                <a:gd name="T53" fmla="*/ 37 h 93"/>
                <a:gd name="T54" fmla="*/ 53 w 77"/>
                <a:gd name="T55" fmla="*/ 37 h 93"/>
                <a:gd name="T56" fmla="*/ 48 w 77"/>
                <a:gd name="T57" fmla="*/ 79 h 93"/>
                <a:gd name="T58" fmla="*/ 7 w 77"/>
                <a:gd name="T59" fmla="*/ 91 h 93"/>
                <a:gd name="T60" fmla="*/ 35 w 77"/>
                <a:gd name="T61" fmla="*/ 64 h 93"/>
                <a:gd name="T62" fmla="*/ 19 w 77"/>
                <a:gd name="T63" fmla="*/ 53 h 93"/>
                <a:gd name="T64" fmla="*/ 3 w 77"/>
                <a:gd name="T65" fmla="*/ 88 h 93"/>
                <a:gd name="T66" fmla="*/ 73 w 77"/>
                <a:gd name="T67" fmla="*/ 93 h 93"/>
                <a:gd name="T68" fmla="*/ 54 w 77"/>
                <a:gd name="T69" fmla="*/ 83 h 93"/>
                <a:gd name="T70" fmla="*/ 69 w 77"/>
                <a:gd name="T71" fmla="*/ 42 h 93"/>
                <a:gd name="T72" fmla="*/ 34 w 77"/>
                <a:gd name="T73" fmla="*/ 0 h 93"/>
                <a:gd name="T74" fmla="*/ 69 w 77"/>
                <a:gd name="T75" fmla="*/ 42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7" h="93">
                  <a:moveTo>
                    <a:pt x="3" y="88"/>
                  </a:moveTo>
                  <a:cubicBezTo>
                    <a:pt x="2" y="87"/>
                    <a:pt x="1" y="86"/>
                    <a:pt x="0" y="85"/>
                  </a:cubicBezTo>
                  <a:cubicBezTo>
                    <a:pt x="0" y="72"/>
                    <a:pt x="0" y="58"/>
                    <a:pt x="0" y="45"/>
                  </a:cubicBezTo>
                  <a:cubicBezTo>
                    <a:pt x="12" y="40"/>
                    <a:pt x="21" y="32"/>
                    <a:pt x="30" y="20"/>
                  </a:cubicBezTo>
                  <a:cubicBezTo>
                    <a:pt x="38" y="26"/>
                    <a:pt x="38" y="26"/>
                    <a:pt x="38" y="26"/>
                  </a:cubicBezTo>
                  <a:cubicBezTo>
                    <a:pt x="38" y="26"/>
                    <a:pt x="38" y="26"/>
                    <a:pt x="38" y="26"/>
                  </a:cubicBezTo>
                  <a:cubicBezTo>
                    <a:pt x="38" y="27"/>
                    <a:pt x="38" y="27"/>
                    <a:pt x="38" y="27"/>
                  </a:cubicBezTo>
                  <a:cubicBezTo>
                    <a:pt x="39" y="27"/>
                    <a:pt x="39" y="27"/>
                    <a:pt x="39" y="27"/>
                  </a:cubicBezTo>
                  <a:cubicBezTo>
                    <a:pt x="39" y="27"/>
                    <a:pt x="39" y="27"/>
                    <a:pt x="39" y="27"/>
                  </a:cubicBezTo>
                  <a:cubicBezTo>
                    <a:pt x="39" y="27"/>
                    <a:pt x="39" y="27"/>
                    <a:pt x="39" y="27"/>
                  </a:cubicBezTo>
                  <a:cubicBezTo>
                    <a:pt x="39" y="27"/>
                    <a:pt x="39" y="27"/>
                    <a:pt x="39" y="27"/>
                  </a:cubicBezTo>
                  <a:cubicBezTo>
                    <a:pt x="40" y="27"/>
                    <a:pt x="40" y="27"/>
                    <a:pt x="40" y="27"/>
                  </a:cubicBezTo>
                  <a:cubicBezTo>
                    <a:pt x="40" y="27"/>
                    <a:pt x="40" y="27"/>
                    <a:pt x="40" y="27"/>
                  </a:cubicBezTo>
                  <a:cubicBezTo>
                    <a:pt x="40" y="28"/>
                    <a:pt x="40" y="28"/>
                    <a:pt x="40" y="28"/>
                  </a:cubicBezTo>
                  <a:cubicBezTo>
                    <a:pt x="40" y="28"/>
                    <a:pt x="40" y="28"/>
                    <a:pt x="40" y="28"/>
                  </a:cubicBezTo>
                  <a:cubicBezTo>
                    <a:pt x="40" y="28"/>
                    <a:pt x="40" y="28"/>
                    <a:pt x="40" y="28"/>
                  </a:cubicBezTo>
                  <a:cubicBezTo>
                    <a:pt x="41" y="28"/>
                    <a:pt x="41" y="28"/>
                    <a:pt x="41" y="28"/>
                  </a:cubicBezTo>
                  <a:cubicBezTo>
                    <a:pt x="41" y="28"/>
                    <a:pt x="41" y="28"/>
                    <a:pt x="41" y="28"/>
                  </a:cubicBezTo>
                  <a:cubicBezTo>
                    <a:pt x="41" y="28"/>
                    <a:pt x="41" y="28"/>
                    <a:pt x="41" y="28"/>
                  </a:cubicBezTo>
                  <a:cubicBezTo>
                    <a:pt x="41" y="29"/>
                    <a:pt x="41" y="29"/>
                    <a:pt x="41" y="29"/>
                  </a:cubicBezTo>
                  <a:cubicBezTo>
                    <a:pt x="42" y="29"/>
                    <a:pt x="42" y="29"/>
                    <a:pt x="42" y="29"/>
                  </a:cubicBezTo>
                  <a:cubicBezTo>
                    <a:pt x="42" y="29"/>
                    <a:pt x="42" y="29"/>
                    <a:pt x="42" y="29"/>
                  </a:cubicBezTo>
                  <a:cubicBezTo>
                    <a:pt x="42" y="29"/>
                    <a:pt x="42" y="29"/>
                    <a:pt x="42" y="29"/>
                  </a:cubicBezTo>
                  <a:cubicBezTo>
                    <a:pt x="42" y="29"/>
                    <a:pt x="42" y="29"/>
                    <a:pt x="42" y="29"/>
                  </a:cubicBezTo>
                  <a:cubicBezTo>
                    <a:pt x="42" y="29"/>
                    <a:pt x="42" y="29"/>
                    <a:pt x="42" y="29"/>
                  </a:cubicBezTo>
                  <a:cubicBezTo>
                    <a:pt x="43" y="29"/>
                    <a:pt x="43" y="29"/>
                    <a:pt x="43" y="29"/>
                  </a:cubicBezTo>
                  <a:cubicBezTo>
                    <a:pt x="43" y="30"/>
                    <a:pt x="43" y="30"/>
                    <a:pt x="43" y="30"/>
                  </a:cubicBezTo>
                  <a:cubicBezTo>
                    <a:pt x="43" y="30"/>
                    <a:pt x="43" y="30"/>
                    <a:pt x="43" y="30"/>
                  </a:cubicBezTo>
                  <a:cubicBezTo>
                    <a:pt x="43" y="30"/>
                    <a:pt x="43" y="30"/>
                    <a:pt x="43" y="30"/>
                  </a:cubicBezTo>
                  <a:cubicBezTo>
                    <a:pt x="43" y="30"/>
                    <a:pt x="43" y="30"/>
                    <a:pt x="43" y="30"/>
                  </a:cubicBezTo>
                  <a:cubicBezTo>
                    <a:pt x="44" y="30"/>
                    <a:pt x="44" y="30"/>
                    <a:pt x="44" y="30"/>
                  </a:cubicBezTo>
                  <a:cubicBezTo>
                    <a:pt x="48" y="33"/>
                    <a:pt x="48" y="33"/>
                    <a:pt x="48" y="33"/>
                  </a:cubicBezTo>
                  <a:cubicBezTo>
                    <a:pt x="48" y="33"/>
                    <a:pt x="48" y="33"/>
                    <a:pt x="48" y="33"/>
                  </a:cubicBezTo>
                  <a:cubicBezTo>
                    <a:pt x="48" y="33"/>
                    <a:pt x="48" y="33"/>
                    <a:pt x="48" y="33"/>
                  </a:cubicBezTo>
                  <a:cubicBezTo>
                    <a:pt x="48" y="34"/>
                    <a:pt x="48" y="34"/>
                    <a:pt x="48" y="34"/>
                  </a:cubicBezTo>
                  <a:cubicBezTo>
                    <a:pt x="49" y="34"/>
                    <a:pt x="49" y="34"/>
                    <a:pt x="49" y="34"/>
                  </a:cubicBezTo>
                  <a:cubicBezTo>
                    <a:pt x="49" y="34"/>
                    <a:pt x="49" y="34"/>
                    <a:pt x="49" y="34"/>
                  </a:cubicBezTo>
                  <a:cubicBezTo>
                    <a:pt x="49" y="34"/>
                    <a:pt x="49" y="34"/>
                    <a:pt x="49" y="34"/>
                  </a:cubicBezTo>
                  <a:cubicBezTo>
                    <a:pt x="49" y="34"/>
                    <a:pt x="49" y="34"/>
                    <a:pt x="49" y="34"/>
                  </a:cubicBezTo>
                  <a:cubicBezTo>
                    <a:pt x="50" y="34"/>
                    <a:pt x="50" y="34"/>
                    <a:pt x="50" y="34"/>
                  </a:cubicBezTo>
                  <a:cubicBezTo>
                    <a:pt x="50" y="35"/>
                    <a:pt x="50" y="35"/>
                    <a:pt x="50" y="35"/>
                  </a:cubicBezTo>
                  <a:cubicBezTo>
                    <a:pt x="50" y="35"/>
                    <a:pt x="50" y="35"/>
                    <a:pt x="50" y="35"/>
                  </a:cubicBezTo>
                  <a:cubicBezTo>
                    <a:pt x="50" y="35"/>
                    <a:pt x="50" y="35"/>
                    <a:pt x="50" y="35"/>
                  </a:cubicBezTo>
                  <a:cubicBezTo>
                    <a:pt x="50" y="35"/>
                    <a:pt x="50" y="35"/>
                    <a:pt x="50" y="35"/>
                  </a:cubicBezTo>
                  <a:cubicBezTo>
                    <a:pt x="51" y="35"/>
                    <a:pt x="51" y="35"/>
                    <a:pt x="51" y="35"/>
                  </a:cubicBezTo>
                  <a:cubicBezTo>
                    <a:pt x="51" y="35"/>
                    <a:pt x="51" y="35"/>
                    <a:pt x="51" y="35"/>
                  </a:cubicBezTo>
                  <a:cubicBezTo>
                    <a:pt x="51" y="35"/>
                    <a:pt x="51" y="35"/>
                    <a:pt x="51" y="35"/>
                  </a:cubicBezTo>
                  <a:cubicBezTo>
                    <a:pt x="51" y="36"/>
                    <a:pt x="51" y="36"/>
                    <a:pt x="51" y="36"/>
                  </a:cubicBezTo>
                  <a:cubicBezTo>
                    <a:pt x="52" y="36"/>
                    <a:pt x="52" y="36"/>
                    <a:pt x="52" y="36"/>
                  </a:cubicBezTo>
                  <a:cubicBezTo>
                    <a:pt x="52" y="36"/>
                    <a:pt x="52" y="36"/>
                    <a:pt x="52" y="36"/>
                  </a:cubicBezTo>
                  <a:cubicBezTo>
                    <a:pt x="52" y="36"/>
                    <a:pt x="52" y="36"/>
                    <a:pt x="52" y="36"/>
                  </a:cubicBezTo>
                  <a:cubicBezTo>
                    <a:pt x="52" y="36"/>
                    <a:pt x="52" y="36"/>
                    <a:pt x="52" y="36"/>
                  </a:cubicBezTo>
                  <a:cubicBezTo>
                    <a:pt x="52" y="36"/>
                    <a:pt x="52" y="36"/>
                    <a:pt x="52" y="36"/>
                  </a:cubicBezTo>
                  <a:cubicBezTo>
                    <a:pt x="53" y="37"/>
                    <a:pt x="53" y="37"/>
                    <a:pt x="53" y="37"/>
                  </a:cubicBezTo>
                  <a:cubicBezTo>
                    <a:pt x="53" y="37"/>
                    <a:pt x="53" y="37"/>
                    <a:pt x="53" y="37"/>
                  </a:cubicBezTo>
                  <a:cubicBezTo>
                    <a:pt x="53" y="37"/>
                    <a:pt x="53" y="37"/>
                    <a:pt x="53" y="37"/>
                  </a:cubicBezTo>
                  <a:cubicBezTo>
                    <a:pt x="62" y="43"/>
                    <a:pt x="62" y="43"/>
                    <a:pt x="62" y="43"/>
                  </a:cubicBezTo>
                  <a:cubicBezTo>
                    <a:pt x="53" y="55"/>
                    <a:pt x="49" y="67"/>
                    <a:pt x="48" y="79"/>
                  </a:cubicBezTo>
                  <a:cubicBezTo>
                    <a:pt x="36" y="84"/>
                    <a:pt x="23" y="88"/>
                    <a:pt x="11" y="93"/>
                  </a:cubicBezTo>
                  <a:cubicBezTo>
                    <a:pt x="9" y="92"/>
                    <a:pt x="8" y="91"/>
                    <a:pt x="7" y="91"/>
                  </a:cubicBezTo>
                  <a:cubicBezTo>
                    <a:pt x="23" y="68"/>
                    <a:pt x="23" y="68"/>
                    <a:pt x="23" y="68"/>
                  </a:cubicBezTo>
                  <a:cubicBezTo>
                    <a:pt x="27" y="69"/>
                    <a:pt x="32" y="68"/>
                    <a:pt x="35" y="64"/>
                  </a:cubicBezTo>
                  <a:cubicBezTo>
                    <a:pt x="38" y="60"/>
                    <a:pt x="37" y="54"/>
                    <a:pt x="32" y="51"/>
                  </a:cubicBezTo>
                  <a:cubicBezTo>
                    <a:pt x="28" y="47"/>
                    <a:pt x="22" y="49"/>
                    <a:pt x="19" y="53"/>
                  </a:cubicBezTo>
                  <a:cubicBezTo>
                    <a:pt x="16" y="57"/>
                    <a:pt x="16" y="62"/>
                    <a:pt x="19" y="65"/>
                  </a:cubicBezTo>
                  <a:cubicBezTo>
                    <a:pt x="3" y="88"/>
                    <a:pt x="3" y="88"/>
                    <a:pt x="3" y="88"/>
                  </a:cubicBezTo>
                  <a:close/>
                  <a:moveTo>
                    <a:pt x="27" y="93"/>
                  </a:moveTo>
                  <a:cubicBezTo>
                    <a:pt x="73" y="93"/>
                    <a:pt x="73" y="93"/>
                    <a:pt x="73" y="93"/>
                  </a:cubicBezTo>
                  <a:cubicBezTo>
                    <a:pt x="73" y="83"/>
                    <a:pt x="73" y="83"/>
                    <a:pt x="73" y="83"/>
                  </a:cubicBezTo>
                  <a:cubicBezTo>
                    <a:pt x="54" y="83"/>
                    <a:pt x="54" y="83"/>
                    <a:pt x="54" y="83"/>
                  </a:cubicBezTo>
                  <a:cubicBezTo>
                    <a:pt x="27" y="93"/>
                    <a:pt x="27" y="93"/>
                    <a:pt x="27" y="93"/>
                  </a:cubicBezTo>
                  <a:close/>
                  <a:moveTo>
                    <a:pt x="69" y="42"/>
                  </a:moveTo>
                  <a:cubicBezTo>
                    <a:pt x="77" y="31"/>
                    <a:pt x="77" y="31"/>
                    <a:pt x="77" y="31"/>
                  </a:cubicBezTo>
                  <a:cubicBezTo>
                    <a:pt x="34" y="0"/>
                    <a:pt x="34" y="0"/>
                    <a:pt x="34" y="0"/>
                  </a:cubicBezTo>
                  <a:cubicBezTo>
                    <a:pt x="26" y="12"/>
                    <a:pt x="26" y="12"/>
                    <a:pt x="26" y="12"/>
                  </a:cubicBezTo>
                  <a:lnTo>
                    <a:pt x="69" y="42"/>
                  </a:lnTo>
                  <a:close/>
                </a:path>
              </a:pathLst>
            </a:custGeom>
            <a:solidFill>
              <a:schemeClr val="bg1">
                <a:lumMod val="95000"/>
              </a:schemeClr>
            </a:solidFill>
            <a:ln>
              <a:noFill/>
            </a:ln>
          </p:spPr>
          <p:txBody>
            <a:bodyPr vert="horz" wrap="square" lIns="91440" tIns="45720" rIns="91440" bIns="45720" numCol="1" anchor="t" anchorCtr="0" compatLnSpc="1"/>
            <a:lstStyle/>
            <a:p>
              <a:endParaRPr lang="zh-CN" altLang="en-US">
                <a:latin typeface="Arial" panose="020B0604020202020204" pitchFamily="34" charset="0"/>
                <a:cs typeface="Arial" panose="020B0604020202020204" pitchFamily="34" charset="0"/>
              </a:endParaRPr>
            </a:p>
          </p:txBody>
        </p:sp>
      </p:grpSp>
      <p:sp>
        <p:nvSpPr>
          <p:cNvPr id="61" name="矩形 60"/>
          <p:cNvSpPr/>
          <p:nvPr/>
        </p:nvSpPr>
        <p:spPr>
          <a:xfrm>
            <a:off x="6095999" y="0"/>
            <a:ext cx="6099175" cy="6858000"/>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TextBox 61"/>
          <p:cNvSpPr txBox="1"/>
          <p:nvPr/>
        </p:nvSpPr>
        <p:spPr>
          <a:xfrm>
            <a:off x="457200" y="3749040"/>
            <a:ext cx="5184648" cy="548640"/>
          </a:xfrm>
          <a:prstGeom prst="rect">
            <a:avLst/>
          </a:prstGeom>
          <a:noFill/>
        </p:spPr>
        <p:txBody>
          <a:bodyPr wrap="square" lIns="45720" tIns="27432" rIns="45720" bIns="27432" anchor="t">
            <a:spAutoFit/>
          </a:bodyPr>
          <a:lstStyle/>
          <a:p>
            <a:pPr algn="ctr">
              <a:spcAft>
                <a:spcPts val="0"/>
              </a:spcAft>
            </a:pPr>
            <a:r>
              <a:rPr sz="2800" b="1" i="0">
                <a:solidFill>
                  <a:srgbClr val="46CEAE"/>
                </a:solidFill>
                <a:latin typeface="Arial"/>
              </a:rPr>
              <a:t>Backup</a:t>
            </a:r>
          </a:p>
        </p:txBody>
      </p:sp>
      <p:sp>
        <p:nvSpPr>
          <p:cNvPr id="63" name="TextBox 62"/>
          <p:cNvSpPr txBox="1"/>
          <p:nvPr/>
        </p:nvSpPr>
        <p:spPr>
          <a:xfrm>
            <a:off x="457200" y="4315968"/>
            <a:ext cx="5184648" cy="1737360"/>
          </a:xfrm>
          <a:prstGeom prst="rect">
            <a:avLst/>
          </a:prstGeom>
          <a:noFill/>
        </p:spPr>
        <p:txBody>
          <a:bodyPr wrap="square" lIns="45720" tIns="27432" rIns="45720" bIns="27432" anchor="t">
            <a:spAutoFit/>
          </a:bodyPr>
          <a:lstStyle/>
          <a:p>
            <a:pPr algn="ctr">
              <a:lnSpc>
                <a:spcPct val="95000"/>
              </a:lnSpc>
              <a:spcAft>
                <a:spcPts val="0"/>
              </a:spcAft>
            </a:pPr>
            <a:r>
              <a:rPr sz="3200" b="1" i="0">
                <a:solidFill>
                  <a:srgbClr val="202A36"/>
                </a:solidFill>
                <a:latin typeface="Arial"/>
              </a:rPr>
              <a:t>Additional material</a:t>
            </a:r>
          </a:p>
        </p:txBody>
      </p:sp>
      <p:cxnSp>
        <p:nvCxnSpPr>
          <p:cNvPr id="64" name="Connector 63"/>
          <p:cNvCxnSpPr/>
          <p:nvPr/>
        </p:nvCxnSpPr>
        <p:spPr>
          <a:xfrm>
            <a:off x="7863840" y="2404872"/>
            <a:ext cx="0" cy="2048256"/>
          </a:xfrm>
          <a:prstGeom prst="line">
            <a:avLst/>
          </a:prstGeom>
          <a:ln w="19050">
            <a:solidFill>
              <a:srgbClr val="8E98A5"/>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7790688" y="2697480"/>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8229600" y="2569464"/>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Why recall must be weighted</a:t>
            </a:r>
          </a:p>
        </p:txBody>
      </p:sp>
      <p:sp>
        <p:nvSpPr>
          <p:cNvPr id="67" name="Oval 66"/>
          <p:cNvSpPr/>
          <p:nvPr/>
        </p:nvSpPr>
        <p:spPr>
          <a:xfrm>
            <a:off x="7790688" y="3355848"/>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229600" y="3227832"/>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Package zones</a:t>
            </a:r>
          </a:p>
        </p:txBody>
      </p:sp>
      <p:sp>
        <p:nvSpPr>
          <p:cNvPr id="69" name="Oval 68"/>
          <p:cNvSpPr/>
          <p:nvPr/>
        </p:nvSpPr>
        <p:spPr>
          <a:xfrm>
            <a:off x="7790688" y="4014216"/>
            <a:ext cx="146304" cy="146304"/>
          </a:xfrm>
          <a:prstGeom prst="ellipse">
            <a:avLst/>
          </a:prstGeom>
          <a:solidFill>
            <a:srgbClr val="D9DD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8229600" y="3886200"/>
            <a:ext cx="3931920" cy="402336"/>
          </a:xfrm>
          <a:prstGeom prst="rect">
            <a:avLst/>
          </a:prstGeom>
          <a:noFill/>
        </p:spPr>
        <p:txBody>
          <a:bodyPr wrap="square" lIns="45720" tIns="27432" rIns="45720" bIns="27432" anchor="ctr">
            <a:spAutoFit/>
          </a:bodyPr>
          <a:lstStyle/>
          <a:p>
            <a:pPr algn="l">
              <a:spcAft>
                <a:spcPts val="0"/>
              </a:spcAft>
            </a:pPr>
            <a:r>
              <a:rPr sz="1600" b="0" i="0">
                <a:solidFill>
                  <a:srgbClr val="F2F4F7"/>
                </a:solidFill>
                <a:latin typeface="Arial"/>
              </a:rPr>
              <a:t>Corrected rates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Backup</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Additional</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Backup: why recall must be weighted</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60</a:t>
            </a:r>
          </a:p>
        </p:txBody>
      </p:sp>
      <p:sp>
        <p:nvSpPr>
          <p:cNvPr id="66" name="Rounded Rectangle 65"/>
          <p:cNvSpPr/>
          <p:nvPr/>
        </p:nvSpPr>
        <p:spPr>
          <a:xfrm>
            <a:off x="612648" y="914400"/>
            <a:ext cx="6309360" cy="539496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795528" y="1097280"/>
            <a:ext cx="5943600" cy="1188720"/>
          </a:xfrm>
          <a:prstGeom prst="rect">
            <a:avLst/>
          </a:prstGeom>
          <a:noFill/>
        </p:spPr>
        <p:txBody>
          <a:bodyPr wrap="square" lIns="45720" tIns="27432" rIns="45720" bIns="27432" anchor="t">
            <a:spAutoFit/>
          </a:bodyPr>
          <a:lstStyle/>
          <a:p>
            <a:pPr algn="l">
              <a:spcAft>
                <a:spcPts val="0"/>
              </a:spcAft>
            </a:pPr>
            <a:r>
              <a:rPr sz="1450" b="0" i="0">
                <a:solidFill>
                  <a:srgbClr val="2B3440"/>
                </a:solidFill>
                <a:latin typeface="Calibri"/>
              </a:rPr>
              <a:t>Each sample is half flagged, the population is not. For Java Liskov it holds </a:t>
            </a:r>
            <a:r>
              <a:rPr sz="1450" b="1" i="0">
                <a:solidFill>
                  <a:srgbClr val="2B3440"/>
                </a:solidFill>
                <a:latin typeface="Calibri"/>
              </a:rPr>
              <a:t>574 flagged</a:t>
            </a:r>
            <a:r>
              <a:rPr sz="1450" b="0" i="0">
                <a:solidFill>
                  <a:srgbClr val="2B3440"/>
                </a:solidFill>
                <a:latin typeface="Calibri"/>
              </a:rPr>
              <a:t> override pairs and </a:t>
            </a:r>
            <a:r>
              <a:rPr sz="1450" b="1" i="0">
                <a:solidFill>
                  <a:srgbClr val="2B3440"/>
                </a:solidFill>
                <a:latin typeface="Calibri"/>
              </a:rPr>
              <a:t>25,594 unflagged</a:t>
            </a:r>
            <a:r>
              <a:rPr sz="1450" b="0" i="0">
                <a:solidFill>
                  <a:srgbClr val="2B3440"/>
                </a:solidFill>
                <a:latin typeface="Calibri"/>
              </a:rPr>
              <a:t> ones.</a:t>
            </a:r>
          </a:p>
        </p:txBody>
      </p:sp>
      <p:pic>
        <p:nvPicPr>
          <p:cNvPr id="68" name="Picture 67" descr="eq_13.png"/>
          <p:cNvPicPr>
            <a:picLocks noChangeAspect="1"/>
          </p:cNvPicPr>
          <p:nvPr/>
        </p:nvPicPr>
        <p:blipFill>
          <a:blip r:embed="rId2"/>
          <a:stretch>
            <a:fillRect/>
          </a:stretch>
        </p:blipFill>
        <p:spPr>
          <a:xfrm>
            <a:off x="1069848" y="2377440"/>
            <a:ext cx="4469587" cy="914400"/>
          </a:xfrm>
          <a:prstGeom prst="rect">
            <a:avLst/>
          </a:prstGeom>
        </p:spPr>
      </p:pic>
      <p:sp>
        <p:nvSpPr>
          <p:cNvPr id="69" name="TextBox 68"/>
          <p:cNvSpPr txBox="1"/>
          <p:nvPr/>
        </p:nvSpPr>
        <p:spPr>
          <a:xfrm>
            <a:off x="795528" y="3657600"/>
            <a:ext cx="5943600" cy="2468880"/>
          </a:xfrm>
          <a:prstGeom prst="rect">
            <a:avLst/>
          </a:prstGeom>
          <a:noFill/>
        </p:spPr>
        <p:txBody>
          <a:bodyPr wrap="square" lIns="45720" tIns="27432" rIns="45720" bIns="27432" anchor="t">
            <a:spAutoFit/>
          </a:bodyPr>
          <a:lstStyle/>
          <a:p>
            <a:pPr algn="l">
              <a:spcAft>
                <a:spcPts val="0"/>
              </a:spcAft>
            </a:pPr>
            <a:r>
              <a:rPr sz="1450" b="0" i="0">
                <a:solidFill>
                  <a:srgbClr val="2B3440"/>
                </a:solidFill>
                <a:latin typeface="Calibri"/>
              </a:rPr>
              <a:t>Counting the strata as equally common gives </a:t>
            </a:r>
            <a:r>
              <a:rPr sz="1450" b="1" i="0">
                <a:solidFill>
                  <a:srgbClr val="2B3440"/>
                </a:solidFill>
                <a:latin typeface="Calibri"/>
              </a:rPr>
              <a:t>0.966</a:t>
            </a:r>
            <a:r>
              <a:rPr sz="1450" b="0" i="0">
                <a:solidFill>
                  <a:srgbClr val="2B3440"/>
                </a:solidFill>
                <a:latin typeface="Calibri"/>
              </a:rPr>
              <a:t>. Weighting gives </a:t>
            </a:r>
            <a:r>
              <a:rPr sz="1450" b="1" i="0">
                <a:solidFill>
                  <a:srgbClr val="2B3440"/>
                </a:solidFill>
                <a:latin typeface="Calibri"/>
              </a:rPr>
              <a:t>0.386</a:t>
            </a:r>
            <a:r>
              <a:rPr sz="1450" b="0" i="0">
                <a:solidFill>
                  <a:srgbClr val="2B3440"/>
                </a:solidFill>
                <a:latin typeface="Calibri"/>
              </a:rPr>
              <a:t>. The population is the one the sample was drawn from: production entities, counted once each.</a:t>
            </a:r>
          </a:p>
        </p:txBody>
      </p:sp>
      <p:sp>
        <p:nvSpPr>
          <p:cNvPr id="70" name="Rounded Rectangle 69"/>
          <p:cNvSpPr/>
          <p:nvPr/>
        </p:nvSpPr>
        <p:spPr>
          <a:xfrm>
            <a:off x="7132320" y="914400"/>
            <a:ext cx="4453128" cy="1737360"/>
          </a:xfrm>
          <a:prstGeom prst="roundRect">
            <a:avLst>
              <a:gd name="adj" fmla="val 6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7269480" y="1005840"/>
            <a:ext cx="4178808" cy="868680"/>
          </a:xfrm>
          <a:prstGeom prst="rect">
            <a:avLst/>
          </a:prstGeom>
          <a:noFill/>
        </p:spPr>
        <p:txBody>
          <a:bodyPr wrap="square" lIns="45720" tIns="27432" rIns="45720" bIns="27432" anchor="b">
            <a:spAutoFit/>
          </a:bodyPr>
          <a:lstStyle/>
          <a:p>
            <a:pPr algn="ctr">
              <a:spcAft>
                <a:spcPts val="0"/>
              </a:spcAft>
            </a:pPr>
            <a:r>
              <a:rPr sz="3000" b="1" i="0">
                <a:solidFill>
                  <a:srgbClr val="46CEAE"/>
                </a:solidFill>
                <a:latin typeface="Arial"/>
              </a:rPr>
              <a:t>0.966 → 0.386</a:t>
            </a:r>
          </a:p>
        </p:txBody>
      </p:sp>
      <p:sp>
        <p:nvSpPr>
          <p:cNvPr id="72" name="TextBox 71"/>
          <p:cNvSpPr txBox="1"/>
          <p:nvPr/>
        </p:nvSpPr>
        <p:spPr>
          <a:xfrm>
            <a:off x="7315200" y="1869948"/>
            <a:ext cx="4087368" cy="729691"/>
          </a:xfrm>
          <a:prstGeom prst="rect">
            <a:avLst/>
          </a:prstGeom>
          <a:noFill/>
        </p:spPr>
        <p:txBody>
          <a:bodyPr wrap="square" lIns="45720" tIns="27432" rIns="45720" bIns="27432" anchor="t">
            <a:spAutoFit/>
          </a:bodyPr>
          <a:lstStyle/>
          <a:p>
            <a:pPr algn="ctr">
              <a:spcAft>
                <a:spcPts val="0"/>
              </a:spcAft>
            </a:pPr>
            <a:r>
              <a:rPr sz="1300" b="0" i="0">
                <a:solidFill>
                  <a:srgbClr val="D5DCE4"/>
                </a:solidFill>
                <a:latin typeface="Calibri"/>
              </a:rPr>
              <a:t>unweighted vs weighted recall, Java Liskov</a:t>
            </a:r>
          </a:p>
        </p:txBody>
      </p:sp>
      <p:sp>
        <p:nvSpPr>
          <p:cNvPr id="73" name="Rounded Rectangle 72"/>
          <p:cNvSpPr/>
          <p:nvPr/>
        </p:nvSpPr>
        <p:spPr>
          <a:xfrm>
            <a:off x="7132320" y="2834640"/>
            <a:ext cx="4453128" cy="21031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7315200" y="2834640"/>
            <a:ext cx="4087368" cy="210312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The intervals are wide because a weighted recall rests on the few violations found in the unflagged stratum (three for Liskov, in 200 rows).</a:t>
            </a:r>
          </a:p>
        </p:txBody>
      </p:sp>
      <p:sp>
        <p:nvSpPr>
          <p:cNvPr id="75" name="Rounded Rectangle 74"/>
          <p:cNvSpPr/>
          <p:nvPr/>
        </p:nvSpPr>
        <p:spPr>
          <a:xfrm>
            <a:off x="7132320" y="5120640"/>
            <a:ext cx="4453128" cy="118872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7315200" y="5120640"/>
            <a:ext cx="4087368" cy="1188720"/>
          </a:xfrm>
          <a:prstGeom prst="rect">
            <a:avLst/>
          </a:prstGeom>
          <a:noFill/>
        </p:spPr>
        <p:txBody>
          <a:bodyPr wrap="square" lIns="36576" tIns="36576" rIns="36576" bIns="36576" anchor="ctr">
            <a:spAutoFit/>
          </a:bodyPr>
          <a:lstStyle/>
          <a:p>
            <a:pPr algn="l">
              <a:spcAft>
                <a:spcPts val="300"/>
              </a:spcAft>
            </a:pPr>
            <a:r>
              <a:rPr sz="1400" b="0" i="0">
                <a:solidFill>
                  <a:srgbClr val="2B3440"/>
                </a:solidFill>
                <a:latin typeface="Calibri"/>
              </a:rPr>
              <a:t>This is why more labelling would help recall, not precision.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Backup</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Additional</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800" b="1" i="0">
                <a:solidFill>
                  <a:srgbClr val="202A36"/>
                </a:solidFill>
                <a:latin typeface="Arial"/>
              </a:rPr>
              <a:t>Backup: package zones (descriptive only)</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61</a:t>
            </a:r>
          </a:p>
        </p:txBody>
      </p:sp>
      <p:sp>
        <p:nvSpPr>
          <p:cNvPr id="66" name="Rounded Rectangle 65"/>
          <p:cNvSpPr/>
          <p:nvPr/>
        </p:nvSpPr>
        <p:spPr>
          <a:xfrm>
            <a:off x="612648" y="914400"/>
            <a:ext cx="10972800" cy="4480560"/>
          </a:xfrm>
          <a:prstGeom prst="roundRect">
            <a:avLst>
              <a:gd name="adj" fmla="val 3500"/>
            </a:avLst>
          </a:prstGeom>
          <a:solidFill>
            <a:srgbClr val="FFFFFF"/>
          </a:solidFill>
          <a:ln w="9525">
            <a:solidFill>
              <a:srgbClr val="C9D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Picture 66" descr="fig_martin_plane.png"/>
          <p:cNvPicPr>
            <a:picLocks noChangeAspect="1"/>
          </p:cNvPicPr>
          <p:nvPr/>
        </p:nvPicPr>
        <p:blipFill>
          <a:blip r:embed="rId2"/>
          <a:stretch>
            <a:fillRect/>
          </a:stretch>
        </p:blipFill>
        <p:spPr>
          <a:xfrm>
            <a:off x="1365041" y="1024128"/>
            <a:ext cx="9468014" cy="4261104"/>
          </a:xfrm>
          <a:prstGeom prst="rect">
            <a:avLst/>
          </a:prstGeom>
        </p:spPr>
      </p:pic>
      <p:sp>
        <p:nvSpPr>
          <p:cNvPr id="68" name="Rounded Rectangle 67"/>
          <p:cNvSpPr/>
          <p:nvPr/>
        </p:nvSpPr>
        <p:spPr>
          <a:xfrm>
            <a:off x="612648" y="5532120"/>
            <a:ext cx="10972800" cy="77724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Hexagon 68"/>
          <p:cNvSpPr/>
          <p:nvPr/>
        </p:nvSpPr>
        <p:spPr>
          <a:xfrm>
            <a:off x="813816" y="578358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1252728" y="5532120"/>
            <a:ext cx="10149840" cy="777240"/>
          </a:xfrm>
          <a:prstGeom prst="rect">
            <a:avLst/>
          </a:prstGeom>
          <a:noFill/>
        </p:spPr>
        <p:txBody>
          <a:bodyPr wrap="square" lIns="45720" rIns="45720" anchor="ctr">
            <a:spAutoFit/>
          </a:bodyPr>
          <a:lstStyle/>
          <a:p>
            <a:pPr algn="l">
              <a:spcAft>
                <a:spcPts val="0"/>
              </a:spcAft>
            </a:pPr>
            <a:r>
              <a:rPr sz="1400" b="0" i="0">
                <a:solidFill>
                  <a:srgbClr val="FFFFFF"/>
                </a:solidFill>
                <a:latin typeface="Calibri"/>
              </a:rPr>
              <a:t>Distance from the main sequence was tested as a change signal and confirmed </a:t>
            </a:r>
            <a:r>
              <a:rPr sz="1400" b="1" i="0">
                <a:solidFill>
                  <a:srgbClr val="FFFFFF"/>
                </a:solidFill>
                <a:latin typeface="Calibri"/>
              </a:rPr>
              <a:t>none of 17 flags</a:t>
            </a:r>
            <a:r>
              <a:rPr sz="1400" b="0" i="0">
                <a:solidFill>
                  <a:srgbClr val="FFFFFF"/>
                </a:solidFill>
                <a:latin typeface="Calibri"/>
              </a:rPr>
              <a:t>, so packages are described by position and never flagged.</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六边形 54"/>
          <p:cNvSpPr/>
          <p:nvPr/>
        </p:nvSpPr>
        <p:spPr>
          <a:xfrm>
            <a:off x="241896" y="125398"/>
            <a:ext cx="481345" cy="414953"/>
          </a:xfrm>
          <a:prstGeom prst="hexagon">
            <a:avLst/>
          </a:prstGeom>
          <a:solidFill>
            <a:srgbClr val="202A36"/>
          </a:solidFill>
          <a:ln>
            <a:solidFill>
              <a:srgbClr val="202A3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nvCxnSpPr>
        <p:spPr>
          <a:xfrm>
            <a:off x="841003" y="505764"/>
            <a:ext cx="8571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9412843" y="188639"/>
            <a:ext cx="933216" cy="334417"/>
          </a:xfrm>
          <a:prstGeom prst="rect">
            <a:avLst/>
          </a:prstGeom>
          <a:solidFill>
            <a:srgbClr val="202A3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Backup</a:t>
            </a:r>
            <a:endParaRPr lang="zh-CN" altLang="en-US" sz="1400"/>
          </a:p>
        </p:txBody>
      </p:sp>
      <p:sp>
        <p:nvSpPr>
          <p:cNvPr id="58" name="矩形 57"/>
          <p:cNvSpPr/>
          <p:nvPr/>
        </p:nvSpPr>
        <p:spPr>
          <a:xfrm>
            <a:off x="10347503" y="187549"/>
            <a:ext cx="1582732" cy="334417"/>
          </a:xfrm>
          <a:prstGeom prst="rect">
            <a:avLst/>
          </a:prstGeom>
          <a:solidFill>
            <a:srgbClr val="34495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 tIns="18288" rIns="18288" bIns="18288" rtlCol="0" anchor="ctr"/>
          <a:lstStyle/>
          <a:p>
            <a:pPr algn="ctr">
              <a:spcAft>
                <a:spcPts val="0"/>
              </a:spcAft>
            </a:pPr>
            <a:r>
              <a:rPr sz="1200" b="1" i="0">
                <a:solidFill>
                  <a:srgbClr val="FFFFFF"/>
                </a:solidFill>
                <a:latin typeface="Arial"/>
              </a:rPr>
              <a:t>Additional</a:t>
            </a:r>
            <a:endParaRPr lang="zh-CN" altLang="en-US" sz="1600"/>
          </a:p>
        </p:txBody>
      </p:sp>
      <p:sp>
        <p:nvSpPr>
          <p:cNvPr id="60" name="六边形 59"/>
          <p:cNvSpPr/>
          <p:nvPr/>
        </p:nvSpPr>
        <p:spPr>
          <a:xfrm>
            <a:off x="624979" y="392472"/>
            <a:ext cx="261790" cy="225682"/>
          </a:xfrm>
          <a:prstGeom prst="hexagon">
            <a:avLst/>
          </a:prstGeom>
          <a:solidFill>
            <a:srgbClr val="202A3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Freeform 126"/>
          <p:cNvSpPr>
            <a:spLocks noChangeAspect="1" noEditPoints="1"/>
          </p:cNvSpPr>
          <p:nvPr/>
        </p:nvSpPr>
        <p:spPr bwMode="auto">
          <a:xfrm>
            <a:off x="366158" y="217753"/>
            <a:ext cx="232819" cy="291328"/>
          </a:xfrm>
          <a:custGeom>
            <a:avLst/>
            <a:gdLst>
              <a:gd name="T0" fmla="*/ 48 w 81"/>
              <a:gd name="T1" fmla="*/ 27 h 101"/>
              <a:gd name="T2" fmla="*/ 4 w 81"/>
              <a:gd name="T3" fmla="*/ 48 h 101"/>
              <a:gd name="T4" fmla="*/ 0 w 81"/>
              <a:gd name="T5" fmla="*/ 31 h 101"/>
              <a:gd name="T6" fmla="*/ 58 w 81"/>
              <a:gd name="T7" fmla="*/ 90 h 101"/>
              <a:gd name="T8" fmla="*/ 81 w 81"/>
              <a:gd name="T9" fmla="*/ 98 h 101"/>
              <a:gd name="T10" fmla="*/ 58 w 81"/>
              <a:gd name="T11" fmla="*/ 90 h 101"/>
              <a:gd name="T12" fmla="*/ 53 w 81"/>
              <a:gd name="T13" fmla="*/ 101 h 101"/>
              <a:gd name="T14" fmla="*/ 29 w 81"/>
              <a:gd name="T15" fmla="*/ 98 h 101"/>
              <a:gd name="T16" fmla="*/ 0 w 81"/>
              <a:gd name="T17" fmla="*/ 90 h 101"/>
              <a:gd name="T18" fmla="*/ 29 w 81"/>
              <a:gd name="T19" fmla="*/ 87 h 101"/>
              <a:gd name="T20" fmla="*/ 38 w 81"/>
              <a:gd name="T21" fmla="*/ 76 h 101"/>
              <a:gd name="T22" fmla="*/ 0 w 81"/>
              <a:gd name="T23" fmla="*/ 72 h 101"/>
              <a:gd name="T24" fmla="*/ 4 w 81"/>
              <a:gd name="T25" fmla="*/ 54 h 101"/>
              <a:gd name="T26" fmla="*/ 48 w 81"/>
              <a:gd name="T27" fmla="*/ 76 h 101"/>
              <a:gd name="T28" fmla="*/ 44 w 81"/>
              <a:gd name="T29" fmla="*/ 87 h 101"/>
              <a:gd name="T30" fmla="*/ 53 w 81"/>
              <a:gd name="T31" fmla="*/ 90 h 101"/>
              <a:gd name="T32" fmla="*/ 4 w 81"/>
              <a:gd name="T33" fmla="*/ 0 h 101"/>
              <a:gd name="T34" fmla="*/ 48 w 81"/>
              <a:gd name="T35" fmla="*/ 21 h 101"/>
              <a:gd name="T36" fmla="*/ 0 w 81"/>
              <a:gd name="T37" fmla="*/ 17 h 101"/>
              <a:gd name="T38" fmla="*/ 4 w 81"/>
              <a:gd name="T39" fmla="*/ 0 h 101"/>
              <a:gd name="T40" fmla="*/ 53 w 81"/>
              <a:gd name="T41" fmla="*/ 76 h 101"/>
              <a:gd name="T42" fmla="*/ 81 w 81"/>
              <a:gd name="T43" fmla="*/ 72 h 101"/>
              <a:gd name="T44" fmla="*/ 77 w 81"/>
              <a:gd name="T45" fmla="*/ 54 h 101"/>
              <a:gd name="T46" fmla="*/ 59 w 81"/>
              <a:gd name="T47" fmla="*/ 8 h 101"/>
              <a:gd name="T48" fmla="*/ 69 w 81"/>
              <a:gd name="T49" fmla="*/ 13 h 101"/>
              <a:gd name="T50" fmla="*/ 59 w 81"/>
              <a:gd name="T51" fmla="*/ 8 h 101"/>
              <a:gd name="T52" fmla="*/ 69 w 81"/>
              <a:gd name="T53" fmla="*/ 63 h 101"/>
              <a:gd name="T54" fmla="*/ 59 w 81"/>
              <a:gd name="T55" fmla="*/ 67 h 101"/>
              <a:gd name="T56" fmla="*/ 59 w 81"/>
              <a:gd name="T57" fmla="*/ 35 h 101"/>
              <a:gd name="T58" fmla="*/ 69 w 81"/>
              <a:gd name="T59" fmla="*/ 40 h 101"/>
              <a:gd name="T60" fmla="*/ 59 w 81"/>
              <a:gd name="T61" fmla="*/ 35 h 101"/>
              <a:gd name="T62" fmla="*/ 53 w 81"/>
              <a:gd name="T63" fmla="*/ 21 h 101"/>
              <a:gd name="T64" fmla="*/ 81 w 81"/>
              <a:gd name="T65" fmla="*/ 17 h 101"/>
              <a:gd name="T66" fmla="*/ 77 w 81"/>
              <a:gd name="T67" fmla="*/ 0 h 101"/>
              <a:gd name="T68" fmla="*/ 53 w 81"/>
              <a:gd name="T69" fmla="*/ 27 h 101"/>
              <a:gd name="T70" fmla="*/ 77 w 81"/>
              <a:gd name="T71" fmla="*/ 48 h 101"/>
              <a:gd name="T72" fmla="*/ 81 w 81"/>
              <a:gd name="T73" fmla="*/ 31 h 101"/>
              <a:gd name="T74" fmla="*/ 53 w 81"/>
              <a:gd name="T75" fmla="*/ 2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 h="101">
                <a:moveTo>
                  <a:pt x="4" y="27"/>
                </a:moveTo>
                <a:cubicBezTo>
                  <a:pt x="48" y="27"/>
                  <a:pt x="48" y="27"/>
                  <a:pt x="48" y="27"/>
                </a:cubicBezTo>
                <a:cubicBezTo>
                  <a:pt x="48" y="48"/>
                  <a:pt x="48" y="48"/>
                  <a:pt x="48" y="48"/>
                </a:cubicBezTo>
                <a:cubicBezTo>
                  <a:pt x="4" y="48"/>
                  <a:pt x="4" y="48"/>
                  <a:pt x="4" y="48"/>
                </a:cubicBezTo>
                <a:cubicBezTo>
                  <a:pt x="2" y="48"/>
                  <a:pt x="0" y="46"/>
                  <a:pt x="0" y="44"/>
                </a:cubicBezTo>
                <a:cubicBezTo>
                  <a:pt x="0" y="31"/>
                  <a:pt x="0" y="31"/>
                  <a:pt x="0" y="31"/>
                </a:cubicBezTo>
                <a:cubicBezTo>
                  <a:pt x="0" y="29"/>
                  <a:pt x="2" y="27"/>
                  <a:pt x="4" y="27"/>
                </a:cubicBezTo>
                <a:close/>
                <a:moveTo>
                  <a:pt x="58" y="90"/>
                </a:moveTo>
                <a:cubicBezTo>
                  <a:pt x="81" y="90"/>
                  <a:pt x="81" y="90"/>
                  <a:pt x="81" y="90"/>
                </a:cubicBezTo>
                <a:cubicBezTo>
                  <a:pt x="81" y="98"/>
                  <a:pt x="81" y="98"/>
                  <a:pt x="81" y="98"/>
                </a:cubicBezTo>
                <a:cubicBezTo>
                  <a:pt x="58" y="98"/>
                  <a:pt x="58" y="98"/>
                  <a:pt x="58" y="98"/>
                </a:cubicBezTo>
                <a:cubicBezTo>
                  <a:pt x="58" y="90"/>
                  <a:pt x="58" y="90"/>
                  <a:pt x="58" y="90"/>
                </a:cubicBezTo>
                <a:close/>
                <a:moveTo>
                  <a:pt x="53" y="98"/>
                </a:moveTo>
                <a:cubicBezTo>
                  <a:pt x="53" y="101"/>
                  <a:pt x="53" y="101"/>
                  <a:pt x="53" y="101"/>
                </a:cubicBezTo>
                <a:cubicBezTo>
                  <a:pt x="29" y="101"/>
                  <a:pt x="29" y="101"/>
                  <a:pt x="29" y="101"/>
                </a:cubicBezTo>
                <a:cubicBezTo>
                  <a:pt x="29" y="98"/>
                  <a:pt x="29" y="98"/>
                  <a:pt x="29" y="98"/>
                </a:cubicBezTo>
                <a:cubicBezTo>
                  <a:pt x="0" y="98"/>
                  <a:pt x="0" y="98"/>
                  <a:pt x="0" y="98"/>
                </a:cubicBezTo>
                <a:cubicBezTo>
                  <a:pt x="0" y="90"/>
                  <a:pt x="0" y="90"/>
                  <a:pt x="0" y="90"/>
                </a:cubicBezTo>
                <a:cubicBezTo>
                  <a:pt x="29" y="90"/>
                  <a:pt x="29" y="90"/>
                  <a:pt x="29" y="90"/>
                </a:cubicBezTo>
                <a:cubicBezTo>
                  <a:pt x="29" y="87"/>
                  <a:pt x="29" y="87"/>
                  <a:pt x="29" y="87"/>
                </a:cubicBezTo>
                <a:cubicBezTo>
                  <a:pt x="38" y="87"/>
                  <a:pt x="38" y="87"/>
                  <a:pt x="38" y="87"/>
                </a:cubicBezTo>
                <a:cubicBezTo>
                  <a:pt x="38" y="76"/>
                  <a:pt x="38" y="76"/>
                  <a:pt x="38" y="76"/>
                </a:cubicBezTo>
                <a:cubicBezTo>
                  <a:pt x="4" y="76"/>
                  <a:pt x="4" y="76"/>
                  <a:pt x="4" y="76"/>
                </a:cubicBezTo>
                <a:cubicBezTo>
                  <a:pt x="2" y="76"/>
                  <a:pt x="0" y="74"/>
                  <a:pt x="0" y="72"/>
                </a:cubicBezTo>
                <a:cubicBezTo>
                  <a:pt x="0" y="58"/>
                  <a:pt x="0" y="58"/>
                  <a:pt x="0" y="58"/>
                </a:cubicBezTo>
                <a:cubicBezTo>
                  <a:pt x="0" y="56"/>
                  <a:pt x="2" y="54"/>
                  <a:pt x="4" y="54"/>
                </a:cubicBezTo>
                <a:cubicBezTo>
                  <a:pt x="48" y="54"/>
                  <a:pt x="48" y="54"/>
                  <a:pt x="48" y="54"/>
                </a:cubicBezTo>
                <a:cubicBezTo>
                  <a:pt x="48" y="76"/>
                  <a:pt x="48" y="76"/>
                  <a:pt x="48" y="76"/>
                </a:cubicBezTo>
                <a:cubicBezTo>
                  <a:pt x="44" y="76"/>
                  <a:pt x="44" y="76"/>
                  <a:pt x="44" y="76"/>
                </a:cubicBezTo>
                <a:cubicBezTo>
                  <a:pt x="44" y="87"/>
                  <a:pt x="44" y="87"/>
                  <a:pt x="44" y="87"/>
                </a:cubicBezTo>
                <a:cubicBezTo>
                  <a:pt x="53" y="87"/>
                  <a:pt x="53" y="87"/>
                  <a:pt x="53" y="87"/>
                </a:cubicBezTo>
                <a:cubicBezTo>
                  <a:pt x="53" y="90"/>
                  <a:pt x="53" y="90"/>
                  <a:pt x="53" y="90"/>
                </a:cubicBezTo>
                <a:cubicBezTo>
                  <a:pt x="53" y="98"/>
                  <a:pt x="53" y="98"/>
                  <a:pt x="53" y="98"/>
                </a:cubicBezTo>
                <a:close/>
                <a:moveTo>
                  <a:pt x="4" y="0"/>
                </a:moveTo>
                <a:cubicBezTo>
                  <a:pt x="48" y="0"/>
                  <a:pt x="48" y="0"/>
                  <a:pt x="48" y="0"/>
                </a:cubicBezTo>
                <a:cubicBezTo>
                  <a:pt x="48" y="21"/>
                  <a:pt x="48" y="21"/>
                  <a:pt x="48" y="21"/>
                </a:cubicBezTo>
                <a:cubicBezTo>
                  <a:pt x="4" y="21"/>
                  <a:pt x="4" y="21"/>
                  <a:pt x="4" y="21"/>
                </a:cubicBezTo>
                <a:cubicBezTo>
                  <a:pt x="2" y="21"/>
                  <a:pt x="0" y="19"/>
                  <a:pt x="0" y="17"/>
                </a:cubicBezTo>
                <a:cubicBezTo>
                  <a:pt x="0" y="4"/>
                  <a:pt x="0" y="4"/>
                  <a:pt x="0" y="4"/>
                </a:cubicBezTo>
                <a:cubicBezTo>
                  <a:pt x="0" y="2"/>
                  <a:pt x="2" y="0"/>
                  <a:pt x="4" y="0"/>
                </a:cubicBezTo>
                <a:close/>
                <a:moveTo>
                  <a:pt x="53" y="54"/>
                </a:moveTo>
                <a:cubicBezTo>
                  <a:pt x="53" y="76"/>
                  <a:pt x="53" y="76"/>
                  <a:pt x="53" y="76"/>
                </a:cubicBezTo>
                <a:cubicBezTo>
                  <a:pt x="77" y="76"/>
                  <a:pt x="77" y="76"/>
                  <a:pt x="77" y="76"/>
                </a:cubicBezTo>
                <a:cubicBezTo>
                  <a:pt x="79" y="76"/>
                  <a:pt x="81" y="74"/>
                  <a:pt x="81" y="72"/>
                </a:cubicBezTo>
                <a:cubicBezTo>
                  <a:pt x="81" y="58"/>
                  <a:pt x="81" y="58"/>
                  <a:pt x="81" y="58"/>
                </a:cubicBezTo>
                <a:cubicBezTo>
                  <a:pt x="81" y="56"/>
                  <a:pt x="79" y="54"/>
                  <a:pt x="77" y="54"/>
                </a:cubicBezTo>
                <a:cubicBezTo>
                  <a:pt x="53" y="54"/>
                  <a:pt x="53" y="54"/>
                  <a:pt x="53" y="54"/>
                </a:cubicBezTo>
                <a:close/>
                <a:moveTo>
                  <a:pt x="59" y="8"/>
                </a:moveTo>
                <a:cubicBezTo>
                  <a:pt x="69" y="8"/>
                  <a:pt x="69" y="8"/>
                  <a:pt x="69" y="8"/>
                </a:cubicBezTo>
                <a:cubicBezTo>
                  <a:pt x="69" y="13"/>
                  <a:pt x="69" y="13"/>
                  <a:pt x="69" y="13"/>
                </a:cubicBezTo>
                <a:cubicBezTo>
                  <a:pt x="59" y="13"/>
                  <a:pt x="59" y="13"/>
                  <a:pt x="59" y="13"/>
                </a:cubicBezTo>
                <a:cubicBezTo>
                  <a:pt x="59" y="8"/>
                  <a:pt x="59" y="8"/>
                  <a:pt x="59" y="8"/>
                </a:cubicBezTo>
                <a:close/>
                <a:moveTo>
                  <a:pt x="59" y="63"/>
                </a:moveTo>
                <a:cubicBezTo>
                  <a:pt x="69" y="63"/>
                  <a:pt x="69" y="63"/>
                  <a:pt x="69" y="63"/>
                </a:cubicBezTo>
                <a:cubicBezTo>
                  <a:pt x="69" y="67"/>
                  <a:pt x="69" y="67"/>
                  <a:pt x="69" y="67"/>
                </a:cubicBezTo>
                <a:cubicBezTo>
                  <a:pt x="59" y="67"/>
                  <a:pt x="59" y="67"/>
                  <a:pt x="59" y="67"/>
                </a:cubicBezTo>
                <a:cubicBezTo>
                  <a:pt x="59" y="63"/>
                  <a:pt x="59" y="63"/>
                  <a:pt x="59" y="63"/>
                </a:cubicBezTo>
                <a:close/>
                <a:moveTo>
                  <a:pt x="59" y="35"/>
                </a:moveTo>
                <a:cubicBezTo>
                  <a:pt x="69" y="35"/>
                  <a:pt x="69" y="35"/>
                  <a:pt x="69" y="35"/>
                </a:cubicBezTo>
                <a:cubicBezTo>
                  <a:pt x="69" y="40"/>
                  <a:pt x="69" y="40"/>
                  <a:pt x="69" y="40"/>
                </a:cubicBezTo>
                <a:cubicBezTo>
                  <a:pt x="59" y="40"/>
                  <a:pt x="59" y="40"/>
                  <a:pt x="59" y="40"/>
                </a:cubicBezTo>
                <a:cubicBezTo>
                  <a:pt x="59" y="35"/>
                  <a:pt x="59" y="35"/>
                  <a:pt x="59" y="35"/>
                </a:cubicBezTo>
                <a:close/>
                <a:moveTo>
                  <a:pt x="53" y="0"/>
                </a:moveTo>
                <a:cubicBezTo>
                  <a:pt x="53" y="21"/>
                  <a:pt x="53" y="21"/>
                  <a:pt x="53" y="21"/>
                </a:cubicBezTo>
                <a:cubicBezTo>
                  <a:pt x="77" y="21"/>
                  <a:pt x="77" y="21"/>
                  <a:pt x="77" y="21"/>
                </a:cubicBezTo>
                <a:cubicBezTo>
                  <a:pt x="79" y="21"/>
                  <a:pt x="81" y="19"/>
                  <a:pt x="81" y="17"/>
                </a:cubicBezTo>
                <a:cubicBezTo>
                  <a:pt x="81" y="4"/>
                  <a:pt x="81" y="4"/>
                  <a:pt x="81" y="4"/>
                </a:cubicBezTo>
                <a:cubicBezTo>
                  <a:pt x="81" y="2"/>
                  <a:pt x="79" y="0"/>
                  <a:pt x="77" y="0"/>
                </a:cubicBezTo>
                <a:cubicBezTo>
                  <a:pt x="53" y="0"/>
                  <a:pt x="53" y="0"/>
                  <a:pt x="53" y="0"/>
                </a:cubicBezTo>
                <a:close/>
                <a:moveTo>
                  <a:pt x="53" y="27"/>
                </a:moveTo>
                <a:cubicBezTo>
                  <a:pt x="53" y="48"/>
                  <a:pt x="53" y="48"/>
                  <a:pt x="53" y="48"/>
                </a:cubicBezTo>
                <a:cubicBezTo>
                  <a:pt x="77" y="48"/>
                  <a:pt x="77" y="48"/>
                  <a:pt x="77" y="48"/>
                </a:cubicBezTo>
                <a:cubicBezTo>
                  <a:pt x="79" y="48"/>
                  <a:pt x="81" y="46"/>
                  <a:pt x="81" y="44"/>
                </a:cubicBezTo>
                <a:cubicBezTo>
                  <a:pt x="81" y="31"/>
                  <a:pt x="81" y="31"/>
                  <a:pt x="81" y="31"/>
                </a:cubicBezTo>
                <a:cubicBezTo>
                  <a:pt x="81" y="29"/>
                  <a:pt x="79" y="27"/>
                  <a:pt x="77" y="27"/>
                </a:cubicBezTo>
                <a:lnTo>
                  <a:pt x="53" y="27"/>
                </a:lnTo>
                <a:close/>
              </a:path>
            </a:pathLst>
          </a:custGeom>
          <a:solidFill>
            <a:schemeClr val="bg1"/>
          </a:solidFill>
          <a:ln>
            <a:noFill/>
          </a:ln>
        </p:spPr>
        <p:txBody>
          <a:bodyPr vert="horz" wrap="square" lIns="91440" tIns="45720" rIns="91440" bIns="45720" numCol="1" anchor="t" anchorCtr="0" compatLnSpc="1"/>
          <a:lstStyle/>
          <a:p>
            <a:endParaRPr lang="zh-CN" altLang="en-US">
              <a:solidFill>
                <a:schemeClr val="tx1">
                  <a:lumMod val="65000"/>
                  <a:lumOff val="35000"/>
                </a:schemeClr>
              </a:solidFill>
              <a:latin typeface="Arial" panose="020B0604020202020204" pitchFamily="34" charset="0"/>
              <a:cs typeface="Arial" panose="020B0604020202020204" pitchFamily="34" charset="0"/>
            </a:endParaRPr>
          </a:p>
        </p:txBody>
      </p:sp>
      <p:sp>
        <p:nvSpPr>
          <p:cNvPr id="64" name="TextBox 63"/>
          <p:cNvSpPr txBox="1"/>
          <p:nvPr/>
        </p:nvSpPr>
        <p:spPr>
          <a:xfrm>
            <a:off x="987552" y="109728"/>
            <a:ext cx="8412480" cy="384048"/>
          </a:xfrm>
          <a:prstGeom prst="rect">
            <a:avLst/>
          </a:prstGeom>
          <a:noFill/>
        </p:spPr>
        <p:txBody>
          <a:bodyPr wrap="square" lIns="18288" tIns="0" rIns="18288" bIns="0" anchor="b">
            <a:spAutoFit/>
          </a:bodyPr>
          <a:lstStyle/>
          <a:p>
            <a:pPr algn="l">
              <a:spcAft>
                <a:spcPts val="0"/>
              </a:spcAft>
            </a:pPr>
            <a:r>
              <a:rPr sz="1600" b="1" i="0">
                <a:solidFill>
                  <a:srgbClr val="202A36"/>
                </a:solidFill>
                <a:latin typeface="Arial"/>
              </a:rPr>
              <a:t>Backup: corrected rates, with SRP split by authorship</a:t>
            </a:r>
          </a:p>
        </p:txBody>
      </p:sp>
      <p:sp>
        <p:nvSpPr>
          <p:cNvPr id="65" name="TextBox 64"/>
          <p:cNvSpPr txBox="1"/>
          <p:nvPr/>
        </p:nvSpPr>
        <p:spPr>
          <a:xfrm>
            <a:off x="11018520" y="6473952"/>
            <a:ext cx="594360" cy="256032"/>
          </a:xfrm>
          <a:prstGeom prst="rect">
            <a:avLst/>
          </a:prstGeom>
          <a:noFill/>
        </p:spPr>
        <p:txBody>
          <a:bodyPr wrap="square" lIns="45720" tIns="27432" rIns="45720" bIns="27432" anchor="ctr">
            <a:spAutoFit/>
          </a:bodyPr>
          <a:lstStyle/>
          <a:p>
            <a:pPr algn="r">
              <a:spcAft>
                <a:spcPts val="0"/>
              </a:spcAft>
            </a:pPr>
            <a:r>
              <a:rPr sz="1100" b="0" i="0">
                <a:solidFill>
                  <a:srgbClr val="5C6773"/>
                </a:solidFill>
                <a:latin typeface="Arial"/>
              </a:rPr>
              <a:t>62</a:t>
            </a:r>
          </a:p>
        </p:txBody>
      </p:sp>
      <p:graphicFrame>
        <p:nvGraphicFramePr>
          <p:cNvPr id="66" name="Table 65"/>
          <p:cNvGraphicFramePr>
            <a:graphicFrameLocks noGrp="1"/>
          </p:cNvGraphicFramePr>
          <p:nvPr/>
        </p:nvGraphicFramePr>
        <p:xfrm>
          <a:off x="612648" y="914400"/>
          <a:ext cx="10972800" cy="3931920"/>
        </p:xfrm>
        <a:graphic>
          <a:graphicData uri="http://schemas.openxmlformats.org/drawingml/2006/table">
            <a:tbl>
              <a:tblPr>
                <a:tableStyleId>{2D5ABB26-0587-4C30-8999-92F81FD0307C}</a:tableStyleId>
              </a:tblPr>
              <a:tblGrid>
                <a:gridCol w="14630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783080">
                  <a:extLst>
                    <a:ext uri="{9D8B030D-6E8A-4147-A177-3AD203B41FA5}">
                      <a16:colId xmlns:a16="http://schemas.microsoft.com/office/drawing/2014/main" val="20004"/>
                    </a:ext>
                  </a:extLst>
                </a:gridCol>
                <a:gridCol w="1783080">
                  <a:extLst>
                    <a:ext uri="{9D8B030D-6E8A-4147-A177-3AD203B41FA5}">
                      <a16:colId xmlns:a16="http://schemas.microsoft.com/office/drawing/2014/main" val="20005"/>
                    </a:ext>
                  </a:extLst>
                </a:gridCol>
              </a:tblGrid>
              <a:tr h="457200">
                <a:tc>
                  <a:txBody>
                    <a:bodyPr/>
                    <a:lstStyle/>
                    <a:p>
                      <a:pPr algn="l">
                        <a:spcAft>
                          <a:spcPts val="0"/>
                        </a:spcAft>
                      </a:pPr>
                      <a:r>
                        <a:rPr sz="1450" b="1" i="0">
                          <a:solidFill>
                            <a:srgbClr val="FFFFFF"/>
                          </a:solidFill>
                          <a:latin typeface="Calibri"/>
                        </a:rPr>
                        <a:t>Principle</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l">
                        <a:spcAft>
                          <a:spcPts val="0"/>
                        </a:spcAft>
                      </a:pPr>
                      <a:r>
                        <a:rPr sz="1450" b="1" i="0">
                          <a:solidFill>
                            <a:srgbClr val="FFFFFF"/>
                          </a:solidFill>
                          <a:latin typeface="Calibri"/>
                        </a:rPr>
                        <a:t>Unit</a:t>
                      </a:r>
                    </a:p>
                  </a:txBody>
                  <a:tcPr marL="73152" marR="73152" marT="27432" marB="27432" anchor="ctr">
                    <a:lnL w="0">
                      <a:noFill/>
                    </a:lnL>
                    <a:lnR w="0">
                      <a:noFill/>
                    </a:lnR>
                    <a:lnT w="0">
                      <a:noFill/>
                    </a:lnT>
                    <a:lnB w="6350">
                      <a:solidFill>
                        <a:srgbClr val="C9D0D8"/>
                      </a:solidFill>
                    </a:lnB>
                    <a:solidFill>
                      <a:srgbClr val="202A36"/>
                    </a:solidFill>
                  </a:tcPr>
                </a:tc>
                <a:tc gridSpan="2">
                  <a:txBody>
                    <a:bodyPr/>
                    <a:lstStyle/>
                    <a:p>
                      <a:pPr algn="ctr">
                        <a:spcAft>
                          <a:spcPts val="0"/>
                        </a:spcAft>
                      </a:pPr>
                      <a:r>
                        <a:rPr sz="1450" b="1" i="0">
                          <a:solidFill>
                            <a:srgbClr val="FFFFFF"/>
                          </a:solidFill>
                          <a:latin typeface="Calibri"/>
                        </a:rPr>
                        <a:t>Java</a:t>
                      </a:r>
                    </a:p>
                  </a:txBody>
                  <a:tcPr marL="73152" marR="73152" marT="27432" marB="27432" anchor="ctr">
                    <a:lnL w="0">
                      <a:noFill/>
                    </a:lnL>
                    <a:lnR w="0">
                      <a:noFill/>
                    </a:lnR>
                    <a:lnT w="0">
                      <a:noFill/>
                    </a:lnT>
                    <a:lnB w="6350">
                      <a:solidFill>
                        <a:srgbClr val="C9D0D8"/>
                      </a:solidFill>
                    </a:lnB>
                    <a:solidFill>
                      <a:srgbClr val="202A36"/>
                    </a:solidFill>
                  </a:tcPr>
                </a:tc>
                <a:tc hMerge="1">
                  <a:txBody>
                    <a:bodyPr/>
                    <a:lstStyle/>
                    <a:p>
                      <a:endParaRPr/>
                    </a:p>
                  </a:txBody>
                  <a:tcPr/>
                </a:tc>
                <a:tc gridSpan="2">
                  <a:txBody>
                    <a:bodyPr/>
                    <a:lstStyle/>
                    <a:p>
                      <a:pPr algn="ctr">
                        <a:spcAft>
                          <a:spcPts val="0"/>
                        </a:spcAft>
                      </a:pPr>
                      <a:r>
                        <a:rPr sz="1450" b="1" i="0">
                          <a:solidFill>
                            <a:srgbClr val="FFFFFF"/>
                          </a:solidFill>
                          <a:latin typeface="Calibri"/>
                        </a:rPr>
                        <a:t>Python</a:t>
                      </a:r>
                    </a:p>
                  </a:txBody>
                  <a:tcPr marL="73152" marR="73152" marT="27432" marB="27432" anchor="ctr">
                    <a:lnL w="0">
                      <a:noFill/>
                    </a:lnL>
                    <a:lnR w="0">
                      <a:noFill/>
                    </a:lnR>
                    <a:lnT w="0">
                      <a:noFill/>
                    </a:lnT>
                    <a:lnB w="6350">
                      <a:solidFill>
                        <a:srgbClr val="C9D0D8"/>
                      </a:solidFill>
                    </a:lnB>
                    <a:solidFill>
                      <a:srgbClr val="202A36"/>
                    </a:solidFill>
                  </a:tcPr>
                </a:tc>
                <a:tc hMerge="1">
                  <a:txBody>
                    <a:bodyPr/>
                    <a:lstStyle/>
                    <a:p>
                      <a:endParaRPr/>
                    </a:p>
                  </a:txBody>
                  <a:tcPr/>
                </a:tc>
                <a:extLst>
                  <a:ext uri="{0D108BD9-81ED-4DB2-BD59-A6C34878D82A}">
                    <a16:rowId xmlns:a16="http://schemas.microsoft.com/office/drawing/2014/main" val="10000"/>
                  </a:ext>
                </a:extLst>
              </a:tr>
              <a:tr h="457200">
                <a:tc>
                  <a:txBody>
                    <a:bodyPr/>
                    <a:lstStyle/>
                    <a:p>
                      <a:pPr algn="l">
                        <a:spcAft>
                          <a:spcPts val="0"/>
                        </a:spcAft>
                      </a:pPr>
                      <a:endParaRP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l">
                        <a:spcAft>
                          <a:spcPts val="0"/>
                        </a:spcAft>
                      </a:pPr>
                      <a:endParaRP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flagged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corrected</a:t>
                      </a:r>
                    </a:p>
                  </a:txBody>
                  <a:tcPr marL="73152" marR="73152" marT="27432" marB="27432" anchor="ctr">
                    <a:lnL w="0">
                      <a:noFill/>
                    </a:lnL>
                    <a:lnR w="0">
                      <a:noFill/>
                    </a:lnR>
                    <a:lnT w="0">
                      <a:noFill/>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flagged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202A36"/>
                    </a:solidFill>
                  </a:tcPr>
                </a:tc>
                <a:tc>
                  <a:txBody>
                    <a:bodyPr/>
                    <a:lstStyle/>
                    <a:p>
                      <a:pPr algn="ctr">
                        <a:spcAft>
                          <a:spcPts val="0"/>
                        </a:spcAft>
                      </a:pPr>
                      <a:r>
                        <a:rPr sz="1450" b="1" i="0">
                          <a:solidFill>
                            <a:srgbClr val="FFFFFF"/>
                          </a:solidFill>
                          <a:latin typeface="Calibri"/>
                        </a:rPr>
                        <a:t>corrected</a:t>
                      </a:r>
                    </a:p>
                  </a:txBody>
                  <a:tcPr marL="73152" marR="73152" marT="27432" marB="27432" anchor="ctr">
                    <a:lnL w="0">
                      <a:noFill/>
                    </a:lnL>
                    <a:lnR w="0">
                      <a:noFill/>
                    </a:lnR>
                    <a:lnT w="0">
                      <a:noFill/>
                    </a:lnT>
                    <a:lnB w="6350">
                      <a:solidFill>
                        <a:srgbClr val="C9D0D8"/>
                      </a:solidFill>
                    </a:lnB>
                    <a:solidFill>
                      <a:srgbClr val="202A36"/>
                    </a:solidFill>
                  </a:tcPr>
                </a:tc>
                <a:extLst>
                  <a:ext uri="{0D108BD9-81ED-4DB2-BD59-A6C34878D82A}">
                    <a16:rowId xmlns:a16="http://schemas.microsoft.com/office/drawing/2014/main" val="10001"/>
                  </a:ext>
                </a:extLst>
              </a:tr>
              <a:tr h="502920">
                <a:tc>
                  <a:txBody>
                    <a:bodyPr/>
                    <a:lstStyle/>
                    <a:p>
                      <a:pPr algn="l">
                        <a:spcAft>
                          <a:spcPts val="0"/>
                        </a:spcAft>
                      </a:pPr>
                      <a:r>
                        <a:rPr sz="1450" b="1" i="0">
                          <a:solidFill>
                            <a:srgbClr val="202A36"/>
                          </a:solidFill>
                          <a:latin typeface="Calibri"/>
                        </a:rPr>
                        <a:t>SRP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50" b="0" i="0">
                          <a:solidFill>
                            <a:srgbClr val="2B3440"/>
                          </a:solidFill>
                          <a:latin typeface="Calibri"/>
                        </a:rPr>
                        <a:t>class, authored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7.7%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1" i="0">
                          <a:solidFill>
                            <a:srgbClr val="2B3440"/>
                          </a:solidFill>
                          <a:latin typeface="Calibri"/>
                        </a:rPr>
                        <a:t>2.7%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50" b="0" i="0">
                          <a:solidFill>
                            <a:srgbClr val="2B3440"/>
                          </a:solidFill>
                          <a:latin typeface="Calibri"/>
                        </a:rPr>
                        <a:t>8.9%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1" i="0">
                          <a:solidFill>
                            <a:srgbClr val="2B3440"/>
                          </a:solidFill>
                          <a:latin typeface="Calibri"/>
                        </a:rPr>
                        <a:t>1.0%</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extLst>
                  <a:ext uri="{0D108BD9-81ED-4DB2-BD59-A6C34878D82A}">
                    <a16:rowId xmlns:a16="http://schemas.microsoft.com/office/drawing/2014/main" val="10002"/>
                  </a:ext>
                </a:extLst>
              </a:tr>
              <a:tr h="502920">
                <a:tc>
                  <a:txBody>
                    <a:bodyPr/>
                    <a:lstStyle/>
                    <a:p>
                      <a:pPr algn="l">
                        <a:spcAft>
                          <a:spcPts val="0"/>
                        </a:spcAft>
                      </a:pPr>
                      <a:r>
                        <a:rPr sz="1450" b="1" i="0">
                          <a:solidFill>
                            <a:srgbClr val="202A36"/>
                          </a:solidFill>
                          <a:latin typeface="Calibri"/>
                        </a:rPr>
                        <a:t>SRP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50" b="0" i="0">
                          <a:solidFill>
                            <a:srgbClr val="2B3440"/>
                          </a:solidFill>
                          <a:latin typeface="Calibri"/>
                        </a:rPr>
                        <a:t>class, all touched</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12.2%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1" i="0">
                          <a:solidFill>
                            <a:srgbClr val="2B3440"/>
                          </a:solidFill>
                          <a:latin typeface="Calibri"/>
                        </a:rPr>
                        <a:t>4.3%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50" b="0" i="0">
                          <a:solidFill>
                            <a:srgbClr val="2B3440"/>
                          </a:solidFill>
                          <a:latin typeface="Calibri"/>
                        </a:rPr>
                        <a:t>11.6%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1" i="0">
                          <a:solidFill>
                            <a:srgbClr val="2B3440"/>
                          </a:solidFill>
                          <a:latin typeface="Calibri"/>
                        </a:rPr>
                        <a:t>1.3%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extLst>
                  <a:ext uri="{0D108BD9-81ED-4DB2-BD59-A6C34878D82A}">
                    <a16:rowId xmlns:a16="http://schemas.microsoft.com/office/drawing/2014/main" val="10003"/>
                  </a:ext>
                </a:extLst>
              </a:tr>
              <a:tr h="502920">
                <a:tc>
                  <a:txBody>
                    <a:bodyPr/>
                    <a:lstStyle/>
                    <a:p>
                      <a:pPr algn="l">
                        <a:spcAft>
                          <a:spcPts val="0"/>
                        </a:spcAft>
                      </a:pPr>
                      <a:r>
                        <a:rPr sz="1450" b="1" i="0">
                          <a:solidFill>
                            <a:srgbClr val="202A36"/>
                          </a:solidFill>
                          <a:latin typeface="Calibri"/>
                        </a:rPr>
                        <a:t>OCP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50" b="0" i="0">
                          <a:solidFill>
                            <a:srgbClr val="2B3440"/>
                          </a:solidFill>
                          <a:latin typeface="Calibri"/>
                        </a:rPr>
                        <a:t>pull request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6.7%</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1" i="0">
                          <a:solidFill>
                            <a:srgbClr val="2B3440"/>
                          </a:solidFill>
                          <a:latin typeface="Calibri"/>
                        </a:rPr>
                        <a:t>2.2%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50" b="0" i="0">
                          <a:solidFill>
                            <a:srgbClr val="2B3440"/>
                          </a:solidFill>
                          <a:latin typeface="Calibri"/>
                        </a:rPr>
                        <a:t>6.4%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1" i="0">
                          <a:solidFill>
                            <a:srgbClr val="2B3440"/>
                          </a:solidFill>
                          <a:latin typeface="Calibri"/>
                        </a:rPr>
                        <a:t>2.5%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extLst>
                  <a:ext uri="{0D108BD9-81ED-4DB2-BD59-A6C34878D82A}">
                    <a16:rowId xmlns:a16="http://schemas.microsoft.com/office/drawing/2014/main" val="10004"/>
                  </a:ext>
                </a:extLst>
              </a:tr>
              <a:tr h="502920">
                <a:tc>
                  <a:txBody>
                    <a:bodyPr/>
                    <a:lstStyle/>
                    <a:p>
                      <a:pPr algn="l">
                        <a:spcAft>
                          <a:spcPts val="0"/>
                        </a:spcAft>
                      </a:pPr>
                      <a:r>
                        <a:rPr sz="1450" b="1" i="0">
                          <a:solidFill>
                            <a:srgbClr val="202A36"/>
                          </a:solidFill>
                          <a:latin typeface="Calibri"/>
                        </a:rPr>
                        <a:t>LSP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50" b="0" i="0">
                          <a:solidFill>
                            <a:srgbClr val="2B3440"/>
                          </a:solidFill>
                          <a:latin typeface="Calibri"/>
                        </a:rPr>
                        <a:t>pull request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0.4%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1" i="0">
                          <a:solidFill>
                            <a:srgbClr val="2B3440"/>
                          </a:solidFill>
                          <a:latin typeface="Calibri"/>
                        </a:rPr>
                        <a:t>0.4%</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50" b="0" i="0">
                          <a:solidFill>
                            <a:srgbClr val="2B3440"/>
                          </a:solidFill>
                          <a:latin typeface="Calibri"/>
                        </a:rPr>
                        <a:t>0.9%</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1" i="0">
                          <a:solidFill>
                            <a:srgbClr val="2B3440"/>
                          </a:solidFill>
                          <a:latin typeface="Calibri"/>
                        </a:rPr>
                        <a:t>0.5%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extLst>
                  <a:ext uri="{0D108BD9-81ED-4DB2-BD59-A6C34878D82A}">
                    <a16:rowId xmlns:a16="http://schemas.microsoft.com/office/drawing/2014/main" val="10005"/>
                  </a:ext>
                </a:extLst>
              </a:tr>
              <a:tr h="502920">
                <a:tc>
                  <a:txBody>
                    <a:bodyPr/>
                    <a:lstStyle/>
                    <a:p>
                      <a:pPr algn="l">
                        <a:spcAft>
                          <a:spcPts val="0"/>
                        </a:spcAft>
                      </a:pPr>
                      <a:r>
                        <a:rPr sz="1450" b="1" i="0">
                          <a:solidFill>
                            <a:srgbClr val="202A36"/>
                          </a:solidFill>
                          <a:latin typeface="Calibri"/>
                        </a:rPr>
                        <a:t>ISP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l">
                        <a:spcAft>
                          <a:spcPts val="0"/>
                        </a:spcAft>
                      </a:pPr>
                      <a:r>
                        <a:rPr sz="1450" b="0" i="0">
                          <a:solidFill>
                            <a:srgbClr val="2B3440"/>
                          </a:solidFill>
                          <a:latin typeface="Calibri"/>
                        </a:rPr>
                        <a:t>pull request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0" i="0">
                          <a:solidFill>
                            <a:srgbClr val="2B3440"/>
                          </a:solidFill>
                          <a:latin typeface="Calibri"/>
                        </a:rPr>
                        <a:t>6.5%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1" i="0">
                          <a:solidFill>
                            <a:srgbClr val="2B3440"/>
                          </a:solidFill>
                          <a:latin typeface="Calibri"/>
                        </a:rPr>
                        <a:t>2.2%</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50" b="0" i="0">
                          <a:solidFill>
                            <a:srgbClr val="2B3440"/>
                          </a:solidFill>
                          <a:latin typeface="Calibri"/>
                        </a:rPr>
                        <a:t>0.6%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FFFFFF"/>
                    </a:solidFill>
                  </a:tcPr>
                </a:tc>
                <a:tc>
                  <a:txBody>
                    <a:bodyPr/>
                    <a:lstStyle/>
                    <a:p>
                      <a:pPr algn="ctr">
                        <a:spcAft>
                          <a:spcPts val="0"/>
                        </a:spcAft>
                      </a:pPr>
                      <a:r>
                        <a:rPr sz="1450" b="1" i="0">
                          <a:solidFill>
                            <a:srgbClr val="2B3440"/>
                          </a:solidFill>
                          <a:latin typeface="Calibri"/>
                        </a:rPr>
                        <a:t>0.3%</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extLst>
                  <a:ext uri="{0D108BD9-81ED-4DB2-BD59-A6C34878D82A}">
                    <a16:rowId xmlns:a16="http://schemas.microsoft.com/office/drawing/2014/main" val="10006"/>
                  </a:ext>
                </a:extLst>
              </a:tr>
              <a:tr h="502920">
                <a:tc>
                  <a:txBody>
                    <a:bodyPr/>
                    <a:lstStyle/>
                    <a:p>
                      <a:pPr algn="l">
                        <a:spcAft>
                          <a:spcPts val="0"/>
                        </a:spcAft>
                      </a:pPr>
                      <a:r>
                        <a:rPr sz="1450" b="1" i="0">
                          <a:solidFill>
                            <a:srgbClr val="202A36"/>
                          </a:solidFill>
                          <a:latin typeface="Calibri"/>
                        </a:rPr>
                        <a:t>DIP</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l">
                        <a:spcAft>
                          <a:spcPts val="0"/>
                        </a:spcAft>
                      </a:pPr>
                      <a:r>
                        <a:rPr sz="1450" b="0" i="0">
                          <a:solidFill>
                            <a:srgbClr val="2B3440"/>
                          </a:solidFill>
                          <a:latin typeface="Calibri"/>
                        </a:rPr>
                        <a:t>pull request</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0" i="0">
                          <a:solidFill>
                            <a:srgbClr val="2B3440"/>
                          </a:solidFill>
                          <a:latin typeface="Calibri"/>
                        </a:rPr>
                        <a:t>4.6%</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1" i="0">
                          <a:solidFill>
                            <a:srgbClr val="2B3440"/>
                          </a:solidFill>
                          <a:latin typeface="Calibri"/>
                        </a:rPr>
                        <a:t>4.1%</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tc>
                  <a:txBody>
                    <a:bodyPr/>
                    <a:lstStyle/>
                    <a:p>
                      <a:pPr algn="ctr">
                        <a:spcAft>
                          <a:spcPts val="0"/>
                        </a:spcAft>
                      </a:pPr>
                      <a:r>
                        <a:rPr sz="1450" b="0" i="0">
                          <a:solidFill>
                            <a:srgbClr val="2B3440"/>
                          </a:solidFill>
                          <a:latin typeface="Calibri"/>
                        </a:rPr>
                        <a:t>3.5%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ECEFF3"/>
                    </a:solidFill>
                  </a:tcPr>
                </a:tc>
                <a:tc>
                  <a:txBody>
                    <a:bodyPr/>
                    <a:lstStyle/>
                    <a:p>
                      <a:pPr algn="ctr">
                        <a:spcAft>
                          <a:spcPts val="0"/>
                        </a:spcAft>
                      </a:pPr>
                      <a:r>
                        <a:rPr sz="1450" b="1" i="0">
                          <a:solidFill>
                            <a:srgbClr val="2B3440"/>
                          </a:solidFill>
                          <a:latin typeface="Calibri"/>
                        </a:rPr>
                        <a:t>3.5%</a:t>
                      </a:r>
                    </a:p>
                  </a:txBody>
                  <a:tcPr marL="73152" marR="73152" marT="27432" marB="27432" anchor="ctr">
                    <a:lnL w="0">
                      <a:noFill/>
                    </a:lnL>
                    <a:lnR w="0">
                      <a:noFill/>
                    </a:lnR>
                    <a:lnT w="6350" cap="flat" cmpd="sng" algn="ctr">
                      <a:solidFill>
                        <a:srgbClr val="C9D0D8"/>
                      </a:solidFill>
                      <a:prstDash val="solid"/>
                      <a:round/>
                      <a:headEnd type="none" w="med" len="med"/>
                      <a:tailEnd type="none" w="med" len="med"/>
                    </a:lnT>
                    <a:lnB w="6350">
                      <a:solidFill>
                        <a:srgbClr val="C9D0D8"/>
                      </a:solidFill>
                    </a:lnB>
                    <a:solidFill>
                      <a:srgbClr val="DDF4EE"/>
                    </a:solidFill>
                  </a:tcPr>
                </a:tc>
                <a:extLst>
                  <a:ext uri="{0D108BD9-81ED-4DB2-BD59-A6C34878D82A}">
                    <a16:rowId xmlns:a16="http://schemas.microsoft.com/office/drawing/2014/main" val="10007"/>
                  </a:ext>
                </a:extLst>
              </a:tr>
            </a:tbl>
          </a:graphicData>
        </a:graphic>
      </p:graphicFrame>
      <p:sp>
        <p:nvSpPr>
          <p:cNvPr id="67" name="Rounded Rectangle 66"/>
          <p:cNvSpPr/>
          <p:nvPr/>
        </p:nvSpPr>
        <p:spPr>
          <a:xfrm>
            <a:off x="612648" y="5166360"/>
            <a:ext cx="10972800" cy="914400"/>
          </a:xfrm>
          <a:prstGeom prst="roundRect">
            <a:avLst>
              <a:gd name="adj" fmla="val 8000"/>
            </a:avLst>
          </a:prstGeom>
          <a:solidFill>
            <a:srgbClr val="202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Hexagon 67"/>
          <p:cNvSpPr/>
          <p:nvPr/>
        </p:nvSpPr>
        <p:spPr>
          <a:xfrm>
            <a:off x="813816" y="5486400"/>
            <a:ext cx="316840" cy="274320"/>
          </a:xfrm>
          <a:prstGeom prst="hexagon">
            <a:avLst/>
          </a:prstGeom>
          <a:solidFill>
            <a:srgbClr val="46C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252728" y="5166360"/>
            <a:ext cx="10149840" cy="914400"/>
          </a:xfrm>
          <a:prstGeom prst="rect">
            <a:avLst/>
          </a:prstGeom>
          <a:noFill/>
        </p:spPr>
        <p:txBody>
          <a:bodyPr wrap="square" lIns="45720" rIns="45720" anchor="ctr">
            <a:spAutoFit/>
          </a:bodyPr>
          <a:lstStyle/>
          <a:p>
            <a:pPr algn="l">
              <a:spcAft>
                <a:spcPts val="0"/>
              </a:spcAft>
            </a:pPr>
            <a:r>
              <a:rPr sz="1400" b="1" i="0">
                <a:solidFill>
                  <a:srgbClr val="FFFFFF"/>
                </a:solidFill>
                <a:latin typeface="Calibri"/>
              </a:rPr>
              <a:t>Corrected = flag rate multiplied by measured precision.</a:t>
            </a:r>
            <a:r>
              <a:rPr sz="1400" b="0" i="0">
                <a:solidFill>
                  <a:srgbClr val="FFFFFF"/>
                </a:solidFill>
                <a:latin typeface="Calibri"/>
              </a:rPr>
              <a:t> The Java Liskov row is the shipped flag, refused bequest only, whose precision is 1.000.</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OMMONDATA" val="eyJoZGlkIjoiMGMzZjQ0YzYwNDg3MmQwNTgyOTg3MjJiNGQwYmE5NjcifQ=="/>
</p:tagLst>
</file>

<file path=ppt/theme/theme1.xml><?xml version="1.0" encoding="utf-8"?>
<a:theme xmlns:a="http://schemas.openxmlformats.org/drawingml/2006/main" name="第一PPT，www.1ppt.com">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69</TotalTime>
  <Words>7141</Words>
  <Application>Microsoft Office PowerPoint</Application>
  <PresentationFormat>Custom</PresentationFormat>
  <Paragraphs>1253</Paragraphs>
  <Slides>62</Slides>
  <Notes>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62</vt:i4>
      </vt:variant>
    </vt:vector>
  </HeadingPairs>
  <TitlesOfParts>
    <vt:vector size="68" baseType="lpstr">
      <vt:lpstr>微软雅黑</vt:lpstr>
      <vt:lpstr>Arial</vt:lpstr>
      <vt:lpstr>Calibri</vt:lpstr>
      <vt:lpstr>Lucida Calligraphy</vt:lpstr>
      <vt:lpstr>第一PPT，www.1ppt.com</vt:lpstr>
      <vt:lpstr>自定义设计方案</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第一PPT</Manager>
  <Company>第一PPT，www.1ppt.com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Coding Agent Quality</dc:title>
  <dc:subject>Application to Software Design Principles</dc:subject>
  <dc:creator>Akram Ben Fekih</dc:creator>
  <cp:keywords>www.1ppt.com</cp:keywords>
  <dc:description>www.1ppt.com</dc:description>
  <cp:lastModifiedBy>Akram Ben Fekih</cp:lastModifiedBy>
  <cp:revision>16</cp:revision>
  <dcterms:created xsi:type="dcterms:W3CDTF">2015-12-03T10:50:00Z</dcterms:created>
  <dcterms:modified xsi:type="dcterms:W3CDTF">2026-10-23T11:50:31Z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CDD0B6879E0342AF9946724ED9B1C392</vt:lpwstr>
  </property>
  <property fmtid="{D5CDD505-2E9C-101B-9397-08002B2CF9AE}" pid="3" name="KSOProductBuildVer">
    <vt:lpwstr>2052-11.1.0.11636</vt:lpwstr>
  </property>
</Properties>
</file>