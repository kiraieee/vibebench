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65"/>
  </p:notesMasterIdLst>
  <p:sldIdLst>
    <p:sldId id="298" r:id="rId3"/>
    <p:sldId id="300" r:id="rId4"/>
    <p:sldId id="301" r:id="rId5"/>
    <p:sldId id="302" r:id="rId6"/>
    <p:sldId id="303" r:id="rId7"/>
    <p:sldId id="304" r:id="rId8"/>
    <p:sldId id="305" r:id="rId9"/>
    <p:sldId id="306" r:id="rId10"/>
    <p:sldId id="307" r:id="rId11"/>
    <p:sldId id="308" r:id="rId12"/>
    <p:sldId id="309" r:id="rId13"/>
    <p:sldId id="310" r:id="rId14"/>
    <p:sldId id="311" r:id="rId15"/>
    <p:sldId id="312" r:id="rId16"/>
    <p:sldId id="313" r:id="rId17"/>
    <p:sldId id="314" r:id="rId18"/>
    <p:sldId id="315" r:id="rId19"/>
    <p:sldId id="316" r:id="rId20"/>
    <p:sldId id="317" r:id="rId21"/>
    <p:sldId id="318" r:id="rId22"/>
    <p:sldId id="319" r:id="rId23"/>
    <p:sldId id="320" r:id="rId24"/>
    <p:sldId id="321" r:id="rId25"/>
    <p:sldId id="322" r:id="rId26"/>
    <p:sldId id="323" r:id="rId27"/>
    <p:sldId id="324" r:id="rId28"/>
    <p:sldId id="325" r:id="rId29"/>
    <p:sldId id="326" r:id="rId30"/>
    <p:sldId id="327" r:id="rId31"/>
    <p:sldId id="328" r:id="rId32"/>
    <p:sldId id="329" r:id="rId33"/>
    <p:sldId id="330" r:id="rId34"/>
    <p:sldId id="331" r:id="rId35"/>
    <p:sldId id="332" r:id="rId36"/>
    <p:sldId id="333" r:id="rId37"/>
    <p:sldId id="334" r:id="rId38"/>
    <p:sldId id="335" r:id="rId39"/>
    <p:sldId id="336" r:id="rId40"/>
    <p:sldId id="337" r:id="rId41"/>
    <p:sldId id="338" r:id="rId42"/>
    <p:sldId id="339" r:id="rId43"/>
    <p:sldId id="340" r:id="rId44"/>
    <p:sldId id="341" r:id="rId45"/>
    <p:sldId id="342" r:id="rId46"/>
    <p:sldId id="343" r:id="rId47"/>
    <p:sldId id="344" r:id="rId48"/>
    <p:sldId id="345" r:id="rId49"/>
    <p:sldId id="346" r:id="rId50"/>
    <p:sldId id="347" r:id="rId51"/>
    <p:sldId id="348" r:id="rId52"/>
    <p:sldId id="349" r:id="rId53"/>
    <p:sldId id="350" r:id="rId54"/>
    <p:sldId id="351" r:id="rId55"/>
    <p:sldId id="352" r:id="rId56"/>
    <p:sldId id="353" r:id="rId57"/>
    <p:sldId id="354" r:id="rId58"/>
    <p:sldId id="355" r:id="rId59"/>
    <p:sldId id="356" r:id="rId60"/>
    <p:sldId id="357" r:id="rId61"/>
    <p:sldId id="358" r:id="rId62"/>
    <p:sldId id="359" r:id="rId63"/>
    <p:sldId id="360" r:id="rId64"/>
  </p:sldIdLst>
  <p:sldSz cx="12195175" cy="6858000"/>
  <p:notesSz cx="6858000" cy="9144000"/>
  <p:custDataLst>
    <p:tags r:id="rId6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33">
          <p15:clr>
            <a:srgbClr val="A4A3A4"/>
          </p15:clr>
        </p15:guide>
        <p15:guide id="2" pos="384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495E"/>
    <a:srgbClr val="202A36"/>
    <a:srgbClr val="46CEAE"/>
    <a:srgbClr val="FFFFFF"/>
    <a:srgbClr val="E8E8E8"/>
    <a:srgbClr val="F9F9F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314" autoAdjust="0"/>
  </p:normalViewPr>
  <p:slideViewPr>
    <p:cSldViewPr showGuides="1">
      <p:cViewPr varScale="1">
        <p:scale>
          <a:sx n="106" d="100"/>
          <a:sy n="106" d="100"/>
        </p:scale>
        <p:origin x="756" y="78"/>
      </p:cViewPr>
      <p:guideLst>
        <p:guide orient="horz" pos="1933"/>
        <p:guide pos="384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ags" Target="tags/tag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547A1D-12E5-456D-BF67-C0BDB0A18760}" type="datetimeFigureOut">
              <a:rPr lang="zh-CN" altLang="en-US" smtClean="0"/>
              <a:t>2026/10/23</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E5ACBAC-C8EB-45CA-967B-DC24F1263EAE}"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E5ACBAC-C8EB-45CA-967B-DC24F1263EAE}" type="slidenum">
              <a:rPr lang="zh-CN" altLang="en-US" smtClean="0"/>
              <a:t>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www.1ppt.com/xiazai/"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638" y="2130426"/>
            <a:ext cx="10365899" cy="1470025"/>
          </a:xfrm>
        </p:spPr>
        <p:txBody>
          <a:bodyPr/>
          <a:lstStyle/>
          <a:p>
            <a:r>
              <a:rPr lang="zh-CN" altLang="en-US"/>
              <a:t>单击此处编辑母版标题样式</a:t>
            </a:r>
          </a:p>
        </p:txBody>
      </p:sp>
      <p:sp>
        <p:nvSpPr>
          <p:cNvPr id="3" name="副标题 2"/>
          <p:cNvSpPr>
            <a:spLocks noGrp="1"/>
          </p:cNvSpPr>
          <p:nvPr>
            <p:ph type="subTitle" idx="1"/>
          </p:nvPr>
        </p:nvSpPr>
        <p:spPr>
          <a:xfrm>
            <a:off x="1829276" y="3886200"/>
            <a:ext cx="8536623"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E08AF93-F015-4E02-9910-15C5CE4FE8B2}" type="datetimeFigureOut">
              <a:rPr lang="zh-CN" altLang="en-US" smtClean="0"/>
              <a:t>2026/10/23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AEB412-6DE5-4D5A-AC24-F5C758543197}"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E08AF93-F015-4E02-9910-15C5CE4FE8B2}" type="datetimeFigureOut">
              <a:rPr lang="zh-CN" altLang="en-US" smtClean="0"/>
              <a:t>2026/10/23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AEB412-6DE5-4D5A-AC24-F5C758543197}"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335" y="4406901"/>
            <a:ext cx="10365899"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335" y="2906713"/>
            <a:ext cx="10365899"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E08AF93-F015-4E02-9910-15C5CE4FE8B2}" type="datetimeFigureOut">
              <a:rPr lang="zh-CN" altLang="en-US" smtClean="0"/>
              <a:t>2026/10/23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AEB412-6DE5-4D5A-AC24-F5C758543197}"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13012" y="1600201"/>
            <a:ext cx="7217596"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8233862" y="1600201"/>
            <a:ext cx="721759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0E08AF93-F015-4E02-9910-15C5CE4FE8B2}" type="datetimeFigureOut">
              <a:rPr lang="zh-CN" altLang="en-US" smtClean="0"/>
              <a:t>2026/10/23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6AEB412-6DE5-4D5A-AC24-F5C758543197}"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759" y="274638"/>
            <a:ext cx="10975658"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759" y="1535113"/>
            <a:ext cx="538832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759" y="2174875"/>
            <a:ext cx="53883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4980" y="1535113"/>
            <a:ext cx="539043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4980" y="2174875"/>
            <a:ext cx="53904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0E08AF93-F015-4E02-9910-15C5CE4FE8B2}" type="datetimeFigureOut">
              <a:rPr lang="zh-CN" altLang="en-US" smtClean="0"/>
              <a:t>2026/10/23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6AEB412-6DE5-4D5A-AC24-F5C758543197}"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609759" y="274638"/>
            <a:ext cx="10975658"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759" y="1535113"/>
            <a:ext cx="538832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759" y="2174875"/>
            <a:ext cx="53883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4980" y="1535113"/>
            <a:ext cx="539043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4980" y="2174875"/>
            <a:ext cx="53904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0E08AF93-F015-4E02-9910-15C5CE4FE8B2}" type="datetimeFigureOut">
              <a:rPr lang="zh-CN" altLang="en-US" smtClean="0"/>
              <a:t>2026/10/23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6AEB412-6DE5-4D5A-AC24-F5C758543197}" type="slidenum">
              <a:rPr lang="zh-CN" altLang="en-US" smtClean="0"/>
              <a:t>‹#›</a:t>
            </a:fld>
            <a:endParaRPr lang="zh-CN" altLang="en-US"/>
          </a:p>
        </p:txBody>
      </p:sp>
      <p:sp>
        <p:nvSpPr>
          <p:cNvPr id="11" name="TextBox 10"/>
          <p:cNvSpPr txBox="1"/>
          <p:nvPr userDrawn="1"/>
        </p:nvSpPr>
        <p:spPr>
          <a:xfrm>
            <a:off x="2209155" y="6741368"/>
            <a:ext cx="1224136" cy="118430"/>
          </a:xfrm>
          <a:prstGeom prst="rect">
            <a:avLst/>
          </a:prstGeom>
          <a:noFill/>
        </p:spPr>
        <p:txBody>
          <a:bodyPr wrap="square" rtlCol="0">
            <a:spAutoFit/>
          </a:bodyPr>
          <a:lstStyle/>
          <a:p>
            <a:pPr>
              <a:lnSpc>
                <a:spcPct val="200000"/>
              </a:lnSpc>
            </a:pPr>
            <a:r>
              <a:rPr lang="en-US" altLang="zh-CN" sz="100" dirty="0">
                <a:solidFill>
                  <a:prstClr val="black"/>
                </a:solidFill>
                <a:latin typeface="微软雅黑" panose="020B0503020204020204" pitchFamily="34" charset="-122"/>
                <a:ea typeface="微软雅黑" panose="020B0503020204020204" pitchFamily="34" charset="-122"/>
                <a:hlinkClick r:id="rId2"/>
              </a:rPr>
              <a:t>PPT</a:t>
            </a:r>
            <a:r>
              <a:rPr lang="zh-CN" altLang="en-US" sz="100" dirty="0">
                <a:solidFill>
                  <a:prstClr val="black"/>
                </a:solidFill>
                <a:latin typeface="微软雅黑" panose="020B0503020204020204" pitchFamily="34" charset="-122"/>
                <a:ea typeface="微软雅黑" panose="020B0503020204020204" pitchFamily="34" charset="-122"/>
                <a:hlinkClick r:id="rId2"/>
              </a:rPr>
              <a:t>下载</a:t>
            </a:r>
            <a:r>
              <a:rPr lang="zh-CN" altLang="en-US" sz="100" dirty="0">
                <a:solidFill>
                  <a:prstClr val="black"/>
                </a:solidFill>
                <a:latin typeface="微软雅黑" panose="020B0503020204020204" pitchFamily="34" charset="-122"/>
                <a:ea typeface="微软雅黑" panose="020B0503020204020204" pitchFamily="34" charset="-122"/>
              </a:rPr>
              <a:t> </a:t>
            </a:r>
            <a:r>
              <a:rPr lang="en-US" altLang="zh-CN" sz="100" dirty="0">
                <a:solidFill>
                  <a:prstClr val="black"/>
                </a:solidFill>
                <a:latin typeface="微软雅黑" panose="020B0503020204020204" pitchFamily="34" charset="-122"/>
                <a:ea typeface="微软雅黑" panose="020B0503020204020204" pitchFamily="34" charset="-122"/>
              </a:rPr>
              <a:t>http://www.1ppt.com/xiazai/</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E08AF93-F015-4E02-9910-15C5CE4FE8B2}" type="datetimeFigureOut">
              <a:rPr lang="zh-CN" altLang="en-US" smtClean="0"/>
              <a:t>2026/10/23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6AEB412-6DE5-4D5A-AC24-F5C758543197}"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E08AF93-F015-4E02-9910-15C5CE4FE8B2}" type="datetimeFigureOut">
              <a:rPr lang="zh-CN" altLang="en-US" smtClean="0"/>
              <a:t>2026/10/23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6AEB412-6DE5-4D5A-AC24-F5C758543197}"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759" y="273050"/>
            <a:ext cx="4012129"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974" y="273051"/>
            <a:ext cx="681744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759" y="1435101"/>
            <a:ext cx="401212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E08AF93-F015-4E02-9910-15C5CE4FE8B2}" type="datetimeFigureOut">
              <a:rPr lang="zh-CN" altLang="en-US" smtClean="0"/>
              <a:t>2026/10/23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6AEB412-6DE5-4D5A-AC24-F5C758543197}"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340" y="4800600"/>
            <a:ext cx="7317105"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90340" y="612775"/>
            <a:ext cx="731710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90340" y="5367338"/>
            <a:ext cx="731710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E08AF93-F015-4E02-9910-15C5CE4FE8B2}" type="datetimeFigureOut">
              <a:rPr lang="zh-CN" altLang="en-US" smtClean="0"/>
              <a:t>2026/10/23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6AEB412-6DE5-4D5A-AC24-F5C758543197}"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E08AF93-F015-4E02-9910-15C5CE4FE8B2}" type="datetimeFigureOut">
              <a:rPr lang="zh-CN" altLang="en-US" smtClean="0"/>
              <a:t>2026/10/23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AEB412-6DE5-4D5A-AC24-F5C758543197}"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1792903" y="274639"/>
            <a:ext cx="3658553"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13012" y="274639"/>
            <a:ext cx="10776639"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E08AF93-F015-4E02-9910-15C5CE4FE8B2}" type="datetimeFigureOut">
              <a:rPr lang="zh-CN" altLang="en-US" smtClean="0"/>
              <a:t>2026/10/23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AEB412-6DE5-4D5A-AC24-F5C758543197}"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759" y="274638"/>
            <a:ext cx="10975658"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759" y="1600201"/>
            <a:ext cx="10975658"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759" y="6356351"/>
            <a:ext cx="2845541" cy="365125"/>
          </a:xfrm>
          <a:prstGeom prst="rect">
            <a:avLst/>
          </a:prstGeom>
        </p:spPr>
        <p:txBody>
          <a:bodyPr/>
          <a:lstStyle/>
          <a:p>
            <a:fld id="{2E3AAC11-D570-4EA9-AFC0-30FB72BA45EB}" type="datetimeFigureOut">
              <a:rPr lang="zh-CN" altLang="en-US" smtClean="0">
                <a:solidFill>
                  <a:prstClr val="black"/>
                </a:solidFill>
              </a:rPr>
              <a:t>2026/10/23</a:t>
            </a:fld>
            <a:endParaRPr lang="zh-CN" altLang="en-US">
              <a:solidFill>
                <a:prstClr val="black"/>
              </a:solidFill>
            </a:endParaRPr>
          </a:p>
        </p:txBody>
      </p:sp>
      <p:sp>
        <p:nvSpPr>
          <p:cNvPr id="5" name="页脚占位符 4"/>
          <p:cNvSpPr>
            <a:spLocks noGrp="1"/>
          </p:cNvSpPr>
          <p:nvPr>
            <p:ph type="ftr" sz="quarter" idx="11"/>
          </p:nvPr>
        </p:nvSpPr>
        <p:spPr>
          <a:xfrm>
            <a:off x="4166685" y="6356351"/>
            <a:ext cx="3861805"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9875" y="6356351"/>
            <a:ext cx="2845541" cy="365125"/>
          </a:xfrm>
          <a:prstGeom prst="rect">
            <a:avLst/>
          </a:prstGeom>
        </p:spPr>
        <p:txBody>
          <a:bodyPr/>
          <a:lstStyle/>
          <a:p>
            <a:fld id="{55ECCFAA-F4FB-487C-9F1E-C8836D0C3DC9}" type="slidenum">
              <a:rPr lang="zh-CN" altLang="en-US" smtClean="0">
                <a:solidFill>
                  <a:prstClr val="black"/>
                </a:solidFill>
              </a:rPr>
              <a:t>‹#›</a:t>
            </a:fld>
            <a:endParaRPr lang="zh-CN" altLang="en-US">
              <a:solidFill>
                <a:prstClr val="black"/>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1502" y="274639"/>
            <a:ext cx="2743914"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759" y="274639"/>
            <a:ext cx="802849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759" y="6356351"/>
            <a:ext cx="2845541" cy="365125"/>
          </a:xfrm>
          <a:prstGeom prst="rect">
            <a:avLst/>
          </a:prstGeom>
        </p:spPr>
        <p:txBody>
          <a:bodyPr/>
          <a:lstStyle/>
          <a:p>
            <a:fld id="{2E3AAC11-D570-4EA9-AFC0-30FB72BA45EB}" type="datetimeFigureOut">
              <a:rPr lang="zh-CN" altLang="en-US" smtClean="0">
                <a:solidFill>
                  <a:prstClr val="black"/>
                </a:solidFill>
              </a:rPr>
              <a:t>2026/10/23</a:t>
            </a:fld>
            <a:endParaRPr lang="zh-CN" altLang="en-US">
              <a:solidFill>
                <a:prstClr val="black"/>
              </a:solidFill>
            </a:endParaRPr>
          </a:p>
        </p:txBody>
      </p:sp>
      <p:sp>
        <p:nvSpPr>
          <p:cNvPr id="5" name="页脚占位符 4"/>
          <p:cNvSpPr>
            <a:spLocks noGrp="1"/>
          </p:cNvSpPr>
          <p:nvPr>
            <p:ph type="ftr" sz="quarter" idx="11"/>
          </p:nvPr>
        </p:nvSpPr>
        <p:spPr>
          <a:xfrm>
            <a:off x="4166685" y="6356351"/>
            <a:ext cx="3861805"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9875" y="6356351"/>
            <a:ext cx="2845541" cy="365125"/>
          </a:xfrm>
          <a:prstGeom prst="rect">
            <a:avLst/>
          </a:prstGeom>
        </p:spPr>
        <p:txBody>
          <a:bodyPr/>
          <a:lstStyle/>
          <a:p>
            <a:fld id="{55ECCFAA-F4FB-487C-9F1E-C8836D0C3DC9}" type="slidenum">
              <a:rPr lang="zh-CN" altLang="en-US" smtClean="0">
                <a:solidFill>
                  <a:prstClr val="black"/>
                </a:solidFill>
              </a:rPr>
              <a:t>‹#›</a:t>
            </a:fld>
            <a:endParaRPr lang="zh-CN" altLang="en-US">
              <a:solidFill>
                <a:prstClr val="black"/>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759" y="274638"/>
            <a:ext cx="10975658"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759" y="1600201"/>
            <a:ext cx="10975658"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759" y="6356351"/>
            <a:ext cx="2845541"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08AF93-F015-4E02-9910-15C5CE4FE8B2}" type="datetimeFigureOut">
              <a:rPr lang="zh-CN" altLang="en-US" smtClean="0"/>
              <a:t>2026/10/23</a:t>
            </a:fld>
            <a:endParaRPr lang="zh-CN" altLang="en-US"/>
          </a:p>
        </p:txBody>
      </p:sp>
      <p:sp>
        <p:nvSpPr>
          <p:cNvPr id="5" name="页脚占位符 4"/>
          <p:cNvSpPr>
            <a:spLocks noGrp="1"/>
          </p:cNvSpPr>
          <p:nvPr>
            <p:ph type="ftr" sz="quarter" idx="3"/>
          </p:nvPr>
        </p:nvSpPr>
        <p:spPr>
          <a:xfrm>
            <a:off x="4166685" y="6356351"/>
            <a:ext cx="386180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9875" y="6356351"/>
            <a:ext cx="2845541"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AEB412-6DE5-4D5A-AC24-F5C758543197}"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8.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矩形 97"/>
          <p:cNvSpPr/>
          <p:nvPr/>
        </p:nvSpPr>
        <p:spPr>
          <a:xfrm>
            <a:off x="0" y="1246448"/>
            <a:ext cx="12195175" cy="2808312"/>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矩形 98"/>
          <p:cNvSpPr/>
          <p:nvPr/>
        </p:nvSpPr>
        <p:spPr>
          <a:xfrm>
            <a:off x="0" y="1390464"/>
            <a:ext cx="12195175" cy="4077072"/>
          </a:xfrm>
          <a:prstGeom prst="rect">
            <a:avLst/>
          </a:prstGeom>
          <a:solidFill>
            <a:srgbClr val="202A36"/>
          </a:solidFill>
          <a:ln>
            <a:noFill/>
          </a:ln>
          <a:effectLst>
            <a:outerShdw blurRad="165100" dist="1143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2" name="TextBox 7"/>
          <p:cNvSpPr>
            <a:spLocks noChangeArrowheads="1"/>
          </p:cNvSpPr>
          <p:nvPr/>
        </p:nvSpPr>
        <p:spPr bwMode="auto">
          <a:xfrm>
            <a:off x="69911" y="1599550"/>
            <a:ext cx="12195175"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spcAft>
                <a:spcPts val="0"/>
              </a:spcAft>
            </a:pPr>
            <a:r>
              <a:rPr lang="en-US" sz="4400" b="1" dirty="0">
                <a:solidFill>
                  <a:srgbClr val="FFFFFF"/>
                </a:solidFill>
                <a:latin typeface="Arial"/>
              </a:rPr>
              <a:t>Evaluating Coding Agent Quality</a:t>
            </a:r>
          </a:p>
        </p:txBody>
      </p:sp>
      <p:sp>
        <p:nvSpPr>
          <p:cNvPr id="134" name="TextBox 7"/>
          <p:cNvSpPr>
            <a:spLocks noChangeArrowheads="1"/>
          </p:cNvSpPr>
          <p:nvPr/>
        </p:nvSpPr>
        <p:spPr bwMode="auto">
          <a:xfrm>
            <a:off x="2499283" y="2469176"/>
            <a:ext cx="719660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spcAft>
                <a:spcPts val="0"/>
              </a:spcAft>
            </a:pPr>
            <a:r>
              <a:rPr lang="en-US" sz="2000" dirty="0">
                <a:solidFill>
                  <a:srgbClr val="E8ECF1"/>
                </a:solidFill>
                <a:latin typeface="Arial"/>
              </a:rPr>
              <a:t>Application to Software Design Principles</a:t>
            </a:r>
          </a:p>
        </p:txBody>
      </p:sp>
      <p:sp>
        <p:nvSpPr>
          <p:cNvPr id="137" name="矩形 3"/>
          <p:cNvSpPr>
            <a:spLocks noChangeArrowheads="1"/>
          </p:cNvSpPr>
          <p:nvPr/>
        </p:nvSpPr>
        <p:spPr bwMode="auto">
          <a:xfrm>
            <a:off x="5462705" y="3850885"/>
            <a:ext cx="1269764" cy="313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3" tIns="34287" rIns="68573" bIns="34287">
            <a:spAutoFit/>
          </a:bodyPr>
          <a:lstStyle/>
          <a:p>
            <a:pPr algn="ctr">
              <a:spcBef>
                <a:spcPct val="0"/>
              </a:spcBef>
              <a:buFont typeface="Arial" panose="020B0604020202020204" pitchFamily="34" charset="0"/>
              <a:buNone/>
            </a:pPr>
            <a:r>
              <a:rPr lang="zh-CN" altLang="en-US" sz="16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2</a:t>
            </a:r>
            <a:r>
              <a:rPr lang="fr-TN" altLang="zh-CN" sz="16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025/2026</a:t>
            </a:r>
            <a:endParaRPr lang="en-US" altLang="zh-CN" sz="16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57" name="TextBox 156"/>
          <p:cNvSpPr txBox="1"/>
          <p:nvPr/>
        </p:nvSpPr>
        <p:spPr>
          <a:xfrm>
            <a:off x="10850115" y="7595264"/>
            <a:ext cx="877163" cy="369332"/>
          </a:xfrm>
          <a:prstGeom prst="rect">
            <a:avLst/>
          </a:prstGeom>
          <a:noFill/>
        </p:spPr>
        <p:txBody>
          <a:bodyPr wrap="none" rtlCol="0">
            <a:spAutoFit/>
          </a:bodyPr>
          <a:lstStyle/>
          <a:p>
            <a:r>
              <a:rPr lang="zh-CN" altLang="en-US" dirty="0"/>
              <a:t>延时符</a:t>
            </a:r>
          </a:p>
        </p:txBody>
      </p:sp>
      <p:sp>
        <p:nvSpPr>
          <p:cNvPr id="2" name="TextBox 7">
            <a:extLst>
              <a:ext uri="{FF2B5EF4-FFF2-40B4-BE49-F238E27FC236}">
                <a16:creationId xmlns:a16="http://schemas.microsoft.com/office/drawing/2014/main" id="{164C76C0-B57D-1B9F-4F3E-41952BFB9861}"/>
              </a:ext>
            </a:extLst>
          </p:cNvPr>
          <p:cNvSpPr>
            <a:spLocks noChangeArrowheads="1"/>
          </p:cNvSpPr>
          <p:nvPr/>
        </p:nvSpPr>
        <p:spPr bwMode="auto">
          <a:xfrm>
            <a:off x="2569194" y="3112577"/>
            <a:ext cx="719660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spcAft>
                <a:spcPts val="0"/>
              </a:spcAft>
            </a:pPr>
            <a:r>
              <a:rPr lang="en-US" sz="1400" i="1" dirty="0">
                <a:solidFill>
                  <a:srgbClr val="E8ECF1"/>
                </a:solidFill>
                <a:latin typeface="Lucida Calligraphy" panose="03010101010101010101" pitchFamily="66" charset="0"/>
              </a:rPr>
              <a:t>in partial fulfilment of the requirements for the</a:t>
            </a:r>
          </a:p>
        </p:txBody>
      </p:sp>
      <p:sp>
        <p:nvSpPr>
          <p:cNvPr id="7" name="TextBox 6">
            <a:extLst>
              <a:ext uri="{FF2B5EF4-FFF2-40B4-BE49-F238E27FC236}">
                <a16:creationId xmlns:a16="http://schemas.microsoft.com/office/drawing/2014/main" id="{7F264774-C6A0-E8BE-A1DC-FB5A66A2BA1A}"/>
              </a:ext>
            </a:extLst>
          </p:cNvPr>
          <p:cNvSpPr txBox="1"/>
          <p:nvPr/>
        </p:nvSpPr>
        <p:spPr>
          <a:xfrm>
            <a:off x="3033773" y="3429000"/>
            <a:ext cx="6267450" cy="400110"/>
          </a:xfrm>
          <a:prstGeom prst="rect">
            <a:avLst/>
          </a:prstGeom>
          <a:noFill/>
        </p:spPr>
        <p:txBody>
          <a:bodyPr wrap="square">
            <a:spAutoFit/>
          </a:bodyPr>
          <a:lstStyle/>
          <a:p>
            <a:pPr algn="ctr"/>
            <a:r>
              <a:rPr lang="en-US" sz="2000" dirty="0">
                <a:solidFill>
                  <a:schemeClr val="bg1"/>
                </a:solidFill>
              </a:rPr>
              <a:t>RESEARCH MASTER’S DEGREE IN COMPUTER SCIENCE</a:t>
            </a:r>
            <a:endParaRPr lang="zh-CN" altLang="en-US" sz="2000" dirty="0">
              <a:solidFill>
                <a:schemeClr val="bg1"/>
              </a:solidFill>
            </a:endParaRPr>
          </a:p>
        </p:txBody>
      </p:sp>
      <p:sp>
        <p:nvSpPr>
          <p:cNvPr id="11" name="TextBox 10">
            <a:extLst>
              <a:ext uri="{FF2B5EF4-FFF2-40B4-BE49-F238E27FC236}">
                <a16:creationId xmlns:a16="http://schemas.microsoft.com/office/drawing/2014/main" id="{35DB35B1-C058-8741-2F30-DC8C02B29E01}"/>
              </a:ext>
            </a:extLst>
          </p:cNvPr>
          <p:cNvSpPr txBox="1"/>
          <p:nvPr/>
        </p:nvSpPr>
        <p:spPr>
          <a:xfrm>
            <a:off x="7051727" y="4402203"/>
            <a:ext cx="3384376" cy="369332"/>
          </a:xfrm>
          <a:prstGeom prst="rect">
            <a:avLst/>
          </a:prstGeom>
          <a:noFill/>
        </p:spPr>
        <p:txBody>
          <a:bodyPr wrap="square">
            <a:spAutoFit/>
          </a:bodyPr>
          <a:lstStyle/>
          <a:p>
            <a:r>
              <a:rPr lang="en-US" dirty="0">
                <a:solidFill>
                  <a:schemeClr val="bg1"/>
                </a:solidFill>
              </a:rPr>
              <a:t>Supervised by </a:t>
            </a:r>
            <a:r>
              <a:rPr lang="fr-TN" dirty="0">
                <a:solidFill>
                  <a:schemeClr val="bg1"/>
                </a:solidFill>
              </a:rPr>
              <a:t>Dr</a:t>
            </a:r>
            <a:r>
              <a:rPr lang="en-US" dirty="0">
                <a:solidFill>
                  <a:schemeClr val="bg1"/>
                </a:solidFill>
              </a:rPr>
              <a:t>. Maha </a:t>
            </a:r>
            <a:r>
              <a:rPr lang="en-US" dirty="0" err="1">
                <a:solidFill>
                  <a:schemeClr val="bg1"/>
                </a:solidFill>
              </a:rPr>
              <a:t>Khemaja</a:t>
            </a:r>
            <a:r>
              <a:rPr lang="en-US" dirty="0">
                <a:solidFill>
                  <a:schemeClr val="bg1"/>
                </a:solidFill>
              </a:rPr>
              <a:t> </a:t>
            </a:r>
          </a:p>
        </p:txBody>
      </p:sp>
      <p:sp>
        <p:nvSpPr>
          <p:cNvPr id="13" name="TextBox 12">
            <a:extLst>
              <a:ext uri="{FF2B5EF4-FFF2-40B4-BE49-F238E27FC236}">
                <a16:creationId xmlns:a16="http://schemas.microsoft.com/office/drawing/2014/main" id="{7BE5C1CB-7946-F86C-FA8C-CDE055D09733}"/>
              </a:ext>
            </a:extLst>
          </p:cNvPr>
          <p:cNvSpPr txBox="1"/>
          <p:nvPr/>
        </p:nvSpPr>
        <p:spPr>
          <a:xfrm>
            <a:off x="2114249" y="4402203"/>
            <a:ext cx="3024337" cy="369332"/>
          </a:xfrm>
          <a:prstGeom prst="rect">
            <a:avLst/>
          </a:prstGeom>
          <a:noFill/>
        </p:spPr>
        <p:txBody>
          <a:bodyPr wrap="square">
            <a:spAutoFit/>
          </a:bodyPr>
          <a:lstStyle/>
          <a:p>
            <a:r>
              <a:rPr lang="en-US" dirty="0">
                <a:solidFill>
                  <a:schemeClr val="bg1"/>
                </a:solidFill>
              </a:rPr>
              <a:t>Prepared by Akram Ben Fekih</a:t>
            </a:r>
          </a:p>
        </p:txBody>
      </p:sp>
      <p:sp>
        <p:nvSpPr>
          <p:cNvPr id="15" name="TextBox 14">
            <a:extLst>
              <a:ext uri="{FF2B5EF4-FFF2-40B4-BE49-F238E27FC236}">
                <a16:creationId xmlns:a16="http://schemas.microsoft.com/office/drawing/2014/main" id="{CC2AE9BA-CAFA-50C7-455E-42132B5A8D1E}"/>
              </a:ext>
            </a:extLst>
          </p:cNvPr>
          <p:cNvSpPr txBox="1"/>
          <p:nvPr/>
        </p:nvSpPr>
        <p:spPr>
          <a:xfrm>
            <a:off x="4405399" y="5009797"/>
            <a:ext cx="3384376" cy="369332"/>
          </a:xfrm>
          <a:prstGeom prst="rect">
            <a:avLst/>
          </a:prstGeom>
          <a:noFill/>
        </p:spPr>
        <p:txBody>
          <a:bodyPr wrap="square">
            <a:spAutoFit/>
          </a:bodyPr>
          <a:lstStyle/>
          <a:p>
            <a:pPr algn="ctr"/>
            <a:r>
              <a:rPr lang="fr-TN" dirty="0">
                <a:solidFill>
                  <a:schemeClr val="bg1"/>
                </a:solidFill>
              </a:rPr>
              <a:t>Jury:</a:t>
            </a:r>
            <a:r>
              <a:rPr lang="en-US" dirty="0">
                <a:solidFill>
                  <a:schemeClr val="bg1"/>
                </a:solidFill>
              </a:rPr>
              <a:t xml:space="preserve"> ____________________</a:t>
            </a:r>
            <a:endParaRPr lang="en-US" dirty="0">
              <a:solidFill>
                <a:schemeClr val="bg1"/>
              </a:solidFill>
            </a:endParaRPr>
          </a:p>
        </p:txBody>
      </p:sp>
      <p:pic>
        <p:nvPicPr>
          <p:cNvPr id="17" name="Picture 16">
            <a:extLst>
              <a:ext uri="{FF2B5EF4-FFF2-40B4-BE49-F238E27FC236}">
                <a16:creationId xmlns:a16="http://schemas.microsoft.com/office/drawing/2014/main" id="{DF625D6A-16F3-C1F2-1F44-4B8DB895B2EB}"/>
              </a:ext>
            </a:extLst>
          </p:cNvPr>
          <p:cNvPicPr>
            <a:picLocks noChangeAspect="1"/>
          </p:cNvPicPr>
          <p:nvPr/>
        </p:nvPicPr>
        <p:blipFill>
          <a:blip r:embed="rId3"/>
          <a:srcRect/>
          <a:stretch>
            <a:fillRect/>
          </a:stretch>
        </p:blipFill>
        <p:spPr>
          <a:xfrm>
            <a:off x="222403" y="178357"/>
            <a:ext cx="1483004" cy="752374"/>
          </a:xfrm>
          <a:prstGeom prst="rect">
            <a:avLst/>
          </a:prstGeom>
        </p:spPr>
      </p:pic>
      <p:pic>
        <p:nvPicPr>
          <p:cNvPr id="19" name="Picture 18">
            <a:extLst>
              <a:ext uri="{FF2B5EF4-FFF2-40B4-BE49-F238E27FC236}">
                <a16:creationId xmlns:a16="http://schemas.microsoft.com/office/drawing/2014/main" id="{9B34C75E-F665-1968-8724-687035216675}"/>
              </a:ext>
            </a:extLst>
          </p:cNvPr>
          <p:cNvPicPr>
            <a:picLocks noChangeAspect="1"/>
          </p:cNvPicPr>
          <p:nvPr/>
        </p:nvPicPr>
        <p:blipFill>
          <a:blip r:embed="rId4"/>
          <a:srcRect/>
          <a:stretch>
            <a:fillRect/>
          </a:stretch>
        </p:blipFill>
        <p:spPr>
          <a:xfrm>
            <a:off x="5701733" y="114003"/>
            <a:ext cx="791707" cy="939927"/>
          </a:xfrm>
          <a:prstGeom prst="rect">
            <a:avLst/>
          </a:prstGeom>
        </p:spPr>
      </p:pic>
      <p:pic>
        <p:nvPicPr>
          <p:cNvPr id="21" name="Picture 20">
            <a:extLst>
              <a:ext uri="{FF2B5EF4-FFF2-40B4-BE49-F238E27FC236}">
                <a16:creationId xmlns:a16="http://schemas.microsoft.com/office/drawing/2014/main" id="{BF25C3A8-514B-EBB1-66FF-7ED167481FF5}"/>
              </a:ext>
            </a:extLst>
          </p:cNvPr>
          <p:cNvPicPr>
            <a:picLocks noChangeAspect="1"/>
          </p:cNvPicPr>
          <p:nvPr/>
        </p:nvPicPr>
        <p:blipFill>
          <a:blip r:embed="rId5"/>
          <a:srcRect/>
          <a:stretch>
            <a:fillRect/>
          </a:stretch>
        </p:blipFill>
        <p:spPr>
          <a:xfrm>
            <a:off x="10604620" y="88639"/>
            <a:ext cx="1368151" cy="93757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1000"/>
                                        <p:tgtEl>
                                          <p:spTgt spid="98"/>
                                        </p:tgtEl>
                                      </p:cBhvr>
                                    </p:animEffect>
                                    <p:anim calcmode="lin" valueType="num">
                                      <p:cBhvr>
                                        <p:cTn id="8" dur="1000" fill="hold"/>
                                        <p:tgtEl>
                                          <p:spTgt spid="98"/>
                                        </p:tgtEl>
                                        <p:attrNameLst>
                                          <p:attrName>ppt_x</p:attrName>
                                        </p:attrNameLst>
                                      </p:cBhvr>
                                      <p:tavLst>
                                        <p:tav tm="0">
                                          <p:val>
                                            <p:strVal val="#ppt_x"/>
                                          </p:val>
                                        </p:tav>
                                        <p:tav tm="100000">
                                          <p:val>
                                            <p:strVal val="#ppt_x"/>
                                          </p:val>
                                        </p:tav>
                                      </p:tavLst>
                                    </p:anim>
                                    <p:anim calcmode="lin" valueType="num">
                                      <p:cBhvr>
                                        <p:cTn id="9" dur="1000" fill="hold"/>
                                        <p:tgtEl>
                                          <p:spTgt spid="9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childTnLst>
                                    <p:set>
                                      <p:cBhvr>
                                        <p:cTn id="11" dur="1" fill="hold">
                                          <p:stCondLst>
                                            <p:cond delay="0"/>
                                          </p:stCondLst>
                                        </p:cTn>
                                        <p:tgtEl>
                                          <p:spTgt spid="99"/>
                                        </p:tgtEl>
                                        <p:attrNameLst>
                                          <p:attrName>style.visibility</p:attrName>
                                        </p:attrNameLst>
                                      </p:cBhvr>
                                      <p:to>
                                        <p:strVal val="visible"/>
                                      </p:to>
                                    </p:set>
                                    <p:animEffect transition="in" filter="fade">
                                      <p:cBhvr>
                                        <p:cTn id="12" dur="1000"/>
                                        <p:tgtEl>
                                          <p:spTgt spid="99"/>
                                        </p:tgtEl>
                                      </p:cBhvr>
                                    </p:animEffect>
                                    <p:anim calcmode="lin" valueType="num">
                                      <p:cBhvr>
                                        <p:cTn id="13" dur="1000" fill="hold"/>
                                        <p:tgtEl>
                                          <p:spTgt spid="99"/>
                                        </p:tgtEl>
                                        <p:attrNameLst>
                                          <p:attrName>ppt_x</p:attrName>
                                        </p:attrNameLst>
                                      </p:cBhvr>
                                      <p:tavLst>
                                        <p:tav tm="0">
                                          <p:val>
                                            <p:strVal val="#ppt_x"/>
                                          </p:val>
                                        </p:tav>
                                        <p:tav tm="100000">
                                          <p:val>
                                            <p:strVal val="#ppt_x"/>
                                          </p:val>
                                        </p:tav>
                                      </p:tavLst>
                                    </p:anim>
                                    <p:anim calcmode="lin" valueType="num">
                                      <p:cBhvr>
                                        <p:cTn id="14" dur="1000" fill="hold"/>
                                        <p:tgtEl>
                                          <p:spTgt spid="99"/>
                                        </p:tgtEl>
                                        <p:attrNameLst>
                                          <p:attrName>ppt_y</p:attrName>
                                        </p:attrNameLst>
                                      </p:cBhvr>
                                      <p:tavLst>
                                        <p:tav tm="0">
                                          <p:val>
                                            <p:strVal val="#ppt_y+.1"/>
                                          </p:val>
                                        </p:tav>
                                        <p:tav tm="100000">
                                          <p:val>
                                            <p:strVal val="#ppt_y"/>
                                          </p:val>
                                        </p:tav>
                                      </p:tavLst>
                                    </p:anim>
                                  </p:childTnLst>
                                </p:cTn>
                              </p:par>
                              <p:par>
                                <p:cTn id="15" presetID="52" presetClass="entr" presetSubtype="0" fill="hold" grpId="0" nodeType="withEffect">
                                  <p:stCondLst>
                                    <p:cond delay="500"/>
                                  </p:stCondLst>
                                  <p:iterate type="lt">
                                    <p:tmPct val="10000"/>
                                  </p:iterate>
                                  <p:childTnLst>
                                    <p:set>
                                      <p:cBhvr>
                                        <p:cTn id="16" dur="1" fill="hold">
                                          <p:stCondLst>
                                            <p:cond delay="0"/>
                                          </p:stCondLst>
                                        </p:cTn>
                                        <p:tgtEl>
                                          <p:spTgt spid="132"/>
                                        </p:tgtEl>
                                        <p:attrNameLst>
                                          <p:attrName>style.visibility</p:attrName>
                                        </p:attrNameLst>
                                      </p:cBhvr>
                                      <p:to>
                                        <p:strVal val="visible"/>
                                      </p:to>
                                    </p:set>
                                    <p:animScale>
                                      <p:cBhvr>
                                        <p:cTn id="17" dur="1000" decel="50000" fill="hold">
                                          <p:stCondLst>
                                            <p:cond delay="0"/>
                                          </p:stCondLst>
                                        </p:cTn>
                                        <p:tgtEl>
                                          <p:spTgt spid="13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8" dur="1000" decel="50000" fill="hold">
                                          <p:stCondLst>
                                            <p:cond delay="0"/>
                                          </p:stCondLst>
                                        </p:cTn>
                                        <p:tgtEl>
                                          <p:spTgt spid="132"/>
                                        </p:tgtEl>
                                        <p:attrNameLst>
                                          <p:attrName>ppt_x</p:attrName>
                                          <p:attrName>ppt_y</p:attrName>
                                        </p:attrNameLst>
                                      </p:cBhvr>
                                    </p:animMotion>
                                    <p:animEffect transition="in" filter="fade">
                                      <p:cBhvr>
                                        <p:cTn id="19" dur="1000"/>
                                        <p:tgtEl>
                                          <p:spTgt spid="132"/>
                                        </p:tgtEl>
                                      </p:cBhvr>
                                    </p:animEffect>
                                  </p:childTnLst>
                                </p:cTn>
                              </p:par>
                              <p:par>
                                <p:cTn id="20" presetID="22" presetClass="entr" presetSubtype="8" fill="hold" grpId="0" nodeType="withEffect">
                                  <p:stCondLst>
                                    <p:cond delay="1500"/>
                                  </p:stCondLst>
                                  <p:childTnLst>
                                    <p:set>
                                      <p:cBhvr>
                                        <p:cTn id="21" dur="1" fill="hold">
                                          <p:stCondLst>
                                            <p:cond delay="0"/>
                                          </p:stCondLst>
                                        </p:cTn>
                                        <p:tgtEl>
                                          <p:spTgt spid="134"/>
                                        </p:tgtEl>
                                        <p:attrNameLst>
                                          <p:attrName>style.visibility</p:attrName>
                                        </p:attrNameLst>
                                      </p:cBhvr>
                                      <p:to>
                                        <p:strVal val="visible"/>
                                      </p:to>
                                    </p:set>
                                    <p:animEffect transition="in" filter="wipe(left)">
                                      <p:cBhvr>
                                        <p:cTn id="22" dur="800"/>
                                        <p:tgtEl>
                                          <p:spTgt spid="134"/>
                                        </p:tgtEl>
                                      </p:cBhvr>
                                    </p:animEffect>
                                  </p:childTnLst>
                                </p:cTn>
                              </p:par>
                            </p:childTnLst>
                          </p:cTn>
                        </p:par>
                        <p:par>
                          <p:cTn id="23" fill="hold">
                            <p:stCondLst>
                              <p:cond delay="4200"/>
                            </p:stCondLst>
                            <p:childTnLst>
                              <p:par>
                                <p:cTn id="24" presetID="22" presetClass="entr" presetSubtype="8" fill="hold" grpId="0" nodeType="afterEffect">
                                  <p:stCondLst>
                                    <p:cond delay="0"/>
                                  </p:stCondLst>
                                  <p:childTnLst>
                                    <p:set>
                                      <p:cBhvr>
                                        <p:cTn id="25" dur="1" fill="hold">
                                          <p:stCondLst>
                                            <p:cond delay="0"/>
                                          </p:stCondLst>
                                        </p:cTn>
                                        <p:tgtEl>
                                          <p:spTgt spid="137"/>
                                        </p:tgtEl>
                                        <p:attrNameLst>
                                          <p:attrName>style.visibility</p:attrName>
                                        </p:attrNameLst>
                                      </p:cBhvr>
                                      <p:to>
                                        <p:strVal val="visible"/>
                                      </p:to>
                                    </p:set>
                                    <p:animEffect transition="in" filter="wipe(left)">
                                      <p:cBhvr>
                                        <p:cTn id="26" dur="500"/>
                                        <p:tgtEl>
                                          <p:spTgt spid="137"/>
                                        </p:tgtEl>
                                      </p:cBhvr>
                                    </p:animEffect>
                                  </p:childTnLst>
                                </p:cTn>
                              </p:par>
                            </p:childTnLst>
                          </p:cTn>
                        </p:par>
                        <p:par>
                          <p:cTn id="27" fill="hold">
                            <p:stCondLst>
                              <p:cond delay="4700"/>
                            </p:stCondLst>
                            <p:childTnLst>
                              <p:par>
                                <p:cTn id="28" presetID="10" presetClass="entr" presetSubtype="0" fill="hold" grpId="0" nodeType="afterEffect">
                                  <p:stCondLst>
                                    <p:cond delay="0"/>
                                  </p:stCondLst>
                                  <p:childTnLst>
                                    <p:set>
                                      <p:cBhvr>
                                        <p:cTn id="29" dur="1" fill="hold">
                                          <p:stCondLst>
                                            <p:cond delay="0"/>
                                          </p:stCondLst>
                                        </p:cTn>
                                        <p:tgtEl>
                                          <p:spTgt spid="157"/>
                                        </p:tgtEl>
                                        <p:attrNameLst>
                                          <p:attrName>style.visibility</p:attrName>
                                        </p:attrNameLst>
                                      </p:cBhvr>
                                      <p:to>
                                        <p:strVal val="visible"/>
                                      </p:to>
                                    </p:set>
                                    <p:animEffect transition="in" filter="fade">
                                      <p:cBhvr>
                                        <p:cTn id="30" dur="1250"/>
                                        <p:tgtEl>
                                          <p:spTgt spid="157"/>
                                        </p:tgtEl>
                                      </p:cBhvr>
                                    </p:animEffect>
                                  </p:childTnLst>
                                </p:cTn>
                              </p:par>
                              <p:par>
                                <p:cTn id="31" presetID="22" presetClass="entr" presetSubtype="8" fill="hold" grpId="0" nodeType="withEffect">
                                  <p:stCondLst>
                                    <p:cond delay="1500"/>
                                  </p:stCondLst>
                                  <p:childTnLst>
                                    <p:set>
                                      <p:cBhvr>
                                        <p:cTn id="32" dur="1" fill="hold">
                                          <p:stCondLst>
                                            <p:cond delay="0"/>
                                          </p:stCondLst>
                                        </p:cTn>
                                        <p:tgtEl>
                                          <p:spTgt spid="2"/>
                                        </p:tgtEl>
                                        <p:attrNameLst>
                                          <p:attrName>style.visibility</p:attrName>
                                        </p:attrNameLst>
                                      </p:cBhvr>
                                      <p:to>
                                        <p:strVal val="visible"/>
                                      </p:to>
                                    </p:set>
                                    <p:animEffect transition="in" filter="wipe(left)">
                                      <p:cBhvr>
                                        <p:cTn id="33" dur="8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animBg="1"/>
      <p:bldP spid="99" grpId="0" animBg="1"/>
      <p:bldP spid="132" grpId="0"/>
      <p:bldP spid="134" grpId="0"/>
      <p:bldP spid="137" grpId="0"/>
      <p:bldP spid="157" grpId="0"/>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椭圆 30"/>
          <p:cNvSpPr/>
          <p:nvPr/>
        </p:nvSpPr>
        <p:spPr>
          <a:xfrm>
            <a:off x="999918" y="-456465"/>
            <a:ext cx="3728322" cy="3728322"/>
          </a:xfrm>
          <a:prstGeom prst="ellipse">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1176433" y="-279950"/>
            <a:ext cx="3375292" cy="3375292"/>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TextBox 32"/>
          <p:cNvSpPr txBox="1"/>
          <p:nvPr/>
        </p:nvSpPr>
        <p:spPr>
          <a:xfrm>
            <a:off x="1005840" y="1051560"/>
            <a:ext cx="3712464" cy="914400"/>
          </a:xfrm>
          <a:prstGeom prst="rect">
            <a:avLst/>
          </a:prstGeom>
          <a:noFill/>
        </p:spPr>
        <p:txBody>
          <a:bodyPr wrap="square" lIns="45720" tIns="27432" rIns="45720" bIns="27432" anchor="ctr">
            <a:spAutoFit/>
          </a:bodyPr>
          <a:lstStyle/>
          <a:p>
            <a:pPr algn="ctr">
              <a:spcAft>
                <a:spcPts val="0"/>
              </a:spcAft>
            </a:pPr>
            <a:r>
              <a:rPr sz="4000" b="1" i="0">
                <a:solidFill>
                  <a:srgbClr val="FFFFFF"/>
                </a:solidFill>
                <a:latin typeface="Arial"/>
              </a:rPr>
              <a:t>Outline</a:t>
            </a:r>
          </a:p>
        </p:txBody>
      </p:sp>
      <p:sp>
        <p:nvSpPr>
          <p:cNvPr id="34" name="TextBox 33"/>
          <p:cNvSpPr txBox="1"/>
          <p:nvPr/>
        </p:nvSpPr>
        <p:spPr>
          <a:xfrm>
            <a:off x="731520" y="5486400"/>
            <a:ext cx="4023360" cy="731520"/>
          </a:xfrm>
          <a:prstGeom prst="rect">
            <a:avLst/>
          </a:prstGeom>
          <a:noFill/>
        </p:spPr>
        <p:txBody>
          <a:bodyPr wrap="square" lIns="45720" tIns="27432" rIns="45720" bIns="27432" anchor="b">
            <a:spAutoFit/>
          </a:bodyPr>
          <a:lstStyle/>
          <a:p>
            <a:pPr algn="l">
              <a:spcAft>
                <a:spcPts val="0"/>
              </a:spcAft>
            </a:pPr>
            <a:r>
              <a:rPr sz="1400" b="1" i="0">
                <a:solidFill>
                  <a:srgbClr val="202A36"/>
                </a:solidFill>
                <a:latin typeface="Arial"/>
              </a:rPr>
              <a:t>Evaluating Coding Agent Quality</a:t>
            </a:r>
          </a:p>
          <a:p>
            <a:pPr algn="l">
              <a:spcAft>
                <a:spcPts val="0"/>
              </a:spcAft>
            </a:pPr>
            <a:r>
              <a:rPr sz="1300" b="0" i="0">
                <a:solidFill>
                  <a:srgbClr val="5C6773"/>
                </a:solidFill>
                <a:latin typeface="Arial"/>
              </a:rPr>
              <a:t>Application to Software Design Principles</a:t>
            </a:r>
          </a:p>
        </p:txBody>
      </p:sp>
      <p:cxnSp>
        <p:nvCxnSpPr>
          <p:cNvPr id="35" name="Connector 34"/>
          <p:cNvCxnSpPr/>
          <p:nvPr/>
        </p:nvCxnSpPr>
        <p:spPr>
          <a:xfrm>
            <a:off x="5257800" y="914400"/>
            <a:ext cx="0" cy="4828032"/>
          </a:xfrm>
          <a:prstGeom prst="line">
            <a:avLst/>
          </a:prstGeom>
          <a:ln w="19050">
            <a:solidFill>
              <a:srgbClr val="8E98A5"/>
            </a:solidFill>
            <a:prstDash val="dash"/>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4983480" y="640080"/>
            <a:ext cx="548640" cy="548640"/>
          </a:xfrm>
          <a:prstGeom prst="ellipse">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983480" y="640080"/>
            <a:ext cx="548640" cy="548640"/>
          </a:xfrm>
          <a:prstGeom prst="rect">
            <a:avLst/>
          </a:prstGeom>
          <a:noFill/>
        </p:spPr>
        <p:txBody>
          <a:bodyPr wrap="square" lIns="0" tIns="0" rIns="0" bIns="0" anchor="ctr">
            <a:spAutoFit/>
          </a:bodyPr>
          <a:lstStyle/>
          <a:p>
            <a:pPr algn="ctr">
              <a:spcAft>
                <a:spcPts val="0"/>
              </a:spcAft>
            </a:pPr>
            <a:r>
              <a:rPr sz="1800" b="1" i="0">
                <a:solidFill>
                  <a:srgbClr val="FFFFFF"/>
                </a:solidFill>
                <a:latin typeface="Arial"/>
              </a:rPr>
              <a:t>1</a:t>
            </a:r>
          </a:p>
        </p:txBody>
      </p:sp>
      <p:sp>
        <p:nvSpPr>
          <p:cNvPr id="38" name="TextBox 37"/>
          <p:cNvSpPr txBox="1"/>
          <p:nvPr/>
        </p:nvSpPr>
        <p:spPr>
          <a:xfrm>
            <a:off x="5760720" y="603504"/>
            <a:ext cx="6035040" cy="237744"/>
          </a:xfrm>
          <a:prstGeom prst="rect">
            <a:avLst/>
          </a:prstGeom>
          <a:noFill/>
        </p:spPr>
        <p:txBody>
          <a:bodyPr wrap="square" lIns="18288" tIns="0" rIns="18288" bIns="0" anchor="b">
            <a:spAutoFit/>
          </a:bodyPr>
          <a:lstStyle/>
          <a:p>
            <a:pPr algn="l">
              <a:spcAft>
                <a:spcPts val="0"/>
              </a:spcAft>
            </a:pPr>
            <a:r>
              <a:rPr sz="1100" b="1" i="0">
                <a:solidFill>
                  <a:srgbClr val="1F9C82"/>
                </a:solidFill>
                <a:latin typeface="Arial"/>
              </a:rPr>
              <a:t>PART 01</a:t>
            </a:r>
          </a:p>
        </p:txBody>
      </p:sp>
      <p:sp>
        <p:nvSpPr>
          <p:cNvPr id="39" name="TextBox 38"/>
          <p:cNvSpPr txBox="1"/>
          <p:nvPr/>
        </p:nvSpPr>
        <p:spPr>
          <a:xfrm>
            <a:off x="5760720" y="841248"/>
            <a:ext cx="6126480" cy="365760"/>
          </a:xfrm>
          <a:prstGeom prst="rect">
            <a:avLst/>
          </a:prstGeom>
          <a:noFill/>
        </p:spPr>
        <p:txBody>
          <a:bodyPr wrap="square" lIns="18288" tIns="0" rIns="18288" bIns="0" anchor="t">
            <a:spAutoFit/>
          </a:bodyPr>
          <a:lstStyle/>
          <a:p>
            <a:pPr algn="l">
              <a:spcAft>
                <a:spcPts val="0"/>
              </a:spcAft>
            </a:pPr>
            <a:r>
              <a:rPr sz="1700" b="1" i="0">
                <a:solidFill>
                  <a:srgbClr val="202A36"/>
                </a:solidFill>
                <a:latin typeface="Arial"/>
              </a:rPr>
              <a:t>Context and problem</a:t>
            </a:r>
          </a:p>
        </p:txBody>
      </p:sp>
      <p:sp>
        <p:nvSpPr>
          <p:cNvPr id="40" name="Oval 39"/>
          <p:cNvSpPr/>
          <p:nvPr/>
        </p:nvSpPr>
        <p:spPr>
          <a:xfrm>
            <a:off x="4983480" y="1444752"/>
            <a:ext cx="548640" cy="548640"/>
          </a:xfrm>
          <a:prstGeom prst="ellipse">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983480" y="1444752"/>
            <a:ext cx="548640" cy="548640"/>
          </a:xfrm>
          <a:prstGeom prst="rect">
            <a:avLst/>
          </a:prstGeom>
          <a:noFill/>
        </p:spPr>
        <p:txBody>
          <a:bodyPr wrap="square" lIns="0" tIns="0" rIns="0" bIns="0" anchor="ctr">
            <a:spAutoFit/>
          </a:bodyPr>
          <a:lstStyle/>
          <a:p>
            <a:pPr algn="ctr">
              <a:spcAft>
                <a:spcPts val="0"/>
              </a:spcAft>
            </a:pPr>
            <a:r>
              <a:rPr sz="1800" b="1" i="0">
                <a:solidFill>
                  <a:srgbClr val="FFFFFF"/>
                </a:solidFill>
                <a:latin typeface="Arial"/>
              </a:rPr>
              <a:t>2</a:t>
            </a:r>
          </a:p>
        </p:txBody>
      </p:sp>
      <p:sp>
        <p:nvSpPr>
          <p:cNvPr id="42" name="TextBox 41"/>
          <p:cNvSpPr txBox="1"/>
          <p:nvPr/>
        </p:nvSpPr>
        <p:spPr>
          <a:xfrm>
            <a:off x="5760720" y="1408176"/>
            <a:ext cx="6035040" cy="237744"/>
          </a:xfrm>
          <a:prstGeom prst="rect">
            <a:avLst/>
          </a:prstGeom>
          <a:noFill/>
        </p:spPr>
        <p:txBody>
          <a:bodyPr wrap="square" lIns="18288" tIns="0" rIns="18288" bIns="0" anchor="b">
            <a:spAutoFit/>
          </a:bodyPr>
          <a:lstStyle/>
          <a:p>
            <a:pPr algn="l">
              <a:spcAft>
                <a:spcPts val="0"/>
              </a:spcAft>
            </a:pPr>
            <a:r>
              <a:rPr sz="1100" b="1" i="0">
                <a:solidFill>
                  <a:srgbClr val="1F9C82"/>
                </a:solidFill>
                <a:latin typeface="Arial"/>
              </a:rPr>
              <a:t>PART 02</a:t>
            </a:r>
          </a:p>
        </p:txBody>
      </p:sp>
      <p:sp>
        <p:nvSpPr>
          <p:cNvPr id="43" name="TextBox 42"/>
          <p:cNvSpPr txBox="1"/>
          <p:nvPr/>
        </p:nvSpPr>
        <p:spPr>
          <a:xfrm>
            <a:off x="5760720" y="1645920"/>
            <a:ext cx="6126480" cy="365760"/>
          </a:xfrm>
          <a:prstGeom prst="rect">
            <a:avLst/>
          </a:prstGeom>
          <a:noFill/>
        </p:spPr>
        <p:txBody>
          <a:bodyPr wrap="square" lIns="18288" tIns="0" rIns="18288" bIns="0" anchor="t">
            <a:spAutoFit/>
          </a:bodyPr>
          <a:lstStyle/>
          <a:p>
            <a:pPr algn="l">
              <a:spcAft>
                <a:spcPts val="0"/>
              </a:spcAft>
            </a:pPr>
            <a:r>
              <a:rPr sz="1700" b="1" i="0">
                <a:solidFill>
                  <a:srgbClr val="202A36"/>
                </a:solidFill>
                <a:latin typeface="Arial"/>
              </a:rPr>
              <a:t>State of the art and research questions</a:t>
            </a:r>
          </a:p>
        </p:txBody>
      </p:sp>
      <p:sp>
        <p:nvSpPr>
          <p:cNvPr id="44" name="Oval 43"/>
          <p:cNvSpPr/>
          <p:nvPr/>
        </p:nvSpPr>
        <p:spPr>
          <a:xfrm>
            <a:off x="4983480" y="2249424"/>
            <a:ext cx="548640" cy="548640"/>
          </a:xfrm>
          <a:prstGeom prst="ellipse">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983480" y="2249424"/>
            <a:ext cx="548640" cy="548640"/>
          </a:xfrm>
          <a:prstGeom prst="rect">
            <a:avLst/>
          </a:prstGeom>
          <a:noFill/>
        </p:spPr>
        <p:txBody>
          <a:bodyPr wrap="square" lIns="0" tIns="0" rIns="0" bIns="0" anchor="ctr">
            <a:spAutoFit/>
          </a:bodyPr>
          <a:lstStyle/>
          <a:p>
            <a:pPr algn="ctr">
              <a:spcAft>
                <a:spcPts val="0"/>
              </a:spcAft>
            </a:pPr>
            <a:r>
              <a:rPr sz="1800" b="1" i="0">
                <a:solidFill>
                  <a:srgbClr val="FFFFFF"/>
                </a:solidFill>
                <a:latin typeface="Arial"/>
              </a:rPr>
              <a:t>3</a:t>
            </a:r>
          </a:p>
        </p:txBody>
      </p:sp>
      <p:sp>
        <p:nvSpPr>
          <p:cNvPr id="46" name="TextBox 45"/>
          <p:cNvSpPr txBox="1"/>
          <p:nvPr/>
        </p:nvSpPr>
        <p:spPr>
          <a:xfrm>
            <a:off x="5760720" y="2212848"/>
            <a:ext cx="6035040" cy="237744"/>
          </a:xfrm>
          <a:prstGeom prst="rect">
            <a:avLst/>
          </a:prstGeom>
          <a:noFill/>
        </p:spPr>
        <p:txBody>
          <a:bodyPr wrap="square" lIns="18288" tIns="0" rIns="18288" bIns="0" anchor="b">
            <a:spAutoFit/>
          </a:bodyPr>
          <a:lstStyle/>
          <a:p>
            <a:pPr algn="l">
              <a:spcAft>
                <a:spcPts val="0"/>
              </a:spcAft>
            </a:pPr>
            <a:r>
              <a:rPr sz="1100" b="1" i="0">
                <a:solidFill>
                  <a:srgbClr val="1F9C82"/>
                </a:solidFill>
                <a:latin typeface="Arial"/>
              </a:rPr>
              <a:t>PART 03</a:t>
            </a:r>
          </a:p>
        </p:txBody>
      </p:sp>
      <p:sp>
        <p:nvSpPr>
          <p:cNvPr id="47" name="TextBox 46"/>
          <p:cNvSpPr txBox="1"/>
          <p:nvPr/>
        </p:nvSpPr>
        <p:spPr>
          <a:xfrm>
            <a:off x="5760720" y="2450592"/>
            <a:ext cx="6126480" cy="365760"/>
          </a:xfrm>
          <a:prstGeom prst="rect">
            <a:avLst/>
          </a:prstGeom>
          <a:noFill/>
        </p:spPr>
        <p:txBody>
          <a:bodyPr wrap="square" lIns="18288" tIns="0" rIns="18288" bIns="0" anchor="t">
            <a:spAutoFit/>
          </a:bodyPr>
          <a:lstStyle/>
          <a:p>
            <a:pPr algn="l">
              <a:spcAft>
                <a:spcPts val="0"/>
              </a:spcAft>
            </a:pPr>
            <a:r>
              <a:rPr sz="1700" b="1" i="0">
                <a:solidFill>
                  <a:srgbClr val="202A36"/>
                </a:solidFill>
                <a:latin typeface="Arial"/>
              </a:rPr>
              <a:t>Method: corpus, pipeline, before/after delta</a:t>
            </a:r>
          </a:p>
        </p:txBody>
      </p:sp>
      <p:sp>
        <p:nvSpPr>
          <p:cNvPr id="48" name="Oval 47"/>
          <p:cNvSpPr/>
          <p:nvPr/>
        </p:nvSpPr>
        <p:spPr>
          <a:xfrm>
            <a:off x="4983480" y="3054096"/>
            <a:ext cx="548640" cy="548640"/>
          </a:xfrm>
          <a:prstGeom prst="ellipse">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983480" y="3054096"/>
            <a:ext cx="548640" cy="548640"/>
          </a:xfrm>
          <a:prstGeom prst="rect">
            <a:avLst/>
          </a:prstGeom>
          <a:noFill/>
        </p:spPr>
        <p:txBody>
          <a:bodyPr wrap="square" lIns="0" tIns="0" rIns="0" bIns="0" anchor="ctr">
            <a:spAutoFit/>
          </a:bodyPr>
          <a:lstStyle/>
          <a:p>
            <a:pPr algn="ctr">
              <a:spcAft>
                <a:spcPts val="0"/>
              </a:spcAft>
            </a:pPr>
            <a:r>
              <a:rPr sz="1800" b="1" i="0">
                <a:solidFill>
                  <a:srgbClr val="FFFFFF"/>
                </a:solidFill>
                <a:latin typeface="Arial"/>
              </a:rPr>
              <a:t>4</a:t>
            </a:r>
          </a:p>
        </p:txBody>
      </p:sp>
      <p:sp>
        <p:nvSpPr>
          <p:cNvPr id="50" name="TextBox 49"/>
          <p:cNvSpPr txBox="1"/>
          <p:nvPr/>
        </p:nvSpPr>
        <p:spPr>
          <a:xfrm>
            <a:off x="5760720" y="3017520"/>
            <a:ext cx="6035040" cy="237744"/>
          </a:xfrm>
          <a:prstGeom prst="rect">
            <a:avLst/>
          </a:prstGeom>
          <a:noFill/>
        </p:spPr>
        <p:txBody>
          <a:bodyPr wrap="square" lIns="18288" tIns="0" rIns="18288" bIns="0" anchor="b">
            <a:spAutoFit/>
          </a:bodyPr>
          <a:lstStyle/>
          <a:p>
            <a:pPr algn="l">
              <a:spcAft>
                <a:spcPts val="0"/>
              </a:spcAft>
            </a:pPr>
            <a:r>
              <a:rPr sz="1100" b="1" i="0">
                <a:solidFill>
                  <a:srgbClr val="1F9C82"/>
                </a:solidFill>
                <a:latin typeface="Arial"/>
              </a:rPr>
              <a:t>PART 04</a:t>
            </a:r>
          </a:p>
        </p:txBody>
      </p:sp>
      <p:sp>
        <p:nvSpPr>
          <p:cNvPr id="51" name="TextBox 50"/>
          <p:cNvSpPr txBox="1"/>
          <p:nvPr/>
        </p:nvSpPr>
        <p:spPr>
          <a:xfrm>
            <a:off x="5760720" y="3255264"/>
            <a:ext cx="6126480" cy="365760"/>
          </a:xfrm>
          <a:prstGeom prst="rect">
            <a:avLst/>
          </a:prstGeom>
          <a:noFill/>
        </p:spPr>
        <p:txBody>
          <a:bodyPr wrap="square" lIns="18288" tIns="0" rIns="18288" bIns="0" anchor="t">
            <a:spAutoFit/>
          </a:bodyPr>
          <a:lstStyle/>
          <a:p>
            <a:pPr algn="l">
              <a:spcAft>
                <a:spcPts val="0"/>
              </a:spcAft>
            </a:pPr>
            <a:r>
              <a:rPr sz="1700" b="1" i="0">
                <a:solidFill>
                  <a:srgbClr val="202A36"/>
                </a:solidFill>
                <a:latin typeface="Arial"/>
              </a:rPr>
              <a:t>The five SOLID principles and their proxies</a:t>
            </a:r>
          </a:p>
        </p:txBody>
      </p:sp>
      <p:sp>
        <p:nvSpPr>
          <p:cNvPr id="52" name="Oval 51"/>
          <p:cNvSpPr/>
          <p:nvPr/>
        </p:nvSpPr>
        <p:spPr>
          <a:xfrm>
            <a:off x="4983480" y="3858768"/>
            <a:ext cx="548640" cy="548640"/>
          </a:xfrm>
          <a:prstGeom prst="ellipse">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983480" y="3858768"/>
            <a:ext cx="548640" cy="548640"/>
          </a:xfrm>
          <a:prstGeom prst="rect">
            <a:avLst/>
          </a:prstGeom>
          <a:noFill/>
        </p:spPr>
        <p:txBody>
          <a:bodyPr wrap="square" lIns="0" tIns="0" rIns="0" bIns="0" anchor="ctr">
            <a:spAutoFit/>
          </a:bodyPr>
          <a:lstStyle/>
          <a:p>
            <a:pPr algn="ctr">
              <a:spcAft>
                <a:spcPts val="0"/>
              </a:spcAft>
            </a:pPr>
            <a:r>
              <a:rPr sz="1800" b="1" i="0">
                <a:solidFill>
                  <a:srgbClr val="FFFFFF"/>
                </a:solidFill>
                <a:latin typeface="Arial"/>
              </a:rPr>
              <a:t>5</a:t>
            </a:r>
          </a:p>
        </p:txBody>
      </p:sp>
      <p:sp>
        <p:nvSpPr>
          <p:cNvPr id="54" name="TextBox 53"/>
          <p:cNvSpPr txBox="1"/>
          <p:nvPr/>
        </p:nvSpPr>
        <p:spPr>
          <a:xfrm>
            <a:off x="5760720" y="3822192"/>
            <a:ext cx="6035040" cy="237744"/>
          </a:xfrm>
          <a:prstGeom prst="rect">
            <a:avLst/>
          </a:prstGeom>
          <a:noFill/>
        </p:spPr>
        <p:txBody>
          <a:bodyPr wrap="square" lIns="18288" tIns="0" rIns="18288" bIns="0" anchor="b">
            <a:spAutoFit/>
          </a:bodyPr>
          <a:lstStyle/>
          <a:p>
            <a:pPr algn="l">
              <a:spcAft>
                <a:spcPts val="0"/>
              </a:spcAft>
            </a:pPr>
            <a:r>
              <a:rPr sz="1100" b="1" i="0">
                <a:solidFill>
                  <a:srgbClr val="1F9C82"/>
                </a:solidFill>
                <a:latin typeface="Arial"/>
              </a:rPr>
              <a:t>PART 05</a:t>
            </a:r>
          </a:p>
        </p:txBody>
      </p:sp>
      <p:sp>
        <p:nvSpPr>
          <p:cNvPr id="55" name="TextBox 54"/>
          <p:cNvSpPr txBox="1"/>
          <p:nvPr/>
        </p:nvSpPr>
        <p:spPr>
          <a:xfrm>
            <a:off x="5760720" y="4059936"/>
            <a:ext cx="6126480" cy="365760"/>
          </a:xfrm>
          <a:prstGeom prst="rect">
            <a:avLst/>
          </a:prstGeom>
          <a:noFill/>
        </p:spPr>
        <p:txBody>
          <a:bodyPr wrap="square" lIns="18288" tIns="0" rIns="18288" bIns="0" anchor="t">
            <a:spAutoFit/>
          </a:bodyPr>
          <a:lstStyle/>
          <a:p>
            <a:pPr algn="l">
              <a:spcAft>
                <a:spcPts val="0"/>
              </a:spcAft>
            </a:pPr>
            <a:r>
              <a:rPr sz="1700" b="1" i="0">
                <a:solidFill>
                  <a:srgbClr val="202A36"/>
                </a:solidFill>
                <a:latin typeface="Arial"/>
              </a:rPr>
              <a:t>Validation</a:t>
            </a:r>
          </a:p>
        </p:txBody>
      </p:sp>
      <p:sp>
        <p:nvSpPr>
          <p:cNvPr id="56" name="Oval 55"/>
          <p:cNvSpPr/>
          <p:nvPr/>
        </p:nvSpPr>
        <p:spPr>
          <a:xfrm>
            <a:off x="4983480" y="4663440"/>
            <a:ext cx="548640" cy="548640"/>
          </a:xfrm>
          <a:prstGeom prst="ellipse">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983480" y="4663440"/>
            <a:ext cx="548640" cy="548640"/>
          </a:xfrm>
          <a:prstGeom prst="rect">
            <a:avLst/>
          </a:prstGeom>
          <a:noFill/>
        </p:spPr>
        <p:txBody>
          <a:bodyPr wrap="square" lIns="0" tIns="0" rIns="0" bIns="0" anchor="ctr">
            <a:spAutoFit/>
          </a:bodyPr>
          <a:lstStyle/>
          <a:p>
            <a:pPr algn="ctr">
              <a:spcAft>
                <a:spcPts val="0"/>
              </a:spcAft>
            </a:pPr>
            <a:r>
              <a:rPr sz="1800" b="1" i="0">
                <a:solidFill>
                  <a:srgbClr val="FFFFFF"/>
                </a:solidFill>
                <a:latin typeface="Arial"/>
              </a:rPr>
              <a:t>6</a:t>
            </a:r>
          </a:p>
        </p:txBody>
      </p:sp>
      <p:sp>
        <p:nvSpPr>
          <p:cNvPr id="58" name="TextBox 57"/>
          <p:cNvSpPr txBox="1"/>
          <p:nvPr/>
        </p:nvSpPr>
        <p:spPr>
          <a:xfrm>
            <a:off x="5760720" y="4626864"/>
            <a:ext cx="6035040" cy="237744"/>
          </a:xfrm>
          <a:prstGeom prst="rect">
            <a:avLst/>
          </a:prstGeom>
          <a:noFill/>
        </p:spPr>
        <p:txBody>
          <a:bodyPr wrap="square" lIns="18288" tIns="0" rIns="18288" bIns="0" anchor="b">
            <a:spAutoFit/>
          </a:bodyPr>
          <a:lstStyle/>
          <a:p>
            <a:pPr algn="l">
              <a:spcAft>
                <a:spcPts val="0"/>
              </a:spcAft>
            </a:pPr>
            <a:r>
              <a:rPr sz="1100" b="1" i="0">
                <a:solidFill>
                  <a:srgbClr val="1F9C82"/>
                </a:solidFill>
                <a:latin typeface="Arial"/>
              </a:rPr>
              <a:t>PART 06</a:t>
            </a:r>
          </a:p>
        </p:txBody>
      </p:sp>
      <p:sp>
        <p:nvSpPr>
          <p:cNvPr id="59" name="TextBox 58"/>
          <p:cNvSpPr txBox="1"/>
          <p:nvPr/>
        </p:nvSpPr>
        <p:spPr>
          <a:xfrm>
            <a:off x="5760720" y="4864608"/>
            <a:ext cx="6126480" cy="365760"/>
          </a:xfrm>
          <a:prstGeom prst="rect">
            <a:avLst/>
          </a:prstGeom>
          <a:noFill/>
        </p:spPr>
        <p:txBody>
          <a:bodyPr wrap="square" lIns="18288" tIns="0" rIns="18288" bIns="0" anchor="t">
            <a:spAutoFit/>
          </a:bodyPr>
          <a:lstStyle/>
          <a:p>
            <a:pPr algn="l">
              <a:spcAft>
                <a:spcPts val="0"/>
              </a:spcAft>
            </a:pPr>
            <a:r>
              <a:rPr sz="1700" b="1" i="0">
                <a:solidFill>
                  <a:srgbClr val="202A36"/>
                </a:solidFill>
                <a:latin typeface="Arial"/>
              </a:rPr>
              <a:t>Results per agent and per language</a:t>
            </a:r>
          </a:p>
        </p:txBody>
      </p:sp>
      <p:sp>
        <p:nvSpPr>
          <p:cNvPr id="60" name="Oval 59"/>
          <p:cNvSpPr/>
          <p:nvPr/>
        </p:nvSpPr>
        <p:spPr>
          <a:xfrm>
            <a:off x="4983480" y="5468112"/>
            <a:ext cx="548640" cy="548640"/>
          </a:xfrm>
          <a:prstGeom prst="ellipse">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983480" y="5468112"/>
            <a:ext cx="548640" cy="548640"/>
          </a:xfrm>
          <a:prstGeom prst="rect">
            <a:avLst/>
          </a:prstGeom>
          <a:noFill/>
        </p:spPr>
        <p:txBody>
          <a:bodyPr wrap="square" lIns="0" tIns="0" rIns="0" bIns="0" anchor="ctr">
            <a:spAutoFit/>
          </a:bodyPr>
          <a:lstStyle/>
          <a:p>
            <a:pPr algn="ctr">
              <a:spcAft>
                <a:spcPts val="0"/>
              </a:spcAft>
            </a:pPr>
            <a:r>
              <a:rPr sz="1800" b="1" i="0">
                <a:solidFill>
                  <a:srgbClr val="FFFFFF"/>
                </a:solidFill>
                <a:latin typeface="Arial"/>
              </a:rPr>
              <a:t>7</a:t>
            </a:r>
          </a:p>
        </p:txBody>
      </p:sp>
      <p:sp>
        <p:nvSpPr>
          <p:cNvPr id="62" name="TextBox 61"/>
          <p:cNvSpPr txBox="1"/>
          <p:nvPr/>
        </p:nvSpPr>
        <p:spPr>
          <a:xfrm>
            <a:off x="5760720" y="5431536"/>
            <a:ext cx="6035040" cy="237744"/>
          </a:xfrm>
          <a:prstGeom prst="rect">
            <a:avLst/>
          </a:prstGeom>
          <a:noFill/>
        </p:spPr>
        <p:txBody>
          <a:bodyPr wrap="square" lIns="18288" tIns="0" rIns="18288" bIns="0" anchor="b">
            <a:spAutoFit/>
          </a:bodyPr>
          <a:lstStyle/>
          <a:p>
            <a:pPr algn="l">
              <a:spcAft>
                <a:spcPts val="0"/>
              </a:spcAft>
            </a:pPr>
            <a:r>
              <a:rPr sz="1100" b="1" i="0">
                <a:solidFill>
                  <a:srgbClr val="1F9C82"/>
                </a:solidFill>
                <a:latin typeface="Arial"/>
              </a:rPr>
              <a:t>PART 07</a:t>
            </a:r>
          </a:p>
        </p:txBody>
      </p:sp>
      <p:sp>
        <p:nvSpPr>
          <p:cNvPr id="63" name="TextBox 62"/>
          <p:cNvSpPr txBox="1"/>
          <p:nvPr/>
        </p:nvSpPr>
        <p:spPr>
          <a:xfrm>
            <a:off x="5760720" y="5669280"/>
            <a:ext cx="6126480" cy="365760"/>
          </a:xfrm>
          <a:prstGeom prst="rect">
            <a:avLst/>
          </a:prstGeom>
          <a:noFill/>
        </p:spPr>
        <p:txBody>
          <a:bodyPr wrap="square" lIns="18288" tIns="0" rIns="18288" bIns="0" anchor="t">
            <a:spAutoFit/>
          </a:bodyPr>
          <a:lstStyle/>
          <a:p>
            <a:pPr algn="l">
              <a:spcAft>
                <a:spcPts val="0"/>
              </a:spcAft>
            </a:pPr>
            <a:r>
              <a:rPr sz="1700" b="1" i="0">
                <a:solidFill>
                  <a:srgbClr val="202A36"/>
                </a:solidFill>
                <a:latin typeface="Arial"/>
              </a:rPr>
              <a:t>Findings, conclusions, limitations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组合 55"/>
          <p:cNvGrpSpPr/>
          <p:nvPr/>
        </p:nvGrpSpPr>
        <p:grpSpPr>
          <a:xfrm>
            <a:off x="2052459" y="1413384"/>
            <a:ext cx="2036802" cy="2036802"/>
            <a:chOff x="8125599" y="1434035"/>
            <a:chExt cx="2036802" cy="2036802"/>
          </a:xfrm>
        </p:grpSpPr>
        <p:sp>
          <p:nvSpPr>
            <p:cNvPr id="57" name="椭圆 56"/>
            <p:cNvSpPr/>
            <p:nvPr/>
          </p:nvSpPr>
          <p:spPr>
            <a:xfrm>
              <a:off x="8125599" y="1434035"/>
              <a:ext cx="2036802" cy="2036802"/>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Freeform 261"/>
            <p:cNvSpPr/>
            <p:nvPr/>
          </p:nvSpPr>
          <p:spPr bwMode="auto">
            <a:xfrm>
              <a:off x="8628544" y="1966960"/>
              <a:ext cx="1000932" cy="1000932"/>
            </a:xfrm>
            <a:custGeom>
              <a:avLst/>
              <a:gdLst>
                <a:gd name="T0" fmla="*/ 84 w 86"/>
                <a:gd name="T1" fmla="*/ 13 h 86"/>
                <a:gd name="T2" fmla="*/ 74 w 86"/>
                <a:gd name="T3" fmla="*/ 1 h 86"/>
                <a:gd name="T4" fmla="*/ 72 w 86"/>
                <a:gd name="T5" fmla="*/ 1 h 86"/>
                <a:gd name="T6" fmla="*/ 71 w 86"/>
                <a:gd name="T7" fmla="*/ 1 h 86"/>
                <a:gd name="T8" fmla="*/ 69 w 86"/>
                <a:gd name="T9" fmla="*/ 4 h 86"/>
                <a:gd name="T10" fmla="*/ 69 w 86"/>
                <a:gd name="T11" fmla="*/ 10 h 86"/>
                <a:gd name="T12" fmla="*/ 59 w 86"/>
                <a:gd name="T13" fmla="*/ 10 h 86"/>
                <a:gd name="T14" fmla="*/ 59 w 86"/>
                <a:gd name="T15" fmla="*/ 1 h 86"/>
                <a:gd name="T16" fmla="*/ 58 w 86"/>
                <a:gd name="T17" fmla="*/ 0 h 86"/>
                <a:gd name="T18" fmla="*/ 46 w 86"/>
                <a:gd name="T19" fmla="*/ 0 h 86"/>
                <a:gd name="T20" fmla="*/ 45 w 86"/>
                <a:gd name="T21" fmla="*/ 1 h 86"/>
                <a:gd name="T22" fmla="*/ 45 w 86"/>
                <a:gd name="T23" fmla="*/ 10 h 86"/>
                <a:gd name="T24" fmla="*/ 44 w 86"/>
                <a:gd name="T25" fmla="*/ 13 h 86"/>
                <a:gd name="T26" fmla="*/ 44 w 86"/>
                <a:gd name="T27" fmla="*/ 21 h 86"/>
                <a:gd name="T28" fmla="*/ 45 w 86"/>
                <a:gd name="T29" fmla="*/ 24 h 86"/>
                <a:gd name="T30" fmla="*/ 45 w 86"/>
                <a:gd name="T31" fmla="*/ 27 h 86"/>
                <a:gd name="T32" fmla="*/ 37 w 86"/>
                <a:gd name="T33" fmla="*/ 27 h 86"/>
                <a:gd name="T34" fmla="*/ 37 w 86"/>
                <a:gd name="T35" fmla="*/ 21 h 86"/>
                <a:gd name="T36" fmla="*/ 34 w 86"/>
                <a:gd name="T37" fmla="*/ 18 h 86"/>
                <a:gd name="T38" fmla="*/ 32 w 86"/>
                <a:gd name="T39" fmla="*/ 18 h 86"/>
                <a:gd name="T40" fmla="*/ 29 w 86"/>
                <a:gd name="T41" fmla="*/ 18 h 86"/>
                <a:gd name="T42" fmla="*/ 3 w 86"/>
                <a:gd name="T43" fmla="*/ 30 h 86"/>
                <a:gd name="T44" fmla="*/ 0 w 86"/>
                <a:gd name="T45" fmla="*/ 34 h 86"/>
                <a:gd name="T46" fmla="*/ 3 w 86"/>
                <a:gd name="T47" fmla="*/ 38 h 86"/>
                <a:gd name="T48" fmla="*/ 29 w 86"/>
                <a:gd name="T49" fmla="*/ 50 h 86"/>
                <a:gd name="T50" fmla="*/ 31 w 86"/>
                <a:gd name="T51" fmla="*/ 51 h 86"/>
                <a:gd name="T52" fmla="*/ 34 w 86"/>
                <a:gd name="T53" fmla="*/ 50 h 86"/>
                <a:gd name="T54" fmla="*/ 37 w 86"/>
                <a:gd name="T55" fmla="*/ 47 h 86"/>
                <a:gd name="T56" fmla="*/ 37 w 86"/>
                <a:gd name="T57" fmla="*/ 42 h 86"/>
                <a:gd name="T58" fmla="*/ 45 w 86"/>
                <a:gd name="T59" fmla="*/ 42 h 86"/>
                <a:gd name="T60" fmla="*/ 45 w 86"/>
                <a:gd name="T61" fmla="*/ 85 h 86"/>
                <a:gd name="T62" fmla="*/ 46 w 86"/>
                <a:gd name="T63" fmla="*/ 86 h 86"/>
                <a:gd name="T64" fmla="*/ 58 w 86"/>
                <a:gd name="T65" fmla="*/ 86 h 86"/>
                <a:gd name="T66" fmla="*/ 59 w 86"/>
                <a:gd name="T67" fmla="*/ 85 h 86"/>
                <a:gd name="T68" fmla="*/ 59 w 86"/>
                <a:gd name="T69" fmla="*/ 41 h 86"/>
                <a:gd name="T70" fmla="*/ 62 w 86"/>
                <a:gd name="T71" fmla="*/ 38 h 86"/>
                <a:gd name="T72" fmla="*/ 62 w 86"/>
                <a:gd name="T73" fmla="*/ 30 h 86"/>
                <a:gd name="T74" fmla="*/ 59 w 86"/>
                <a:gd name="T75" fmla="*/ 27 h 86"/>
                <a:gd name="T76" fmla="*/ 59 w 86"/>
                <a:gd name="T77" fmla="*/ 25 h 86"/>
                <a:gd name="T78" fmla="*/ 69 w 86"/>
                <a:gd name="T79" fmla="*/ 25 h 86"/>
                <a:gd name="T80" fmla="*/ 69 w 86"/>
                <a:gd name="T81" fmla="*/ 30 h 86"/>
                <a:gd name="T82" fmla="*/ 71 w 86"/>
                <a:gd name="T83" fmla="*/ 33 h 86"/>
                <a:gd name="T84" fmla="*/ 73 w 86"/>
                <a:gd name="T85" fmla="*/ 34 h 86"/>
                <a:gd name="T86" fmla="*/ 74 w 86"/>
                <a:gd name="T87" fmla="*/ 33 h 86"/>
                <a:gd name="T88" fmla="*/ 84 w 86"/>
                <a:gd name="T89" fmla="*/ 21 h 86"/>
                <a:gd name="T90" fmla="*/ 86 w 86"/>
                <a:gd name="T91" fmla="*/ 17 h 86"/>
                <a:gd name="T92" fmla="*/ 84 w 86"/>
                <a:gd name="T93" fmla="*/ 1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6" h="86">
                  <a:moveTo>
                    <a:pt x="84" y="13"/>
                  </a:moveTo>
                  <a:cubicBezTo>
                    <a:pt x="74" y="1"/>
                    <a:pt x="74" y="1"/>
                    <a:pt x="74" y="1"/>
                  </a:cubicBezTo>
                  <a:cubicBezTo>
                    <a:pt x="73" y="1"/>
                    <a:pt x="73" y="1"/>
                    <a:pt x="72" y="1"/>
                  </a:cubicBezTo>
                  <a:cubicBezTo>
                    <a:pt x="72" y="1"/>
                    <a:pt x="71" y="1"/>
                    <a:pt x="71" y="1"/>
                  </a:cubicBezTo>
                  <a:cubicBezTo>
                    <a:pt x="70" y="2"/>
                    <a:pt x="69" y="3"/>
                    <a:pt x="69" y="4"/>
                  </a:cubicBezTo>
                  <a:cubicBezTo>
                    <a:pt x="69" y="10"/>
                    <a:pt x="69" y="10"/>
                    <a:pt x="69" y="10"/>
                  </a:cubicBezTo>
                  <a:cubicBezTo>
                    <a:pt x="59" y="10"/>
                    <a:pt x="59" y="10"/>
                    <a:pt x="59" y="10"/>
                  </a:cubicBezTo>
                  <a:cubicBezTo>
                    <a:pt x="59" y="1"/>
                    <a:pt x="59" y="1"/>
                    <a:pt x="59" y="1"/>
                  </a:cubicBezTo>
                  <a:cubicBezTo>
                    <a:pt x="59" y="1"/>
                    <a:pt x="59" y="0"/>
                    <a:pt x="58" y="0"/>
                  </a:cubicBezTo>
                  <a:cubicBezTo>
                    <a:pt x="46" y="0"/>
                    <a:pt x="46" y="0"/>
                    <a:pt x="46" y="0"/>
                  </a:cubicBezTo>
                  <a:cubicBezTo>
                    <a:pt x="45" y="0"/>
                    <a:pt x="45" y="1"/>
                    <a:pt x="45" y="1"/>
                  </a:cubicBezTo>
                  <a:cubicBezTo>
                    <a:pt x="45" y="10"/>
                    <a:pt x="45" y="10"/>
                    <a:pt x="45" y="10"/>
                  </a:cubicBezTo>
                  <a:cubicBezTo>
                    <a:pt x="44" y="11"/>
                    <a:pt x="44" y="12"/>
                    <a:pt x="44" y="13"/>
                  </a:cubicBezTo>
                  <a:cubicBezTo>
                    <a:pt x="44" y="21"/>
                    <a:pt x="44" y="21"/>
                    <a:pt x="44" y="21"/>
                  </a:cubicBezTo>
                  <a:cubicBezTo>
                    <a:pt x="44" y="22"/>
                    <a:pt x="44" y="23"/>
                    <a:pt x="45" y="24"/>
                  </a:cubicBezTo>
                  <a:cubicBezTo>
                    <a:pt x="45" y="27"/>
                    <a:pt x="45" y="27"/>
                    <a:pt x="45" y="27"/>
                  </a:cubicBezTo>
                  <a:cubicBezTo>
                    <a:pt x="37" y="27"/>
                    <a:pt x="37" y="27"/>
                    <a:pt x="37" y="27"/>
                  </a:cubicBezTo>
                  <a:cubicBezTo>
                    <a:pt x="37" y="21"/>
                    <a:pt x="37" y="21"/>
                    <a:pt x="37" y="21"/>
                  </a:cubicBezTo>
                  <a:cubicBezTo>
                    <a:pt x="37" y="20"/>
                    <a:pt x="36" y="19"/>
                    <a:pt x="34" y="18"/>
                  </a:cubicBezTo>
                  <a:cubicBezTo>
                    <a:pt x="34" y="18"/>
                    <a:pt x="33" y="18"/>
                    <a:pt x="32" y="18"/>
                  </a:cubicBezTo>
                  <a:cubicBezTo>
                    <a:pt x="31" y="18"/>
                    <a:pt x="30" y="18"/>
                    <a:pt x="29" y="18"/>
                  </a:cubicBezTo>
                  <a:cubicBezTo>
                    <a:pt x="3" y="30"/>
                    <a:pt x="3" y="30"/>
                    <a:pt x="3" y="30"/>
                  </a:cubicBezTo>
                  <a:cubicBezTo>
                    <a:pt x="1" y="31"/>
                    <a:pt x="0" y="33"/>
                    <a:pt x="0" y="34"/>
                  </a:cubicBezTo>
                  <a:cubicBezTo>
                    <a:pt x="0" y="36"/>
                    <a:pt x="1" y="38"/>
                    <a:pt x="3" y="38"/>
                  </a:cubicBezTo>
                  <a:cubicBezTo>
                    <a:pt x="29" y="50"/>
                    <a:pt x="29" y="50"/>
                    <a:pt x="29" y="50"/>
                  </a:cubicBezTo>
                  <a:cubicBezTo>
                    <a:pt x="29" y="51"/>
                    <a:pt x="30" y="51"/>
                    <a:pt x="31" y="51"/>
                  </a:cubicBezTo>
                  <a:cubicBezTo>
                    <a:pt x="32" y="51"/>
                    <a:pt x="33" y="51"/>
                    <a:pt x="34" y="50"/>
                  </a:cubicBezTo>
                  <a:cubicBezTo>
                    <a:pt x="36" y="50"/>
                    <a:pt x="37" y="48"/>
                    <a:pt x="37" y="47"/>
                  </a:cubicBezTo>
                  <a:cubicBezTo>
                    <a:pt x="37" y="42"/>
                    <a:pt x="37" y="42"/>
                    <a:pt x="37" y="42"/>
                  </a:cubicBezTo>
                  <a:cubicBezTo>
                    <a:pt x="45" y="42"/>
                    <a:pt x="45" y="42"/>
                    <a:pt x="45" y="42"/>
                  </a:cubicBezTo>
                  <a:cubicBezTo>
                    <a:pt x="45" y="85"/>
                    <a:pt x="45" y="85"/>
                    <a:pt x="45" y="85"/>
                  </a:cubicBezTo>
                  <a:cubicBezTo>
                    <a:pt x="45" y="86"/>
                    <a:pt x="45" y="86"/>
                    <a:pt x="46" y="86"/>
                  </a:cubicBezTo>
                  <a:cubicBezTo>
                    <a:pt x="58" y="86"/>
                    <a:pt x="58" y="86"/>
                    <a:pt x="58" y="86"/>
                  </a:cubicBezTo>
                  <a:cubicBezTo>
                    <a:pt x="59" y="86"/>
                    <a:pt x="59" y="86"/>
                    <a:pt x="59" y="85"/>
                  </a:cubicBezTo>
                  <a:cubicBezTo>
                    <a:pt x="59" y="41"/>
                    <a:pt x="59" y="41"/>
                    <a:pt x="59" y="41"/>
                  </a:cubicBezTo>
                  <a:cubicBezTo>
                    <a:pt x="61" y="41"/>
                    <a:pt x="62" y="40"/>
                    <a:pt x="62" y="38"/>
                  </a:cubicBezTo>
                  <a:cubicBezTo>
                    <a:pt x="62" y="30"/>
                    <a:pt x="62" y="30"/>
                    <a:pt x="62" y="30"/>
                  </a:cubicBezTo>
                  <a:cubicBezTo>
                    <a:pt x="62" y="29"/>
                    <a:pt x="61" y="28"/>
                    <a:pt x="59" y="27"/>
                  </a:cubicBezTo>
                  <a:cubicBezTo>
                    <a:pt x="59" y="25"/>
                    <a:pt x="59" y="25"/>
                    <a:pt x="59" y="25"/>
                  </a:cubicBezTo>
                  <a:cubicBezTo>
                    <a:pt x="69" y="25"/>
                    <a:pt x="69" y="25"/>
                    <a:pt x="69" y="25"/>
                  </a:cubicBezTo>
                  <a:cubicBezTo>
                    <a:pt x="69" y="30"/>
                    <a:pt x="69" y="30"/>
                    <a:pt x="69" y="30"/>
                  </a:cubicBezTo>
                  <a:cubicBezTo>
                    <a:pt x="69" y="31"/>
                    <a:pt x="70" y="33"/>
                    <a:pt x="71" y="33"/>
                  </a:cubicBezTo>
                  <a:cubicBezTo>
                    <a:pt x="71" y="34"/>
                    <a:pt x="72" y="34"/>
                    <a:pt x="73" y="34"/>
                  </a:cubicBezTo>
                  <a:cubicBezTo>
                    <a:pt x="73" y="34"/>
                    <a:pt x="74" y="34"/>
                    <a:pt x="74" y="33"/>
                  </a:cubicBezTo>
                  <a:cubicBezTo>
                    <a:pt x="84" y="21"/>
                    <a:pt x="84" y="21"/>
                    <a:pt x="84" y="21"/>
                  </a:cubicBezTo>
                  <a:cubicBezTo>
                    <a:pt x="85" y="21"/>
                    <a:pt x="86" y="19"/>
                    <a:pt x="86" y="17"/>
                  </a:cubicBezTo>
                  <a:cubicBezTo>
                    <a:pt x="86" y="16"/>
                    <a:pt x="85" y="14"/>
                    <a:pt x="84" y="13"/>
                  </a:cubicBezTo>
                  <a:close/>
                </a:path>
              </a:pathLst>
            </a:custGeom>
            <a:solidFill>
              <a:schemeClr val="bg1">
                <a:lumMod val="95000"/>
              </a:schemeClr>
            </a:solidFill>
            <a:ln>
              <a:noFill/>
            </a:ln>
          </p:spPr>
          <p:txBody>
            <a:bodyPr vert="horz" wrap="square" lIns="91440" tIns="45720" rIns="91440" bIns="45720" numCol="1" anchor="t" anchorCtr="0" compatLnSpc="1"/>
            <a:lstStyle/>
            <a:p>
              <a:endParaRPr lang="zh-CN" altLang="en-US"/>
            </a:p>
          </p:txBody>
        </p:sp>
      </p:grpSp>
      <p:sp>
        <p:nvSpPr>
          <p:cNvPr id="61" name="矩形 60"/>
          <p:cNvSpPr/>
          <p:nvPr/>
        </p:nvSpPr>
        <p:spPr>
          <a:xfrm>
            <a:off x="6095999" y="0"/>
            <a:ext cx="6099175" cy="6858000"/>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TextBox 61"/>
          <p:cNvSpPr txBox="1"/>
          <p:nvPr/>
        </p:nvSpPr>
        <p:spPr>
          <a:xfrm>
            <a:off x="457200" y="3749040"/>
            <a:ext cx="5184648" cy="548640"/>
          </a:xfrm>
          <a:prstGeom prst="rect">
            <a:avLst/>
          </a:prstGeom>
          <a:noFill/>
        </p:spPr>
        <p:txBody>
          <a:bodyPr wrap="square" lIns="45720" tIns="27432" rIns="45720" bIns="27432" anchor="t">
            <a:spAutoFit/>
          </a:bodyPr>
          <a:lstStyle/>
          <a:p>
            <a:pPr algn="ctr">
              <a:spcAft>
                <a:spcPts val="0"/>
              </a:spcAft>
            </a:pPr>
            <a:r>
              <a:rPr sz="2800" b="1" i="0">
                <a:solidFill>
                  <a:srgbClr val="46CEAE"/>
                </a:solidFill>
                <a:latin typeface="Arial"/>
              </a:rPr>
              <a:t>Part 1</a:t>
            </a:r>
          </a:p>
        </p:txBody>
      </p:sp>
      <p:sp>
        <p:nvSpPr>
          <p:cNvPr id="63" name="TextBox 62"/>
          <p:cNvSpPr txBox="1"/>
          <p:nvPr/>
        </p:nvSpPr>
        <p:spPr>
          <a:xfrm>
            <a:off x="457200" y="4315968"/>
            <a:ext cx="5184648" cy="1737360"/>
          </a:xfrm>
          <a:prstGeom prst="rect">
            <a:avLst/>
          </a:prstGeom>
          <a:noFill/>
        </p:spPr>
        <p:txBody>
          <a:bodyPr wrap="square" lIns="45720" tIns="27432" rIns="45720" bIns="27432" anchor="t">
            <a:spAutoFit/>
          </a:bodyPr>
          <a:lstStyle/>
          <a:p>
            <a:pPr algn="ctr">
              <a:lnSpc>
                <a:spcPct val="95000"/>
              </a:lnSpc>
              <a:spcAft>
                <a:spcPts val="0"/>
              </a:spcAft>
            </a:pPr>
            <a:r>
              <a:rPr sz="3200" b="1" i="0">
                <a:solidFill>
                  <a:srgbClr val="202A36"/>
                </a:solidFill>
                <a:latin typeface="Arial"/>
              </a:rPr>
              <a:t>Context and problem</a:t>
            </a:r>
          </a:p>
        </p:txBody>
      </p:sp>
      <p:cxnSp>
        <p:nvCxnSpPr>
          <p:cNvPr id="64" name="Connector 63"/>
          <p:cNvCxnSpPr/>
          <p:nvPr/>
        </p:nvCxnSpPr>
        <p:spPr>
          <a:xfrm>
            <a:off x="7863840" y="2734056"/>
            <a:ext cx="0" cy="1389888"/>
          </a:xfrm>
          <a:prstGeom prst="line">
            <a:avLst/>
          </a:prstGeom>
          <a:ln w="19050">
            <a:solidFill>
              <a:srgbClr val="8E98A5"/>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7790688" y="3026664"/>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8229600" y="2898648"/>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Coding agents submit real changes</a:t>
            </a:r>
          </a:p>
        </p:txBody>
      </p:sp>
      <p:sp>
        <p:nvSpPr>
          <p:cNvPr id="67" name="Oval 66"/>
          <p:cNvSpPr/>
          <p:nvPr/>
        </p:nvSpPr>
        <p:spPr>
          <a:xfrm>
            <a:off x="7790688" y="3685032"/>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229600" y="3557016"/>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Tests pass, design is unmeasured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1</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Context</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Context: coding agents now submit real changes</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4</a:t>
            </a:r>
          </a:p>
        </p:txBody>
      </p:sp>
      <p:sp>
        <p:nvSpPr>
          <p:cNvPr id="66" name="Rounded Rectangle 65"/>
          <p:cNvSpPr/>
          <p:nvPr/>
        </p:nvSpPr>
        <p:spPr>
          <a:xfrm>
            <a:off x="612648" y="914400"/>
            <a:ext cx="7315200" cy="1069848"/>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Hexagon 66"/>
          <p:cNvSpPr/>
          <p:nvPr/>
        </p:nvSpPr>
        <p:spPr>
          <a:xfrm>
            <a:off x="795528" y="1220724"/>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1</a:t>
            </a:r>
          </a:p>
        </p:txBody>
      </p:sp>
      <p:sp>
        <p:nvSpPr>
          <p:cNvPr id="68" name="TextBox 67"/>
          <p:cNvSpPr txBox="1"/>
          <p:nvPr/>
        </p:nvSpPr>
        <p:spPr>
          <a:xfrm>
            <a:off x="1481328" y="914400"/>
            <a:ext cx="6263640" cy="1069848"/>
          </a:xfrm>
          <a:prstGeom prst="rect">
            <a:avLst/>
          </a:prstGeom>
          <a:noFill/>
        </p:spPr>
        <p:txBody>
          <a:bodyPr wrap="square" lIns="36576" tIns="36576" rIns="36576" bIns="36576" anchor="ctr">
            <a:spAutoFit/>
          </a:bodyPr>
          <a:lstStyle/>
          <a:p>
            <a:pPr algn="l">
              <a:spcAft>
                <a:spcPts val="300"/>
              </a:spcAft>
            </a:pPr>
            <a:r>
              <a:rPr sz="1350" b="1" i="0">
                <a:solidFill>
                  <a:srgbClr val="2B3440"/>
                </a:solidFill>
                <a:latin typeface="Calibri"/>
              </a:rPr>
              <a:t>From completion to agents.</a:t>
            </a:r>
            <a:r>
              <a:rPr sz="1350" b="0" i="0">
                <a:solidFill>
                  <a:srgbClr val="2B3440"/>
                </a:solidFill>
                <a:latin typeface="Calibri"/>
              </a:rPr>
              <a:t> Copilot (2021) and CodeWhisperer (2022) completed the next line. Claude Code, OpenAI Codex and Copilot’s coding agent take a task and return a finished pull request.</a:t>
            </a:r>
          </a:p>
        </p:txBody>
      </p:sp>
      <p:sp>
        <p:nvSpPr>
          <p:cNvPr id="69" name="Rounded Rectangle 68"/>
          <p:cNvSpPr/>
          <p:nvPr/>
        </p:nvSpPr>
        <p:spPr>
          <a:xfrm>
            <a:off x="612648" y="2075688"/>
            <a:ext cx="7315200" cy="1069848"/>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Hexagon 69"/>
          <p:cNvSpPr/>
          <p:nvPr/>
        </p:nvSpPr>
        <p:spPr>
          <a:xfrm>
            <a:off x="795528" y="2382012"/>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2</a:t>
            </a:r>
          </a:p>
        </p:txBody>
      </p:sp>
      <p:sp>
        <p:nvSpPr>
          <p:cNvPr id="71" name="TextBox 70"/>
          <p:cNvSpPr txBox="1"/>
          <p:nvPr/>
        </p:nvSpPr>
        <p:spPr>
          <a:xfrm>
            <a:off x="1481328" y="2075688"/>
            <a:ext cx="6263640" cy="1069848"/>
          </a:xfrm>
          <a:prstGeom prst="rect">
            <a:avLst/>
          </a:prstGeom>
          <a:noFill/>
        </p:spPr>
        <p:txBody>
          <a:bodyPr wrap="square" lIns="36576" tIns="36576" rIns="36576" bIns="36576" anchor="ctr">
            <a:spAutoFit/>
          </a:bodyPr>
          <a:lstStyle/>
          <a:p>
            <a:pPr algn="l">
              <a:spcAft>
                <a:spcPts val="300"/>
              </a:spcAft>
            </a:pPr>
            <a:r>
              <a:rPr sz="1350" b="1" i="0">
                <a:solidFill>
                  <a:srgbClr val="2B3440"/>
                </a:solidFill>
                <a:latin typeface="Calibri"/>
              </a:rPr>
              <a:t>Vibe coding, vibe architecting.</a:t>
            </a:r>
            <a:r>
              <a:rPr sz="1350" b="0" i="0">
                <a:solidFill>
                  <a:srgbClr val="2B3440"/>
                </a:solidFill>
                <a:latin typeface="Calibri"/>
              </a:rPr>
              <a:t> The developer states the intent and the agent writes the implementation; structural decisions follow from the wording of the prompt and leave no recorded rationale (Konrad et al., 2026).</a:t>
            </a:r>
          </a:p>
        </p:txBody>
      </p:sp>
      <p:sp>
        <p:nvSpPr>
          <p:cNvPr id="72" name="Rounded Rectangle 71"/>
          <p:cNvSpPr/>
          <p:nvPr/>
        </p:nvSpPr>
        <p:spPr>
          <a:xfrm>
            <a:off x="612648" y="3236976"/>
            <a:ext cx="7315200" cy="1069848"/>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Hexagon 72"/>
          <p:cNvSpPr/>
          <p:nvPr/>
        </p:nvSpPr>
        <p:spPr>
          <a:xfrm>
            <a:off x="795528" y="3543300"/>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3</a:t>
            </a:r>
          </a:p>
        </p:txBody>
      </p:sp>
      <p:sp>
        <p:nvSpPr>
          <p:cNvPr id="74" name="TextBox 73"/>
          <p:cNvSpPr txBox="1"/>
          <p:nvPr/>
        </p:nvSpPr>
        <p:spPr>
          <a:xfrm>
            <a:off x="1481328" y="3236976"/>
            <a:ext cx="6263640" cy="1069848"/>
          </a:xfrm>
          <a:prstGeom prst="rect">
            <a:avLst/>
          </a:prstGeom>
          <a:noFill/>
        </p:spPr>
        <p:txBody>
          <a:bodyPr wrap="square" lIns="36576" tIns="36576" rIns="36576" bIns="36576" anchor="ctr">
            <a:spAutoFit/>
          </a:bodyPr>
          <a:lstStyle/>
          <a:p>
            <a:pPr algn="l">
              <a:spcAft>
                <a:spcPts val="300"/>
              </a:spcAft>
            </a:pPr>
            <a:r>
              <a:rPr sz="1350" b="1" i="0">
                <a:solidFill>
                  <a:srgbClr val="2B3440"/>
                </a:solidFill>
                <a:latin typeface="Calibri"/>
              </a:rPr>
              <a:t>Real data now exists.</a:t>
            </a:r>
            <a:r>
              <a:rPr sz="1350" b="0" i="0">
                <a:solidFill>
                  <a:srgbClr val="2B3440"/>
                </a:solidFill>
                <a:latin typeface="Calibri"/>
              </a:rPr>
              <a:t> The AIDev dataset records agent pull requests on public GitHub repositories, so the structure of agent code can be studied on real, reviewed contributions.</a:t>
            </a:r>
          </a:p>
        </p:txBody>
      </p:sp>
      <p:sp>
        <p:nvSpPr>
          <p:cNvPr id="75" name="Rounded Rectangle 74"/>
          <p:cNvSpPr/>
          <p:nvPr/>
        </p:nvSpPr>
        <p:spPr>
          <a:xfrm>
            <a:off x="612648" y="4398264"/>
            <a:ext cx="7315200" cy="1069848"/>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Hexagon 75"/>
          <p:cNvSpPr/>
          <p:nvPr/>
        </p:nvSpPr>
        <p:spPr>
          <a:xfrm>
            <a:off x="795528" y="4704588"/>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4</a:t>
            </a:r>
          </a:p>
        </p:txBody>
      </p:sp>
      <p:sp>
        <p:nvSpPr>
          <p:cNvPr id="77" name="TextBox 76"/>
          <p:cNvSpPr txBox="1"/>
          <p:nvPr/>
        </p:nvSpPr>
        <p:spPr>
          <a:xfrm>
            <a:off x="1481328" y="4398264"/>
            <a:ext cx="6263640" cy="1069848"/>
          </a:xfrm>
          <a:prstGeom prst="rect">
            <a:avLst/>
          </a:prstGeom>
          <a:noFill/>
        </p:spPr>
        <p:txBody>
          <a:bodyPr wrap="square" lIns="36576" tIns="36576" rIns="36576" bIns="36576" anchor="ctr">
            <a:spAutoFit/>
          </a:bodyPr>
          <a:lstStyle/>
          <a:p>
            <a:pPr algn="l">
              <a:spcAft>
                <a:spcPts val="300"/>
              </a:spcAft>
            </a:pPr>
            <a:r>
              <a:rPr sz="1350" b="1" i="0">
                <a:solidFill>
                  <a:srgbClr val="2B3440"/>
                </a:solidFill>
                <a:latin typeface="Calibri"/>
              </a:rPr>
              <a:t>Design is where the cost is.</a:t>
            </a:r>
            <a:r>
              <a:rPr sz="1350" b="0" i="0">
                <a:solidFill>
                  <a:srgbClr val="2B3440"/>
                </a:solidFill>
                <a:latin typeface="Calibri"/>
              </a:rPr>
              <a:t> Code can pass its tests and still be tightly coupled; most of the cost of software is maintenance after the first release. Software engineering already has the vocabulary: Brooks, Martin’s SOLID, Fowler’s code smells.</a:t>
            </a:r>
          </a:p>
        </p:txBody>
      </p:sp>
      <p:sp>
        <p:nvSpPr>
          <p:cNvPr id="78" name="Rounded Rectangle 77"/>
          <p:cNvSpPr/>
          <p:nvPr/>
        </p:nvSpPr>
        <p:spPr>
          <a:xfrm>
            <a:off x="8138160" y="914400"/>
            <a:ext cx="3447288" cy="2194560"/>
          </a:xfrm>
          <a:prstGeom prst="roundRect">
            <a:avLst>
              <a:gd name="adj" fmla="val 6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8275320" y="1005840"/>
            <a:ext cx="3172968" cy="1097280"/>
          </a:xfrm>
          <a:prstGeom prst="rect">
            <a:avLst/>
          </a:prstGeom>
          <a:noFill/>
        </p:spPr>
        <p:txBody>
          <a:bodyPr wrap="square" lIns="45720" tIns="27432" rIns="45720" bIns="27432" anchor="b">
            <a:spAutoFit/>
          </a:bodyPr>
          <a:lstStyle/>
          <a:p>
            <a:pPr algn="ctr">
              <a:spcAft>
                <a:spcPts val="0"/>
              </a:spcAft>
            </a:pPr>
            <a:r>
              <a:rPr sz="3000" b="1" i="0">
                <a:solidFill>
                  <a:srgbClr val="46CEAE"/>
                </a:solidFill>
                <a:latin typeface="Arial"/>
              </a:rPr>
              <a:t>7.69 million</a:t>
            </a:r>
          </a:p>
        </p:txBody>
      </p:sp>
      <p:sp>
        <p:nvSpPr>
          <p:cNvPr id="80" name="TextBox 79"/>
          <p:cNvSpPr txBox="1"/>
          <p:nvPr/>
        </p:nvSpPr>
        <p:spPr>
          <a:xfrm>
            <a:off x="8321040" y="2121408"/>
            <a:ext cx="3081528" cy="921715"/>
          </a:xfrm>
          <a:prstGeom prst="rect">
            <a:avLst/>
          </a:prstGeom>
          <a:noFill/>
        </p:spPr>
        <p:txBody>
          <a:bodyPr wrap="square" lIns="45720" tIns="27432" rIns="45720" bIns="27432" anchor="t">
            <a:spAutoFit/>
          </a:bodyPr>
          <a:lstStyle/>
          <a:p>
            <a:pPr algn="ctr">
              <a:spcAft>
                <a:spcPts val="0"/>
              </a:spcAft>
            </a:pPr>
            <a:r>
              <a:rPr sz="1300" b="0" i="0">
                <a:solidFill>
                  <a:srgbClr val="D5DCE4"/>
                </a:solidFill>
                <a:latin typeface="Calibri"/>
              </a:rPr>
              <a:t>agent pull requests in 957k repositories (AIDev, Li et al., 2025)</a:t>
            </a:r>
          </a:p>
        </p:txBody>
      </p:sp>
      <p:sp>
        <p:nvSpPr>
          <p:cNvPr id="81" name="Rounded Rectangle 80"/>
          <p:cNvSpPr/>
          <p:nvPr/>
        </p:nvSpPr>
        <p:spPr>
          <a:xfrm>
            <a:off x="8138160" y="3200400"/>
            <a:ext cx="3447288" cy="2194560"/>
          </a:xfrm>
          <a:prstGeom prst="roundRect">
            <a:avLst>
              <a:gd name="adj" fmla="val 6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8275320" y="3291840"/>
            <a:ext cx="3172968" cy="1097280"/>
          </a:xfrm>
          <a:prstGeom prst="rect">
            <a:avLst/>
          </a:prstGeom>
          <a:noFill/>
        </p:spPr>
        <p:txBody>
          <a:bodyPr wrap="square" lIns="45720" tIns="27432" rIns="45720" bIns="27432" anchor="b">
            <a:spAutoFit/>
          </a:bodyPr>
          <a:lstStyle/>
          <a:p>
            <a:pPr algn="ctr">
              <a:spcAft>
                <a:spcPts val="0"/>
              </a:spcAft>
            </a:pPr>
            <a:r>
              <a:rPr sz="2600" b="1" i="0">
                <a:solidFill>
                  <a:srgbClr val="46CEAE"/>
                </a:solidFill>
                <a:latin typeface="Arial"/>
              </a:rPr>
              <a:t>3 agents, 2 languages</a:t>
            </a:r>
          </a:p>
        </p:txBody>
      </p:sp>
      <p:sp>
        <p:nvSpPr>
          <p:cNvPr id="83" name="TextBox 82"/>
          <p:cNvSpPr txBox="1"/>
          <p:nvPr/>
        </p:nvSpPr>
        <p:spPr>
          <a:xfrm>
            <a:off x="8321040" y="4407408"/>
            <a:ext cx="3081528" cy="921715"/>
          </a:xfrm>
          <a:prstGeom prst="rect">
            <a:avLst/>
          </a:prstGeom>
          <a:noFill/>
        </p:spPr>
        <p:txBody>
          <a:bodyPr wrap="square" lIns="45720" tIns="27432" rIns="45720" bIns="27432" anchor="t">
            <a:spAutoFit/>
          </a:bodyPr>
          <a:lstStyle/>
          <a:p>
            <a:pPr algn="ctr">
              <a:spcAft>
                <a:spcPts val="0"/>
              </a:spcAft>
            </a:pPr>
            <a:r>
              <a:rPr sz="1300" b="0" i="0">
                <a:solidFill>
                  <a:srgbClr val="D5DCE4"/>
                </a:solidFill>
                <a:latin typeface="Calibri"/>
              </a:rPr>
              <a:t>Claude Code, GitHub Copilot and OpenAI Codex, studied in Java and in Python</a:t>
            </a:r>
          </a:p>
        </p:txBody>
      </p:sp>
      <p:sp>
        <p:nvSpPr>
          <p:cNvPr id="84" name="Rounded Rectangle 83"/>
          <p:cNvSpPr/>
          <p:nvPr/>
        </p:nvSpPr>
        <p:spPr>
          <a:xfrm>
            <a:off x="612648" y="5532120"/>
            <a:ext cx="10972800" cy="777240"/>
          </a:xfrm>
          <a:prstGeom prst="roundRect">
            <a:avLst>
              <a:gd name="adj" fmla="val 8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Hexagon 84"/>
          <p:cNvSpPr/>
          <p:nvPr/>
        </p:nvSpPr>
        <p:spPr>
          <a:xfrm>
            <a:off x="813816" y="5783580"/>
            <a:ext cx="316840" cy="274320"/>
          </a:xfrm>
          <a:prstGeom prst="hexagon">
            <a:avLst/>
          </a:prstGeom>
          <a:solidFill>
            <a:srgbClr val="46CE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1252728" y="5532120"/>
            <a:ext cx="10149840" cy="777240"/>
          </a:xfrm>
          <a:prstGeom prst="rect">
            <a:avLst/>
          </a:prstGeom>
          <a:noFill/>
        </p:spPr>
        <p:txBody>
          <a:bodyPr wrap="square" lIns="45720" rIns="45720" anchor="ctr">
            <a:spAutoFit/>
          </a:bodyPr>
          <a:lstStyle/>
          <a:p>
            <a:pPr algn="l">
              <a:spcAft>
                <a:spcPts val="0"/>
              </a:spcAft>
            </a:pPr>
            <a:r>
              <a:rPr sz="1400" b="1" i="0">
                <a:solidFill>
                  <a:srgbClr val="FFFFFF"/>
                </a:solidFill>
                <a:latin typeface="Calibri"/>
              </a:rPr>
              <a:t>The question this raises:</a:t>
            </a:r>
            <a:r>
              <a:rPr sz="1400" b="0" i="0">
                <a:solidFill>
                  <a:srgbClr val="FFFFFF"/>
                </a:solidFill>
                <a:latin typeface="Calibri"/>
              </a:rPr>
              <a:t> these agents already write code that is reviewed and merged into real software. Does that code follow the design rules maintainers rely 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1</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Context</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The problem: tests pass, design is left unmeasured</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5</a:t>
            </a:r>
          </a:p>
        </p:txBody>
      </p:sp>
      <p:sp>
        <p:nvSpPr>
          <p:cNvPr id="66" name="Rounded Rectangle 65"/>
          <p:cNvSpPr/>
          <p:nvPr/>
        </p:nvSpPr>
        <p:spPr>
          <a:xfrm>
            <a:off x="612648" y="914400"/>
            <a:ext cx="7315200" cy="13716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Hexagon 66"/>
          <p:cNvSpPr/>
          <p:nvPr/>
        </p:nvSpPr>
        <p:spPr>
          <a:xfrm>
            <a:off x="795528" y="1371600"/>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1</a:t>
            </a:r>
          </a:p>
        </p:txBody>
      </p:sp>
      <p:sp>
        <p:nvSpPr>
          <p:cNvPr id="68" name="TextBox 67"/>
          <p:cNvSpPr txBox="1"/>
          <p:nvPr/>
        </p:nvSpPr>
        <p:spPr>
          <a:xfrm>
            <a:off x="1481328" y="914400"/>
            <a:ext cx="6263640" cy="1371600"/>
          </a:xfrm>
          <a:prstGeom prst="rect">
            <a:avLst/>
          </a:prstGeom>
          <a:noFill/>
        </p:spPr>
        <p:txBody>
          <a:bodyPr wrap="square" lIns="36576" tIns="36576" rIns="36576" bIns="36576" anchor="ctr">
            <a:spAutoFit/>
          </a:bodyPr>
          <a:lstStyle/>
          <a:p>
            <a:pPr algn="l">
              <a:spcAft>
                <a:spcPts val="300"/>
              </a:spcAft>
            </a:pPr>
            <a:r>
              <a:rPr sz="1400" b="1" i="0">
                <a:solidFill>
                  <a:srgbClr val="2B3440"/>
                </a:solidFill>
                <a:latin typeface="Calibri"/>
              </a:rPr>
              <a:t>Benchmarks measure function, not design.</a:t>
            </a:r>
            <a:r>
              <a:rPr sz="1400" b="0" i="0">
                <a:solidFill>
                  <a:srgbClr val="2B3440"/>
                </a:solidFill>
                <a:latin typeface="Calibri"/>
              </a:rPr>
              <a:t> HumanEval, MBPP, BigCodeBench and SWE-bench ask whether tests pass, usually for one function or one issue. A pass rate says nothing about whether the code around it is well structured.</a:t>
            </a:r>
          </a:p>
        </p:txBody>
      </p:sp>
      <p:sp>
        <p:nvSpPr>
          <p:cNvPr id="69" name="Rounded Rectangle 68"/>
          <p:cNvSpPr/>
          <p:nvPr/>
        </p:nvSpPr>
        <p:spPr>
          <a:xfrm>
            <a:off x="612648" y="2423160"/>
            <a:ext cx="7315200" cy="13716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Hexagon 69"/>
          <p:cNvSpPr/>
          <p:nvPr/>
        </p:nvSpPr>
        <p:spPr>
          <a:xfrm>
            <a:off x="795528" y="2880360"/>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2</a:t>
            </a:r>
          </a:p>
        </p:txBody>
      </p:sp>
      <p:sp>
        <p:nvSpPr>
          <p:cNvPr id="71" name="TextBox 70"/>
          <p:cNvSpPr txBox="1"/>
          <p:nvPr/>
        </p:nvSpPr>
        <p:spPr>
          <a:xfrm>
            <a:off x="1481328" y="2423160"/>
            <a:ext cx="6263640" cy="1371600"/>
          </a:xfrm>
          <a:prstGeom prst="rect">
            <a:avLst/>
          </a:prstGeom>
          <a:noFill/>
        </p:spPr>
        <p:txBody>
          <a:bodyPr wrap="square" lIns="36576" tIns="36576" rIns="36576" bIns="36576" anchor="ctr">
            <a:spAutoFit/>
          </a:bodyPr>
          <a:lstStyle/>
          <a:p>
            <a:pPr algn="l">
              <a:spcAft>
                <a:spcPts val="300"/>
              </a:spcAft>
            </a:pPr>
            <a:r>
              <a:rPr sz="1400" b="1" i="0">
                <a:solidFill>
                  <a:srgbClr val="2B3440"/>
                </a:solidFill>
                <a:latin typeface="Calibri"/>
              </a:rPr>
              <a:t>Structural quality is rarely compared across agents.</a:t>
            </a:r>
            <a:r>
              <a:rPr sz="1400" b="0" i="0">
                <a:solidFill>
                  <a:srgbClr val="2B3440"/>
                </a:solidFill>
                <a:latin typeface="Calibri"/>
              </a:rPr>
              <a:t> Studies ask language models to spot SOLID violations, analyse projects from one tool, or describe defects. None compares several agents on one corpus of real contributions.</a:t>
            </a:r>
          </a:p>
        </p:txBody>
      </p:sp>
      <p:sp>
        <p:nvSpPr>
          <p:cNvPr id="72" name="Rounded Rectangle 71"/>
          <p:cNvSpPr/>
          <p:nvPr/>
        </p:nvSpPr>
        <p:spPr>
          <a:xfrm>
            <a:off x="612648" y="3931920"/>
            <a:ext cx="7315200" cy="13716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Hexagon 72"/>
          <p:cNvSpPr/>
          <p:nvPr/>
        </p:nvSpPr>
        <p:spPr>
          <a:xfrm>
            <a:off x="795528" y="4389120"/>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3</a:t>
            </a:r>
          </a:p>
        </p:txBody>
      </p:sp>
      <p:sp>
        <p:nvSpPr>
          <p:cNvPr id="74" name="TextBox 73"/>
          <p:cNvSpPr txBox="1"/>
          <p:nvPr/>
        </p:nvSpPr>
        <p:spPr>
          <a:xfrm>
            <a:off x="1481328" y="3931920"/>
            <a:ext cx="6263640" cy="1371600"/>
          </a:xfrm>
          <a:prstGeom prst="rect">
            <a:avLst/>
          </a:prstGeom>
          <a:noFill/>
        </p:spPr>
        <p:txBody>
          <a:bodyPr wrap="square" lIns="36576" tIns="36576" rIns="36576" bIns="36576" anchor="ctr">
            <a:spAutoFit/>
          </a:bodyPr>
          <a:lstStyle/>
          <a:p>
            <a:pPr algn="l">
              <a:spcAft>
                <a:spcPts val="300"/>
              </a:spcAft>
            </a:pPr>
            <a:r>
              <a:rPr sz="1400" b="1" i="0">
                <a:solidFill>
                  <a:srgbClr val="2B3440"/>
                </a:solidFill>
                <a:latin typeface="Calibri"/>
              </a:rPr>
              <a:t>The agent matters, not only the model.</a:t>
            </a:r>
            <a:r>
              <a:rPr sz="1400" b="0" i="0">
                <a:solidFill>
                  <a:srgbClr val="2B3440"/>
                </a:solidFill>
                <a:latin typeface="Calibri"/>
              </a:rPr>
              <a:t> The agent software has an effect of its own (Ben Sghaier et al., 2026), so choosing a tool means choosing an agent.</a:t>
            </a:r>
          </a:p>
        </p:txBody>
      </p:sp>
      <p:sp>
        <p:nvSpPr>
          <p:cNvPr id="75" name="Rounded Rectangle 74"/>
          <p:cNvSpPr/>
          <p:nvPr/>
        </p:nvSpPr>
        <p:spPr>
          <a:xfrm>
            <a:off x="8138160" y="914400"/>
            <a:ext cx="3447288" cy="2148840"/>
          </a:xfrm>
          <a:prstGeom prst="roundRect">
            <a:avLst>
              <a:gd name="adj" fmla="val 6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8275320" y="1005840"/>
            <a:ext cx="3172968" cy="1074420"/>
          </a:xfrm>
          <a:prstGeom prst="rect">
            <a:avLst/>
          </a:prstGeom>
          <a:noFill/>
        </p:spPr>
        <p:txBody>
          <a:bodyPr wrap="square" lIns="45720" tIns="27432" rIns="45720" bIns="27432" anchor="b">
            <a:spAutoFit/>
          </a:bodyPr>
          <a:lstStyle/>
          <a:p>
            <a:pPr algn="ctr">
              <a:spcAft>
                <a:spcPts val="0"/>
              </a:spcAft>
            </a:pPr>
            <a:r>
              <a:rPr sz="3000" b="1" i="0">
                <a:solidFill>
                  <a:srgbClr val="46CEAE"/>
                </a:solidFill>
                <a:latin typeface="Arial"/>
              </a:rPr>
              <a:t>about half</a:t>
            </a:r>
          </a:p>
        </p:txBody>
      </p:sp>
      <p:sp>
        <p:nvSpPr>
          <p:cNvPr id="77" name="TextBox 76"/>
          <p:cNvSpPr txBox="1"/>
          <p:nvPr/>
        </p:nvSpPr>
        <p:spPr>
          <a:xfrm>
            <a:off x="8321040" y="2096262"/>
            <a:ext cx="3081528" cy="902513"/>
          </a:xfrm>
          <a:prstGeom prst="rect">
            <a:avLst/>
          </a:prstGeom>
          <a:noFill/>
        </p:spPr>
        <p:txBody>
          <a:bodyPr wrap="square" lIns="45720" tIns="27432" rIns="45720" bIns="27432" anchor="t">
            <a:spAutoFit/>
          </a:bodyPr>
          <a:lstStyle/>
          <a:p>
            <a:pPr algn="ctr">
              <a:spcAft>
                <a:spcPts val="0"/>
              </a:spcAft>
            </a:pPr>
            <a:r>
              <a:rPr sz="1250" b="0" i="0">
                <a:solidFill>
                  <a:srgbClr val="D5DCE4"/>
                </a:solidFill>
                <a:latin typeface="Calibri"/>
              </a:rPr>
              <a:t>of SWE-bench Verified patches that pass the tests would not be merged by maintainers (METR, 2026)</a:t>
            </a:r>
          </a:p>
        </p:txBody>
      </p:sp>
      <p:sp>
        <p:nvSpPr>
          <p:cNvPr id="78" name="Rounded Rectangle 77"/>
          <p:cNvSpPr/>
          <p:nvPr/>
        </p:nvSpPr>
        <p:spPr>
          <a:xfrm>
            <a:off x="8138160" y="3200400"/>
            <a:ext cx="3447288" cy="2148840"/>
          </a:xfrm>
          <a:prstGeom prst="roundRect">
            <a:avLst>
              <a:gd name="adj" fmla="val 6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8275320" y="3291840"/>
            <a:ext cx="3172968" cy="1074420"/>
          </a:xfrm>
          <a:prstGeom prst="rect">
            <a:avLst/>
          </a:prstGeom>
          <a:noFill/>
        </p:spPr>
        <p:txBody>
          <a:bodyPr wrap="square" lIns="45720" tIns="27432" rIns="45720" bIns="27432" anchor="b">
            <a:spAutoFit/>
          </a:bodyPr>
          <a:lstStyle/>
          <a:p>
            <a:pPr algn="ctr">
              <a:spcAft>
                <a:spcPts val="0"/>
              </a:spcAft>
            </a:pPr>
            <a:r>
              <a:rPr sz="3600" b="1" i="0">
                <a:solidFill>
                  <a:srgbClr val="46CEAE"/>
                </a:solidFill>
                <a:latin typeface="Arial"/>
              </a:rPr>
              <a:t>77%</a:t>
            </a:r>
          </a:p>
        </p:txBody>
      </p:sp>
      <p:sp>
        <p:nvSpPr>
          <p:cNvPr id="80" name="TextBox 79"/>
          <p:cNvSpPr txBox="1"/>
          <p:nvPr/>
        </p:nvSpPr>
        <p:spPr>
          <a:xfrm>
            <a:off x="8321040" y="4382262"/>
            <a:ext cx="3081528" cy="902513"/>
          </a:xfrm>
          <a:prstGeom prst="rect">
            <a:avLst/>
          </a:prstGeom>
          <a:noFill/>
        </p:spPr>
        <p:txBody>
          <a:bodyPr wrap="square" lIns="45720" tIns="27432" rIns="45720" bIns="27432" anchor="t">
            <a:spAutoFit/>
          </a:bodyPr>
          <a:lstStyle/>
          <a:p>
            <a:pPr algn="ctr">
              <a:spcAft>
                <a:spcPts val="0"/>
              </a:spcAft>
            </a:pPr>
            <a:r>
              <a:rPr sz="1250" b="0" i="0">
                <a:solidFill>
                  <a:srgbClr val="D5DCE4"/>
                </a:solidFill>
                <a:latin typeface="Calibri"/>
              </a:rPr>
              <a:t>of long-horizon agent trajectories show growing structural erosion (SlopCodeBench, 2026)</a:t>
            </a:r>
          </a:p>
        </p:txBody>
      </p:sp>
      <p:sp>
        <p:nvSpPr>
          <p:cNvPr id="81" name="Rounded Rectangle 80"/>
          <p:cNvSpPr/>
          <p:nvPr/>
        </p:nvSpPr>
        <p:spPr>
          <a:xfrm>
            <a:off x="612648" y="5440680"/>
            <a:ext cx="10972800" cy="868680"/>
          </a:xfrm>
          <a:prstGeom prst="roundRect">
            <a:avLst>
              <a:gd name="adj" fmla="val 8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Hexagon 81"/>
          <p:cNvSpPr/>
          <p:nvPr/>
        </p:nvSpPr>
        <p:spPr>
          <a:xfrm>
            <a:off x="813816" y="5737860"/>
            <a:ext cx="316840" cy="274320"/>
          </a:xfrm>
          <a:prstGeom prst="hexagon">
            <a:avLst/>
          </a:prstGeom>
          <a:solidFill>
            <a:srgbClr val="46CE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1252728" y="5440680"/>
            <a:ext cx="10149840" cy="868680"/>
          </a:xfrm>
          <a:prstGeom prst="rect">
            <a:avLst/>
          </a:prstGeom>
          <a:noFill/>
        </p:spPr>
        <p:txBody>
          <a:bodyPr wrap="square" lIns="45720" rIns="45720" anchor="ctr">
            <a:spAutoFit/>
          </a:bodyPr>
          <a:lstStyle/>
          <a:p>
            <a:pPr algn="l">
              <a:spcAft>
                <a:spcPts val="0"/>
              </a:spcAft>
            </a:pPr>
            <a:r>
              <a:rPr sz="1400" b="1" i="0">
                <a:solidFill>
                  <a:srgbClr val="FFFFFF"/>
                </a:solidFill>
                <a:latin typeface="Calibri"/>
              </a:rPr>
              <a:t>Problem addressed:</a:t>
            </a:r>
            <a:r>
              <a:rPr sz="1400" b="0" i="0">
                <a:solidFill>
                  <a:srgbClr val="FFFFFF"/>
                </a:solidFill>
                <a:latin typeface="Calibri"/>
              </a:rPr>
              <a:t> does the code that coding agents contribute to real projects follow established object-oriented design principles, in addition to working, and do the agents differ in this respect?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组合 55"/>
          <p:cNvGrpSpPr/>
          <p:nvPr/>
        </p:nvGrpSpPr>
        <p:grpSpPr>
          <a:xfrm>
            <a:off x="2052459" y="1413384"/>
            <a:ext cx="2036802" cy="2036802"/>
            <a:chOff x="8077074" y="845254"/>
            <a:chExt cx="2036802" cy="2036802"/>
          </a:xfrm>
        </p:grpSpPr>
        <p:sp>
          <p:nvSpPr>
            <p:cNvPr id="57" name="椭圆 56"/>
            <p:cNvSpPr/>
            <p:nvPr/>
          </p:nvSpPr>
          <p:spPr>
            <a:xfrm>
              <a:off x="8077074" y="845254"/>
              <a:ext cx="2036802" cy="2036802"/>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Freeform 126"/>
            <p:cNvSpPr>
              <a:spLocks noChangeAspect="1" noEditPoints="1"/>
            </p:cNvSpPr>
            <p:nvPr/>
          </p:nvSpPr>
          <p:spPr bwMode="auto">
            <a:xfrm>
              <a:off x="8639337" y="1292886"/>
              <a:ext cx="912277" cy="1141539"/>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lumMod val="95000"/>
              </a:schemeClr>
            </a:solidFill>
            <a:ln>
              <a:noFill/>
            </a:ln>
          </p:spPr>
          <p:txBody>
            <a:bodyPr vert="horz" wrap="square" lIns="91440" tIns="45720" rIns="91440" bIns="45720" numCol="1" anchor="t" anchorCtr="0" compatLnSpc="1"/>
            <a:lstStyle/>
            <a:p>
              <a:endParaRPr lang="zh-CN" altLang="en-US">
                <a:latin typeface="Arial" panose="020B0604020202020204" pitchFamily="34" charset="0"/>
                <a:cs typeface="Arial" panose="020B0604020202020204" pitchFamily="34" charset="0"/>
              </a:endParaRPr>
            </a:p>
          </p:txBody>
        </p:sp>
      </p:grpSp>
      <p:sp>
        <p:nvSpPr>
          <p:cNvPr id="59" name="矩形 58"/>
          <p:cNvSpPr/>
          <p:nvPr/>
        </p:nvSpPr>
        <p:spPr>
          <a:xfrm>
            <a:off x="6095999" y="0"/>
            <a:ext cx="6099175" cy="6858000"/>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TextBox 59"/>
          <p:cNvSpPr txBox="1"/>
          <p:nvPr/>
        </p:nvSpPr>
        <p:spPr>
          <a:xfrm>
            <a:off x="457200" y="3749040"/>
            <a:ext cx="5184648" cy="548640"/>
          </a:xfrm>
          <a:prstGeom prst="rect">
            <a:avLst/>
          </a:prstGeom>
          <a:noFill/>
        </p:spPr>
        <p:txBody>
          <a:bodyPr wrap="square" lIns="45720" tIns="27432" rIns="45720" bIns="27432" anchor="t">
            <a:spAutoFit/>
          </a:bodyPr>
          <a:lstStyle/>
          <a:p>
            <a:pPr algn="ctr">
              <a:spcAft>
                <a:spcPts val="0"/>
              </a:spcAft>
            </a:pPr>
            <a:r>
              <a:rPr sz="2800" b="1" i="0">
                <a:solidFill>
                  <a:srgbClr val="46CEAE"/>
                </a:solidFill>
                <a:latin typeface="Arial"/>
              </a:rPr>
              <a:t>Part 2</a:t>
            </a:r>
          </a:p>
        </p:txBody>
      </p:sp>
      <p:sp>
        <p:nvSpPr>
          <p:cNvPr id="61" name="TextBox 60"/>
          <p:cNvSpPr txBox="1"/>
          <p:nvPr/>
        </p:nvSpPr>
        <p:spPr>
          <a:xfrm>
            <a:off x="457200" y="4315968"/>
            <a:ext cx="5184648" cy="1737360"/>
          </a:xfrm>
          <a:prstGeom prst="rect">
            <a:avLst/>
          </a:prstGeom>
          <a:noFill/>
        </p:spPr>
        <p:txBody>
          <a:bodyPr wrap="square" lIns="45720" tIns="27432" rIns="45720" bIns="27432" anchor="t">
            <a:spAutoFit/>
          </a:bodyPr>
          <a:lstStyle/>
          <a:p>
            <a:pPr algn="ctr">
              <a:lnSpc>
                <a:spcPct val="95000"/>
              </a:lnSpc>
              <a:spcAft>
                <a:spcPts val="0"/>
              </a:spcAft>
            </a:pPr>
            <a:r>
              <a:rPr sz="3200" b="1" i="0">
                <a:solidFill>
                  <a:srgbClr val="202A36"/>
                </a:solidFill>
                <a:latin typeface="Arial"/>
              </a:rPr>
              <a:t>State of the art and research questions</a:t>
            </a:r>
          </a:p>
        </p:txBody>
      </p:sp>
      <p:cxnSp>
        <p:nvCxnSpPr>
          <p:cNvPr id="62" name="Connector 61"/>
          <p:cNvCxnSpPr/>
          <p:nvPr/>
        </p:nvCxnSpPr>
        <p:spPr>
          <a:xfrm>
            <a:off x="7863840" y="1417320"/>
            <a:ext cx="0" cy="4023360"/>
          </a:xfrm>
          <a:prstGeom prst="line">
            <a:avLst/>
          </a:prstGeom>
          <a:ln w="19050">
            <a:solidFill>
              <a:srgbClr val="8E98A5"/>
            </a:solidFill>
          </a:ln>
        </p:spPr>
        <p:style>
          <a:lnRef idx="2">
            <a:schemeClr val="accent1"/>
          </a:lnRef>
          <a:fillRef idx="0">
            <a:schemeClr val="accent1"/>
          </a:fillRef>
          <a:effectRef idx="1">
            <a:schemeClr val="accent1"/>
          </a:effectRef>
          <a:fontRef idx="minor">
            <a:schemeClr val="tx1"/>
          </a:fontRef>
        </p:style>
      </p:cxnSp>
      <p:sp>
        <p:nvSpPr>
          <p:cNvPr id="63" name="Oval 62"/>
          <p:cNvSpPr/>
          <p:nvPr/>
        </p:nvSpPr>
        <p:spPr>
          <a:xfrm>
            <a:off x="7790688" y="1709928"/>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8229600" y="1581912"/>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What agents do to code</a:t>
            </a:r>
          </a:p>
        </p:txBody>
      </p:sp>
      <p:sp>
        <p:nvSpPr>
          <p:cNvPr id="65" name="Oval 64"/>
          <p:cNvSpPr/>
          <p:nvPr/>
        </p:nvSpPr>
        <p:spPr>
          <a:xfrm>
            <a:off x="7790688" y="2368296"/>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8229600" y="2240280"/>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Measurement and attribution</a:t>
            </a:r>
          </a:p>
        </p:txBody>
      </p:sp>
      <p:sp>
        <p:nvSpPr>
          <p:cNvPr id="67" name="Oval 66"/>
          <p:cNvSpPr/>
          <p:nvPr/>
        </p:nvSpPr>
        <p:spPr>
          <a:xfrm>
            <a:off x="7790688" y="3026664"/>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229600" y="2898648"/>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Related work</a:t>
            </a:r>
          </a:p>
        </p:txBody>
      </p:sp>
      <p:sp>
        <p:nvSpPr>
          <p:cNvPr id="69" name="Oval 68"/>
          <p:cNvSpPr/>
          <p:nvPr/>
        </p:nvSpPr>
        <p:spPr>
          <a:xfrm>
            <a:off x="7790688" y="3685032"/>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229600" y="3557016"/>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Three limits in the literature</a:t>
            </a:r>
          </a:p>
        </p:txBody>
      </p:sp>
      <p:sp>
        <p:nvSpPr>
          <p:cNvPr id="71" name="Oval 70"/>
          <p:cNvSpPr/>
          <p:nvPr/>
        </p:nvSpPr>
        <p:spPr>
          <a:xfrm>
            <a:off x="7790688" y="4343400"/>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229600" y="4215384"/>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Research questions</a:t>
            </a:r>
          </a:p>
        </p:txBody>
      </p:sp>
      <p:sp>
        <p:nvSpPr>
          <p:cNvPr id="73" name="Oval 72"/>
          <p:cNvSpPr/>
          <p:nvPr/>
        </p:nvSpPr>
        <p:spPr>
          <a:xfrm>
            <a:off x="7790688" y="5001768"/>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229600" y="4873752"/>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Study design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2</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State of the art</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State of the art: what agents do to code</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7</a:t>
            </a:r>
          </a:p>
        </p:txBody>
      </p:sp>
      <p:sp>
        <p:nvSpPr>
          <p:cNvPr id="66" name="Rounded Rectangle 65"/>
          <p:cNvSpPr/>
          <p:nvPr/>
        </p:nvSpPr>
        <p:spPr>
          <a:xfrm>
            <a:off x="612648" y="914400"/>
            <a:ext cx="10972800" cy="9144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Hexagon 66"/>
          <p:cNvSpPr/>
          <p:nvPr/>
        </p:nvSpPr>
        <p:spPr>
          <a:xfrm>
            <a:off x="795528" y="1143000"/>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1</a:t>
            </a:r>
          </a:p>
        </p:txBody>
      </p:sp>
      <p:sp>
        <p:nvSpPr>
          <p:cNvPr id="68" name="TextBox 67"/>
          <p:cNvSpPr txBox="1"/>
          <p:nvPr/>
        </p:nvSpPr>
        <p:spPr>
          <a:xfrm>
            <a:off x="1481328" y="914400"/>
            <a:ext cx="9921240" cy="914400"/>
          </a:xfrm>
          <a:prstGeom prst="rect">
            <a:avLst/>
          </a:prstGeom>
          <a:noFill/>
        </p:spPr>
        <p:txBody>
          <a:bodyPr wrap="square" lIns="36576" tIns="36576" rIns="36576" bIns="36576" anchor="ctr">
            <a:spAutoFit/>
          </a:bodyPr>
          <a:lstStyle/>
          <a:p>
            <a:pPr algn="l">
              <a:spcAft>
                <a:spcPts val="300"/>
              </a:spcAft>
            </a:pPr>
            <a:r>
              <a:rPr sz="1400" b="0" i="0">
                <a:solidFill>
                  <a:srgbClr val="2B3440"/>
                </a:solidFill>
                <a:latin typeface="Calibri"/>
              </a:rPr>
              <a:t>Passing the tests is not the same as being accepted: about half of passing SWE-bench Verified patches would not be merged, 24 points below the automated score.</a:t>
            </a:r>
          </a:p>
          <a:p>
            <a:pPr algn="l">
              <a:spcAft>
                <a:spcPts val="0"/>
              </a:spcAft>
            </a:pPr>
            <a:r>
              <a:rPr sz="1200" b="0" i="1">
                <a:solidFill>
                  <a:srgbClr val="5C6773"/>
                </a:solidFill>
                <a:latin typeface="Calibri"/>
              </a:rPr>
              <a:t>Whitfill et al., METR, 2026</a:t>
            </a:r>
          </a:p>
        </p:txBody>
      </p:sp>
      <p:sp>
        <p:nvSpPr>
          <p:cNvPr id="69" name="Rounded Rectangle 68"/>
          <p:cNvSpPr/>
          <p:nvPr/>
        </p:nvSpPr>
        <p:spPr>
          <a:xfrm>
            <a:off x="612648" y="1993392"/>
            <a:ext cx="10972800" cy="9144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Hexagon 69"/>
          <p:cNvSpPr/>
          <p:nvPr/>
        </p:nvSpPr>
        <p:spPr>
          <a:xfrm>
            <a:off x="795528" y="2221992"/>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2</a:t>
            </a:r>
          </a:p>
        </p:txBody>
      </p:sp>
      <p:sp>
        <p:nvSpPr>
          <p:cNvPr id="71" name="TextBox 70"/>
          <p:cNvSpPr txBox="1"/>
          <p:nvPr/>
        </p:nvSpPr>
        <p:spPr>
          <a:xfrm>
            <a:off x="1481328" y="1993392"/>
            <a:ext cx="9921240" cy="914400"/>
          </a:xfrm>
          <a:prstGeom prst="rect">
            <a:avLst/>
          </a:prstGeom>
          <a:noFill/>
        </p:spPr>
        <p:txBody>
          <a:bodyPr wrap="square" lIns="36576" tIns="36576" rIns="36576" bIns="36576" anchor="ctr">
            <a:spAutoFit/>
          </a:bodyPr>
          <a:lstStyle/>
          <a:p>
            <a:pPr algn="l">
              <a:spcAft>
                <a:spcPts val="300"/>
              </a:spcAft>
            </a:pPr>
            <a:r>
              <a:rPr sz="1400" b="0" i="0">
                <a:solidFill>
                  <a:srgbClr val="2B3440"/>
                </a:solidFill>
                <a:latin typeface="Calibri"/>
              </a:rPr>
              <a:t>Functional correctness hides structural debt: Cursor projects of 16,965 lines reach 91% correctness, yet carry 1,305 CodeScene and 3,193 SonarQube design issues.</a:t>
            </a:r>
          </a:p>
          <a:p>
            <a:pPr algn="l">
              <a:spcAft>
                <a:spcPts val="0"/>
              </a:spcAft>
            </a:pPr>
            <a:r>
              <a:rPr sz="1200" b="0" i="1">
                <a:solidFill>
                  <a:srgbClr val="5C6773"/>
                </a:solidFill>
                <a:latin typeface="Calibri"/>
              </a:rPr>
              <a:t>Kashif et al., 2026</a:t>
            </a:r>
          </a:p>
        </p:txBody>
      </p:sp>
      <p:sp>
        <p:nvSpPr>
          <p:cNvPr id="72" name="Rounded Rectangle 71"/>
          <p:cNvSpPr/>
          <p:nvPr/>
        </p:nvSpPr>
        <p:spPr>
          <a:xfrm>
            <a:off x="612648" y="3072384"/>
            <a:ext cx="10972800" cy="9144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Hexagon 72"/>
          <p:cNvSpPr/>
          <p:nvPr/>
        </p:nvSpPr>
        <p:spPr>
          <a:xfrm>
            <a:off x="795528" y="3300984"/>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3</a:t>
            </a:r>
          </a:p>
        </p:txBody>
      </p:sp>
      <p:sp>
        <p:nvSpPr>
          <p:cNvPr id="74" name="TextBox 73"/>
          <p:cNvSpPr txBox="1"/>
          <p:nvPr/>
        </p:nvSpPr>
        <p:spPr>
          <a:xfrm>
            <a:off x="1481328" y="3072384"/>
            <a:ext cx="9921240" cy="914400"/>
          </a:xfrm>
          <a:prstGeom prst="rect">
            <a:avLst/>
          </a:prstGeom>
          <a:noFill/>
        </p:spPr>
        <p:txBody>
          <a:bodyPr wrap="square" lIns="36576" tIns="36576" rIns="36576" bIns="36576" anchor="ctr">
            <a:spAutoFit/>
          </a:bodyPr>
          <a:lstStyle/>
          <a:p>
            <a:pPr algn="l">
              <a:spcAft>
                <a:spcPts val="300"/>
              </a:spcAft>
            </a:pPr>
            <a:r>
              <a:rPr sz="1400" b="0" i="0">
                <a:solidFill>
                  <a:srgbClr val="2B3440"/>
                </a:solidFill>
                <a:latin typeface="Calibri"/>
              </a:rPr>
              <a:t>Structure decays over long horizons: erosion grows in 77% of trajectories, and agent code is 2.3× more verbose than human open-source Python.</a:t>
            </a:r>
          </a:p>
          <a:p>
            <a:pPr algn="l">
              <a:spcAft>
                <a:spcPts val="0"/>
              </a:spcAft>
            </a:pPr>
            <a:r>
              <a:rPr sz="1200" b="0" i="1">
                <a:solidFill>
                  <a:srgbClr val="5C6773"/>
                </a:solidFill>
                <a:latin typeface="Calibri"/>
              </a:rPr>
              <a:t>SlopCodeBench, Orlanski et al., 2026</a:t>
            </a:r>
          </a:p>
        </p:txBody>
      </p:sp>
      <p:sp>
        <p:nvSpPr>
          <p:cNvPr id="75" name="Rounded Rectangle 74"/>
          <p:cNvSpPr/>
          <p:nvPr/>
        </p:nvSpPr>
        <p:spPr>
          <a:xfrm>
            <a:off x="612648" y="4151376"/>
            <a:ext cx="10972800" cy="9144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Hexagon 75"/>
          <p:cNvSpPr/>
          <p:nvPr/>
        </p:nvSpPr>
        <p:spPr>
          <a:xfrm>
            <a:off x="795528" y="4379976"/>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4</a:t>
            </a:r>
          </a:p>
        </p:txBody>
      </p:sp>
      <p:sp>
        <p:nvSpPr>
          <p:cNvPr id="77" name="TextBox 76"/>
          <p:cNvSpPr txBox="1"/>
          <p:nvPr/>
        </p:nvSpPr>
        <p:spPr>
          <a:xfrm>
            <a:off x="1481328" y="4151376"/>
            <a:ext cx="9921240" cy="914400"/>
          </a:xfrm>
          <a:prstGeom prst="rect">
            <a:avLst/>
          </a:prstGeom>
          <a:noFill/>
        </p:spPr>
        <p:txBody>
          <a:bodyPr wrap="square" lIns="36576" tIns="36576" rIns="36576" bIns="36576" anchor="ctr">
            <a:spAutoFit/>
          </a:bodyPr>
          <a:lstStyle/>
          <a:p>
            <a:pPr algn="l">
              <a:spcAft>
                <a:spcPts val="300"/>
              </a:spcAft>
            </a:pPr>
            <a:r>
              <a:rPr sz="1400" b="0" i="0">
                <a:solidFill>
                  <a:srgbClr val="2B3440"/>
                </a:solidFill>
                <a:latin typeface="Calibri"/>
              </a:rPr>
              <a:t>AI defects have a shape, broken abstractions, duplication, over-engineering, and a Volume-Quality Inverse Law: more code generated, more structure decayed.</a:t>
            </a:r>
          </a:p>
          <a:p>
            <a:pPr algn="l">
              <a:spcAft>
                <a:spcPts val="0"/>
              </a:spcAft>
            </a:pPr>
            <a:r>
              <a:rPr sz="1200" b="0" i="1">
                <a:solidFill>
                  <a:srgbClr val="5C6773"/>
                </a:solidFill>
                <a:latin typeface="Calibri"/>
              </a:rPr>
              <a:t>Zhu, Yuecai et al., 2026</a:t>
            </a:r>
          </a:p>
        </p:txBody>
      </p:sp>
      <p:sp>
        <p:nvSpPr>
          <p:cNvPr id="78" name="Rounded Rectangle 77"/>
          <p:cNvSpPr/>
          <p:nvPr/>
        </p:nvSpPr>
        <p:spPr>
          <a:xfrm>
            <a:off x="612648" y="5230368"/>
            <a:ext cx="10972800" cy="9144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Hexagon 78"/>
          <p:cNvSpPr/>
          <p:nvPr/>
        </p:nvSpPr>
        <p:spPr>
          <a:xfrm>
            <a:off x="795528" y="5458968"/>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5</a:t>
            </a:r>
          </a:p>
        </p:txBody>
      </p:sp>
      <p:sp>
        <p:nvSpPr>
          <p:cNvPr id="80" name="TextBox 79"/>
          <p:cNvSpPr txBox="1"/>
          <p:nvPr/>
        </p:nvSpPr>
        <p:spPr>
          <a:xfrm>
            <a:off x="1481328" y="5230368"/>
            <a:ext cx="9921240" cy="914400"/>
          </a:xfrm>
          <a:prstGeom prst="rect">
            <a:avLst/>
          </a:prstGeom>
          <a:noFill/>
        </p:spPr>
        <p:txBody>
          <a:bodyPr wrap="square" lIns="36576" tIns="36576" rIns="36576" bIns="36576" anchor="ctr">
            <a:spAutoFit/>
          </a:bodyPr>
          <a:lstStyle/>
          <a:p>
            <a:pPr algn="l">
              <a:spcAft>
                <a:spcPts val="300"/>
              </a:spcAft>
            </a:pPr>
            <a:r>
              <a:rPr sz="1400" b="0" i="0">
                <a:solidFill>
                  <a:srgbClr val="2B3440"/>
                </a:solidFill>
                <a:latin typeface="Calibri"/>
              </a:rPr>
              <a:t>Agents are poor at repairing structure: 4.3% success on dependency control, 15.2% on responsibility decomposition, over 21 C++ probes.</a:t>
            </a:r>
          </a:p>
          <a:p>
            <a:pPr algn="l">
              <a:spcAft>
                <a:spcPts val="0"/>
              </a:spcAft>
            </a:pPr>
            <a:r>
              <a:rPr sz="1200" b="0" i="1">
                <a:solidFill>
                  <a:srgbClr val="5C6773"/>
                </a:solidFill>
                <a:latin typeface="Calibri"/>
              </a:rPr>
              <a:t>Zhu, Haichao et al., NITR, 2026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2</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State of the art</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State of the art: measurement and attribution</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8</a:t>
            </a:r>
          </a:p>
        </p:txBody>
      </p:sp>
      <p:sp>
        <p:nvSpPr>
          <p:cNvPr id="66" name="Rounded Rectangle 65"/>
          <p:cNvSpPr/>
          <p:nvPr/>
        </p:nvSpPr>
        <p:spPr>
          <a:xfrm>
            <a:off x="612648" y="914400"/>
            <a:ext cx="10972800" cy="9144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Hexagon 66"/>
          <p:cNvSpPr/>
          <p:nvPr/>
        </p:nvSpPr>
        <p:spPr>
          <a:xfrm>
            <a:off x="795528" y="1143000"/>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1</a:t>
            </a:r>
          </a:p>
        </p:txBody>
      </p:sp>
      <p:sp>
        <p:nvSpPr>
          <p:cNvPr id="68" name="TextBox 67"/>
          <p:cNvSpPr txBox="1"/>
          <p:nvPr/>
        </p:nvSpPr>
        <p:spPr>
          <a:xfrm>
            <a:off x="1481328" y="914400"/>
            <a:ext cx="9921240" cy="914400"/>
          </a:xfrm>
          <a:prstGeom prst="rect">
            <a:avLst/>
          </a:prstGeom>
          <a:noFill/>
        </p:spPr>
        <p:txBody>
          <a:bodyPr wrap="square" lIns="36576" tIns="36576" rIns="36576" bIns="36576" anchor="ctr">
            <a:spAutoFit/>
          </a:bodyPr>
          <a:lstStyle/>
          <a:p>
            <a:pPr algn="l">
              <a:spcAft>
                <a:spcPts val="300"/>
              </a:spcAft>
            </a:pPr>
            <a:r>
              <a:rPr sz="1400" b="0" i="0">
                <a:solidFill>
                  <a:srgbClr val="2B3440"/>
                </a:solidFill>
                <a:latin typeface="Calibri"/>
              </a:rPr>
              <a:t>A language model can detect SOLID violations. SRP is easiest, DIP hardest, and accuracy falls as complexity rises. This is the technique our judge uses.</a:t>
            </a:r>
          </a:p>
          <a:p>
            <a:pPr algn="l">
              <a:spcAft>
                <a:spcPts val="0"/>
              </a:spcAft>
            </a:pPr>
            <a:r>
              <a:rPr sz="1200" b="0" i="1">
                <a:solidFill>
                  <a:srgbClr val="5C6773"/>
                </a:solidFill>
                <a:latin typeface="Calibri"/>
              </a:rPr>
              <a:t>Pehlivan et al., 2025</a:t>
            </a:r>
          </a:p>
        </p:txBody>
      </p:sp>
      <p:sp>
        <p:nvSpPr>
          <p:cNvPr id="69" name="Rounded Rectangle 68"/>
          <p:cNvSpPr/>
          <p:nvPr/>
        </p:nvSpPr>
        <p:spPr>
          <a:xfrm>
            <a:off x="612648" y="1993392"/>
            <a:ext cx="10972800" cy="9144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Hexagon 69"/>
          <p:cNvSpPr/>
          <p:nvPr/>
        </p:nvSpPr>
        <p:spPr>
          <a:xfrm>
            <a:off x="795528" y="2221992"/>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2</a:t>
            </a:r>
          </a:p>
        </p:txBody>
      </p:sp>
      <p:sp>
        <p:nvSpPr>
          <p:cNvPr id="71" name="TextBox 70"/>
          <p:cNvSpPr txBox="1"/>
          <p:nvPr/>
        </p:nvSpPr>
        <p:spPr>
          <a:xfrm>
            <a:off x="1481328" y="1993392"/>
            <a:ext cx="9921240" cy="914400"/>
          </a:xfrm>
          <a:prstGeom prst="rect">
            <a:avLst/>
          </a:prstGeom>
          <a:noFill/>
        </p:spPr>
        <p:txBody>
          <a:bodyPr wrap="square" lIns="36576" tIns="36576" rIns="36576" bIns="36576" anchor="ctr">
            <a:spAutoFit/>
          </a:bodyPr>
          <a:lstStyle/>
          <a:p>
            <a:pPr algn="l">
              <a:spcAft>
                <a:spcPts val="300"/>
              </a:spcAft>
            </a:pPr>
            <a:r>
              <a:rPr sz="1400" b="0" i="0">
                <a:solidFill>
                  <a:srgbClr val="2B3440"/>
                </a:solidFill>
                <a:latin typeface="Calibri"/>
              </a:rPr>
              <a:t>Differences between agents largely vanish once normalised for churn, and a merge does not guarantee structural quality.</a:t>
            </a:r>
          </a:p>
          <a:p>
            <a:pPr algn="l">
              <a:spcAft>
                <a:spcPts val="0"/>
              </a:spcAft>
            </a:pPr>
            <a:r>
              <a:rPr sz="1200" b="0" i="1">
                <a:solidFill>
                  <a:srgbClr val="5C6773"/>
                </a:solidFill>
                <a:latin typeface="Calibri"/>
              </a:rPr>
              <a:t>Cynthia et al., 2026</a:t>
            </a:r>
          </a:p>
        </p:txBody>
      </p:sp>
      <p:sp>
        <p:nvSpPr>
          <p:cNvPr id="72" name="Rounded Rectangle 71"/>
          <p:cNvSpPr/>
          <p:nvPr/>
        </p:nvSpPr>
        <p:spPr>
          <a:xfrm>
            <a:off x="612648" y="3072384"/>
            <a:ext cx="10972800" cy="9144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Hexagon 72"/>
          <p:cNvSpPr/>
          <p:nvPr/>
        </p:nvSpPr>
        <p:spPr>
          <a:xfrm>
            <a:off x="795528" y="3300984"/>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3</a:t>
            </a:r>
          </a:p>
        </p:txBody>
      </p:sp>
      <p:sp>
        <p:nvSpPr>
          <p:cNvPr id="74" name="TextBox 73"/>
          <p:cNvSpPr txBox="1"/>
          <p:nvPr/>
        </p:nvSpPr>
        <p:spPr>
          <a:xfrm>
            <a:off x="1481328" y="3072384"/>
            <a:ext cx="9921240" cy="914400"/>
          </a:xfrm>
          <a:prstGeom prst="rect">
            <a:avLst/>
          </a:prstGeom>
          <a:noFill/>
        </p:spPr>
        <p:txBody>
          <a:bodyPr wrap="square" lIns="36576" tIns="36576" rIns="36576" bIns="36576" anchor="ctr">
            <a:spAutoFit/>
          </a:bodyPr>
          <a:lstStyle/>
          <a:p>
            <a:pPr algn="l">
              <a:spcAft>
                <a:spcPts val="300"/>
              </a:spcAft>
            </a:pPr>
            <a:r>
              <a:rPr sz="1400" b="0" i="0">
                <a:solidFill>
                  <a:srgbClr val="2B3440"/>
                </a:solidFill>
                <a:latin typeface="Calibri"/>
              </a:rPr>
              <a:t>After a merge, humans do almost all the maintenance on agent-written files, so maintainability is a human cost.</a:t>
            </a:r>
          </a:p>
          <a:p>
            <a:pPr algn="l">
              <a:spcAft>
                <a:spcPts val="0"/>
              </a:spcAft>
            </a:pPr>
            <a:r>
              <a:rPr sz="1200" b="0" i="1">
                <a:solidFill>
                  <a:srgbClr val="5C6773"/>
                </a:solidFill>
                <a:latin typeface="Calibri"/>
              </a:rPr>
              <a:t>Sawada et al., 2026</a:t>
            </a:r>
          </a:p>
        </p:txBody>
      </p:sp>
      <p:sp>
        <p:nvSpPr>
          <p:cNvPr id="75" name="Rounded Rectangle 74"/>
          <p:cNvSpPr/>
          <p:nvPr/>
        </p:nvSpPr>
        <p:spPr>
          <a:xfrm>
            <a:off x="612648" y="4151376"/>
            <a:ext cx="10972800" cy="9144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Hexagon 75"/>
          <p:cNvSpPr/>
          <p:nvPr/>
        </p:nvSpPr>
        <p:spPr>
          <a:xfrm>
            <a:off x="795528" y="4379976"/>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4</a:t>
            </a:r>
          </a:p>
        </p:txBody>
      </p:sp>
      <p:sp>
        <p:nvSpPr>
          <p:cNvPr id="77" name="TextBox 76"/>
          <p:cNvSpPr txBox="1"/>
          <p:nvPr/>
        </p:nvSpPr>
        <p:spPr>
          <a:xfrm>
            <a:off x="1481328" y="4151376"/>
            <a:ext cx="9921240" cy="914400"/>
          </a:xfrm>
          <a:prstGeom prst="rect">
            <a:avLst/>
          </a:prstGeom>
          <a:noFill/>
        </p:spPr>
        <p:txBody>
          <a:bodyPr wrap="square" lIns="36576" tIns="36576" rIns="36576" bIns="36576" anchor="ctr">
            <a:spAutoFit/>
          </a:bodyPr>
          <a:lstStyle/>
          <a:p>
            <a:pPr algn="l">
              <a:spcAft>
                <a:spcPts val="300"/>
              </a:spcAft>
            </a:pPr>
            <a:r>
              <a:rPr sz="1400" b="0" i="0">
                <a:solidFill>
                  <a:srgbClr val="2B3440"/>
                </a:solidFill>
                <a:latin typeface="Calibri"/>
              </a:rPr>
              <a:t>The harness around the model, its tools and context management, affects quality independently of the LLM.</a:t>
            </a:r>
          </a:p>
          <a:p>
            <a:pPr algn="l">
              <a:spcAft>
                <a:spcPts val="0"/>
              </a:spcAft>
            </a:pPr>
            <a:r>
              <a:rPr sz="1200" b="0" i="1">
                <a:solidFill>
                  <a:srgbClr val="5C6773"/>
                </a:solidFill>
                <a:latin typeface="Calibri"/>
              </a:rPr>
              <a:t>Ben Sghaier et al., 2026</a:t>
            </a:r>
          </a:p>
        </p:txBody>
      </p:sp>
      <p:sp>
        <p:nvSpPr>
          <p:cNvPr id="78" name="Rounded Rectangle 77"/>
          <p:cNvSpPr/>
          <p:nvPr/>
        </p:nvSpPr>
        <p:spPr>
          <a:xfrm>
            <a:off x="612648" y="5230368"/>
            <a:ext cx="10972800" cy="9144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Hexagon 78"/>
          <p:cNvSpPr/>
          <p:nvPr/>
        </p:nvSpPr>
        <p:spPr>
          <a:xfrm>
            <a:off x="795528" y="5458968"/>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5</a:t>
            </a:r>
          </a:p>
        </p:txBody>
      </p:sp>
      <p:sp>
        <p:nvSpPr>
          <p:cNvPr id="80" name="TextBox 79"/>
          <p:cNvSpPr txBox="1"/>
          <p:nvPr/>
        </p:nvSpPr>
        <p:spPr>
          <a:xfrm>
            <a:off x="1481328" y="5230368"/>
            <a:ext cx="9921240" cy="914400"/>
          </a:xfrm>
          <a:prstGeom prst="rect">
            <a:avLst/>
          </a:prstGeom>
          <a:noFill/>
        </p:spPr>
        <p:txBody>
          <a:bodyPr wrap="square" lIns="36576" tIns="36576" rIns="36576" bIns="36576" anchor="ctr">
            <a:spAutoFit/>
          </a:bodyPr>
          <a:lstStyle/>
          <a:p>
            <a:pPr algn="l">
              <a:spcAft>
                <a:spcPts val="300"/>
              </a:spcAft>
            </a:pPr>
            <a:r>
              <a:rPr sz="1400" b="0" i="0">
                <a:solidFill>
                  <a:srgbClr val="2B3440"/>
                </a:solidFill>
                <a:latin typeface="Calibri"/>
              </a:rPr>
              <a:t>“Vibe architecting”: agents make implicit architectural choices from prompt nuance, giving 141 to 827 lines for one and the same task.</a:t>
            </a:r>
          </a:p>
          <a:p>
            <a:pPr algn="l">
              <a:spcAft>
                <a:spcPts val="0"/>
              </a:spcAft>
            </a:pPr>
            <a:r>
              <a:rPr sz="1200" b="0" i="1">
                <a:solidFill>
                  <a:srgbClr val="5C6773"/>
                </a:solidFill>
                <a:latin typeface="Calibri"/>
              </a:rPr>
              <a:t>Konrad et al.,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2</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State of the art</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600" b="1" i="0">
                <a:solidFill>
                  <a:srgbClr val="202A36"/>
                </a:solidFill>
                <a:latin typeface="Arial"/>
              </a:rPr>
              <a:t>Related work: what was done, found, and where it stops</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9</a:t>
            </a:r>
          </a:p>
        </p:txBody>
      </p:sp>
      <p:graphicFrame>
        <p:nvGraphicFramePr>
          <p:cNvPr id="66" name="Table 65"/>
          <p:cNvGraphicFramePr>
            <a:graphicFrameLocks noGrp="1"/>
          </p:cNvGraphicFramePr>
          <p:nvPr/>
        </p:nvGraphicFramePr>
        <p:xfrm>
          <a:off x="612648" y="914400"/>
          <a:ext cx="10972800" cy="3697224"/>
        </p:xfrm>
        <a:graphic>
          <a:graphicData uri="http://schemas.openxmlformats.org/drawingml/2006/table">
            <a:tbl>
              <a:tblPr>
                <a:tableStyleId>{2D5ABB26-0587-4C30-8999-92F81FD0307C}</a:tableStyleId>
              </a:tblPr>
              <a:tblGrid>
                <a:gridCol w="187452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3154680">
                  <a:extLst>
                    <a:ext uri="{9D8B030D-6E8A-4147-A177-3AD203B41FA5}">
                      <a16:colId xmlns:a16="http://schemas.microsoft.com/office/drawing/2014/main" val="20002"/>
                    </a:ext>
                  </a:extLst>
                </a:gridCol>
                <a:gridCol w="3063240">
                  <a:extLst>
                    <a:ext uri="{9D8B030D-6E8A-4147-A177-3AD203B41FA5}">
                      <a16:colId xmlns:a16="http://schemas.microsoft.com/office/drawing/2014/main" val="20003"/>
                    </a:ext>
                  </a:extLst>
                </a:gridCol>
              </a:tblGrid>
              <a:tr h="347472">
                <a:tc>
                  <a:txBody>
                    <a:bodyPr/>
                    <a:lstStyle/>
                    <a:p>
                      <a:pPr algn="l">
                        <a:spcAft>
                          <a:spcPts val="0"/>
                        </a:spcAft>
                      </a:pPr>
                      <a:r>
                        <a:rPr sz="1150" b="1" i="0">
                          <a:solidFill>
                            <a:srgbClr val="FFFFFF"/>
                          </a:solidFill>
                          <a:latin typeface="Calibri"/>
                        </a:rPr>
                        <a:t>Study</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l">
                        <a:spcAft>
                          <a:spcPts val="0"/>
                        </a:spcAft>
                      </a:pPr>
                      <a:r>
                        <a:rPr sz="1150" b="1" i="0">
                          <a:solidFill>
                            <a:srgbClr val="FFFFFF"/>
                          </a:solidFill>
                          <a:latin typeface="Calibri"/>
                        </a:rPr>
                        <a:t>What it did</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l">
                        <a:spcAft>
                          <a:spcPts val="0"/>
                        </a:spcAft>
                      </a:pPr>
                      <a:r>
                        <a:rPr sz="1150" b="1" i="0">
                          <a:solidFill>
                            <a:srgbClr val="FFFFFF"/>
                          </a:solidFill>
                          <a:latin typeface="Calibri"/>
                        </a:rPr>
                        <a:t>What it found</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l">
                        <a:spcAft>
                          <a:spcPts val="0"/>
                        </a:spcAft>
                      </a:pPr>
                      <a:r>
                        <a:rPr sz="1150" b="1" i="0">
                          <a:solidFill>
                            <a:srgbClr val="FFFFFF"/>
                          </a:solidFill>
                          <a:latin typeface="Calibri"/>
                        </a:rPr>
                        <a:t>Where it stops</a:t>
                      </a:r>
                    </a:p>
                  </a:txBody>
                  <a:tcPr marL="73152" marR="73152" marT="27432" marB="27432" anchor="ctr">
                    <a:lnL w="0">
                      <a:noFill/>
                    </a:lnL>
                    <a:lnR w="0">
                      <a:noFill/>
                    </a:lnR>
                    <a:lnT w="0">
                      <a:noFill/>
                    </a:lnT>
                    <a:lnB w="6350">
                      <a:solidFill>
                        <a:srgbClr val="C9D0D8"/>
                      </a:solidFill>
                    </a:lnB>
                    <a:solidFill>
                      <a:srgbClr val="202A36"/>
                    </a:solidFill>
                  </a:tcPr>
                </a:tc>
                <a:extLst>
                  <a:ext uri="{0D108BD9-81ED-4DB2-BD59-A6C34878D82A}">
                    <a16:rowId xmlns:a16="http://schemas.microsoft.com/office/drawing/2014/main" val="10000"/>
                  </a:ext>
                </a:extLst>
              </a:tr>
              <a:tr h="478536">
                <a:tc>
                  <a:txBody>
                    <a:bodyPr/>
                    <a:lstStyle/>
                    <a:p>
                      <a:pPr algn="l">
                        <a:spcAft>
                          <a:spcPts val="0"/>
                        </a:spcAft>
                      </a:pPr>
                      <a:r>
                        <a:rPr sz="1150" b="1" i="0">
                          <a:solidFill>
                            <a:srgbClr val="202A36"/>
                          </a:solidFill>
                          <a:latin typeface="Calibri"/>
                        </a:rPr>
                        <a:t>Pehlivan et al., 2025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150" b="0" i="0">
                          <a:solidFill>
                            <a:srgbClr val="2B3440"/>
                          </a:solidFill>
                          <a:latin typeface="Calibri"/>
                        </a:rPr>
                        <a:t>4 language models detect SOLID violations in 240 examples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150" b="0" i="0">
                          <a:solidFill>
                            <a:srgbClr val="2B3440"/>
                          </a:solidFill>
                          <a:latin typeface="Calibri"/>
                        </a:rPr>
                        <a:t>SRP easiest to detect, DIP hardest; accuracy falls with complexity</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150" b="0" i="0">
                          <a:solidFill>
                            <a:srgbClr val="2B3440"/>
                          </a:solidFill>
                          <a:latin typeface="Calibri"/>
                        </a:rPr>
                        <a:t>Detection on examples, not measurement of agent contributions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1"/>
                  </a:ext>
                </a:extLst>
              </a:tr>
              <a:tr h="478536">
                <a:tc>
                  <a:txBody>
                    <a:bodyPr/>
                    <a:lstStyle/>
                    <a:p>
                      <a:pPr algn="l">
                        <a:spcAft>
                          <a:spcPts val="0"/>
                        </a:spcAft>
                      </a:pPr>
                      <a:r>
                        <a:rPr sz="1150" b="1" i="0">
                          <a:solidFill>
                            <a:srgbClr val="202A36"/>
                          </a:solidFill>
                          <a:latin typeface="Calibri"/>
                        </a:rPr>
                        <a:t>Kashif et al., 2026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150" b="0" i="0">
                          <a:solidFill>
                            <a:srgbClr val="2B3440"/>
                          </a:solidFill>
                          <a:latin typeface="Calibri"/>
                        </a:rPr>
                        <a:t>Design issues in projects generated by Cursor</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150" b="0" i="0">
                          <a:solidFill>
                            <a:srgbClr val="2B3440"/>
                          </a:solidFill>
                          <a:latin typeface="Calibri"/>
                        </a:rPr>
                        <a:t>91% functional correctness, yet 1,305 CodeScene and 3,193 SonarQube issues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150" b="0" i="0">
                          <a:solidFill>
                            <a:srgbClr val="2B3440"/>
                          </a:solidFill>
                          <a:latin typeface="Calibri"/>
                        </a:rPr>
                        <a:t>One tool; no comparison between agents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2"/>
                  </a:ext>
                </a:extLst>
              </a:tr>
              <a:tr h="478536">
                <a:tc>
                  <a:txBody>
                    <a:bodyPr/>
                    <a:lstStyle/>
                    <a:p>
                      <a:pPr algn="l">
                        <a:spcAft>
                          <a:spcPts val="0"/>
                        </a:spcAft>
                      </a:pPr>
                      <a:r>
                        <a:rPr sz="1150" b="1" i="0">
                          <a:solidFill>
                            <a:srgbClr val="202A36"/>
                          </a:solidFill>
                          <a:latin typeface="Calibri"/>
                        </a:rPr>
                        <a:t>Konrad et al., 2026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150" b="0" i="0">
                          <a:solidFill>
                            <a:srgbClr val="2B3440"/>
                          </a:solidFill>
                          <a:latin typeface="Calibri"/>
                        </a:rPr>
                        <a:t>Implicit architectural choices of several agents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150" b="0" i="0">
                          <a:solidFill>
                            <a:srgbClr val="2B3440"/>
                          </a:solidFill>
                          <a:latin typeface="Calibri"/>
                        </a:rPr>
                        <a:t>“Vibe architecting”: one task gave 141 to 827 lines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150" b="0" i="0">
                          <a:solidFill>
                            <a:srgbClr val="2B3440"/>
                          </a:solidFill>
                          <a:latin typeface="Calibri"/>
                        </a:rPr>
                        <a:t>Qualitative; no measurement over a corpus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3"/>
                  </a:ext>
                </a:extLst>
              </a:tr>
              <a:tr h="478536">
                <a:tc>
                  <a:txBody>
                    <a:bodyPr/>
                    <a:lstStyle/>
                    <a:p>
                      <a:pPr algn="l">
                        <a:spcAft>
                          <a:spcPts val="0"/>
                        </a:spcAft>
                      </a:pPr>
                      <a:r>
                        <a:rPr sz="1150" b="1" i="0">
                          <a:solidFill>
                            <a:srgbClr val="202A36"/>
                          </a:solidFill>
                          <a:latin typeface="Calibri"/>
                        </a:rPr>
                        <a:t>Whitfill et al. (METR), 2026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150" b="0" i="0">
                          <a:solidFill>
                            <a:srgbClr val="2B3440"/>
                          </a:solidFill>
                          <a:latin typeface="Calibri"/>
                        </a:rPr>
                        <a:t>Maintainer merge decisions on SWE-bench Verified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150" b="0" i="0">
                          <a:solidFill>
                            <a:srgbClr val="2B3440"/>
                          </a:solidFill>
                          <a:latin typeface="Calibri"/>
                        </a:rPr>
                        <a:t>About half of passing patches would not be merged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150" b="0" i="0">
                          <a:solidFill>
                            <a:srgbClr val="2B3440"/>
                          </a:solidFill>
                          <a:latin typeface="Calibri"/>
                        </a:rPr>
                        <a:t>A merge verdict only, no design measure</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4"/>
                  </a:ext>
                </a:extLst>
              </a:tr>
              <a:tr h="478536">
                <a:tc>
                  <a:txBody>
                    <a:bodyPr/>
                    <a:lstStyle/>
                    <a:p>
                      <a:pPr algn="l">
                        <a:spcAft>
                          <a:spcPts val="0"/>
                        </a:spcAft>
                      </a:pPr>
                      <a:r>
                        <a:rPr sz="1150" b="1" i="0">
                          <a:solidFill>
                            <a:srgbClr val="202A36"/>
                          </a:solidFill>
                          <a:latin typeface="Calibri"/>
                        </a:rPr>
                        <a:t>Zhu, Haichao et al. (NITR), 2026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150" b="0" i="0">
                          <a:solidFill>
                            <a:srgbClr val="2B3440"/>
                          </a:solidFill>
                          <a:latin typeface="Calibri"/>
                        </a:rPr>
                        <a:t>Maintainability tasks with a structural oracle, 21 C++ probes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150" b="0" i="0">
                          <a:solidFill>
                            <a:srgbClr val="2B3440"/>
                          </a:solidFill>
                          <a:latin typeface="Calibri"/>
                        </a:rPr>
                        <a:t>4.3% success on dependency control, 15.2% on responsibility decomposition</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150" b="0" i="0">
                          <a:solidFill>
                            <a:srgbClr val="2B3440"/>
                          </a:solidFill>
                          <a:latin typeface="Calibri"/>
                        </a:rPr>
                        <a:t>Benchmark tasks in one language, not real contributions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5"/>
                  </a:ext>
                </a:extLst>
              </a:tr>
              <a:tr h="478536">
                <a:tc>
                  <a:txBody>
                    <a:bodyPr/>
                    <a:lstStyle/>
                    <a:p>
                      <a:pPr algn="l">
                        <a:spcAft>
                          <a:spcPts val="0"/>
                        </a:spcAft>
                      </a:pPr>
                      <a:r>
                        <a:rPr sz="1150" b="1" i="0">
                          <a:solidFill>
                            <a:srgbClr val="202A36"/>
                          </a:solidFill>
                          <a:latin typeface="Calibri"/>
                        </a:rPr>
                        <a:t>Orlanski et al. (SlopCodeBench), 2026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150" b="0" i="0">
                          <a:solidFill>
                            <a:srgbClr val="2B3440"/>
                          </a:solidFill>
                          <a:latin typeface="Calibri"/>
                        </a:rPr>
                        <a:t>15 agents, erosion across successive checkpoints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150" b="0" i="0">
                          <a:solidFill>
                            <a:srgbClr val="2B3440"/>
                          </a:solidFill>
                          <a:latin typeface="Calibri"/>
                        </a:rPr>
                        <a:t>Erosion rises in 77% of trajectories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150" b="0" i="0">
                          <a:solidFill>
                            <a:srgbClr val="2B3440"/>
                          </a:solidFill>
                          <a:latin typeface="Calibri"/>
                        </a:rPr>
                        <a:t>Iterative benchmark tasks; not SOLID-specific</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6"/>
                  </a:ext>
                </a:extLst>
              </a:tr>
              <a:tr h="478536">
                <a:tc>
                  <a:txBody>
                    <a:bodyPr/>
                    <a:lstStyle/>
                    <a:p>
                      <a:pPr algn="l">
                        <a:spcAft>
                          <a:spcPts val="0"/>
                        </a:spcAft>
                      </a:pPr>
                      <a:r>
                        <a:rPr sz="1150" b="1" i="0">
                          <a:solidFill>
                            <a:srgbClr val="202A36"/>
                          </a:solidFill>
                          <a:latin typeface="Calibri"/>
                        </a:rPr>
                        <a:t>Cynthia et al., 2026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150" b="0" i="0">
                          <a:solidFill>
                            <a:srgbClr val="2B3440"/>
                          </a:solidFill>
                          <a:latin typeface="Calibri"/>
                        </a:rPr>
                        <a:t>SonarQube issues in merged agent bug-fix pull requests (AIDev)</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150" b="0" i="0">
                          <a:solidFill>
                            <a:srgbClr val="2B3440"/>
                          </a:solidFill>
                          <a:latin typeface="Calibri"/>
                        </a:rPr>
                        <a:t>Agent differences vanish after churn normalisation</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150" b="0" i="0">
                          <a:solidFill>
                            <a:srgbClr val="2B3440"/>
                          </a:solidFill>
                          <a:latin typeface="Calibri"/>
                        </a:rPr>
                        <a:t>Merged pull requests only; bug fixes only</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7"/>
                  </a:ext>
                </a:extLst>
              </a:tr>
            </a:tbl>
          </a:graphicData>
        </a:graphic>
      </p:graphicFrame>
      <p:sp>
        <p:nvSpPr>
          <p:cNvPr id="67" name="Rounded Rectangle 66"/>
          <p:cNvSpPr/>
          <p:nvPr/>
        </p:nvSpPr>
        <p:spPr>
          <a:xfrm>
            <a:off x="612648" y="4794504"/>
            <a:ext cx="10972800" cy="685800"/>
          </a:xfrm>
          <a:prstGeom prst="roundRect">
            <a:avLst>
              <a:gd name="adj" fmla="val 8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Hexagon 67"/>
          <p:cNvSpPr/>
          <p:nvPr/>
        </p:nvSpPr>
        <p:spPr>
          <a:xfrm>
            <a:off x="813816" y="5000244"/>
            <a:ext cx="316840" cy="274320"/>
          </a:xfrm>
          <a:prstGeom prst="hexagon">
            <a:avLst/>
          </a:prstGeom>
          <a:solidFill>
            <a:srgbClr val="46CE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252728" y="4794504"/>
            <a:ext cx="10149840" cy="685800"/>
          </a:xfrm>
          <a:prstGeom prst="rect">
            <a:avLst/>
          </a:prstGeom>
          <a:noFill/>
        </p:spPr>
        <p:txBody>
          <a:bodyPr wrap="square" lIns="45720" rIns="45720" anchor="ctr">
            <a:spAutoFit/>
          </a:bodyPr>
          <a:lstStyle/>
          <a:p>
            <a:pPr algn="l">
              <a:spcAft>
                <a:spcPts val="0"/>
              </a:spcAft>
            </a:pPr>
            <a:r>
              <a:rPr sz="1400" b="1" i="0">
                <a:solidFill>
                  <a:srgbClr val="FFFFFF"/>
                </a:solidFill>
                <a:latin typeface="Calibri"/>
              </a:rPr>
              <a:t>None of them measures SOLID adherence across several agents on real contributions, and none checks how far its detector can be trusted.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2</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State of the art</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600" b="1" i="0">
                <a:solidFill>
                  <a:srgbClr val="202A36"/>
                </a:solidFill>
                <a:latin typeface="Arial"/>
              </a:rPr>
              <a:t>Why this experiment: three limits in the literature</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10</a:t>
            </a:r>
          </a:p>
        </p:txBody>
      </p:sp>
      <p:sp>
        <p:nvSpPr>
          <p:cNvPr id="66" name="Rounded Rectangle 65"/>
          <p:cNvSpPr/>
          <p:nvPr/>
        </p:nvSpPr>
        <p:spPr>
          <a:xfrm>
            <a:off x="612648" y="914400"/>
            <a:ext cx="3520440" cy="452628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Hexagon 66"/>
          <p:cNvSpPr/>
          <p:nvPr/>
        </p:nvSpPr>
        <p:spPr>
          <a:xfrm>
            <a:off x="795528" y="1097280"/>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1</a:t>
            </a:r>
          </a:p>
        </p:txBody>
      </p:sp>
      <p:sp>
        <p:nvSpPr>
          <p:cNvPr id="68" name="TextBox 67"/>
          <p:cNvSpPr txBox="1"/>
          <p:nvPr/>
        </p:nvSpPr>
        <p:spPr>
          <a:xfrm>
            <a:off x="1527048" y="1024128"/>
            <a:ext cx="2468880" cy="603504"/>
          </a:xfrm>
          <a:prstGeom prst="rect">
            <a:avLst/>
          </a:prstGeom>
          <a:noFill/>
        </p:spPr>
        <p:txBody>
          <a:bodyPr wrap="square" lIns="45720" tIns="27432" rIns="45720" bIns="27432" anchor="ctr">
            <a:spAutoFit/>
          </a:bodyPr>
          <a:lstStyle/>
          <a:p>
            <a:pPr algn="l">
              <a:spcAft>
                <a:spcPts val="0"/>
              </a:spcAft>
            </a:pPr>
            <a:r>
              <a:rPr sz="1500" b="1" i="0">
                <a:solidFill>
                  <a:srgbClr val="202A36"/>
                </a:solidFill>
                <a:latin typeface="Arial"/>
              </a:rPr>
              <a:t>Real contributions at scale</a:t>
            </a:r>
          </a:p>
        </p:txBody>
      </p:sp>
      <p:sp>
        <p:nvSpPr>
          <p:cNvPr id="69" name="TextBox 68"/>
          <p:cNvSpPr txBox="1"/>
          <p:nvPr/>
        </p:nvSpPr>
        <p:spPr>
          <a:xfrm>
            <a:off x="795528" y="1810512"/>
            <a:ext cx="3154680" cy="274320"/>
          </a:xfrm>
          <a:prstGeom prst="rect">
            <a:avLst/>
          </a:prstGeom>
          <a:noFill/>
        </p:spPr>
        <p:txBody>
          <a:bodyPr wrap="square" lIns="18288" tIns="18288" rIns="18288" bIns="18288" anchor="t">
            <a:spAutoFit/>
          </a:bodyPr>
          <a:lstStyle/>
          <a:p>
            <a:pPr algn="l">
              <a:spcAft>
                <a:spcPts val="0"/>
              </a:spcAft>
            </a:pPr>
            <a:r>
              <a:rPr sz="1200" b="1" i="0">
                <a:solidFill>
                  <a:srgbClr val="34495E"/>
                </a:solidFill>
                <a:latin typeface="Arial"/>
              </a:rPr>
              <a:t>IN THE LITERATURE</a:t>
            </a:r>
          </a:p>
        </p:txBody>
      </p:sp>
      <p:sp>
        <p:nvSpPr>
          <p:cNvPr id="70" name="TextBox 69"/>
          <p:cNvSpPr txBox="1"/>
          <p:nvPr/>
        </p:nvSpPr>
        <p:spPr>
          <a:xfrm>
            <a:off x="795528" y="2084832"/>
            <a:ext cx="3154680" cy="1417320"/>
          </a:xfrm>
          <a:prstGeom prst="rect">
            <a:avLst/>
          </a:prstGeom>
          <a:noFill/>
        </p:spPr>
        <p:txBody>
          <a:bodyPr wrap="square" lIns="45720" tIns="27432" rIns="45720" bIns="27432" anchor="t">
            <a:spAutoFit/>
          </a:bodyPr>
          <a:lstStyle/>
          <a:p>
            <a:pPr algn="l">
              <a:spcAft>
                <a:spcPts val="0"/>
              </a:spcAft>
            </a:pPr>
            <a:r>
              <a:rPr sz="1300" b="0" i="0">
                <a:solidFill>
                  <a:srgbClr val="2B3440"/>
                </a:solidFill>
                <a:latin typeface="Calibri"/>
              </a:rPr>
              <a:t>Tests on functions and single issues, small task sets (20 problems, 21 probes) or newly generated projects, mostly in one language. Rejected and open work is ignored.</a:t>
            </a:r>
          </a:p>
        </p:txBody>
      </p:sp>
      <p:sp>
        <p:nvSpPr>
          <p:cNvPr id="71" name="TextBox 70"/>
          <p:cNvSpPr txBox="1"/>
          <p:nvPr/>
        </p:nvSpPr>
        <p:spPr>
          <a:xfrm>
            <a:off x="795528" y="3611880"/>
            <a:ext cx="3154680" cy="274320"/>
          </a:xfrm>
          <a:prstGeom prst="rect">
            <a:avLst/>
          </a:prstGeom>
          <a:noFill/>
        </p:spPr>
        <p:txBody>
          <a:bodyPr wrap="square" lIns="18288" tIns="18288" rIns="18288" bIns="18288" anchor="t">
            <a:spAutoFit/>
          </a:bodyPr>
          <a:lstStyle/>
          <a:p>
            <a:pPr algn="l">
              <a:spcAft>
                <a:spcPts val="0"/>
              </a:spcAft>
            </a:pPr>
            <a:r>
              <a:rPr sz="1200" b="1" i="0">
                <a:solidFill>
                  <a:srgbClr val="1F9C82"/>
                </a:solidFill>
                <a:latin typeface="Arial"/>
              </a:rPr>
              <a:t>IN THIS THESIS</a:t>
            </a:r>
          </a:p>
        </p:txBody>
      </p:sp>
      <p:sp>
        <p:nvSpPr>
          <p:cNvPr id="72" name="TextBox 71"/>
          <p:cNvSpPr txBox="1"/>
          <p:nvPr/>
        </p:nvSpPr>
        <p:spPr>
          <a:xfrm>
            <a:off x="795528" y="3886200"/>
            <a:ext cx="3154680" cy="1463040"/>
          </a:xfrm>
          <a:prstGeom prst="rect">
            <a:avLst/>
          </a:prstGeom>
          <a:noFill/>
        </p:spPr>
        <p:txBody>
          <a:bodyPr wrap="square" lIns="45720" tIns="27432" rIns="45720" bIns="27432" anchor="t">
            <a:spAutoFit/>
          </a:bodyPr>
          <a:lstStyle/>
          <a:p>
            <a:pPr algn="l">
              <a:spcAft>
                <a:spcPts val="0"/>
              </a:spcAft>
            </a:pPr>
            <a:r>
              <a:rPr sz="1350" b="1" i="0">
                <a:solidFill>
                  <a:srgbClr val="202A36"/>
                </a:solidFill>
                <a:latin typeface="Calibri"/>
              </a:rPr>
              <a:t>4,245 Java and 4,946 Python pull requests from AIDev: merged, rejected and open.</a:t>
            </a:r>
          </a:p>
        </p:txBody>
      </p:sp>
      <p:sp>
        <p:nvSpPr>
          <p:cNvPr id="73" name="Rounded Rectangle 72"/>
          <p:cNvSpPr/>
          <p:nvPr/>
        </p:nvSpPr>
        <p:spPr>
          <a:xfrm>
            <a:off x="4338828" y="914400"/>
            <a:ext cx="3520440" cy="452628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Hexagon 73"/>
          <p:cNvSpPr/>
          <p:nvPr/>
        </p:nvSpPr>
        <p:spPr>
          <a:xfrm>
            <a:off x="4521708" y="1097280"/>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2</a:t>
            </a:r>
          </a:p>
        </p:txBody>
      </p:sp>
      <p:sp>
        <p:nvSpPr>
          <p:cNvPr id="75" name="TextBox 74"/>
          <p:cNvSpPr txBox="1"/>
          <p:nvPr/>
        </p:nvSpPr>
        <p:spPr>
          <a:xfrm>
            <a:off x="5253228" y="1024128"/>
            <a:ext cx="2468880" cy="603504"/>
          </a:xfrm>
          <a:prstGeom prst="rect">
            <a:avLst/>
          </a:prstGeom>
          <a:noFill/>
        </p:spPr>
        <p:txBody>
          <a:bodyPr wrap="square" lIns="45720" tIns="27432" rIns="45720" bIns="27432" anchor="ctr">
            <a:spAutoFit/>
          </a:bodyPr>
          <a:lstStyle/>
          <a:p>
            <a:pPr algn="l">
              <a:spcAft>
                <a:spcPts val="0"/>
              </a:spcAft>
            </a:pPr>
            <a:r>
              <a:rPr sz="1500" b="1" i="0">
                <a:solidFill>
                  <a:srgbClr val="202A36"/>
                </a:solidFill>
                <a:latin typeface="Arial"/>
              </a:rPr>
              <a:t>Unmeasured validity of detectors</a:t>
            </a:r>
          </a:p>
        </p:txBody>
      </p:sp>
      <p:sp>
        <p:nvSpPr>
          <p:cNvPr id="76" name="TextBox 75"/>
          <p:cNvSpPr txBox="1"/>
          <p:nvPr/>
        </p:nvSpPr>
        <p:spPr>
          <a:xfrm>
            <a:off x="4521708" y="1810512"/>
            <a:ext cx="3154680" cy="274320"/>
          </a:xfrm>
          <a:prstGeom prst="rect">
            <a:avLst/>
          </a:prstGeom>
          <a:noFill/>
        </p:spPr>
        <p:txBody>
          <a:bodyPr wrap="square" lIns="18288" tIns="18288" rIns="18288" bIns="18288" anchor="t">
            <a:spAutoFit/>
          </a:bodyPr>
          <a:lstStyle/>
          <a:p>
            <a:pPr algn="l">
              <a:spcAft>
                <a:spcPts val="0"/>
              </a:spcAft>
            </a:pPr>
            <a:r>
              <a:rPr sz="1200" b="1" i="0">
                <a:solidFill>
                  <a:srgbClr val="34495E"/>
                </a:solidFill>
                <a:latin typeface="Arial"/>
              </a:rPr>
              <a:t>IN THE LITERATURE</a:t>
            </a:r>
          </a:p>
        </p:txBody>
      </p:sp>
      <p:sp>
        <p:nvSpPr>
          <p:cNvPr id="77" name="TextBox 76"/>
          <p:cNvSpPr txBox="1"/>
          <p:nvPr/>
        </p:nvSpPr>
        <p:spPr>
          <a:xfrm>
            <a:off x="4521708" y="2084832"/>
            <a:ext cx="3154680" cy="1417320"/>
          </a:xfrm>
          <a:prstGeom prst="rect">
            <a:avLst/>
          </a:prstGeom>
          <a:noFill/>
        </p:spPr>
        <p:txBody>
          <a:bodyPr wrap="square" lIns="45720" tIns="27432" rIns="45720" bIns="27432" anchor="t">
            <a:spAutoFit/>
          </a:bodyPr>
          <a:lstStyle/>
          <a:p>
            <a:pPr algn="l">
              <a:spcAft>
                <a:spcPts val="0"/>
              </a:spcAft>
            </a:pPr>
            <a:r>
              <a:rPr sz="1300" b="0" i="0">
                <a:solidFill>
                  <a:srgbClr val="2B3440"/>
                </a:solidFill>
                <a:latin typeface="Calibri"/>
              </a:rPr>
              <a:t>Language-model studies report accuracy on curated examples; tool studies count issues without checking that each one violates the principle.</a:t>
            </a:r>
          </a:p>
        </p:txBody>
      </p:sp>
      <p:sp>
        <p:nvSpPr>
          <p:cNvPr id="78" name="TextBox 77"/>
          <p:cNvSpPr txBox="1"/>
          <p:nvPr/>
        </p:nvSpPr>
        <p:spPr>
          <a:xfrm>
            <a:off x="4521708" y="3611880"/>
            <a:ext cx="3154680" cy="274320"/>
          </a:xfrm>
          <a:prstGeom prst="rect">
            <a:avLst/>
          </a:prstGeom>
          <a:noFill/>
        </p:spPr>
        <p:txBody>
          <a:bodyPr wrap="square" lIns="18288" tIns="18288" rIns="18288" bIns="18288" anchor="t">
            <a:spAutoFit/>
          </a:bodyPr>
          <a:lstStyle/>
          <a:p>
            <a:pPr algn="l">
              <a:spcAft>
                <a:spcPts val="0"/>
              </a:spcAft>
            </a:pPr>
            <a:r>
              <a:rPr sz="1200" b="1" i="0">
                <a:solidFill>
                  <a:srgbClr val="1F9C82"/>
                </a:solidFill>
                <a:latin typeface="Arial"/>
              </a:rPr>
              <a:t>IN THIS THESIS</a:t>
            </a:r>
          </a:p>
        </p:txBody>
      </p:sp>
      <p:sp>
        <p:nvSpPr>
          <p:cNvPr id="79" name="TextBox 78"/>
          <p:cNvSpPr txBox="1"/>
          <p:nvPr/>
        </p:nvSpPr>
        <p:spPr>
          <a:xfrm>
            <a:off x="4521708" y="3886200"/>
            <a:ext cx="3154680" cy="1463040"/>
          </a:xfrm>
          <a:prstGeom prst="rect">
            <a:avLst/>
          </a:prstGeom>
          <a:noFill/>
        </p:spPr>
        <p:txBody>
          <a:bodyPr wrap="square" lIns="45720" tIns="27432" rIns="45720" bIns="27432" anchor="t">
            <a:spAutoFit/>
          </a:bodyPr>
          <a:lstStyle/>
          <a:p>
            <a:pPr algn="l">
              <a:spcAft>
                <a:spcPts val="0"/>
              </a:spcAft>
            </a:pPr>
            <a:r>
              <a:rPr sz="1350" b="1" i="0">
                <a:solidFill>
                  <a:srgbClr val="202A36"/>
                </a:solidFill>
                <a:latin typeface="Calibri"/>
              </a:rPr>
              <a:t>One deterministic detector per principle, with precision and recall measured against a reading judge and published analysers.</a:t>
            </a:r>
          </a:p>
        </p:txBody>
      </p:sp>
      <p:sp>
        <p:nvSpPr>
          <p:cNvPr id="80" name="Rounded Rectangle 79"/>
          <p:cNvSpPr/>
          <p:nvPr/>
        </p:nvSpPr>
        <p:spPr>
          <a:xfrm>
            <a:off x="8065008" y="914400"/>
            <a:ext cx="3520440" cy="452628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Hexagon 80"/>
          <p:cNvSpPr/>
          <p:nvPr/>
        </p:nvSpPr>
        <p:spPr>
          <a:xfrm>
            <a:off x="8247888" y="1097280"/>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3</a:t>
            </a:r>
          </a:p>
        </p:txBody>
      </p:sp>
      <p:sp>
        <p:nvSpPr>
          <p:cNvPr id="82" name="TextBox 81"/>
          <p:cNvSpPr txBox="1"/>
          <p:nvPr/>
        </p:nvSpPr>
        <p:spPr>
          <a:xfrm>
            <a:off x="8979408" y="1024128"/>
            <a:ext cx="2468880" cy="603504"/>
          </a:xfrm>
          <a:prstGeom prst="rect">
            <a:avLst/>
          </a:prstGeom>
          <a:noFill/>
        </p:spPr>
        <p:txBody>
          <a:bodyPr wrap="square" lIns="45720" tIns="27432" rIns="45720" bIns="27432" anchor="ctr">
            <a:spAutoFit/>
          </a:bodyPr>
          <a:lstStyle/>
          <a:p>
            <a:pPr algn="l">
              <a:spcAft>
                <a:spcPts val="0"/>
              </a:spcAft>
            </a:pPr>
            <a:r>
              <a:rPr sz="1500" b="1" i="0">
                <a:solidFill>
                  <a:srgbClr val="202A36"/>
                </a:solidFill>
                <a:latin typeface="Arial"/>
              </a:rPr>
              <a:t>Agent-level comparison</a:t>
            </a:r>
          </a:p>
        </p:txBody>
      </p:sp>
      <p:sp>
        <p:nvSpPr>
          <p:cNvPr id="83" name="TextBox 82"/>
          <p:cNvSpPr txBox="1"/>
          <p:nvPr/>
        </p:nvSpPr>
        <p:spPr>
          <a:xfrm>
            <a:off x="8247888" y="1810512"/>
            <a:ext cx="3154680" cy="274320"/>
          </a:xfrm>
          <a:prstGeom prst="rect">
            <a:avLst/>
          </a:prstGeom>
          <a:noFill/>
        </p:spPr>
        <p:txBody>
          <a:bodyPr wrap="square" lIns="18288" tIns="18288" rIns="18288" bIns="18288" anchor="t">
            <a:spAutoFit/>
          </a:bodyPr>
          <a:lstStyle/>
          <a:p>
            <a:pPr algn="l">
              <a:spcAft>
                <a:spcPts val="0"/>
              </a:spcAft>
            </a:pPr>
            <a:r>
              <a:rPr sz="1200" b="1" i="0">
                <a:solidFill>
                  <a:srgbClr val="34495E"/>
                </a:solidFill>
                <a:latin typeface="Arial"/>
              </a:rPr>
              <a:t>IN THE LITERATURE</a:t>
            </a:r>
          </a:p>
        </p:txBody>
      </p:sp>
      <p:sp>
        <p:nvSpPr>
          <p:cNvPr id="84" name="TextBox 83"/>
          <p:cNvSpPr txBox="1"/>
          <p:nvPr/>
        </p:nvSpPr>
        <p:spPr>
          <a:xfrm>
            <a:off x="8247888" y="2084832"/>
            <a:ext cx="3154680" cy="1417320"/>
          </a:xfrm>
          <a:prstGeom prst="rect">
            <a:avLst/>
          </a:prstGeom>
          <a:noFill/>
        </p:spPr>
        <p:txBody>
          <a:bodyPr wrap="square" lIns="45720" tIns="27432" rIns="45720" bIns="27432" anchor="t">
            <a:spAutoFit/>
          </a:bodyPr>
          <a:lstStyle/>
          <a:p>
            <a:pPr algn="l">
              <a:spcAft>
                <a:spcPts val="0"/>
              </a:spcAft>
            </a:pPr>
            <a:r>
              <a:rPr sz="1300" b="0" i="0">
                <a:solidFill>
                  <a:srgbClr val="2B3440"/>
                </a:solidFill>
                <a:latin typeface="Calibri"/>
              </a:rPr>
              <a:t>The model is varied and the agent treated as fixed. AIDev studies look at merge rates, bug-fix issues and maintenance, not SOLID adherence.</a:t>
            </a:r>
          </a:p>
        </p:txBody>
      </p:sp>
      <p:sp>
        <p:nvSpPr>
          <p:cNvPr id="85" name="TextBox 84"/>
          <p:cNvSpPr txBox="1"/>
          <p:nvPr/>
        </p:nvSpPr>
        <p:spPr>
          <a:xfrm>
            <a:off x="8247888" y="3611880"/>
            <a:ext cx="3154680" cy="274320"/>
          </a:xfrm>
          <a:prstGeom prst="rect">
            <a:avLst/>
          </a:prstGeom>
          <a:noFill/>
        </p:spPr>
        <p:txBody>
          <a:bodyPr wrap="square" lIns="18288" tIns="18288" rIns="18288" bIns="18288" anchor="t">
            <a:spAutoFit/>
          </a:bodyPr>
          <a:lstStyle/>
          <a:p>
            <a:pPr algn="l">
              <a:spcAft>
                <a:spcPts val="0"/>
              </a:spcAft>
            </a:pPr>
            <a:r>
              <a:rPr sz="1200" b="1" i="0">
                <a:solidFill>
                  <a:srgbClr val="1F9C82"/>
                </a:solidFill>
                <a:latin typeface="Arial"/>
              </a:rPr>
              <a:t>IN THIS THESIS</a:t>
            </a:r>
          </a:p>
        </p:txBody>
      </p:sp>
      <p:sp>
        <p:nvSpPr>
          <p:cNvPr id="86" name="TextBox 85"/>
          <p:cNvSpPr txBox="1"/>
          <p:nvPr/>
        </p:nvSpPr>
        <p:spPr>
          <a:xfrm>
            <a:off x="8247888" y="3886200"/>
            <a:ext cx="3154680" cy="1463040"/>
          </a:xfrm>
          <a:prstGeom prst="rect">
            <a:avLst/>
          </a:prstGeom>
          <a:noFill/>
        </p:spPr>
        <p:txBody>
          <a:bodyPr wrap="square" lIns="45720" tIns="27432" rIns="45720" bIns="27432" anchor="t">
            <a:spAutoFit/>
          </a:bodyPr>
          <a:lstStyle/>
          <a:p>
            <a:pPr algn="l">
              <a:spcAft>
                <a:spcPts val="0"/>
              </a:spcAft>
            </a:pPr>
            <a:r>
              <a:rPr sz="1350" b="1" i="0">
                <a:solidFill>
                  <a:srgbClr val="202A36"/>
                </a:solidFill>
                <a:latin typeface="Calibri"/>
              </a:rPr>
              <a:t>Three agents on one shared corpus, per principle, adjusting for change size, repository and time.</a:t>
            </a:r>
          </a:p>
        </p:txBody>
      </p:sp>
      <p:sp>
        <p:nvSpPr>
          <p:cNvPr id="87" name="Rounded Rectangle 86"/>
          <p:cNvSpPr/>
          <p:nvPr/>
        </p:nvSpPr>
        <p:spPr>
          <a:xfrm>
            <a:off x="612648" y="5577840"/>
            <a:ext cx="10972800" cy="731520"/>
          </a:xfrm>
          <a:prstGeom prst="roundRect">
            <a:avLst>
              <a:gd name="adj" fmla="val 8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Hexagon 87"/>
          <p:cNvSpPr/>
          <p:nvPr/>
        </p:nvSpPr>
        <p:spPr>
          <a:xfrm>
            <a:off x="813816" y="5806440"/>
            <a:ext cx="316840" cy="274320"/>
          </a:xfrm>
          <a:prstGeom prst="hexagon">
            <a:avLst/>
          </a:prstGeom>
          <a:solidFill>
            <a:srgbClr val="46CE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1252728" y="5577840"/>
            <a:ext cx="10149840" cy="731520"/>
          </a:xfrm>
          <a:prstGeom prst="rect">
            <a:avLst/>
          </a:prstGeom>
          <a:noFill/>
        </p:spPr>
        <p:txBody>
          <a:bodyPr wrap="square" lIns="45720" rIns="45720" anchor="ctr">
            <a:spAutoFit/>
          </a:bodyPr>
          <a:lstStyle/>
          <a:p>
            <a:pPr algn="l">
              <a:spcAft>
                <a:spcPts val="0"/>
              </a:spcAft>
            </a:pPr>
            <a:r>
              <a:rPr sz="1400" b="1" i="0">
                <a:solidFill>
                  <a:srgbClr val="FFFFFF"/>
                </a:solidFill>
                <a:latin typeface="Calibri"/>
              </a:rPr>
              <a:t>Unit of analysis:</a:t>
            </a:r>
            <a:r>
              <a:rPr sz="1400" b="0" i="0">
                <a:solidFill>
                  <a:srgbClr val="FFFFFF"/>
                </a:solidFill>
                <a:latin typeface="Calibri"/>
              </a:rPr>
              <a:t> one pull request. </a:t>
            </a:r>
            <a:r>
              <a:rPr sz="1400" b="1" i="0">
                <a:solidFill>
                  <a:srgbClr val="FFFFFF"/>
                </a:solidFill>
                <a:latin typeface="Calibri"/>
              </a:rPr>
              <a:t>Object of measurement:</a:t>
            </a:r>
            <a:r>
              <a:rPr sz="1400" b="0" i="0">
                <a:solidFill>
                  <a:srgbClr val="FFFFFF"/>
                </a:solidFill>
                <a:latin typeface="Calibri"/>
              </a:rPr>
              <a:t> what that pull request did to the design of the code it touched.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2</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State of the art</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Research questions</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11</a:t>
            </a:r>
          </a:p>
        </p:txBody>
      </p:sp>
      <p:sp>
        <p:nvSpPr>
          <p:cNvPr id="66" name="Rounded Rectangle 65"/>
          <p:cNvSpPr/>
          <p:nvPr/>
        </p:nvSpPr>
        <p:spPr>
          <a:xfrm>
            <a:off x="612648" y="914400"/>
            <a:ext cx="10972800" cy="27432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66"/>
          <p:cNvSpPr/>
          <p:nvPr/>
        </p:nvSpPr>
        <p:spPr>
          <a:xfrm>
            <a:off x="795528" y="1033272"/>
            <a:ext cx="868680" cy="384048"/>
          </a:xfrm>
          <a:prstGeom prst="roundRect">
            <a:avLst>
              <a:gd name="adj" fmla="val 20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95528" y="1033272"/>
            <a:ext cx="868680" cy="384048"/>
          </a:xfrm>
          <a:prstGeom prst="rect">
            <a:avLst/>
          </a:prstGeom>
          <a:noFill/>
        </p:spPr>
        <p:txBody>
          <a:bodyPr wrap="square" lIns="0" tIns="0" rIns="0" bIns="0" anchor="ctr">
            <a:spAutoFit/>
          </a:bodyPr>
          <a:lstStyle/>
          <a:p>
            <a:pPr algn="ctr">
              <a:spcAft>
                <a:spcPts val="0"/>
              </a:spcAft>
            </a:pPr>
            <a:r>
              <a:rPr sz="1600" b="1" i="0">
                <a:solidFill>
                  <a:srgbClr val="FFFFFF"/>
                </a:solidFill>
                <a:latin typeface="Arial"/>
              </a:rPr>
              <a:t>RQ1</a:t>
            </a:r>
          </a:p>
        </p:txBody>
      </p:sp>
      <p:sp>
        <p:nvSpPr>
          <p:cNvPr id="69" name="TextBox 68"/>
          <p:cNvSpPr txBox="1"/>
          <p:nvPr/>
        </p:nvSpPr>
        <p:spPr>
          <a:xfrm>
            <a:off x="1847088" y="1005840"/>
            <a:ext cx="8229600" cy="457200"/>
          </a:xfrm>
          <a:prstGeom prst="rect">
            <a:avLst/>
          </a:prstGeom>
          <a:noFill/>
        </p:spPr>
        <p:txBody>
          <a:bodyPr wrap="square" lIns="45720" tIns="27432" rIns="45720" bIns="27432" anchor="ctr">
            <a:spAutoFit/>
          </a:bodyPr>
          <a:lstStyle/>
          <a:p>
            <a:pPr algn="l">
              <a:spcAft>
                <a:spcPts val="0"/>
              </a:spcAft>
            </a:pPr>
            <a:r>
              <a:rPr sz="1700" b="1" i="0">
                <a:solidFill>
                  <a:srgbClr val="202A36"/>
                </a:solidFill>
                <a:latin typeface="Arial"/>
              </a:rPr>
              <a:t>Adherence and differentiation</a:t>
            </a:r>
          </a:p>
        </p:txBody>
      </p:sp>
      <p:sp>
        <p:nvSpPr>
          <p:cNvPr id="70" name="TextBox 69"/>
          <p:cNvSpPr txBox="1"/>
          <p:nvPr/>
        </p:nvSpPr>
        <p:spPr>
          <a:xfrm>
            <a:off x="795528" y="1508760"/>
            <a:ext cx="10607040" cy="731520"/>
          </a:xfrm>
          <a:prstGeom prst="rect">
            <a:avLst/>
          </a:prstGeom>
          <a:noFill/>
        </p:spPr>
        <p:txBody>
          <a:bodyPr wrap="square" lIns="45720" tIns="27432" rIns="45720" bIns="27432" anchor="t">
            <a:spAutoFit/>
          </a:bodyPr>
          <a:lstStyle/>
          <a:p>
            <a:pPr algn="l">
              <a:spcAft>
                <a:spcPts val="0"/>
              </a:spcAft>
            </a:pPr>
            <a:r>
              <a:rPr sz="1350" b="0" i="0">
                <a:solidFill>
                  <a:srgbClr val="2B3440"/>
                </a:solidFill>
                <a:latin typeface="Calibri"/>
              </a:rPr>
              <a:t>Do coding agents differ in how well their pull requests adhere to the five SOLID principles, and how many of the design problems in the code they touch do they introduce themselves, in Java and in Python?</a:t>
            </a:r>
          </a:p>
        </p:txBody>
      </p:sp>
      <p:sp>
        <p:nvSpPr>
          <p:cNvPr id="71" name="Rounded Rectangle 70"/>
          <p:cNvSpPr/>
          <p:nvPr/>
        </p:nvSpPr>
        <p:spPr>
          <a:xfrm>
            <a:off x="795528" y="2331720"/>
            <a:ext cx="2548890" cy="1188720"/>
          </a:xfrm>
          <a:prstGeom prst="roundRect">
            <a:avLst>
              <a:gd name="adj" fmla="val 6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86968" y="2377440"/>
            <a:ext cx="2366010" cy="1097280"/>
          </a:xfrm>
          <a:prstGeom prst="rect">
            <a:avLst/>
          </a:prstGeom>
          <a:noFill/>
        </p:spPr>
        <p:txBody>
          <a:bodyPr wrap="square" lIns="45720" tIns="27432" rIns="45720" bIns="27432" anchor="t">
            <a:spAutoFit/>
          </a:bodyPr>
          <a:lstStyle/>
          <a:p>
            <a:pPr algn="l">
              <a:spcAft>
                <a:spcPts val="300"/>
              </a:spcAft>
            </a:pPr>
            <a:r>
              <a:rPr sz="1350" b="1" i="0">
                <a:solidFill>
                  <a:srgbClr val="202A36"/>
                </a:solidFill>
                <a:latin typeface="Calibri"/>
              </a:rPr>
              <a:t>Agents</a:t>
            </a:r>
          </a:p>
          <a:p>
            <a:pPr algn="l">
              <a:spcAft>
                <a:spcPts val="0"/>
              </a:spcAft>
            </a:pPr>
            <a:r>
              <a:rPr sz="1250" b="0" i="0">
                <a:solidFill>
                  <a:srgbClr val="2B3440"/>
                </a:solidFill>
                <a:latin typeface="Calibri"/>
              </a:rPr>
              <a:t>Different structural footprints once repository and change size are controlled?</a:t>
            </a:r>
          </a:p>
        </p:txBody>
      </p:sp>
      <p:sp>
        <p:nvSpPr>
          <p:cNvPr id="73" name="Rounded Rectangle 72"/>
          <p:cNvSpPr/>
          <p:nvPr/>
        </p:nvSpPr>
        <p:spPr>
          <a:xfrm>
            <a:off x="3481578" y="2331720"/>
            <a:ext cx="2548890" cy="1188720"/>
          </a:xfrm>
          <a:prstGeom prst="roundRect">
            <a:avLst>
              <a:gd name="adj" fmla="val 6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3573018" y="2377440"/>
            <a:ext cx="2366010" cy="1097280"/>
          </a:xfrm>
          <a:prstGeom prst="rect">
            <a:avLst/>
          </a:prstGeom>
          <a:noFill/>
        </p:spPr>
        <p:txBody>
          <a:bodyPr wrap="square" lIns="45720" tIns="27432" rIns="45720" bIns="27432" anchor="t">
            <a:spAutoFit/>
          </a:bodyPr>
          <a:lstStyle/>
          <a:p>
            <a:pPr algn="l">
              <a:spcAft>
                <a:spcPts val="300"/>
              </a:spcAft>
            </a:pPr>
            <a:r>
              <a:rPr sz="1350" b="1" i="0">
                <a:solidFill>
                  <a:srgbClr val="202A36"/>
                </a:solidFill>
                <a:latin typeface="Calibri"/>
              </a:rPr>
              <a:t>Outcomes</a:t>
            </a:r>
          </a:p>
          <a:p>
            <a:pPr algn="l">
              <a:spcAft>
                <a:spcPts val="0"/>
              </a:spcAft>
            </a:pPr>
            <a:r>
              <a:rPr sz="1250" b="0" i="0">
                <a:solidFill>
                  <a:srgbClr val="2B3440"/>
                </a:solidFill>
                <a:latin typeface="Calibri"/>
              </a:rPr>
              <a:t>Merged, rejected, open: does the merge decision filter on design quality?</a:t>
            </a:r>
          </a:p>
        </p:txBody>
      </p:sp>
      <p:sp>
        <p:nvSpPr>
          <p:cNvPr id="75" name="Rounded Rectangle 74"/>
          <p:cNvSpPr/>
          <p:nvPr/>
        </p:nvSpPr>
        <p:spPr>
          <a:xfrm>
            <a:off x="6167628" y="2331720"/>
            <a:ext cx="2548890" cy="1188720"/>
          </a:xfrm>
          <a:prstGeom prst="roundRect">
            <a:avLst>
              <a:gd name="adj" fmla="val 6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6259068" y="2377440"/>
            <a:ext cx="2366010" cy="1097280"/>
          </a:xfrm>
          <a:prstGeom prst="rect">
            <a:avLst/>
          </a:prstGeom>
          <a:noFill/>
        </p:spPr>
        <p:txBody>
          <a:bodyPr wrap="square" lIns="45720" tIns="27432" rIns="45720" bIns="27432" anchor="t">
            <a:spAutoFit/>
          </a:bodyPr>
          <a:lstStyle/>
          <a:p>
            <a:pPr algn="l">
              <a:spcAft>
                <a:spcPts val="300"/>
              </a:spcAft>
            </a:pPr>
            <a:r>
              <a:rPr sz="1350" b="1" i="0">
                <a:solidFill>
                  <a:srgbClr val="202A36"/>
                </a:solidFill>
                <a:latin typeface="Calibri"/>
              </a:rPr>
              <a:t>Locus of risk</a:t>
            </a:r>
          </a:p>
          <a:p>
            <a:pPr algn="l">
              <a:spcAft>
                <a:spcPts val="0"/>
              </a:spcAft>
            </a:pPr>
            <a:r>
              <a:rPr sz="1250" b="0" i="0">
                <a:solidFill>
                  <a:srgbClr val="2B3440"/>
                </a:solidFill>
                <a:latin typeface="Calibri"/>
              </a:rPr>
              <a:t>Inside one unit or between units: violations present vs introduced</a:t>
            </a:r>
          </a:p>
        </p:txBody>
      </p:sp>
      <p:sp>
        <p:nvSpPr>
          <p:cNvPr id="77" name="Rounded Rectangle 76"/>
          <p:cNvSpPr/>
          <p:nvPr/>
        </p:nvSpPr>
        <p:spPr>
          <a:xfrm>
            <a:off x="8853678" y="2331720"/>
            <a:ext cx="2548890" cy="1188720"/>
          </a:xfrm>
          <a:prstGeom prst="roundRect">
            <a:avLst>
              <a:gd name="adj" fmla="val 6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8945118" y="2377440"/>
            <a:ext cx="2366010" cy="1097280"/>
          </a:xfrm>
          <a:prstGeom prst="rect">
            <a:avLst/>
          </a:prstGeom>
          <a:noFill/>
        </p:spPr>
        <p:txBody>
          <a:bodyPr wrap="square" lIns="45720" tIns="27432" rIns="45720" bIns="27432" anchor="t">
            <a:spAutoFit/>
          </a:bodyPr>
          <a:lstStyle/>
          <a:p>
            <a:pPr algn="l">
              <a:spcAft>
                <a:spcPts val="300"/>
              </a:spcAft>
            </a:pPr>
            <a:r>
              <a:rPr sz="1350" b="1" i="0">
                <a:solidFill>
                  <a:srgbClr val="202A36"/>
                </a:solidFill>
                <a:latin typeface="Calibri"/>
              </a:rPr>
              <a:t>Both languages</a:t>
            </a:r>
          </a:p>
          <a:p>
            <a:pPr algn="l">
              <a:spcAft>
                <a:spcPts val="0"/>
              </a:spcAft>
            </a:pPr>
            <a:r>
              <a:rPr sz="1250" b="0" i="0">
                <a:solidFill>
                  <a:srgbClr val="2B3440"/>
                </a:solidFill>
                <a:latin typeface="Calibri"/>
              </a:rPr>
              <a:t>Which answers hold in Java and in Python? Only those count as general</a:t>
            </a:r>
          </a:p>
        </p:txBody>
      </p:sp>
      <p:sp>
        <p:nvSpPr>
          <p:cNvPr id="79" name="Rounded Rectangle 78"/>
          <p:cNvSpPr/>
          <p:nvPr/>
        </p:nvSpPr>
        <p:spPr>
          <a:xfrm>
            <a:off x="612648" y="3840480"/>
            <a:ext cx="10972800" cy="246888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ounded Rectangle 79"/>
          <p:cNvSpPr/>
          <p:nvPr/>
        </p:nvSpPr>
        <p:spPr>
          <a:xfrm>
            <a:off x="795528" y="3959352"/>
            <a:ext cx="868680" cy="384048"/>
          </a:xfrm>
          <a:prstGeom prst="roundRect">
            <a:avLst>
              <a:gd name="adj" fmla="val 20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795528" y="3959352"/>
            <a:ext cx="868680" cy="384048"/>
          </a:xfrm>
          <a:prstGeom prst="rect">
            <a:avLst/>
          </a:prstGeom>
          <a:noFill/>
        </p:spPr>
        <p:txBody>
          <a:bodyPr wrap="square" lIns="0" tIns="0" rIns="0" bIns="0" anchor="ctr">
            <a:spAutoFit/>
          </a:bodyPr>
          <a:lstStyle/>
          <a:p>
            <a:pPr algn="ctr">
              <a:spcAft>
                <a:spcPts val="0"/>
              </a:spcAft>
            </a:pPr>
            <a:r>
              <a:rPr sz="1600" b="1" i="0">
                <a:solidFill>
                  <a:srgbClr val="FFFFFF"/>
                </a:solidFill>
                <a:latin typeface="Arial"/>
              </a:rPr>
              <a:t>RQ2</a:t>
            </a:r>
          </a:p>
        </p:txBody>
      </p:sp>
      <p:sp>
        <p:nvSpPr>
          <p:cNvPr id="82" name="TextBox 81"/>
          <p:cNvSpPr txBox="1"/>
          <p:nvPr/>
        </p:nvSpPr>
        <p:spPr>
          <a:xfrm>
            <a:off x="1847088" y="3931920"/>
            <a:ext cx="8229600" cy="457200"/>
          </a:xfrm>
          <a:prstGeom prst="rect">
            <a:avLst/>
          </a:prstGeom>
          <a:noFill/>
        </p:spPr>
        <p:txBody>
          <a:bodyPr wrap="square" lIns="45720" tIns="27432" rIns="45720" bIns="27432" anchor="ctr">
            <a:spAutoFit/>
          </a:bodyPr>
          <a:lstStyle/>
          <a:p>
            <a:pPr algn="l">
              <a:spcAft>
                <a:spcPts val="0"/>
              </a:spcAft>
            </a:pPr>
            <a:r>
              <a:rPr sz="1700" b="1" i="0">
                <a:solidFill>
                  <a:srgbClr val="202A36"/>
                </a:solidFill>
                <a:latin typeface="Arial"/>
              </a:rPr>
              <a:t>Measurability (construct validity)</a:t>
            </a:r>
          </a:p>
        </p:txBody>
      </p:sp>
      <p:sp>
        <p:nvSpPr>
          <p:cNvPr id="83" name="TextBox 82"/>
          <p:cNvSpPr txBox="1"/>
          <p:nvPr/>
        </p:nvSpPr>
        <p:spPr>
          <a:xfrm>
            <a:off x="795528" y="4434840"/>
            <a:ext cx="10607040" cy="731520"/>
          </a:xfrm>
          <a:prstGeom prst="rect">
            <a:avLst/>
          </a:prstGeom>
          <a:noFill/>
        </p:spPr>
        <p:txBody>
          <a:bodyPr wrap="square" lIns="45720" tIns="27432" rIns="45720" bIns="27432" anchor="t">
            <a:spAutoFit/>
          </a:bodyPr>
          <a:lstStyle/>
          <a:p>
            <a:pPr algn="l">
              <a:spcAft>
                <a:spcPts val="0"/>
              </a:spcAft>
            </a:pPr>
            <a:r>
              <a:rPr sz="1350" b="0" i="0">
                <a:solidFill>
                  <a:srgbClr val="2B3440"/>
                </a:solidFill>
                <a:latin typeface="Calibri"/>
              </a:rPr>
              <a:t>Can SOLID adherence be measured at repository scale with deterministic structural detectors, and how well do these detectors agree with an independent reading judge and with established analysers?</a:t>
            </a:r>
          </a:p>
        </p:txBody>
      </p:sp>
      <p:sp>
        <p:nvSpPr>
          <p:cNvPr id="84" name="Rounded Rectangle 83"/>
          <p:cNvSpPr/>
          <p:nvPr/>
        </p:nvSpPr>
        <p:spPr>
          <a:xfrm>
            <a:off x="795528" y="5212080"/>
            <a:ext cx="5234940" cy="960120"/>
          </a:xfrm>
          <a:prstGeom prst="roundRect">
            <a:avLst>
              <a:gd name="adj" fmla="val 6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886968" y="5257800"/>
            <a:ext cx="5052060" cy="868680"/>
          </a:xfrm>
          <a:prstGeom prst="rect">
            <a:avLst/>
          </a:prstGeom>
          <a:noFill/>
        </p:spPr>
        <p:txBody>
          <a:bodyPr wrap="square" lIns="45720" tIns="27432" rIns="45720" bIns="27432" anchor="t">
            <a:spAutoFit/>
          </a:bodyPr>
          <a:lstStyle/>
          <a:p>
            <a:pPr algn="l">
              <a:spcAft>
                <a:spcPts val="300"/>
              </a:spcAft>
            </a:pPr>
            <a:r>
              <a:rPr sz="1350" b="1" i="0">
                <a:solidFill>
                  <a:srgbClr val="202A36"/>
                </a:solidFill>
                <a:latin typeface="Calibri"/>
              </a:rPr>
              <a:t>Reading judge</a:t>
            </a:r>
          </a:p>
          <a:p>
            <a:pPr algn="l">
              <a:spcAft>
                <a:spcPts val="0"/>
              </a:spcAft>
            </a:pPr>
            <a:r>
              <a:rPr sz="1250" b="0" i="0">
                <a:solidFill>
                  <a:srgbClr val="2B3440"/>
                </a:solidFill>
                <a:latin typeface="Calibri"/>
              </a:rPr>
              <a:t>Precision and weighted recall per principle: 2,475 judged entities (1,495 Java, 980 Python)</a:t>
            </a:r>
          </a:p>
        </p:txBody>
      </p:sp>
      <p:sp>
        <p:nvSpPr>
          <p:cNvPr id="86" name="Rounded Rectangle 85"/>
          <p:cNvSpPr/>
          <p:nvPr/>
        </p:nvSpPr>
        <p:spPr>
          <a:xfrm>
            <a:off x="6167628" y="5212080"/>
            <a:ext cx="5234940" cy="960120"/>
          </a:xfrm>
          <a:prstGeom prst="roundRect">
            <a:avLst>
              <a:gd name="adj" fmla="val 6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259068" y="5257800"/>
            <a:ext cx="5052060" cy="868680"/>
          </a:xfrm>
          <a:prstGeom prst="rect">
            <a:avLst/>
          </a:prstGeom>
          <a:noFill/>
        </p:spPr>
        <p:txBody>
          <a:bodyPr wrap="square" lIns="45720" tIns="27432" rIns="45720" bIns="27432" anchor="t">
            <a:spAutoFit/>
          </a:bodyPr>
          <a:lstStyle/>
          <a:p>
            <a:pPr algn="l">
              <a:spcAft>
                <a:spcPts val="300"/>
              </a:spcAft>
            </a:pPr>
            <a:r>
              <a:rPr sz="1350" b="1" i="0">
                <a:solidFill>
                  <a:srgbClr val="202A36"/>
                </a:solidFill>
                <a:latin typeface="Calibri"/>
              </a:rPr>
              <a:t>Published analysers</a:t>
            </a:r>
          </a:p>
          <a:p>
            <a:pPr algn="l">
              <a:spcAft>
                <a:spcPts val="0"/>
              </a:spcAft>
            </a:pPr>
            <a:r>
              <a:rPr sz="1250" b="0" i="0">
                <a:solidFill>
                  <a:srgbClr val="2B3440"/>
                </a:solidFill>
                <a:latin typeface="Calibri"/>
              </a:rPr>
              <a:t>Java detectors against CK, PMD and DesigniteJava on the same source trees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2</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State of the art</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Study design: how each question is answered</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12</a:t>
            </a:r>
          </a:p>
        </p:txBody>
      </p:sp>
      <p:graphicFrame>
        <p:nvGraphicFramePr>
          <p:cNvPr id="66" name="Table 65"/>
          <p:cNvGraphicFramePr>
            <a:graphicFrameLocks noGrp="1"/>
          </p:cNvGraphicFramePr>
          <p:nvPr/>
        </p:nvGraphicFramePr>
        <p:xfrm>
          <a:off x="612648" y="914400"/>
          <a:ext cx="10972800" cy="1556004"/>
        </p:xfrm>
        <a:graphic>
          <a:graphicData uri="http://schemas.openxmlformats.org/drawingml/2006/table">
            <a:tbl>
              <a:tblPr>
                <a:tableStyleId>{2D5ABB26-0587-4C30-8999-92F81FD0307C}</a:tableStyleId>
              </a:tblPr>
              <a:tblGrid>
                <a:gridCol w="9144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6949440">
                  <a:extLst>
                    <a:ext uri="{9D8B030D-6E8A-4147-A177-3AD203B41FA5}">
                      <a16:colId xmlns:a16="http://schemas.microsoft.com/office/drawing/2014/main" val="20002"/>
                    </a:ext>
                  </a:extLst>
                </a:gridCol>
              </a:tblGrid>
              <a:tr h="347472">
                <a:tc>
                  <a:txBody>
                    <a:bodyPr/>
                    <a:lstStyle/>
                    <a:p>
                      <a:pPr algn="l">
                        <a:spcAft>
                          <a:spcPts val="0"/>
                        </a:spcAft>
                      </a:pPr>
                      <a:r>
                        <a:rPr sz="1250" b="1" i="0">
                          <a:solidFill>
                            <a:srgbClr val="FFFFFF"/>
                          </a:solidFill>
                          <a:latin typeface="Calibri"/>
                        </a:rPr>
                        <a:t>Question</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l">
                        <a:spcAft>
                          <a:spcPts val="0"/>
                        </a:spcAft>
                      </a:pPr>
                      <a:r>
                        <a:rPr sz="1250" b="1" i="0">
                          <a:solidFill>
                            <a:srgbClr val="FFFFFF"/>
                          </a:solidFill>
                          <a:latin typeface="Calibri"/>
                        </a:rPr>
                        <a:t>Construct</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l">
                        <a:spcAft>
                          <a:spcPts val="0"/>
                        </a:spcAft>
                      </a:pPr>
                      <a:r>
                        <a:rPr sz="1250" b="1" i="0">
                          <a:solidFill>
                            <a:srgbClr val="FFFFFF"/>
                          </a:solidFill>
                          <a:latin typeface="Calibri"/>
                        </a:rPr>
                        <a:t>Evidence</a:t>
                      </a:r>
                    </a:p>
                  </a:txBody>
                  <a:tcPr marL="73152" marR="73152" marT="27432" marB="27432" anchor="ctr">
                    <a:lnL w="0">
                      <a:noFill/>
                    </a:lnL>
                    <a:lnR w="0">
                      <a:noFill/>
                    </a:lnR>
                    <a:lnT w="0">
                      <a:noFill/>
                    </a:lnT>
                    <a:lnB w="6350">
                      <a:solidFill>
                        <a:srgbClr val="C9D0D8"/>
                      </a:solidFill>
                    </a:lnB>
                    <a:solidFill>
                      <a:srgbClr val="202A36"/>
                    </a:solidFill>
                  </a:tcPr>
                </a:tc>
                <a:extLst>
                  <a:ext uri="{0D108BD9-81ED-4DB2-BD59-A6C34878D82A}">
                    <a16:rowId xmlns:a16="http://schemas.microsoft.com/office/drawing/2014/main" val="10000"/>
                  </a:ext>
                </a:extLst>
              </a:tr>
              <a:tr h="509016">
                <a:tc>
                  <a:txBody>
                    <a:bodyPr/>
                    <a:lstStyle/>
                    <a:p>
                      <a:pPr algn="l">
                        <a:spcAft>
                          <a:spcPts val="0"/>
                        </a:spcAft>
                      </a:pPr>
                      <a:r>
                        <a:rPr sz="1250" b="1" i="0">
                          <a:solidFill>
                            <a:srgbClr val="202A36"/>
                          </a:solidFill>
                          <a:latin typeface="Calibri"/>
                        </a:rPr>
                        <a:t>RQ1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250" b="0" i="0">
                          <a:solidFill>
                            <a:srgbClr val="2B3440"/>
                          </a:solidFill>
                          <a:latin typeface="Calibri"/>
                        </a:rPr>
                        <a:t>SOLID adherence per principle, per agent and outcome</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250" b="0" i="0">
                          <a:solidFill>
                            <a:srgbClr val="2B3440"/>
                          </a:solidFill>
                          <a:latin typeface="Calibri"/>
                        </a:rPr>
                        <a:t>Rates pooled and per repository; joint regression model (GEE); violations present compared with introduced; 4,245 Java and 4,946 Python pull requests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1"/>
                  </a:ext>
                </a:extLst>
              </a:tr>
              <a:tr h="699516">
                <a:tc>
                  <a:txBody>
                    <a:bodyPr/>
                    <a:lstStyle/>
                    <a:p>
                      <a:pPr algn="l">
                        <a:spcAft>
                          <a:spcPts val="0"/>
                        </a:spcAft>
                      </a:pPr>
                      <a:r>
                        <a:rPr sz="1250" b="1" i="0">
                          <a:solidFill>
                            <a:srgbClr val="202A36"/>
                          </a:solidFill>
                          <a:latin typeface="Calibri"/>
                        </a:rPr>
                        <a:t>RQ2</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250" b="0" i="0">
                          <a:solidFill>
                            <a:srgbClr val="2B3440"/>
                          </a:solidFill>
                          <a:latin typeface="Calibri"/>
                        </a:rPr>
                        <a:t>Detector fidelity</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250" b="0" i="0">
                          <a:solidFill>
                            <a:srgbClr val="2B3440"/>
                          </a:solidFill>
                          <a:latin typeface="Calibri"/>
                        </a:rPr>
                        <a:t>Precision and weighted recall on 1,495 judged Java and 980 judged Python entities, with a Java holdout; agreement of the Java detectors with three external analysers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2"/>
                  </a:ext>
                </a:extLst>
              </a:tr>
            </a:tbl>
          </a:graphicData>
        </a:graphic>
      </p:graphicFrame>
      <p:sp>
        <p:nvSpPr>
          <p:cNvPr id="67" name="TextBox 66"/>
          <p:cNvSpPr txBox="1"/>
          <p:nvPr/>
        </p:nvSpPr>
        <p:spPr>
          <a:xfrm>
            <a:off x="612648" y="2653284"/>
            <a:ext cx="10972800" cy="274320"/>
          </a:xfrm>
          <a:prstGeom prst="rect">
            <a:avLst/>
          </a:prstGeom>
          <a:noFill/>
        </p:spPr>
        <p:txBody>
          <a:bodyPr wrap="square" lIns="18288" tIns="18288" rIns="18288" bIns="18288" anchor="t">
            <a:spAutoFit/>
          </a:bodyPr>
          <a:lstStyle/>
          <a:p>
            <a:pPr algn="l">
              <a:spcAft>
                <a:spcPts val="0"/>
              </a:spcAft>
            </a:pPr>
            <a:r>
              <a:rPr sz="1200" b="1" i="0">
                <a:solidFill>
                  <a:srgbClr val="34495E"/>
                </a:solidFill>
                <a:latin typeface="Arial"/>
              </a:rPr>
              <a:t>FOUR DESIGN DECISIONS FRAME THE STUDY</a:t>
            </a:r>
          </a:p>
        </p:txBody>
      </p:sp>
      <p:sp>
        <p:nvSpPr>
          <p:cNvPr id="68" name="Rounded Rectangle 67"/>
          <p:cNvSpPr/>
          <p:nvPr/>
        </p:nvSpPr>
        <p:spPr>
          <a:xfrm>
            <a:off x="612648" y="2973324"/>
            <a:ext cx="2619756" cy="233172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Hexagon 68"/>
          <p:cNvSpPr/>
          <p:nvPr/>
        </p:nvSpPr>
        <p:spPr>
          <a:xfrm>
            <a:off x="777240" y="3110484"/>
            <a:ext cx="443575" cy="384048"/>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300" b="1" i="0">
                <a:solidFill>
                  <a:srgbClr val="FFFFFF"/>
                </a:solidFill>
                <a:latin typeface="Arial"/>
              </a:rPr>
              <a:t>1</a:t>
            </a:r>
          </a:p>
        </p:txBody>
      </p:sp>
      <p:sp>
        <p:nvSpPr>
          <p:cNvPr id="70" name="TextBox 69"/>
          <p:cNvSpPr txBox="1"/>
          <p:nvPr/>
        </p:nvSpPr>
        <p:spPr>
          <a:xfrm>
            <a:off x="1344168" y="3064764"/>
            <a:ext cx="1796796" cy="502920"/>
          </a:xfrm>
          <a:prstGeom prst="rect">
            <a:avLst/>
          </a:prstGeom>
          <a:noFill/>
        </p:spPr>
        <p:txBody>
          <a:bodyPr wrap="square" lIns="45720" tIns="27432" rIns="45720" bIns="27432" anchor="ctr">
            <a:spAutoFit/>
          </a:bodyPr>
          <a:lstStyle/>
          <a:p>
            <a:pPr algn="l">
              <a:spcAft>
                <a:spcPts val="0"/>
              </a:spcAft>
            </a:pPr>
            <a:r>
              <a:rPr sz="1400" b="1" i="0">
                <a:solidFill>
                  <a:srgbClr val="202A36"/>
                </a:solidFill>
                <a:latin typeface="Arial"/>
              </a:rPr>
              <a:t>Real pull requests</a:t>
            </a:r>
          </a:p>
        </p:txBody>
      </p:sp>
      <p:sp>
        <p:nvSpPr>
          <p:cNvPr id="71" name="TextBox 70"/>
          <p:cNvSpPr txBox="1"/>
          <p:nvPr/>
        </p:nvSpPr>
        <p:spPr>
          <a:xfrm>
            <a:off x="749808" y="3640836"/>
            <a:ext cx="2345436" cy="1645920"/>
          </a:xfrm>
          <a:prstGeom prst="rect">
            <a:avLst/>
          </a:prstGeom>
          <a:noFill/>
        </p:spPr>
        <p:txBody>
          <a:bodyPr wrap="square" lIns="45720" tIns="27432" rIns="45720" bIns="27432" anchor="t">
            <a:spAutoFit/>
          </a:bodyPr>
          <a:lstStyle/>
          <a:p>
            <a:pPr algn="l">
              <a:spcAft>
                <a:spcPts val="0"/>
              </a:spcAft>
            </a:pPr>
            <a:r>
              <a:rPr sz="1300" b="0" i="0">
                <a:solidFill>
                  <a:srgbClr val="2B3440"/>
                </a:solidFill>
                <a:latin typeface="Calibri"/>
              </a:rPr>
              <a:t>Not newly generated repositories: less control over the tasks, but realistic work, and each pull request belongs to one agent.</a:t>
            </a:r>
          </a:p>
        </p:txBody>
      </p:sp>
      <p:sp>
        <p:nvSpPr>
          <p:cNvPr id="72" name="Rounded Rectangle 71"/>
          <p:cNvSpPr/>
          <p:nvPr/>
        </p:nvSpPr>
        <p:spPr>
          <a:xfrm>
            <a:off x="3396996" y="2973324"/>
            <a:ext cx="2619756" cy="233172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Hexagon 72"/>
          <p:cNvSpPr/>
          <p:nvPr/>
        </p:nvSpPr>
        <p:spPr>
          <a:xfrm>
            <a:off x="3561588" y="3110484"/>
            <a:ext cx="443575" cy="384048"/>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300" b="1" i="0">
                <a:solidFill>
                  <a:srgbClr val="FFFFFF"/>
                </a:solidFill>
                <a:latin typeface="Arial"/>
              </a:rPr>
              <a:t>2</a:t>
            </a:r>
          </a:p>
        </p:txBody>
      </p:sp>
      <p:sp>
        <p:nvSpPr>
          <p:cNvPr id="74" name="TextBox 73"/>
          <p:cNvSpPr txBox="1"/>
          <p:nvPr/>
        </p:nvSpPr>
        <p:spPr>
          <a:xfrm>
            <a:off x="4128516" y="3064764"/>
            <a:ext cx="1796796" cy="502920"/>
          </a:xfrm>
          <a:prstGeom prst="rect">
            <a:avLst/>
          </a:prstGeom>
          <a:noFill/>
        </p:spPr>
        <p:txBody>
          <a:bodyPr wrap="square" lIns="45720" tIns="27432" rIns="45720" bIns="27432" anchor="ctr">
            <a:spAutoFit/>
          </a:bodyPr>
          <a:lstStyle/>
          <a:p>
            <a:pPr algn="l">
              <a:spcAft>
                <a:spcPts val="0"/>
              </a:spcAft>
            </a:pPr>
            <a:r>
              <a:rPr sz="1400" b="1" i="0">
                <a:solidFill>
                  <a:srgbClr val="202A36"/>
                </a:solidFill>
                <a:latin typeface="Arial"/>
              </a:rPr>
              <a:t>All three outcomes</a:t>
            </a:r>
          </a:p>
        </p:txBody>
      </p:sp>
      <p:sp>
        <p:nvSpPr>
          <p:cNvPr id="75" name="TextBox 74"/>
          <p:cNvSpPr txBox="1"/>
          <p:nvPr/>
        </p:nvSpPr>
        <p:spPr>
          <a:xfrm>
            <a:off x="3534156" y="3640836"/>
            <a:ext cx="2345436" cy="1645920"/>
          </a:xfrm>
          <a:prstGeom prst="rect">
            <a:avLst/>
          </a:prstGeom>
          <a:noFill/>
        </p:spPr>
        <p:txBody>
          <a:bodyPr wrap="square" lIns="45720" tIns="27432" rIns="45720" bIns="27432" anchor="t">
            <a:spAutoFit/>
          </a:bodyPr>
          <a:lstStyle/>
          <a:p>
            <a:pPr algn="l">
              <a:spcAft>
                <a:spcPts val="0"/>
              </a:spcAft>
            </a:pPr>
            <a:r>
              <a:rPr sz="1300" b="0" i="0">
                <a:solidFill>
                  <a:srgbClr val="2B3440"/>
                </a:solidFill>
                <a:latin typeface="Calibri"/>
              </a:rPr>
              <a:t>Merged, rejected and open, balanced on agent and outcome, so we can see what review filters out.</a:t>
            </a:r>
          </a:p>
        </p:txBody>
      </p:sp>
      <p:sp>
        <p:nvSpPr>
          <p:cNvPr id="76" name="Rounded Rectangle 75"/>
          <p:cNvSpPr/>
          <p:nvPr/>
        </p:nvSpPr>
        <p:spPr>
          <a:xfrm>
            <a:off x="6181344" y="2973324"/>
            <a:ext cx="2619756" cy="233172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Hexagon 76"/>
          <p:cNvSpPr/>
          <p:nvPr/>
        </p:nvSpPr>
        <p:spPr>
          <a:xfrm>
            <a:off x="6345936" y="3110484"/>
            <a:ext cx="443575" cy="384048"/>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300" b="1" i="0">
                <a:solidFill>
                  <a:srgbClr val="FFFFFF"/>
                </a:solidFill>
                <a:latin typeface="Arial"/>
              </a:rPr>
              <a:t>3</a:t>
            </a:r>
          </a:p>
        </p:txBody>
      </p:sp>
      <p:sp>
        <p:nvSpPr>
          <p:cNvPr id="78" name="TextBox 77"/>
          <p:cNvSpPr txBox="1"/>
          <p:nvPr/>
        </p:nvSpPr>
        <p:spPr>
          <a:xfrm>
            <a:off x="6912864" y="3064764"/>
            <a:ext cx="1796796" cy="502920"/>
          </a:xfrm>
          <a:prstGeom prst="rect">
            <a:avLst/>
          </a:prstGeom>
          <a:noFill/>
        </p:spPr>
        <p:txBody>
          <a:bodyPr wrap="square" lIns="45720" tIns="27432" rIns="45720" bIns="27432" anchor="ctr">
            <a:spAutoFit/>
          </a:bodyPr>
          <a:lstStyle/>
          <a:p>
            <a:pPr algn="l">
              <a:spcAft>
                <a:spcPts val="0"/>
              </a:spcAft>
            </a:pPr>
            <a:r>
              <a:rPr sz="1400" b="1" i="0">
                <a:solidFill>
                  <a:srgbClr val="202A36"/>
                </a:solidFill>
                <a:latin typeface="Arial"/>
              </a:rPr>
              <a:t>Two languages</a:t>
            </a:r>
          </a:p>
        </p:txBody>
      </p:sp>
      <p:sp>
        <p:nvSpPr>
          <p:cNvPr id="79" name="TextBox 78"/>
          <p:cNvSpPr txBox="1"/>
          <p:nvPr/>
        </p:nvSpPr>
        <p:spPr>
          <a:xfrm>
            <a:off x="6318504" y="3640836"/>
            <a:ext cx="2345436" cy="1645920"/>
          </a:xfrm>
          <a:prstGeom prst="rect">
            <a:avLst/>
          </a:prstGeom>
          <a:noFill/>
        </p:spPr>
        <p:txBody>
          <a:bodyPr wrap="square" lIns="45720" tIns="27432" rIns="45720" bIns="27432" anchor="t">
            <a:spAutoFit/>
          </a:bodyPr>
          <a:lstStyle/>
          <a:p>
            <a:pPr algn="l">
              <a:spcAft>
                <a:spcPts val="0"/>
              </a:spcAft>
            </a:pPr>
            <a:r>
              <a:rPr sz="1300" b="0" i="0">
                <a:solidFill>
                  <a:srgbClr val="2B3440"/>
                </a:solidFill>
                <a:latin typeface="Calibri"/>
              </a:rPr>
              <a:t>Java: classes compulsory, nominal subtyping. Python: classes optional, no compiler check. A result is general only if both show it.</a:t>
            </a:r>
          </a:p>
        </p:txBody>
      </p:sp>
      <p:sp>
        <p:nvSpPr>
          <p:cNvPr id="80" name="Rounded Rectangle 79"/>
          <p:cNvSpPr/>
          <p:nvPr/>
        </p:nvSpPr>
        <p:spPr>
          <a:xfrm>
            <a:off x="8965692" y="2973324"/>
            <a:ext cx="2619756" cy="233172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Hexagon 80"/>
          <p:cNvSpPr/>
          <p:nvPr/>
        </p:nvSpPr>
        <p:spPr>
          <a:xfrm>
            <a:off x="9130284" y="3110484"/>
            <a:ext cx="443575" cy="384048"/>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300" b="1" i="0">
                <a:solidFill>
                  <a:srgbClr val="FFFFFF"/>
                </a:solidFill>
                <a:latin typeface="Arial"/>
              </a:rPr>
              <a:t>4</a:t>
            </a:r>
          </a:p>
        </p:txBody>
      </p:sp>
      <p:sp>
        <p:nvSpPr>
          <p:cNvPr id="82" name="TextBox 81"/>
          <p:cNvSpPr txBox="1"/>
          <p:nvPr/>
        </p:nvSpPr>
        <p:spPr>
          <a:xfrm>
            <a:off x="9697212" y="3064764"/>
            <a:ext cx="1796796" cy="502920"/>
          </a:xfrm>
          <a:prstGeom prst="rect">
            <a:avLst/>
          </a:prstGeom>
          <a:noFill/>
        </p:spPr>
        <p:txBody>
          <a:bodyPr wrap="square" lIns="45720" tIns="27432" rIns="45720" bIns="27432" anchor="ctr">
            <a:spAutoFit/>
          </a:bodyPr>
          <a:lstStyle/>
          <a:p>
            <a:pPr algn="l">
              <a:spcAft>
                <a:spcPts val="0"/>
              </a:spcAft>
            </a:pPr>
            <a:r>
              <a:rPr sz="1400" b="1" i="0">
                <a:solidFill>
                  <a:srgbClr val="202A36"/>
                </a:solidFill>
                <a:latin typeface="Arial"/>
              </a:rPr>
              <a:t>Deterministic detectors</a:t>
            </a:r>
          </a:p>
        </p:txBody>
      </p:sp>
      <p:sp>
        <p:nvSpPr>
          <p:cNvPr id="83" name="TextBox 82"/>
          <p:cNvSpPr txBox="1"/>
          <p:nvPr/>
        </p:nvSpPr>
        <p:spPr>
          <a:xfrm>
            <a:off x="9102852" y="3640836"/>
            <a:ext cx="2345436" cy="1645920"/>
          </a:xfrm>
          <a:prstGeom prst="rect">
            <a:avLst/>
          </a:prstGeom>
          <a:noFill/>
        </p:spPr>
        <p:txBody>
          <a:bodyPr wrap="square" lIns="45720" tIns="27432" rIns="45720" bIns="27432" anchor="t">
            <a:spAutoFit/>
          </a:bodyPr>
          <a:lstStyle/>
          <a:p>
            <a:pPr algn="l">
              <a:spcAft>
                <a:spcPts val="0"/>
              </a:spcAft>
            </a:pPr>
            <a:r>
              <a:rPr sz="1300" b="0" i="0">
                <a:solidFill>
                  <a:srgbClr val="2B3440"/>
                </a:solidFill>
                <a:latin typeface="Calibri"/>
              </a:rPr>
              <a:t>Every rate is computed by a program. A language model only reads source and labels a validation sample.</a:t>
            </a:r>
          </a:p>
        </p:txBody>
      </p:sp>
      <p:sp>
        <p:nvSpPr>
          <p:cNvPr id="84" name="Rounded Rectangle 83"/>
          <p:cNvSpPr/>
          <p:nvPr/>
        </p:nvSpPr>
        <p:spPr>
          <a:xfrm>
            <a:off x="612648" y="5623560"/>
            <a:ext cx="10972800" cy="640080"/>
          </a:xfrm>
          <a:prstGeom prst="roundRect">
            <a:avLst>
              <a:gd name="adj" fmla="val 8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Hexagon 84"/>
          <p:cNvSpPr/>
          <p:nvPr/>
        </p:nvSpPr>
        <p:spPr>
          <a:xfrm>
            <a:off x="813816" y="5806440"/>
            <a:ext cx="316840" cy="274320"/>
          </a:xfrm>
          <a:prstGeom prst="hexagon">
            <a:avLst/>
          </a:prstGeom>
          <a:solidFill>
            <a:srgbClr val="46CE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1252728" y="5623560"/>
            <a:ext cx="10149840" cy="640080"/>
          </a:xfrm>
          <a:prstGeom prst="rect">
            <a:avLst/>
          </a:prstGeom>
          <a:noFill/>
        </p:spPr>
        <p:txBody>
          <a:bodyPr wrap="square" lIns="45720" rIns="45720" anchor="ctr">
            <a:spAutoFit/>
          </a:bodyPr>
          <a:lstStyle/>
          <a:p>
            <a:pPr algn="l">
              <a:spcAft>
                <a:spcPts val="0"/>
              </a:spcAft>
            </a:pPr>
            <a:r>
              <a:rPr sz="1400" b="1" i="0">
                <a:solidFill>
                  <a:srgbClr val="FFFFFF"/>
                </a:solidFill>
                <a:latin typeface="Calibri"/>
              </a:rPr>
              <a:t>Observational study:</a:t>
            </a:r>
            <a:r>
              <a:rPr sz="1400" b="0" i="0">
                <a:solidFill>
                  <a:srgbClr val="FFFFFF"/>
                </a:solidFill>
                <a:latin typeface="Calibri"/>
              </a:rPr>
              <a:t> no treatment was assigned, so the results are comparisons and associations, not causal claims.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组合 54"/>
          <p:cNvGrpSpPr/>
          <p:nvPr/>
        </p:nvGrpSpPr>
        <p:grpSpPr>
          <a:xfrm>
            <a:off x="2052459" y="1413384"/>
            <a:ext cx="2036802" cy="2036802"/>
            <a:chOff x="8125599" y="1434035"/>
            <a:chExt cx="2036802" cy="2036802"/>
          </a:xfrm>
        </p:grpSpPr>
        <p:sp>
          <p:nvSpPr>
            <p:cNvPr id="56" name="椭圆 55"/>
            <p:cNvSpPr/>
            <p:nvPr/>
          </p:nvSpPr>
          <p:spPr>
            <a:xfrm>
              <a:off x="8125599" y="1434035"/>
              <a:ext cx="2036802" cy="2036802"/>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7" name="组合 56"/>
            <p:cNvGrpSpPr>
              <a:grpSpLocks noChangeAspect="1"/>
            </p:cNvGrpSpPr>
            <p:nvPr/>
          </p:nvGrpSpPr>
          <p:grpSpPr>
            <a:xfrm>
              <a:off x="8518659" y="1890295"/>
              <a:ext cx="1310642" cy="1124283"/>
              <a:chOff x="5084763" y="971548"/>
              <a:chExt cx="323865" cy="277813"/>
            </a:xfrm>
            <a:solidFill>
              <a:schemeClr val="bg1">
                <a:lumMod val="95000"/>
              </a:schemeClr>
            </a:solidFill>
          </p:grpSpPr>
          <p:sp>
            <p:nvSpPr>
              <p:cNvPr id="63" name="Freeform 301"/>
              <p:cNvSpPr>
                <a:spLocks noEditPoints="1"/>
              </p:cNvSpPr>
              <p:nvPr/>
            </p:nvSpPr>
            <p:spPr bwMode="auto">
              <a:xfrm>
                <a:off x="5191140" y="1031873"/>
                <a:ext cx="217488" cy="217488"/>
              </a:xfrm>
              <a:custGeom>
                <a:avLst/>
                <a:gdLst>
                  <a:gd name="T0" fmla="*/ 6 w 58"/>
                  <a:gd name="T1" fmla="*/ 14 h 58"/>
                  <a:gd name="T2" fmla="*/ 7 w 58"/>
                  <a:gd name="T3" fmla="*/ 19 h 58"/>
                  <a:gd name="T4" fmla="*/ 4 w 58"/>
                  <a:gd name="T5" fmla="*/ 20 h 58"/>
                  <a:gd name="T6" fmla="*/ 0 w 58"/>
                  <a:gd name="T7" fmla="*/ 23 h 58"/>
                  <a:gd name="T8" fmla="*/ 2 w 58"/>
                  <a:gd name="T9" fmla="*/ 27 h 58"/>
                  <a:gd name="T10" fmla="*/ 5 w 58"/>
                  <a:gd name="T11" fmla="*/ 31 h 58"/>
                  <a:gd name="T12" fmla="*/ 2 w 58"/>
                  <a:gd name="T13" fmla="*/ 34 h 58"/>
                  <a:gd name="T14" fmla="*/ 1 w 58"/>
                  <a:gd name="T15" fmla="*/ 38 h 58"/>
                  <a:gd name="T16" fmla="*/ 5 w 58"/>
                  <a:gd name="T17" fmla="*/ 41 h 58"/>
                  <a:gd name="T18" fmla="*/ 8 w 58"/>
                  <a:gd name="T19" fmla="*/ 42 h 58"/>
                  <a:gd name="T20" fmla="*/ 8 w 58"/>
                  <a:gd name="T21" fmla="*/ 46 h 58"/>
                  <a:gd name="T22" fmla="*/ 9 w 58"/>
                  <a:gd name="T23" fmla="*/ 51 h 58"/>
                  <a:gd name="T24" fmla="*/ 14 w 58"/>
                  <a:gd name="T25" fmla="*/ 51 h 58"/>
                  <a:gd name="T26" fmla="*/ 18 w 58"/>
                  <a:gd name="T27" fmla="*/ 51 h 58"/>
                  <a:gd name="T28" fmla="*/ 19 w 58"/>
                  <a:gd name="T29" fmla="*/ 54 h 58"/>
                  <a:gd name="T30" fmla="*/ 22 w 58"/>
                  <a:gd name="T31" fmla="*/ 58 h 58"/>
                  <a:gd name="T32" fmla="*/ 27 w 58"/>
                  <a:gd name="T33" fmla="*/ 56 h 58"/>
                  <a:gd name="T34" fmla="*/ 31 w 58"/>
                  <a:gd name="T35" fmla="*/ 53 h 58"/>
                  <a:gd name="T36" fmla="*/ 33 w 58"/>
                  <a:gd name="T37" fmla="*/ 56 h 58"/>
                  <a:gd name="T38" fmla="*/ 38 w 58"/>
                  <a:gd name="T39" fmla="*/ 57 h 58"/>
                  <a:gd name="T40" fmla="*/ 40 w 58"/>
                  <a:gd name="T41" fmla="*/ 53 h 58"/>
                  <a:gd name="T42" fmla="*/ 42 w 58"/>
                  <a:gd name="T43" fmla="*/ 49 h 58"/>
                  <a:gd name="T44" fmla="*/ 46 w 58"/>
                  <a:gd name="T45" fmla="*/ 50 h 58"/>
                  <a:gd name="T46" fmla="*/ 50 w 58"/>
                  <a:gd name="T47" fmla="*/ 49 h 58"/>
                  <a:gd name="T48" fmla="*/ 51 w 58"/>
                  <a:gd name="T49" fmla="*/ 44 h 58"/>
                  <a:gd name="T50" fmla="*/ 50 w 58"/>
                  <a:gd name="T51" fmla="*/ 40 h 58"/>
                  <a:gd name="T52" fmla="*/ 54 w 58"/>
                  <a:gd name="T53" fmla="*/ 39 h 58"/>
                  <a:gd name="T54" fmla="*/ 57 w 58"/>
                  <a:gd name="T55" fmla="*/ 35 h 58"/>
                  <a:gd name="T56" fmla="*/ 55 w 58"/>
                  <a:gd name="T57" fmla="*/ 31 h 58"/>
                  <a:gd name="T58" fmla="*/ 52 w 58"/>
                  <a:gd name="T59" fmla="*/ 27 h 58"/>
                  <a:gd name="T60" fmla="*/ 55 w 58"/>
                  <a:gd name="T61" fmla="*/ 25 h 58"/>
                  <a:gd name="T62" fmla="*/ 56 w 58"/>
                  <a:gd name="T63" fmla="*/ 20 h 58"/>
                  <a:gd name="T64" fmla="*/ 53 w 58"/>
                  <a:gd name="T65" fmla="*/ 18 h 58"/>
                  <a:gd name="T66" fmla="*/ 48 w 58"/>
                  <a:gd name="T67" fmla="*/ 16 h 58"/>
                  <a:gd name="T68" fmla="*/ 49 w 58"/>
                  <a:gd name="T69" fmla="*/ 12 h 58"/>
                  <a:gd name="T70" fmla="*/ 48 w 58"/>
                  <a:gd name="T71" fmla="*/ 8 h 58"/>
                  <a:gd name="T72" fmla="*/ 44 w 58"/>
                  <a:gd name="T73" fmla="*/ 7 h 58"/>
                  <a:gd name="T74" fmla="*/ 39 w 58"/>
                  <a:gd name="T75" fmla="*/ 8 h 58"/>
                  <a:gd name="T76" fmla="*/ 38 w 58"/>
                  <a:gd name="T77" fmla="*/ 4 h 58"/>
                  <a:gd name="T78" fmla="*/ 35 w 58"/>
                  <a:gd name="T79" fmla="*/ 1 h 58"/>
                  <a:gd name="T80" fmla="*/ 30 w 58"/>
                  <a:gd name="T81" fmla="*/ 3 h 58"/>
                  <a:gd name="T82" fmla="*/ 27 w 58"/>
                  <a:gd name="T83" fmla="*/ 5 h 58"/>
                  <a:gd name="T84" fmla="*/ 24 w 58"/>
                  <a:gd name="T85" fmla="*/ 3 h 58"/>
                  <a:gd name="T86" fmla="*/ 20 w 58"/>
                  <a:gd name="T87" fmla="*/ 1 h 58"/>
                  <a:gd name="T88" fmla="*/ 17 w 58"/>
                  <a:gd name="T89" fmla="*/ 5 h 58"/>
                  <a:gd name="T90" fmla="*/ 15 w 58"/>
                  <a:gd name="T91" fmla="*/ 10 h 58"/>
                  <a:gd name="T92" fmla="*/ 12 w 58"/>
                  <a:gd name="T93" fmla="*/ 9 h 58"/>
                  <a:gd name="T94" fmla="*/ 7 w 58"/>
                  <a:gd name="T95" fmla="*/ 10 h 58"/>
                  <a:gd name="T96" fmla="*/ 6 w 58"/>
                  <a:gd name="T97" fmla="*/ 14 h 58"/>
                  <a:gd name="T98" fmla="*/ 23 w 58"/>
                  <a:gd name="T99" fmla="*/ 13 h 58"/>
                  <a:gd name="T100" fmla="*/ 45 w 58"/>
                  <a:gd name="T101" fmla="*/ 24 h 58"/>
                  <a:gd name="T102" fmla="*/ 34 w 58"/>
                  <a:gd name="T103" fmla="*/ 45 h 58"/>
                  <a:gd name="T104" fmla="*/ 13 w 58"/>
                  <a:gd name="T105" fmla="*/ 34 h 58"/>
                  <a:gd name="T106" fmla="*/ 23 w 58"/>
                  <a:gd name="T107" fmla="*/ 1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8" h="58">
                    <a:moveTo>
                      <a:pt x="6" y="14"/>
                    </a:moveTo>
                    <a:cubicBezTo>
                      <a:pt x="8" y="15"/>
                      <a:pt x="7" y="18"/>
                      <a:pt x="7" y="19"/>
                    </a:cubicBezTo>
                    <a:cubicBezTo>
                      <a:pt x="7" y="20"/>
                      <a:pt x="5" y="20"/>
                      <a:pt x="4" y="20"/>
                    </a:cubicBezTo>
                    <a:cubicBezTo>
                      <a:pt x="2" y="20"/>
                      <a:pt x="0" y="21"/>
                      <a:pt x="0" y="23"/>
                    </a:cubicBezTo>
                    <a:cubicBezTo>
                      <a:pt x="0" y="25"/>
                      <a:pt x="0" y="27"/>
                      <a:pt x="2" y="27"/>
                    </a:cubicBezTo>
                    <a:cubicBezTo>
                      <a:pt x="3" y="28"/>
                      <a:pt x="5" y="30"/>
                      <a:pt x="5" y="31"/>
                    </a:cubicBezTo>
                    <a:cubicBezTo>
                      <a:pt x="5" y="32"/>
                      <a:pt x="4" y="33"/>
                      <a:pt x="2" y="34"/>
                    </a:cubicBezTo>
                    <a:cubicBezTo>
                      <a:pt x="1" y="34"/>
                      <a:pt x="0" y="36"/>
                      <a:pt x="1" y="38"/>
                    </a:cubicBezTo>
                    <a:cubicBezTo>
                      <a:pt x="1" y="40"/>
                      <a:pt x="3" y="42"/>
                      <a:pt x="5" y="41"/>
                    </a:cubicBezTo>
                    <a:cubicBezTo>
                      <a:pt x="6" y="41"/>
                      <a:pt x="8" y="41"/>
                      <a:pt x="8" y="42"/>
                    </a:cubicBezTo>
                    <a:cubicBezTo>
                      <a:pt x="9" y="42"/>
                      <a:pt x="9" y="45"/>
                      <a:pt x="8" y="46"/>
                    </a:cubicBezTo>
                    <a:cubicBezTo>
                      <a:pt x="7" y="47"/>
                      <a:pt x="7" y="50"/>
                      <a:pt x="9" y="51"/>
                    </a:cubicBezTo>
                    <a:cubicBezTo>
                      <a:pt x="11" y="52"/>
                      <a:pt x="13" y="53"/>
                      <a:pt x="14" y="51"/>
                    </a:cubicBezTo>
                    <a:cubicBezTo>
                      <a:pt x="15" y="50"/>
                      <a:pt x="18" y="51"/>
                      <a:pt x="18" y="51"/>
                    </a:cubicBezTo>
                    <a:cubicBezTo>
                      <a:pt x="19" y="51"/>
                      <a:pt x="20" y="53"/>
                      <a:pt x="19" y="54"/>
                    </a:cubicBezTo>
                    <a:cubicBezTo>
                      <a:pt x="19" y="56"/>
                      <a:pt x="20" y="57"/>
                      <a:pt x="22" y="58"/>
                    </a:cubicBezTo>
                    <a:cubicBezTo>
                      <a:pt x="25" y="58"/>
                      <a:pt x="26" y="57"/>
                      <a:pt x="27" y="56"/>
                    </a:cubicBezTo>
                    <a:cubicBezTo>
                      <a:pt x="27" y="54"/>
                      <a:pt x="30" y="53"/>
                      <a:pt x="31" y="53"/>
                    </a:cubicBezTo>
                    <a:cubicBezTo>
                      <a:pt x="31" y="53"/>
                      <a:pt x="33" y="54"/>
                      <a:pt x="33" y="56"/>
                    </a:cubicBezTo>
                    <a:cubicBezTo>
                      <a:pt x="34" y="57"/>
                      <a:pt x="36" y="58"/>
                      <a:pt x="38" y="57"/>
                    </a:cubicBezTo>
                    <a:cubicBezTo>
                      <a:pt x="40" y="57"/>
                      <a:pt x="41" y="55"/>
                      <a:pt x="40" y="53"/>
                    </a:cubicBezTo>
                    <a:cubicBezTo>
                      <a:pt x="40" y="52"/>
                      <a:pt x="42" y="49"/>
                      <a:pt x="42" y="49"/>
                    </a:cubicBezTo>
                    <a:cubicBezTo>
                      <a:pt x="43" y="48"/>
                      <a:pt x="44" y="49"/>
                      <a:pt x="46" y="50"/>
                    </a:cubicBezTo>
                    <a:cubicBezTo>
                      <a:pt x="47" y="51"/>
                      <a:pt x="49" y="51"/>
                      <a:pt x="50" y="49"/>
                    </a:cubicBezTo>
                    <a:cubicBezTo>
                      <a:pt x="52" y="47"/>
                      <a:pt x="52" y="45"/>
                      <a:pt x="51" y="44"/>
                    </a:cubicBezTo>
                    <a:cubicBezTo>
                      <a:pt x="50" y="43"/>
                      <a:pt x="50" y="40"/>
                      <a:pt x="50" y="40"/>
                    </a:cubicBezTo>
                    <a:cubicBezTo>
                      <a:pt x="51" y="39"/>
                      <a:pt x="52" y="38"/>
                      <a:pt x="54" y="39"/>
                    </a:cubicBezTo>
                    <a:cubicBezTo>
                      <a:pt x="55" y="39"/>
                      <a:pt x="57" y="38"/>
                      <a:pt x="57" y="35"/>
                    </a:cubicBezTo>
                    <a:cubicBezTo>
                      <a:pt x="58" y="33"/>
                      <a:pt x="57" y="31"/>
                      <a:pt x="55" y="31"/>
                    </a:cubicBezTo>
                    <a:cubicBezTo>
                      <a:pt x="54" y="31"/>
                      <a:pt x="53" y="28"/>
                      <a:pt x="52" y="27"/>
                    </a:cubicBezTo>
                    <a:cubicBezTo>
                      <a:pt x="52" y="26"/>
                      <a:pt x="54" y="25"/>
                      <a:pt x="55" y="25"/>
                    </a:cubicBezTo>
                    <a:cubicBezTo>
                      <a:pt x="56" y="24"/>
                      <a:pt x="57" y="22"/>
                      <a:pt x="56" y="20"/>
                    </a:cubicBezTo>
                    <a:cubicBezTo>
                      <a:pt x="56" y="18"/>
                      <a:pt x="54" y="17"/>
                      <a:pt x="53" y="18"/>
                    </a:cubicBezTo>
                    <a:cubicBezTo>
                      <a:pt x="51" y="18"/>
                      <a:pt x="49" y="16"/>
                      <a:pt x="48" y="16"/>
                    </a:cubicBezTo>
                    <a:cubicBezTo>
                      <a:pt x="48" y="15"/>
                      <a:pt x="48" y="13"/>
                      <a:pt x="49" y="12"/>
                    </a:cubicBezTo>
                    <a:cubicBezTo>
                      <a:pt x="50" y="11"/>
                      <a:pt x="50" y="9"/>
                      <a:pt x="48" y="8"/>
                    </a:cubicBezTo>
                    <a:cubicBezTo>
                      <a:pt x="47" y="6"/>
                      <a:pt x="45" y="6"/>
                      <a:pt x="44" y="7"/>
                    </a:cubicBezTo>
                    <a:cubicBezTo>
                      <a:pt x="42" y="8"/>
                      <a:pt x="40" y="8"/>
                      <a:pt x="39" y="8"/>
                    </a:cubicBezTo>
                    <a:cubicBezTo>
                      <a:pt x="38" y="7"/>
                      <a:pt x="38" y="6"/>
                      <a:pt x="38" y="4"/>
                    </a:cubicBezTo>
                    <a:cubicBezTo>
                      <a:pt x="38" y="3"/>
                      <a:pt x="37" y="1"/>
                      <a:pt x="35" y="1"/>
                    </a:cubicBezTo>
                    <a:cubicBezTo>
                      <a:pt x="33" y="0"/>
                      <a:pt x="31" y="1"/>
                      <a:pt x="30" y="3"/>
                    </a:cubicBezTo>
                    <a:cubicBezTo>
                      <a:pt x="30" y="4"/>
                      <a:pt x="28" y="5"/>
                      <a:pt x="27" y="5"/>
                    </a:cubicBezTo>
                    <a:cubicBezTo>
                      <a:pt x="26" y="6"/>
                      <a:pt x="25" y="4"/>
                      <a:pt x="24" y="3"/>
                    </a:cubicBezTo>
                    <a:cubicBezTo>
                      <a:pt x="24" y="1"/>
                      <a:pt x="22" y="1"/>
                      <a:pt x="20" y="1"/>
                    </a:cubicBezTo>
                    <a:cubicBezTo>
                      <a:pt x="18" y="2"/>
                      <a:pt x="16" y="4"/>
                      <a:pt x="17" y="5"/>
                    </a:cubicBezTo>
                    <a:cubicBezTo>
                      <a:pt x="17" y="7"/>
                      <a:pt x="16" y="9"/>
                      <a:pt x="15" y="10"/>
                    </a:cubicBezTo>
                    <a:cubicBezTo>
                      <a:pt x="14" y="10"/>
                      <a:pt x="13" y="10"/>
                      <a:pt x="12" y="9"/>
                    </a:cubicBezTo>
                    <a:cubicBezTo>
                      <a:pt x="10" y="8"/>
                      <a:pt x="8" y="8"/>
                      <a:pt x="7" y="10"/>
                    </a:cubicBezTo>
                    <a:cubicBezTo>
                      <a:pt x="6" y="11"/>
                      <a:pt x="5" y="13"/>
                      <a:pt x="6" y="14"/>
                    </a:cubicBezTo>
                    <a:close/>
                    <a:moveTo>
                      <a:pt x="23" y="13"/>
                    </a:moveTo>
                    <a:cubicBezTo>
                      <a:pt x="32" y="10"/>
                      <a:pt x="42" y="15"/>
                      <a:pt x="45" y="24"/>
                    </a:cubicBezTo>
                    <a:cubicBezTo>
                      <a:pt x="47" y="33"/>
                      <a:pt x="43" y="42"/>
                      <a:pt x="34" y="45"/>
                    </a:cubicBezTo>
                    <a:cubicBezTo>
                      <a:pt x="25" y="48"/>
                      <a:pt x="15" y="43"/>
                      <a:pt x="13" y="34"/>
                    </a:cubicBezTo>
                    <a:cubicBezTo>
                      <a:pt x="10" y="26"/>
                      <a:pt x="15" y="16"/>
                      <a:pt x="23" y="1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64" name="Freeform 302"/>
              <p:cNvSpPr>
                <a:spLocks noEditPoints="1"/>
              </p:cNvSpPr>
              <p:nvPr/>
            </p:nvSpPr>
            <p:spPr bwMode="auto">
              <a:xfrm>
                <a:off x="5084781" y="971548"/>
                <a:ext cx="139701" cy="139700"/>
              </a:xfrm>
              <a:custGeom>
                <a:avLst/>
                <a:gdLst>
                  <a:gd name="T0" fmla="*/ 4 w 37"/>
                  <a:gd name="T1" fmla="*/ 9 h 37"/>
                  <a:gd name="T2" fmla="*/ 5 w 37"/>
                  <a:gd name="T3" fmla="*/ 12 h 37"/>
                  <a:gd name="T4" fmla="*/ 2 w 37"/>
                  <a:gd name="T5" fmla="*/ 12 h 37"/>
                  <a:gd name="T6" fmla="*/ 0 w 37"/>
                  <a:gd name="T7" fmla="*/ 14 h 37"/>
                  <a:gd name="T8" fmla="*/ 1 w 37"/>
                  <a:gd name="T9" fmla="*/ 17 h 37"/>
                  <a:gd name="T10" fmla="*/ 3 w 37"/>
                  <a:gd name="T11" fmla="*/ 20 h 37"/>
                  <a:gd name="T12" fmla="*/ 2 w 37"/>
                  <a:gd name="T13" fmla="*/ 21 h 37"/>
                  <a:gd name="T14" fmla="*/ 1 w 37"/>
                  <a:gd name="T15" fmla="*/ 24 h 37"/>
                  <a:gd name="T16" fmla="*/ 3 w 37"/>
                  <a:gd name="T17" fmla="*/ 26 h 37"/>
                  <a:gd name="T18" fmla="*/ 5 w 37"/>
                  <a:gd name="T19" fmla="*/ 26 h 37"/>
                  <a:gd name="T20" fmla="*/ 5 w 37"/>
                  <a:gd name="T21" fmla="*/ 29 h 37"/>
                  <a:gd name="T22" fmla="*/ 6 w 37"/>
                  <a:gd name="T23" fmla="*/ 32 h 37"/>
                  <a:gd name="T24" fmla="*/ 9 w 37"/>
                  <a:gd name="T25" fmla="*/ 33 h 37"/>
                  <a:gd name="T26" fmla="*/ 12 w 37"/>
                  <a:gd name="T27" fmla="*/ 32 h 37"/>
                  <a:gd name="T28" fmla="*/ 12 w 37"/>
                  <a:gd name="T29" fmla="*/ 34 h 37"/>
                  <a:gd name="T30" fmla="*/ 15 w 37"/>
                  <a:gd name="T31" fmla="*/ 37 h 37"/>
                  <a:gd name="T32" fmla="*/ 17 w 37"/>
                  <a:gd name="T33" fmla="*/ 35 h 37"/>
                  <a:gd name="T34" fmla="*/ 20 w 37"/>
                  <a:gd name="T35" fmla="*/ 34 h 37"/>
                  <a:gd name="T36" fmla="*/ 21 w 37"/>
                  <a:gd name="T37" fmla="*/ 35 h 37"/>
                  <a:gd name="T38" fmla="*/ 24 w 37"/>
                  <a:gd name="T39" fmla="*/ 36 h 37"/>
                  <a:gd name="T40" fmla="*/ 26 w 37"/>
                  <a:gd name="T41" fmla="*/ 34 h 37"/>
                  <a:gd name="T42" fmla="*/ 27 w 37"/>
                  <a:gd name="T43" fmla="*/ 31 h 37"/>
                  <a:gd name="T44" fmla="*/ 29 w 37"/>
                  <a:gd name="T45" fmla="*/ 32 h 37"/>
                  <a:gd name="T46" fmla="*/ 32 w 37"/>
                  <a:gd name="T47" fmla="*/ 31 h 37"/>
                  <a:gd name="T48" fmla="*/ 33 w 37"/>
                  <a:gd name="T49" fmla="*/ 28 h 37"/>
                  <a:gd name="T50" fmla="*/ 32 w 37"/>
                  <a:gd name="T51" fmla="*/ 25 h 37"/>
                  <a:gd name="T52" fmla="*/ 35 w 37"/>
                  <a:gd name="T53" fmla="*/ 24 h 37"/>
                  <a:gd name="T54" fmla="*/ 37 w 37"/>
                  <a:gd name="T55" fmla="*/ 22 h 37"/>
                  <a:gd name="T56" fmla="*/ 36 w 37"/>
                  <a:gd name="T57" fmla="*/ 19 h 37"/>
                  <a:gd name="T58" fmla="*/ 34 w 37"/>
                  <a:gd name="T59" fmla="*/ 17 h 37"/>
                  <a:gd name="T60" fmla="*/ 35 w 37"/>
                  <a:gd name="T61" fmla="*/ 15 h 37"/>
                  <a:gd name="T62" fmla="*/ 36 w 37"/>
                  <a:gd name="T63" fmla="*/ 12 h 37"/>
                  <a:gd name="T64" fmla="*/ 34 w 37"/>
                  <a:gd name="T65" fmla="*/ 11 h 37"/>
                  <a:gd name="T66" fmla="*/ 31 w 37"/>
                  <a:gd name="T67" fmla="*/ 9 h 37"/>
                  <a:gd name="T68" fmla="*/ 32 w 37"/>
                  <a:gd name="T69" fmla="*/ 7 h 37"/>
                  <a:gd name="T70" fmla="*/ 31 w 37"/>
                  <a:gd name="T71" fmla="*/ 4 h 37"/>
                  <a:gd name="T72" fmla="*/ 28 w 37"/>
                  <a:gd name="T73" fmla="*/ 4 h 37"/>
                  <a:gd name="T74" fmla="*/ 25 w 37"/>
                  <a:gd name="T75" fmla="*/ 4 h 37"/>
                  <a:gd name="T76" fmla="*/ 25 w 37"/>
                  <a:gd name="T77" fmla="*/ 2 h 37"/>
                  <a:gd name="T78" fmla="*/ 22 w 37"/>
                  <a:gd name="T79" fmla="*/ 0 h 37"/>
                  <a:gd name="T80" fmla="*/ 20 w 37"/>
                  <a:gd name="T81" fmla="*/ 1 h 37"/>
                  <a:gd name="T82" fmla="*/ 17 w 37"/>
                  <a:gd name="T83" fmla="*/ 3 h 37"/>
                  <a:gd name="T84" fmla="*/ 16 w 37"/>
                  <a:gd name="T85" fmla="*/ 1 h 37"/>
                  <a:gd name="T86" fmla="*/ 13 w 37"/>
                  <a:gd name="T87" fmla="*/ 0 h 37"/>
                  <a:gd name="T88" fmla="*/ 11 w 37"/>
                  <a:gd name="T89" fmla="*/ 3 h 37"/>
                  <a:gd name="T90" fmla="*/ 10 w 37"/>
                  <a:gd name="T91" fmla="*/ 6 h 37"/>
                  <a:gd name="T92" fmla="*/ 8 w 37"/>
                  <a:gd name="T93" fmla="*/ 5 h 37"/>
                  <a:gd name="T94" fmla="*/ 5 w 37"/>
                  <a:gd name="T95" fmla="*/ 6 h 37"/>
                  <a:gd name="T96" fmla="*/ 4 w 37"/>
                  <a:gd name="T97" fmla="*/ 9 h 37"/>
                  <a:gd name="T98" fmla="*/ 15 w 37"/>
                  <a:gd name="T99" fmla="*/ 8 h 37"/>
                  <a:gd name="T100" fmla="*/ 29 w 37"/>
                  <a:gd name="T101" fmla="*/ 15 h 37"/>
                  <a:gd name="T102" fmla="*/ 22 w 37"/>
                  <a:gd name="T103" fmla="*/ 29 h 37"/>
                  <a:gd name="T104" fmla="*/ 8 w 37"/>
                  <a:gd name="T105" fmla="*/ 22 h 37"/>
                  <a:gd name="T106" fmla="*/ 15 w 37"/>
                  <a:gd name="T107" fmla="*/ 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7" h="37">
                    <a:moveTo>
                      <a:pt x="4" y="9"/>
                    </a:moveTo>
                    <a:cubicBezTo>
                      <a:pt x="5" y="9"/>
                      <a:pt x="5" y="11"/>
                      <a:pt x="5" y="12"/>
                    </a:cubicBezTo>
                    <a:cubicBezTo>
                      <a:pt x="4" y="12"/>
                      <a:pt x="3" y="12"/>
                      <a:pt x="2" y="12"/>
                    </a:cubicBezTo>
                    <a:cubicBezTo>
                      <a:pt x="1" y="12"/>
                      <a:pt x="0" y="13"/>
                      <a:pt x="0" y="14"/>
                    </a:cubicBezTo>
                    <a:cubicBezTo>
                      <a:pt x="0" y="16"/>
                      <a:pt x="0" y="17"/>
                      <a:pt x="1" y="17"/>
                    </a:cubicBezTo>
                    <a:cubicBezTo>
                      <a:pt x="2" y="17"/>
                      <a:pt x="3" y="19"/>
                      <a:pt x="3" y="20"/>
                    </a:cubicBezTo>
                    <a:cubicBezTo>
                      <a:pt x="3" y="20"/>
                      <a:pt x="2" y="21"/>
                      <a:pt x="2" y="21"/>
                    </a:cubicBezTo>
                    <a:cubicBezTo>
                      <a:pt x="1" y="21"/>
                      <a:pt x="0" y="23"/>
                      <a:pt x="1" y="24"/>
                    </a:cubicBezTo>
                    <a:cubicBezTo>
                      <a:pt x="1" y="25"/>
                      <a:pt x="2" y="26"/>
                      <a:pt x="3" y="26"/>
                    </a:cubicBezTo>
                    <a:cubicBezTo>
                      <a:pt x="4" y="26"/>
                      <a:pt x="5" y="26"/>
                      <a:pt x="5" y="26"/>
                    </a:cubicBezTo>
                    <a:cubicBezTo>
                      <a:pt x="6" y="27"/>
                      <a:pt x="6" y="28"/>
                      <a:pt x="5" y="29"/>
                    </a:cubicBezTo>
                    <a:cubicBezTo>
                      <a:pt x="5" y="30"/>
                      <a:pt x="5" y="31"/>
                      <a:pt x="6" y="32"/>
                    </a:cubicBezTo>
                    <a:cubicBezTo>
                      <a:pt x="7" y="33"/>
                      <a:pt x="8" y="33"/>
                      <a:pt x="9" y="33"/>
                    </a:cubicBezTo>
                    <a:cubicBezTo>
                      <a:pt x="10" y="32"/>
                      <a:pt x="11" y="32"/>
                      <a:pt x="12" y="32"/>
                    </a:cubicBezTo>
                    <a:cubicBezTo>
                      <a:pt x="12" y="32"/>
                      <a:pt x="13" y="33"/>
                      <a:pt x="12" y="34"/>
                    </a:cubicBezTo>
                    <a:cubicBezTo>
                      <a:pt x="12" y="35"/>
                      <a:pt x="13" y="36"/>
                      <a:pt x="15" y="37"/>
                    </a:cubicBezTo>
                    <a:cubicBezTo>
                      <a:pt x="16" y="37"/>
                      <a:pt x="17" y="36"/>
                      <a:pt x="17" y="35"/>
                    </a:cubicBezTo>
                    <a:cubicBezTo>
                      <a:pt x="18" y="34"/>
                      <a:pt x="19" y="34"/>
                      <a:pt x="20" y="34"/>
                    </a:cubicBezTo>
                    <a:cubicBezTo>
                      <a:pt x="20" y="34"/>
                      <a:pt x="21" y="34"/>
                      <a:pt x="21" y="35"/>
                    </a:cubicBezTo>
                    <a:cubicBezTo>
                      <a:pt x="22" y="36"/>
                      <a:pt x="23" y="37"/>
                      <a:pt x="24" y="36"/>
                    </a:cubicBezTo>
                    <a:cubicBezTo>
                      <a:pt x="26" y="36"/>
                      <a:pt x="26" y="35"/>
                      <a:pt x="26" y="34"/>
                    </a:cubicBezTo>
                    <a:cubicBezTo>
                      <a:pt x="26" y="33"/>
                      <a:pt x="27" y="31"/>
                      <a:pt x="27" y="31"/>
                    </a:cubicBezTo>
                    <a:cubicBezTo>
                      <a:pt x="28" y="31"/>
                      <a:pt x="29" y="31"/>
                      <a:pt x="29" y="32"/>
                    </a:cubicBezTo>
                    <a:cubicBezTo>
                      <a:pt x="30" y="32"/>
                      <a:pt x="32" y="32"/>
                      <a:pt x="32" y="31"/>
                    </a:cubicBezTo>
                    <a:cubicBezTo>
                      <a:pt x="33" y="30"/>
                      <a:pt x="34" y="28"/>
                      <a:pt x="33" y="28"/>
                    </a:cubicBezTo>
                    <a:cubicBezTo>
                      <a:pt x="32" y="27"/>
                      <a:pt x="32" y="25"/>
                      <a:pt x="32" y="25"/>
                    </a:cubicBezTo>
                    <a:cubicBezTo>
                      <a:pt x="33" y="24"/>
                      <a:pt x="34" y="24"/>
                      <a:pt x="35" y="24"/>
                    </a:cubicBezTo>
                    <a:cubicBezTo>
                      <a:pt x="36" y="24"/>
                      <a:pt x="37" y="24"/>
                      <a:pt x="37" y="22"/>
                    </a:cubicBezTo>
                    <a:cubicBezTo>
                      <a:pt x="37" y="21"/>
                      <a:pt x="37" y="20"/>
                      <a:pt x="36" y="19"/>
                    </a:cubicBezTo>
                    <a:cubicBezTo>
                      <a:pt x="35" y="19"/>
                      <a:pt x="34" y="18"/>
                      <a:pt x="34" y="17"/>
                    </a:cubicBezTo>
                    <a:cubicBezTo>
                      <a:pt x="34" y="16"/>
                      <a:pt x="35" y="16"/>
                      <a:pt x="35" y="15"/>
                    </a:cubicBezTo>
                    <a:cubicBezTo>
                      <a:pt x="36" y="15"/>
                      <a:pt x="37" y="14"/>
                      <a:pt x="36" y="12"/>
                    </a:cubicBezTo>
                    <a:cubicBezTo>
                      <a:pt x="36" y="11"/>
                      <a:pt x="35" y="10"/>
                      <a:pt x="34" y="11"/>
                    </a:cubicBezTo>
                    <a:cubicBezTo>
                      <a:pt x="33" y="11"/>
                      <a:pt x="31" y="10"/>
                      <a:pt x="31" y="9"/>
                    </a:cubicBezTo>
                    <a:cubicBezTo>
                      <a:pt x="31" y="9"/>
                      <a:pt x="31" y="8"/>
                      <a:pt x="32" y="7"/>
                    </a:cubicBezTo>
                    <a:cubicBezTo>
                      <a:pt x="32" y="7"/>
                      <a:pt x="32" y="5"/>
                      <a:pt x="31" y="4"/>
                    </a:cubicBezTo>
                    <a:cubicBezTo>
                      <a:pt x="30" y="3"/>
                      <a:pt x="29" y="3"/>
                      <a:pt x="28" y="4"/>
                    </a:cubicBezTo>
                    <a:cubicBezTo>
                      <a:pt x="27" y="5"/>
                      <a:pt x="26" y="5"/>
                      <a:pt x="25" y="4"/>
                    </a:cubicBezTo>
                    <a:cubicBezTo>
                      <a:pt x="25" y="4"/>
                      <a:pt x="24" y="3"/>
                      <a:pt x="25" y="2"/>
                    </a:cubicBezTo>
                    <a:cubicBezTo>
                      <a:pt x="25" y="1"/>
                      <a:pt x="24" y="0"/>
                      <a:pt x="22" y="0"/>
                    </a:cubicBezTo>
                    <a:cubicBezTo>
                      <a:pt x="21" y="0"/>
                      <a:pt x="20" y="0"/>
                      <a:pt x="20" y="1"/>
                    </a:cubicBezTo>
                    <a:cubicBezTo>
                      <a:pt x="19" y="2"/>
                      <a:pt x="18" y="3"/>
                      <a:pt x="17" y="3"/>
                    </a:cubicBezTo>
                    <a:cubicBezTo>
                      <a:pt x="17" y="3"/>
                      <a:pt x="16" y="2"/>
                      <a:pt x="16" y="1"/>
                    </a:cubicBezTo>
                    <a:cubicBezTo>
                      <a:pt x="15" y="0"/>
                      <a:pt x="14" y="0"/>
                      <a:pt x="13" y="0"/>
                    </a:cubicBezTo>
                    <a:cubicBezTo>
                      <a:pt x="11" y="1"/>
                      <a:pt x="11" y="2"/>
                      <a:pt x="11" y="3"/>
                    </a:cubicBezTo>
                    <a:cubicBezTo>
                      <a:pt x="11" y="4"/>
                      <a:pt x="10" y="5"/>
                      <a:pt x="10" y="6"/>
                    </a:cubicBezTo>
                    <a:cubicBezTo>
                      <a:pt x="9" y="6"/>
                      <a:pt x="8" y="6"/>
                      <a:pt x="8" y="5"/>
                    </a:cubicBezTo>
                    <a:cubicBezTo>
                      <a:pt x="7" y="4"/>
                      <a:pt x="5" y="5"/>
                      <a:pt x="5" y="6"/>
                    </a:cubicBezTo>
                    <a:cubicBezTo>
                      <a:pt x="4" y="7"/>
                      <a:pt x="3" y="8"/>
                      <a:pt x="4" y="9"/>
                    </a:cubicBezTo>
                    <a:close/>
                    <a:moveTo>
                      <a:pt x="15" y="8"/>
                    </a:moveTo>
                    <a:cubicBezTo>
                      <a:pt x="21" y="6"/>
                      <a:pt x="27" y="9"/>
                      <a:pt x="29" y="15"/>
                    </a:cubicBezTo>
                    <a:cubicBezTo>
                      <a:pt x="31" y="21"/>
                      <a:pt x="27" y="27"/>
                      <a:pt x="22" y="29"/>
                    </a:cubicBezTo>
                    <a:cubicBezTo>
                      <a:pt x="16" y="30"/>
                      <a:pt x="10" y="27"/>
                      <a:pt x="8" y="22"/>
                    </a:cubicBezTo>
                    <a:cubicBezTo>
                      <a:pt x="6" y="16"/>
                      <a:pt x="10" y="10"/>
                      <a:pt x="15" y="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65" name="Freeform 303"/>
              <p:cNvSpPr>
                <a:spLocks noEditPoints="1"/>
              </p:cNvSpPr>
              <p:nvPr/>
            </p:nvSpPr>
            <p:spPr bwMode="auto">
              <a:xfrm>
                <a:off x="5084763" y="1111250"/>
                <a:ext cx="109538" cy="104775"/>
              </a:xfrm>
              <a:custGeom>
                <a:avLst/>
                <a:gdLst>
                  <a:gd name="T0" fmla="*/ 3 w 29"/>
                  <a:gd name="T1" fmla="*/ 7 h 28"/>
                  <a:gd name="T2" fmla="*/ 4 w 29"/>
                  <a:gd name="T3" fmla="*/ 9 h 28"/>
                  <a:gd name="T4" fmla="*/ 2 w 29"/>
                  <a:gd name="T5" fmla="*/ 9 h 28"/>
                  <a:gd name="T6" fmla="*/ 0 w 29"/>
                  <a:gd name="T7" fmla="*/ 11 h 28"/>
                  <a:gd name="T8" fmla="*/ 1 w 29"/>
                  <a:gd name="T9" fmla="*/ 13 h 28"/>
                  <a:gd name="T10" fmla="*/ 3 w 29"/>
                  <a:gd name="T11" fmla="*/ 15 h 28"/>
                  <a:gd name="T12" fmla="*/ 1 w 29"/>
                  <a:gd name="T13" fmla="*/ 16 h 28"/>
                  <a:gd name="T14" fmla="*/ 1 w 29"/>
                  <a:gd name="T15" fmla="*/ 19 h 28"/>
                  <a:gd name="T16" fmla="*/ 3 w 29"/>
                  <a:gd name="T17" fmla="*/ 20 h 28"/>
                  <a:gd name="T18" fmla="*/ 4 w 29"/>
                  <a:gd name="T19" fmla="*/ 20 h 28"/>
                  <a:gd name="T20" fmla="*/ 4 w 29"/>
                  <a:gd name="T21" fmla="*/ 23 h 28"/>
                  <a:gd name="T22" fmla="*/ 5 w 29"/>
                  <a:gd name="T23" fmla="*/ 25 h 28"/>
                  <a:gd name="T24" fmla="*/ 7 w 29"/>
                  <a:gd name="T25" fmla="*/ 25 h 28"/>
                  <a:gd name="T26" fmla="*/ 9 w 29"/>
                  <a:gd name="T27" fmla="*/ 25 h 28"/>
                  <a:gd name="T28" fmla="*/ 10 w 29"/>
                  <a:gd name="T29" fmla="*/ 27 h 28"/>
                  <a:gd name="T30" fmla="*/ 11 w 29"/>
                  <a:gd name="T31" fmla="*/ 28 h 28"/>
                  <a:gd name="T32" fmla="*/ 13 w 29"/>
                  <a:gd name="T33" fmla="*/ 27 h 28"/>
                  <a:gd name="T34" fmla="*/ 15 w 29"/>
                  <a:gd name="T35" fmla="*/ 26 h 28"/>
                  <a:gd name="T36" fmla="*/ 17 w 29"/>
                  <a:gd name="T37" fmla="*/ 27 h 28"/>
                  <a:gd name="T38" fmla="*/ 19 w 29"/>
                  <a:gd name="T39" fmla="*/ 28 h 28"/>
                  <a:gd name="T40" fmla="*/ 20 w 29"/>
                  <a:gd name="T41" fmla="*/ 26 h 28"/>
                  <a:gd name="T42" fmla="*/ 21 w 29"/>
                  <a:gd name="T43" fmla="*/ 24 h 28"/>
                  <a:gd name="T44" fmla="*/ 23 w 29"/>
                  <a:gd name="T45" fmla="*/ 24 h 28"/>
                  <a:gd name="T46" fmla="*/ 25 w 29"/>
                  <a:gd name="T47" fmla="*/ 24 h 28"/>
                  <a:gd name="T48" fmla="*/ 25 w 29"/>
                  <a:gd name="T49" fmla="*/ 21 h 28"/>
                  <a:gd name="T50" fmla="*/ 25 w 29"/>
                  <a:gd name="T51" fmla="*/ 19 h 28"/>
                  <a:gd name="T52" fmla="*/ 27 w 29"/>
                  <a:gd name="T53" fmla="*/ 19 h 28"/>
                  <a:gd name="T54" fmla="*/ 29 w 29"/>
                  <a:gd name="T55" fmla="*/ 17 h 28"/>
                  <a:gd name="T56" fmla="*/ 28 w 29"/>
                  <a:gd name="T57" fmla="*/ 15 h 28"/>
                  <a:gd name="T58" fmla="*/ 26 w 29"/>
                  <a:gd name="T59" fmla="*/ 13 h 28"/>
                  <a:gd name="T60" fmla="*/ 27 w 29"/>
                  <a:gd name="T61" fmla="*/ 12 h 28"/>
                  <a:gd name="T62" fmla="*/ 28 w 29"/>
                  <a:gd name="T63" fmla="*/ 10 h 28"/>
                  <a:gd name="T64" fmla="*/ 26 w 29"/>
                  <a:gd name="T65" fmla="*/ 8 h 28"/>
                  <a:gd name="T66" fmla="*/ 24 w 29"/>
                  <a:gd name="T67" fmla="*/ 7 h 28"/>
                  <a:gd name="T68" fmla="*/ 25 w 29"/>
                  <a:gd name="T69" fmla="*/ 6 h 28"/>
                  <a:gd name="T70" fmla="*/ 24 w 29"/>
                  <a:gd name="T71" fmla="*/ 3 h 28"/>
                  <a:gd name="T72" fmla="*/ 22 w 29"/>
                  <a:gd name="T73" fmla="*/ 3 h 28"/>
                  <a:gd name="T74" fmla="*/ 19 w 29"/>
                  <a:gd name="T75" fmla="*/ 3 h 28"/>
                  <a:gd name="T76" fmla="*/ 19 w 29"/>
                  <a:gd name="T77" fmla="*/ 2 h 28"/>
                  <a:gd name="T78" fmla="*/ 17 w 29"/>
                  <a:gd name="T79" fmla="*/ 0 h 28"/>
                  <a:gd name="T80" fmla="*/ 15 w 29"/>
                  <a:gd name="T81" fmla="*/ 1 h 28"/>
                  <a:gd name="T82" fmla="*/ 13 w 29"/>
                  <a:gd name="T83" fmla="*/ 2 h 28"/>
                  <a:gd name="T84" fmla="*/ 12 w 29"/>
                  <a:gd name="T85" fmla="*/ 1 h 28"/>
                  <a:gd name="T86" fmla="*/ 10 w 29"/>
                  <a:gd name="T87" fmla="*/ 0 h 28"/>
                  <a:gd name="T88" fmla="*/ 9 w 29"/>
                  <a:gd name="T89" fmla="*/ 2 h 28"/>
                  <a:gd name="T90" fmla="*/ 8 w 29"/>
                  <a:gd name="T91" fmla="*/ 4 h 28"/>
                  <a:gd name="T92" fmla="*/ 6 w 29"/>
                  <a:gd name="T93" fmla="*/ 4 h 28"/>
                  <a:gd name="T94" fmla="*/ 4 w 29"/>
                  <a:gd name="T95" fmla="*/ 4 h 28"/>
                  <a:gd name="T96" fmla="*/ 3 w 29"/>
                  <a:gd name="T97" fmla="*/ 7 h 28"/>
                  <a:gd name="T98" fmla="*/ 12 w 29"/>
                  <a:gd name="T99" fmla="*/ 6 h 28"/>
                  <a:gd name="T100" fmla="*/ 22 w 29"/>
                  <a:gd name="T101" fmla="*/ 12 h 28"/>
                  <a:gd name="T102" fmla="*/ 17 w 29"/>
                  <a:gd name="T103" fmla="*/ 22 h 28"/>
                  <a:gd name="T104" fmla="*/ 6 w 29"/>
                  <a:gd name="T105" fmla="*/ 17 h 28"/>
                  <a:gd name="T106" fmla="*/ 12 w 29"/>
                  <a:gd name="T10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9" h="28">
                    <a:moveTo>
                      <a:pt x="3" y="7"/>
                    </a:moveTo>
                    <a:cubicBezTo>
                      <a:pt x="4" y="7"/>
                      <a:pt x="4" y="9"/>
                      <a:pt x="4" y="9"/>
                    </a:cubicBezTo>
                    <a:cubicBezTo>
                      <a:pt x="4" y="9"/>
                      <a:pt x="3" y="10"/>
                      <a:pt x="2" y="9"/>
                    </a:cubicBezTo>
                    <a:cubicBezTo>
                      <a:pt x="1" y="9"/>
                      <a:pt x="0" y="10"/>
                      <a:pt x="0" y="11"/>
                    </a:cubicBezTo>
                    <a:cubicBezTo>
                      <a:pt x="0" y="12"/>
                      <a:pt x="0" y="13"/>
                      <a:pt x="1" y="13"/>
                    </a:cubicBezTo>
                    <a:cubicBezTo>
                      <a:pt x="2" y="13"/>
                      <a:pt x="3" y="15"/>
                      <a:pt x="3" y="15"/>
                    </a:cubicBezTo>
                    <a:cubicBezTo>
                      <a:pt x="3" y="16"/>
                      <a:pt x="2" y="16"/>
                      <a:pt x="1" y="16"/>
                    </a:cubicBezTo>
                    <a:cubicBezTo>
                      <a:pt x="1" y="17"/>
                      <a:pt x="0" y="18"/>
                      <a:pt x="1" y="19"/>
                    </a:cubicBezTo>
                    <a:cubicBezTo>
                      <a:pt x="1" y="20"/>
                      <a:pt x="2" y="20"/>
                      <a:pt x="3" y="20"/>
                    </a:cubicBezTo>
                    <a:cubicBezTo>
                      <a:pt x="3" y="20"/>
                      <a:pt x="4" y="20"/>
                      <a:pt x="4" y="20"/>
                    </a:cubicBezTo>
                    <a:cubicBezTo>
                      <a:pt x="4" y="21"/>
                      <a:pt x="5" y="22"/>
                      <a:pt x="4" y="23"/>
                    </a:cubicBezTo>
                    <a:cubicBezTo>
                      <a:pt x="4" y="23"/>
                      <a:pt x="4" y="24"/>
                      <a:pt x="5" y="25"/>
                    </a:cubicBezTo>
                    <a:cubicBezTo>
                      <a:pt x="5" y="26"/>
                      <a:pt x="7" y="26"/>
                      <a:pt x="7" y="25"/>
                    </a:cubicBezTo>
                    <a:cubicBezTo>
                      <a:pt x="8" y="25"/>
                      <a:pt x="9" y="25"/>
                      <a:pt x="9" y="25"/>
                    </a:cubicBezTo>
                    <a:cubicBezTo>
                      <a:pt x="10" y="25"/>
                      <a:pt x="10" y="26"/>
                      <a:pt x="10" y="27"/>
                    </a:cubicBezTo>
                    <a:cubicBezTo>
                      <a:pt x="10" y="27"/>
                      <a:pt x="10" y="28"/>
                      <a:pt x="11" y="28"/>
                    </a:cubicBezTo>
                    <a:cubicBezTo>
                      <a:pt x="12" y="28"/>
                      <a:pt x="13" y="28"/>
                      <a:pt x="13" y="27"/>
                    </a:cubicBezTo>
                    <a:cubicBezTo>
                      <a:pt x="14" y="27"/>
                      <a:pt x="15" y="26"/>
                      <a:pt x="15" y="26"/>
                    </a:cubicBezTo>
                    <a:cubicBezTo>
                      <a:pt x="16" y="26"/>
                      <a:pt x="16" y="26"/>
                      <a:pt x="17" y="27"/>
                    </a:cubicBezTo>
                    <a:cubicBezTo>
                      <a:pt x="17" y="28"/>
                      <a:pt x="18" y="28"/>
                      <a:pt x="19" y="28"/>
                    </a:cubicBezTo>
                    <a:cubicBezTo>
                      <a:pt x="20" y="28"/>
                      <a:pt x="20" y="27"/>
                      <a:pt x="20" y="26"/>
                    </a:cubicBezTo>
                    <a:cubicBezTo>
                      <a:pt x="20" y="25"/>
                      <a:pt x="21" y="24"/>
                      <a:pt x="21" y="24"/>
                    </a:cubicBezTo>
                    <a:cubicBezTo>
                      <a:pt x="21" y="24"/>
                      <a:pt x="22" y="24"/>
                      <a:pt x="23" y="24"/>
                    </a:cubicBezTo>
                    <a:cubicBezTo>
                      <a:pt x="23" y="25"/>
                      <a:pt x="24" y="25"/>
                      <a:pt x="25" y="24"/>
                    </a:cubicBezTo>
                    <a:cubicBezTo>
                      <a:pt x="26" y="23"/>
                      <a:pt x="26" y="22"/>
                      <a:pt x="25" y="21"/>
                    </a:cubicBezTo>
                    <a:cubicBezTo>
                      <a:pt x="25" y="21"/>
                      <a:pt x="25" y="20"/>
                      <a:pt x="25" y="19"/>
                    </a:cubicBezTo>
                    <a:cubicBezTo>
                      <a:pt x="25" y="19"/>
                      <a:pt x="26" y="19"/>
                      <a:pt x="27" y="19"/>
                    </a:cubicBezTo>
                    <a:cubicBezTo>
                      <a:pt x="28" y="19"/>
                      <a:pt x="28" y="18"/>
                      <a:pt x="29" y="17"/>
                    </a:cubicBezTo>
                    <a:cubicBezTo>
                      <a:pt x="29" y="16"/>
                      <a:pt x="28" y="15"/>
                      <a:pt x="28" y="15"/>
                    </a:cubicBezTo>
                    <a:cubicBezTo>
                      <a:pt x="27" y="15"/>
                      <a:pt x="26" y="14"/>
                      <a:pt x="26" y="13"/>
                    </a:cubicBezTo>
                    <a:cubicBezTo>
                      <a:pt x="26" y="13"/>
                      <a:pt x="27" y="12"/>
                      <a:pt x="27" y="12"/>
                    </a:cubicBezTo>
                    <a:cubicBezTo>
                      <a:pt x="28" y="12"/>
                      <a:pt x="28" y="11"/>
                      <a:pt x="28" y="10"/>
                    </a:cubicBezTo>
                    <a:cubicBezTo>
                      <a:pt x="28" y="9"/>
                      <a:pt x="27" y="8"/>
                      <a:pt x="26" y="8"/>
                    </a:cubicBezTo>
                    <a:cubicBezTo>
                      <a:pt x="26" y="9"/>
                      <a:pt x="24" y="8"/>
                      <a:pt x="24" y="7"/>
                    </a:cubicBezTo>
                    <a:cubicBezTo>
                      <a:pt x="24" y="7"/>
                      <a:pt x="24" y="6"/>
                      <a:pt x="25" y="6"/>
                    </a:cubicBezTo>
                    <a:cubicBezTo>
                      <a:pt x="25" y="5"/>
                      <a:pt x="25" y="4"/>
                      <a:pt x="24" y="3"/>
                    </a:cubicBezTo>
                    <a:cubicBezTo>
                      <a:pt x="23" y="3"/>
                      <a:pt x="22" y="3"/>
                      <a:pt x="22" y="3"/>
                    </a:cubicBezTo>
                    <a:cubicBezTo>
                      <a:pt x="21" y="4"/>
                      <a:pt x="20" y="4"/>
                      <a:pt x="19" y="3"/>
                    </a:cubicBezTo>
                    <a:cubicBezTo>
                      <a:pt x="19" y="3"/>
                      <a:pt x="19" y="2"/>
                      <a:pt x="19" y="2"/>
                    </a:cubicBezTo>
                    <a:cubicBezTo>
                      <a:pt x="19" y="1"/>
                      <a:pt x="18" y="0"/>
                      <a:pt x="17" y="0"/>
                    </a:cubicBezTo>
                    <a:cubicBezTo>
                      <a:pt x="16" y="0"/>
                      <a:pt x="15" y="0"/>
                      <a:pt x="15" y="1"/>
                    </a:cubicBezTo>
                    <a:cubicBezTo>
                      <a:pt x="15" y="2"/>
                      <a:pt x="14" y="2"/>
                      <a:pt x="13" y="2"/>
                    </a:cubicBezTo>
                    <a:cubicBezTo>
                      <a:pt x="13" y="2"/>
                      <a:pt x="12" y="2"/>
                      <a:pt x="12" y="1"/>
                    </a:cubicBezTo>
                    <a:cubicBezTo>
                      <a:pt x="12" y="0"/>
                      <a:pt x="11" y="0"/>
                      <a:pt x="10" y="0"/>
                    </a:cubicBezTo>
                    <a:cubicBezTo>
                      <a:pt x="9" y="1"/>
                      <a:pt x="8" y="2"/>
                      <a:pt x="9" y="2"/>
                    </a:cubicBezTo>
                    <a:cubicBezTo>
                      <a:pt x="9" y="3"/>
                      <a:pt x="8" y="4"/>
                      <a:pt x="8" y="4"/>
                    </a:cubicBezTo>
                    <a:cubicBezTo>
                      <a:pt x="7" y="5"/>
                      <a:pt x="7" y="4"/>
                      <a:pt x="6" y="4"/>
                    </a:cubicBezTo>
                    <a:cubicBezTo>
                      <a:pt x="5" y="3"/>
                      <a:pt x="4" y="4"/>
                      <a:pt x="4" y="4"/>
                    </a:cubicBezTo>
                    <a:cubicBezTo>
                      <a:pt x="3" y="5"/>
                      <a:pt x="3" y="6"/>
                      <a:pt x="3" y="7"/>
                    </a:cubicBezTo>
                    <a:close/>
                    <a:moveTo>
                      <a:pt x="12" y="6"/>
                    </a:moveTo>
                    <a:cubicBezTo>
                      <a:pt x="16" y="5"/>
                      <a:pt x="21" y="7"/>
                      <a:pt x="22" y="12"/>
                    </a:cubicBezTo>
                    <a:cubicBezTo>
                      <a:pt x="24" y="16"/>
                      <a:pt x="21" y="21"/>
                      <a:pt x="17" y="22"/>
                    </a:cubicBezTo>
                    <a:cubicBezTo>
                      <a:pt x="13" y="23"/>
                      <a:pt x="8" y="21"/>
                      <a:pt x="6" y="17"/>
                    </a:cubicBezTo>
                    <a:cubicBezTo>
                      <a:pt x="5" y="12"/>
                      <a:pt x="7" y="8"/>
                      <a:pt x="12" y="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grpSp>
      </p:grpSp>
      <p:sp>
        <p:nvSpPr>
          <p:cNvPr id="67" name="矩形 66"/>
          <p:cNvSpPr/>
          <p:nvPr/>
        </p:nvSpPr>
        <p:spPr>
          <a:xfrm>
            <a:off x="6095999" y="0"/>
            <a:ext cx="6099175" cy="6858000"/>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TextBox 67"/>
          <p:cNvSpPr txBox="1"/>
          <p:nvPr/>
        </p:nvSpPr>
        <p:spPr>
          <a:xfrm>
            <a:off x="457200" y="3749040"/>
            <a:ext cx="5184648" cy="548640"/>
          </a:xfrm>
          <a:prstGeom prst="rect">
            <a:avLst/>
          </a:prstGeom>
          <a:noFill/>
        </p:spPr>
        <p:txBody>
          <a:bodyPr wrap="square" lIns="45720" tIns="27432" rIns="45720" bIns="27432" anchor="t">
            <a:spAutoFit/>
          </a:bodyPr>
          <a:lstStyle/>
          <a:p>
            <a:pPr algn="ctr">
              <a:spcAft>
                <a:spcPts val="0"/>
              </a:spcAft>
            </a:pPr>
            <a:r>
              <a:rPr sz="2800" b="1" i="0">
                <a:solidFill>
                  <a:srgbClr val="46CEAE"/>
                </a:solidFill>
                <a:latin typeface="Arial"/>
              </a:rPr>
              <a:t>Part 3</a:t>
            </a:r>
          </a:p>
        </p:txBody>
      </p:sp>
      <p:sp>
        <p:nvSpPr>
          <p:cNvPr id="69" name="TextBox 68"/>
          <p:cNvSpPr txBox="1"/>
          <p:nvPr/>
        </p:nvSpPr>
        <p:spPr>
          <a:xfrm>
            <a:off x="457200" y="4315968"/>
            <a:ext cx="5184648" cy="1737360"/>
          </a:xfrm>
          <a:prstGeom prst="rect">
            <a:avLst/>
          </a:prstGeom>
          <a:noFill/>
        </p:spPr>
        <p:txBody>
          <a:bodyPr wrap="square" lIns="45720" tIns="27432" rIns="45720" bIns="27432" anchor="t">
            <a:spAutoFit/>
          </a:bodyPr>
          <a:lstStyle/>
          <a:p>
            <a:pPr algn="ctr">
              <a:lnSpc>
                <a:spcPct val="95000"/>
              </a:lnSpc>
              <a:spcAft>
                <a:spcPts val="0"/>
              </a:spcAft>
            </a:pPr>
            <a:r>
              <a:rPr sz="3200" b="1" i="0">
                <a:solidFill>
                  <a:srgbClr val="202A36"/>
                </a:solidFill>
                <a:latin typeface="Arial"/>
              </a:rPr>
              <a:t>Method: corpus, pipeline and algorithms</a:t>
            </a:r>
          </a:p>
        </p:txBody>
      </p:sp>
      <p:cxnSp>
        <p:nvCxnSpPr>
          <p:cNvPr id="70" name="Connector 69"/>
          <p:cNvCxnSpPr/>
          <p:nvPr/>
        </p:nvCxnSpPr>
        <p:spPr>
          <a:xfrm>
            <a:off x="7863840" y="1088136"/>
            <a:ext cx="0" cy="4681728"/>
          </a:xfrm>
          <a:prstGeom prst="line">
            <a:avLst/>
          </a:prstGeom>
          <a:ln w="19050">
            <a:solidFill>
              <a:srgbClr val="8E98A5"/>
            </a:solidFill>
          </a:ln>
        </p:spPr>
        <p:style>
          <a:lnRef idx="2">
            <a:schemeClr val="accent1"/>
          </a:lnRef>
          <a:fillRef idx="0">
            <a:schemeClr val="accent1"/>
          </a:fillRef>
          <a:effectRef idx="1">
            <a:schemeClr val="accent1"/>
          </a:effectRef>
          <a:fontRef idx="minor">
            <a:schemeClr val="tx1"/>
          </a:fontRef>
        </p:style>
      </p:cxnSp>
      <p:sp>
        <p:nvSpPr>
          <p:cNvPr id="71" name="Oval 70"/>
          <p:cNvSpPr/>
          <p:nvPr/>
        </p:nvSpPr>
        <p:spPr>
          <a:xfrm>
            <a:off x="7790688" y="1380744"/>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229600" y="1252728"/>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Corpus</a:t>
            </a:r>
          </a:p>
        </p:txBody>
      </p:sp>
      <p:sp>
        <p:nvSpPr>
          <p:cNvPr id="73" name="Oval 72"/>
          <p:cNvSpPr/>
          <p:nvPr/>
        </p:nvSpPr>
        <p:spPr>
          <a:xfrm>
            <a:off x="7790688" y="2039112"/>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229600" y="1911096"/>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Attrition and tree recovery</a:t>
            </a:r>
          </a:p>
        </p:txBody>
      </p:sp>
      <p:sp>
        <p:nvSpPr>
          <p:cNvPr id="75" name="Oval 74"/>
          <p:cNvSpPr/>
          <p:nvPr/>
        </p:nvSpPr>
        <p:spPr>
          <a:xfrm>
            <a:off x="7790688" y="2697480"/>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8229600" y="2569464"/>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Full workflow</a:t>
            </a:r>
          </a:p>
        </p:txBody>
      </p:sp>
      <p:sp>
        <p:nvSpPr>
          <p:cNvPr id="77" name="Oval 76"/>
          <p:cNvSpPr/>
          <p:nvPr/>
        </p:nvSpPr>
        <p:spPr>
          <a:xfrm>
            <a:off x="7790688" y="3355848"/>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8229600" y="3227832"/>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From dataset to facts</a:t>
            </a:r>
          </a:p>
        </p:txBody>
      </p:sp>
      <p:sp>
        <p:nvSpPr>
          <p:cNvPr id="79" name="Oval 78"/>
          <p:cNvSpPr/>
          <p:nvPr/>
        </p:nvSpPr>
        <p:spPr>
          <a:xfrm>
            <a:off x="7790688" y="4014216"/>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8229600" y="3886200"/>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What is charged to a pull request</a:t>
            </a:r>
          </a:p>
        </p:txBody>
      </p:sp>
      <p:sp>
        <p:nvSpPr>
          <p:cNvPr id="81" name="Oval 80"/>
          <p:cNvSpPr/>
          <p:nvPr/>
        </p:nvSpPr>
        <p:spPr>
          <a:xfrm>
            <a:off x="7790688" y="4672584"/>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8229600" y="4544568"/>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The delta in the data</a:t>
            </a:r>
          </a:p>
        </p:txBody>
      </p:sp>
      <p:sp>
        <p:nvSpPr>
          <p:cNvPr id="83" name="Oval 82"/>
          <p:cNvSpPr/>
          <p:nvPr/>
        </p:nvSpPr>
        <p:spPr>
          <a:xfrm>
            <a:off x="7790688" y="5330952"/>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8229600" y="5202936"/>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Detectors and statistics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3</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Method</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600" b="1" i="0">
                <a:solidFill>
                  <a:srgbClr val="202A36"/>
                </a:solidFill>
                <a:latin typeface="Arial"/>
              </a:rPr>
              <a:t>Corpus: two languages, three agents, three outcomes</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14</a:t>
            </a:r>
          </a:p>
        </p:txBody>
      </p:sp>
      <p:graphicFrame>
        <p:nvGraphicFramePr>
          <p:cNvPr id="66" name="Table 65"/>
          <p:cNvGraphicFramePr>
            <a:graphicFrameLocks noGrp="1"/>
          </p:cNvGraphicFramePr>
          <p:nvPr/>
        </p:nvGraphicFramePr>
        <p:xfrm>
          <a:off x="612648" y="914400"/>
          <a:ext cx="6949440" cy="4114800"/>
        </p:xfrm>
        <a:graphic>
          <a:graphicData uri="http://schemas.openxmlformats.org/drawingml/2006/table">
            <a:tbl>
              <a:tblPr>
                <a:tableStyleId>{2D5ABB26-0587-4C30-8999-92F81FD0307C}</a:tableStyleId>
              </a:tblPr>
              <a:tblGrid>
                <a:gridCol w="22860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457200">
                <a:tc>
                  <a:txBody>
                    <a:bodyPr/>
                    <a:lstStyle/>
                    <a:p>
                      <a:pPr algn="l">
                        <a:spcAft>
                          <a:spcPts val="0"/>
                        </a:spcAft>
                      </a:pPr>
                      <a:endParaRP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00" b="1" i="0">
                          <a:solidFill>
                            <a:srgbClr val="FFFFFF"/>
                          </a:solidFill>
                          <a:latin typeface="Calibri"/>
                        </a:rPr>
                        <a:t>merged</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00" b="1" i="0">
                          <a:solidFill>
                            <a:srgbClr val="FFFFFF"/>
                          </a:solidFill>
                          <a:latin typeface="Calibri"/>
                        </a:rPr>
                        <a:t>rejected</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00" b="1" i="0">
                          <a:solidFill>
                            <a:srgbClr val="FFFFFF"/>
                          </a:solidFill>
                          <a:latin typeface="Calibri"/>
                        </a:rPr>
                        <a:t>open</a:t>
                      </a:r>
                    </a:p>
                  </a:txBody>
                  <a:tcPr marL="73152" marR="73152" marT="27432" marB="27432" anchor="ctr">
                    <a:lnL w="0">
                      <a:noFill/>
                    </a:lnL>
                    <a:lnR w="0">
                      <a:noFill/>
                    </a:lnR>
                    <a:lnT w="0">
                      <a:noFill/>
                    </a:lnT>
                    <a:lnB w="6350">
                      <a:solidFill>
                        <a:srgbClr val="C9D0D8"/>
                      </a:solidFill>
                    </a:lnB>
                    <a:solidFill>
                      <a:srgbClr val="202A36"/>
                    </a:solidFill>
                  </a:tcPr>
                </a:tc>
                <a:extLst>
                  <a:ext uri="{0D108BD9-81ED-4DB2-BD59-A6C34878D82A}">
                    <a16:rowId xmlns:a16="http://schemas.microsoft.com/office/drawing/2014/main" val="10000"/>
                  </a:ext>
                </a:extLst>
              </a:tr>
              <a:tr h="457200">
                <a:tc gridSpan="4">
                  <a:txBody>
                    <a:bodyPr/>
                    <a:lstStyle/>
                    <a:p>
                      <a:pPr algn="l">
                        <a:spcAft>
                          <a:spcPts val="0"/>
                        </a:spcAft>
                      </a:pPr>
                      <a:r>
                        <a:rPr sz="1400" b="1" i="0">
                          <a:solidFill>
                            <a:srgbClr val="202A36"/>
                          </a:solidFill>
                          <a:latin typeface="Calibri"/>
                        </a:rPr>
                        <a:t>Java</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9DFE6"/>
                    </a:solidFill>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457200">
                <a:tc>
                  <a:txBody>
                    <a:bodyPr/>
                    <a:lstStyle/>
                    <a:p>
                      <a:pPr algn="l">
                        <a:spcAft>
                          <a:spcPts val="0"/>
                        </a:spcAft>
                      </a:pPr>
                      <a:r>
                        <a:rPr sz="1400" b="0" i="0">
                          <a:solidFill>
                            <a:srgbClr val="2B3440"/>
                          </a:solidFill>
                          <a:latin typeface="Calibri"/>
                        </a:rPr>
                        <a:t>Claude Code</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970</a:t>
                      </a:r>
                    </a:p>
                  </a:txBody>
                  <a:tcPr marL="73152" marR="73152" marT="27432" marB="27432" anchor="ctr">
                    <a:lnL w="0">
                      <a:noFill/>
                    </a:lnL>
                    <a:lnR w="0">
                      <a:noFill/>
                    </a:lnR>
                    <a:lnT w="0">
                      <a:noFill/>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485</a:t>
                      </a:r>
                    </a:p>
                  </a:txBody>
                  <a:tcPr marL="73152" marR="73152" marT="27432" marB="27432" anchor="ctr">
                    <a:lnL w="0">
                      <a:noFill/>
                    </a:lnL>
                    <a:lnR w="0">
                      <a:noFill/>
                    </a:lnR>
                    <a:lnT w="0">
                      <a:noFill/>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283</a:t>
                      </a:r>
                    </a:p>
                  </a:txBody>
                  <a:tcPr marL="73152" marR="73152" marT="27432" marB="27432" anchor="ctr">
                    <a:lnL w="0">
                      <a:noFill/>
                    </a:lnL>
                    <a:lnR w="0">
                      <a:noFill/>
                    </a:lnR>
                    <a:lnT w="0">
                      <a:noFill/>
                    </a:lnT>
                    <a:lnB w="6350">
                      <a:solidFill>
                        <a:srgbClr val="C9D0D8"/>
                      </a:solidFill>
                    </a:lnB>
                    <a:solidFill>
                      <a:srgbClr val="ECEFF3"/>
                    </a:solidFill>
                  </a:tcPr>
                </a:tc>
                <a:extLst>
                  <a:ext uri="{0D108BD9-81ED-4DB2-BD59-A6C34878D82A}">
                    <a16:rowId xmlns:a16="http://schemas.microsoft.com/office/drawing/2014/main" val="10002"/>
                  </a:ext>
                </a:extLst>
              </a:tr>
              <a:tr h="457200">
                <a:tc>
                  <a:txBody>
                    <a:bodyPr/>
                    <a:lstStyle/>
                    <a:p>
                      <a:pPr algn="l">
                        <a:spcAft>
                          <a:spcPts val="0"/>
                        </a:spcAft>
                      </a:pPr>
                      <a:r>
                        <a:rPr sz="1400" b="0" i="0">
                          <a:solidFill>
                            <a:srgbClr val="2B3440"/>
                          </a:solidFill>
                          <a:latin typeface="Calibri"/>
                        </a:rPr>
                        <a:t>GitHub Copilot</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2,544</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1,272</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364</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3"/>
                  </a:ext>
                </a:extLst>
              </a:tr>
              <a:tr h="457200">
                <a:tc>
                  <a:txBody>
                    <a:bodyPr/>
                    <a:lstStyle/>
                    <a:p>
                      <a:pPr algn="l">
                        <a:spcAft>
                          <a:spcPts val="0"/>
                        </a:spcAft>
                      </a:pPr>
                      <a:r>
                        <a:rPr sz="1400" b="0" i="0">
                          <a:solidFill>
                            <a:srgbClr val="2B3440"/>
                          </a:solidFill>
                          <a:latin typeface="Calibri"/>
                        </a:rPr>
                        <a:t>OpenAI Codex</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630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315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93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4"/>
                  </a:ext>
                </a:extLst>
              </a:tr>
              <a:tr h="457200">
                <a:tc gridSpan="4">
                  <a:txBody>
                    <a:bodyPr/>
                    <a:lstStyle/>
                    <a:p>
                      <a:pPr algn="l">
                        <a:spcAft>
                          <a:spcPts val="0"/>
                        </a:spcAft>
                      </a:pPr>
                      <a:r>
                        <a:rPr sz="1400" b="1" i="0">
                          <a:solidFill>
                            <a:srgbClr val="202A36"/>
                          </a:solidFill>
                          <a:latin typeface="Calibri"/>
                        </a:rPr>
                        <a:t>Python</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9DFE6"/>
                    </a:solidFill>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5"/>
                  </a:ext>
                </a:extLst>
              </a:tr>
              <a:tr h="457200">
                <a:tc>
                  <a:txBody>
                    <a:bodyPr/>
                    <a:lstStyle/>
                    <a:p>
                      <a:pPr algn="l">
                        <a:spcAft>
                          <a:spcPts val="0"/>
                        </a:spcAft>
                      </a:pPr>
                      <a:r>
                        <a:rPr sz="1400" b="0" i="0">
                          <a:solidFill>
                            <a:srgbClr val="2B3440"/>
                          </a:solidFill>
                          <a:latin typeface="Calibri"/>
                        </a:rPr>
                        <a:t>Claude Code</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940</a:t>
                      </a:r>
                    </a:p>
                  </a:txBody>
                  <a:tcPr marL="73152" marR="73152" marT="27432" marB="27432" anchor="ctr">
                    <a:lnL w="0">
                      <a:noFill/>
                    </a:lnL>
                    <a:lnR w="0">
                      <a:noFill/>
                    </a:lnR>
                    <a:lnT w="0">
                      <a:noFill/>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540</a:t>
                      </a:r>
                    </a:p>
                  </a:txBody>
                  <a:tcPr marL="73152" marR="73152" marT="27432" marB="27432" anchor="ctr">
                    <a:lnL w="0">
                      <a:noFill/>
                    </a:lnL>
                    <a:lnR w="0">
                      <a:noFill/>
                    </a:lnR>
                    <a:lnT w="0">
                      <a:noFill/>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182</a:t>
                      </a:r>
                    </a:p>
                  </a:txBody>
                  <a:tcPr marL="73152" marR="73152" marT="27432" marB="27432" anchor="ctr">
                    <a:lnL w="0">
                      <a:noFill/>
                    </a:lnL>
                    <a:lnR w="0">
                      <a:noFill/>
                    </a:lnR>
                    <a:lnT w="0">
                      <a:noFill/>
                    </a:lnT>
                    <a:lnB w="6350">
                      <a:solidFill>
                        <a:srgbClr val="C9D0D8"/>
                      </a:solidFill>
                    </a:lnB>
                    <a:solidFill>
                      <a:srgbClr val="ECEFF3"/>
                    </a:solidFill>
                  </a:tcPr>
                </a:tc>
                <a:extLst>
                  <a:ext uri="{0D108BD9-81ED-4DB2-BD59-A6C34878D82A}">
                    <a16:rowId xmlns:a16="http://schemas.microsoft.com/office/drawing/2014/main" val="10006"/>
                  </a:ext>
                </a:extLst>
              </a:tr>
              <a:tr h="457200">
                <a:tc>
                  <a:txBody>
                    <a:bodyPr/>
                    <a:lstStyle/>
                    <a:p>
                      <a:pPr algn="l">
                        <a:spcAft>
                          <a:spcPts val="0"/>
                        </a:spcAft>
                      </a:pPr>
                      <a:r>
                        <a:rPr sz="1400" b="0" i="0">
                          <a:solidFill>
                            <a:srgbClr val="2B3440"/>
                          </a:solidFill>
                          <a:latin typeface="Calibri"/>
                        </a:rPr>
                        <a:t>GitHub Copilot</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885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407</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178</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7"/>
                  </a:ext>
                </a:extLst>
              </a:tr>
              <a:tr h="457200">
                <a:tc>
                  <a:txBody>
                    <a:bodyPr/>
                    <a:lstStyle/>
                    <a:p>
                      <a:pPr algn="l">
                        <a:spcAft>
                          <a:spcPts val="0"/>
                        </a:spcAft>
                      </a:pPr>
                      <a:r>
                        <a:rPr sz="1400" b="0" i="0">
                          <a:solidFill>
                            <a:srgbClr val="2B3440"/>
                          </a:solidFill>
                          <a:latin typeface="Calibri"/>
                        </a:rPr>
                        <a:t>OpenAI Codex</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1,069</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549</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196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8"/>
                  </a:ext>
                </a:extLst>
              </a:tr>
            </a:tbl>
          </a:graphicData>
        </a:graphic>
      </p:graphicFrame>
      <p:sp>
        <p:nvSpPr>
          <p:cNvPr id="67" name="Rounded Rectangle 66"/>
          <p:cNvSpPr/>
          <p:nvPr/>
        </p:nvSpPr>
        <p:spPr>
          <a:xfrm>
            <a:off x="612648" y="5212080"/>
            <a:ext cx="6949440" cy="685800"/>
          </a:xfrm>
          <a:prstGeom prst="roundRect">
            <a:avLst>
              <a:gd name="adj" fmla="val 6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49808" y="5212080"/>
            <a:ext cx="6675120" cy="685800"/>
          </a:xfrm>
          <a:prstGeom prst="rect">
            <a:avLst/>
          </a:prstGeom>
          <a:noFill/>
        </p:spPr>
        <p:txBody>
          <a:bodyPr wrap="square" lIns="45720" tIns="54864" rIns="45720" bIns="54864" anchor="ctr">
            <a:spAutoFit/>
          </a:bodyPr>
          <a:lstStyle/>
          <a:p>
            <a:pPr algn="l">
              <a:spcAft>
                <a:spcPts val="0"/>
              </a:spcAft>
            </a:pPr>
            <a:r>
              <a:rPr sz="1300" b="0" i="0">
                <a:solidFill>
                  <a:srgbClr val="2B3440"/>
                </a:solidFill>
                <a:latin typeface="Calibri"/>
              </a:rPr>
              <a:t>Java rows are the curated corpus (6,956), Python rows the analysable one (4,946).</a:t>
            </a:r>
          </a:p>
        </p:txBody>
      </p:sp>
      <p:sp>
        <p:nvSpPr>
          <p:cNvPr id="69" name="Rounded Rectangle 68"/>
          <p:cNvSpPr/>
          <p:nvPr/>
        </p:nvSpPr>
        <p:spPr>
          <a:xfrm>
            <a:off x="7909560" y="914400"/>
            <a:ext cx="3675888" cy="1828800"/>
          </a:xfrm>
          <a:prstGeom prst="roundRect">
            <a:avLst>
              <a:gd name="adj" fmla="val 6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046720" y="1005840"/>
            <a:ext cx="3401568" cy="914400"/>
          </a:xfrm>
          <a:prstGeom prst="rect">
            <a:avLst/>
          </a:prstGeom>
          <a:noFill/>
        </p:spPr>
        <p:txBody>
          <a:bodyPr wrap="square" lIns="45720" tIns="27432" rIns="45720" bIns="27432" anchor="b">
            <a:spAutoFit/>
          </a:bodyPr>
          <a:lstStyle/>
          <a:p>
            <a:pPr algn="ctr">
              <a:spcAft>
                <a:spcPts val="0"/>
              </a:spcAft>
            </a:pPr>
            <a:r>
              <a:rPr sz="3200" b="1" i="0">
                <a:solidFill>
                  <a:srgbClr val="46CEAE"/>
                </a:solidFill>
                <a:latin typeface="Arial"/>
              </a:rPr>
              <a:t>4,245 / 4,946</a:t>
            </a:r>
          </a:p>
        </p:txBody>
      </p:sp>
      <p:sp>
        <p:nvSpPr>
          <p:cNvPr id="71" name="TextBox 70"/>
          <p:cNvSpPr txBox="1"/>
          <p:nvPr/>
        </p:nvSpPr>
        <p:spPr>
          <a:xfrm>
            <a:off x="8092440" y="1920240"/>
            <a:ext cx="3310128" cy="768096"/>
          </a:xfrm>
          <a:prstGeom prst="rect">
            <a:avLst/>
          </a:prstGeom>
          <a:noFill/>
        </p:spPr>
        <p:txBody>
          <a:bodyPr wrap="square" lIns="45720" tIns="27432" rIns="45720" bIns="27432" anchor="t">
            <a:spAutoFit/>
          </a:bodyPr>
          <a:lstStyle/>
          <a:p>
            <a:pPr algn="ctr">
              <a:spcAft>
                <a:spcPts val="0"/>
              </a:spcAft>
            </a:pPr>
            <a:r>
              <a:rPr sz="1300" b="0" i="0">
                <a:solidFill>
                  <a:srgbClr val="D5DCE4"/>
                </a:solidFill>
                <a:latin typeface="Calibri"/>
              </a:rPr>
              <a:t>analysable pull requests, Java / Python</a:t>
            </a:r>
          </a:p>
        </p:txBody>
      </p:sp>
      <p:sp>
        <p:nvSpPr>
          <p:cNvPr id="72" name="Rounded Rectangle 71"/>
          <p:cNvSpPr/>
          <p:nvPr/>
        </p:nvSpPr>
        <p:spPr>
          <a:xfrm>
            <a:off x="7909560" y="2926080"/>
            <a:ext cx="3675888" cy="841248"/>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Hexagon 72"/>
          <p:cNvSpPr/>
          <p:nvPr/>
        </p:nvSpPr>
        <p:spPr>
          <a:xfrm>
            <a:off x="8046720" y="3108960"/>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400" b="1" i="0">
                <a:solidFill>
                  <a:srgbClr val="FFFFFF"/>
                </a:solidFill>
                <a:latin typeface="Arial"/>
              </a:rPr>
              <a:t>1</a:t>
            </a:r>
          </a:p>
        </p:txBody>
      </p:sp>
      <p:sp>
        <p:nvSpPr>
          <p:cNvPr id="74" name="TextBox 73"/>
          <p:cNvSpPr txBox="1"/>
          <p:nvPr/>
        </p:nvSpPr>
        <p:spPr>
          <a:xfrm>
            <a:off x="8778240" y="2926080"/>
            <a:ext cx="2697480" cy="841248"/>
          </a:xfrm>
          <a:prstGeom prst="rect">
            <a:avLst/>
          </a:prstGeom>
          <a:noFill/>
        </p:spPr>
        <p:txBody>
          <a:bodyPr wrap="square" lIns="45720" tIns="27432" rIns="45720" bIns="27432" anchor="ctr">
            <a:spAutoFit/>
          </a:bodyPr>
          <a:lstStyle/>
          <a:p>
            <a:pPr algn="l">
              <a:spcAft>
                <a:spcPts val="0"/>
              </a:spcAft>
            </a:pPr>
            <a:r>
              <a:rPr sz="1300" b="0" i="0">
                <a:solidFill>
                  <a:srgbClr val="2B3440"/>
                </a:solidFill>
                <a:latin typeface="Calibri"/>
              </a:rPr>
              <a:t>≥25 stars, permissive licence</a:t>
            </a:r>
          </a:p>
        </p:txBody>
      </p:sp>
      <p:sp>
        <p:nvSpPr>
          <p:cNvPr id="75" name="Rounded Rectangle 74"/>
          <p:cNvSpPr/>
          <p:nvPr/>
        </p:nvSpPr>
        <p:spPr>
          <a:xfrm>
            <a:off x="7909560" y="3886200"/>
            <a:ext cx="3675888" cy="841248"/>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Hexagon 75"/>
          <p:cNvSpPr/>
          <p:nvPr/>
        </p:nvSpPr>
        <p:spPr>
          <a:xfrm>
            <a:off x="8046720" y="4069080"/>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400" b="1" i="0">
                <a:solidFill>
                  <a:srgbClr val="FFFFFF"/>
                </a:solidFill>
                <a:latin typeface="Arial"/>
              </a:rPr>
              <a:t>2</a:t>
            </a:r>
          </a:p>
        </p:txBody>
      </p:sp>
      <p:sp>
        <p:nvSpPr>
          <p:cNvPr id="77" name="TextBox 76"/>
          <p:cNvSpPr txBox="1"/>
          <p:nvPr/>
        </p:nvSpPr>
        <p:spPr>
          <a:xfrm>
            <a:off x="8778240" y="3886200"/>
            <a:ext cx="2697480" cy="841248"/>
          </a:xfrm>
          <a:prstGeom prst="rect">
            <a:avLst/>
          </a:prstGeom>
          <a:noFill/>
        </p:spPr>
        <p:txBody>
          <a:bodyPr wrap="square" lIns="45720" tIns="27432" rIns="45720" bIns="27432" anchor="ctr">
            <a:spAutoFit/>
          </a:bodyPr>
          <a:lstStyle/>
          <a:p>
            <a:pPr algn="l">
              <a:spcAft>
                <a:spcPts val="0"/>
              </a:spcAft>
            </a:pPr>
            <a:r>
              <a:rPr sz="1300" b="0" i="0">
                <a:solidFill>
                  <a:srgbClr val="2B3440"/>
                </a:solidFill>
                <a:latin typeface="Calibri"/>
              </a:rPr>
              <a:t>merged drawn 2:1 against rejected, within each agent</a:t>
            </a:r>
          </a:p>
        </p:txBody>
      </p:sp>
      <p:sp>
        <p:nvSpPr>
          <p:cNvPr id="78" name="Rounded Rectangle 77"/>
          <p:cNvSpPr/>
          <p:nvPr/>
        </p:nvSpPr>
        <p:spPr>
          <a:xfrm>
            <a:off x="7909560" y="4846320"/>
            <a:ext cx="3675888" cy="841248"/>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Hexagon 78"/>
          <p:cNvSpPr/>
          <p:nvPr/>
        </p:nvSpPr>
        <p:spPr>
          <a:xfrm>
            <a:off x="8046720" y="5029200"/>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400" b="1" i="0">
                <a:solidFill>
                  <a:srgbClr val="FFFFFF"/>
                </a:solidFill>
                <a:latin typeface="Arial"/>
              </a:rPr>
              <a:t>3</a:t>
            </a:r>
          </a:p>
        </p:txBody>
      </p:sp>
      <p:sp>
        <p:nvSpPr>
          <p:cNvPr id="80" name="TextBox 79"/>
          <p:cNvSpPr txBox="1"/>
          <p:nvPr/>
        </p:nvSpPr>
        <p:spPr>
          <a:xfrm>
            <a:off x="8778240" y="4846320"/>
            <a:ext cx="2697480" cy="841248"/>
          </a:xfrm>
          <a:prstGeom prst="rect">
            <a:avLst/>
          </a:prstGeom>
          <a:noFill/>
        </p:spPr>
        <p:txBody>
          <a:bodyPr wrap="square" lIns="45720" tIns="27432" rIns="45720" bIns="27432" anchor="ctr">
            <a:spAutoFit/>
          </a:bodyPr>
          <a:lstStyle/>
          <a:p>
            <a:pPr algn="l">
              <a:spcAft>
                <a:spcPts val="0"/>
              </a:spcAft>
            </a:pPr>
            <a:r>
              <a:rPr sz="1300" b="0" i="0">
                <a:solidFill>
                  <a:srgbClr val="2B3440"/>
                </a:solidFill>
                <a:latin typeface="Calibri"/>
              </a:rPr>
              <a:t>Python also stratified by repository: no repository gives more than 0.4% of a cell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3</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Method</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Attrition and how the two trees were recovered</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15</a:t>
            </a:r>
          </a:p>
        </p:txBody>
      </p:sp>
      <p:graphicFrame>
        <p:nvGraphicFramePr>
          <p:cNvPr id="66" name="Table 65"/>
          <p:cNvGraphicFramePr>
            <a:graphicFrameLocks noGrp="1"/>
          </p:cNvGraphicFramePr>
          <p:nvPr/>
        </p:nvGraphicFramePr>
        <p:xfrm>
          <a:off x="612648" y="914400"/>
          <a:ext cx="4937760" cy="3785616"/>
        </p:xfrm>
        <a:graphic>
          <a:graphicData uri="http://schemas.openxmlformats.org/drawingml/2006/table">
            <a:tbl>
              <a:tblPr>
                <a:tableStyleId>{2D5ABB26-0587-4C30-8999-92F81FD0307C}</a:tableStyleId>
              </a:tblPr>
              <a:tblGrid>
                <a:gridCol w="27432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457200">
                <a:tc>
                  <a:txBody>
                    <a:bodyPr/>
                    <a:lstStyle/>
                    <a:p>
                      <a:pPr algn="l">
                        <a:spcAft>
                          <a:spcPts val="0"/>
                        </a:spcAft>
                      </a:pPr>
                      <a:r>
                        <a:rPr sz="1400" b="1" i="0">
                          <a:solidFill>
                            <a:srgbClr val="FFFFFF"/>
                          </a:solidFill>
                          <a:latin typeface="Calibri"/>
                        </a:rPr>
                        <a:t>Status</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00" b="1" i="0">
                          <a:solidFill>
                            <a:srgbClr val="FFFFFF"/>
                          </a:solidFill>
                          <a:latin typeface="Calibri"/>
                        </a:rPr>
                        <a:t>Java</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00" b="1" i="0">
                          <a:solidFill>
                            <a:srgbClr val="FFFFFF"/>
                          </a:solidFill>
                          <a:latin typeface="Calibri"/>
                        </a:rPr>
                        <a:t>Python</a:t>
                      </a:r>
                    </a:p>
                  </a:txBody>
                  <a:tcPr marL="73152" marR="73152" marT="27432" marB="27432" anchor="ctr">
                    <a:lnL w="0">
                      <a:noFill/>
                    </a:lnL>
                    <a:lnR w="0">
                      <a:noFill/>
                    </a:lnR>
                    <a:lnT w="0">
                      <a:noFill/>
                    </a:lnT>
                    <a:lnB w="6350">
                      <a:solidFill>
                        <a:srgbClr val="C9D0D8"/>
                      </a:solidFill>
                    </a:lnB>
                    <a:solidFill>
                      <a:srgbClr val="202A36"/>
                    </a:solidFill>
                  </a:tcPr>
                </a:tc>
                <a:extLst>
                  <a:ext uri="{0D108BD9-81ED-4DB2-BD59-A6C34878D82A}">
                    <a16:rowId xmlns:a16="http://schemas.microsoft.com/office/drawing/2014/main" val="10000"/>
                  </a:ext>
                </a:extLst>
              </a:tr>
              <a:tr h="475488">
                <a:tc>
                  <a:txBody>
                    <a:bodyPr/>
                    <a:lstStyle/>
                    <a:p>
                      <a:pPr algn="l">
                        <a:spcAft>
                          <a:spcPts val="0"/>
                        </a:spcAft>
                      </a:pPr>
                      <a:r>
                        <a:rPr sz="1400" b="0" i="0">
                          <a:solidFill>
                            <a:srgbClr val="2B3440"/>
                          </a:solidFill>
                          <a:latin typeface="Calibri"/>
                        </a:rPr>
                        <a:t>analysable</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4,245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4,946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1"/>
                  </a:ext>
                </a:extLst>
              </a:tr>
              <a:tr h="475488">
                <a:tc>
                  <a:txBody>
                    <a:bodyPr/>
                    <a:lstStyle/>
                    <a:p>
                      <a:pPr algn="l">
                        <a:spcAft>
                          <a:spcPts val="0"/>
                        </a:spcAft>
                      </a:pPr>
                      <a:r>
                        <a:rPr sz="1400" b="0" i="0">
                          <a:solidFill>
                            <a:srgbClr val="2B3440"/>
                          </a:solidFill>
                          <a:latin typeface="Calibri"/>
                        </a:rPr>
                        <a:t>no production file touched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2,540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1,816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2"/>
                  </a:ext>
                </a:extLst>
              </a:tr>
              <a:tr h="475488">
                <a:tc>
                  <a:txBody>
                    <a:bodyPr/>
                    <a:lstStyle/>
                    <a:p>
                      <a:pPr algn="l">
                        <a:spcAft>
                          <a:spcPts val="0"/>
                        </a:spcAft>
                      </a:pPr>
                      <a:r>
                        <a:rPr sz="1400" b="0" i="0">
                          <a:solidFill>
                            <a:srgbClr val="2B3440"/>
                          </a:solidFill>
                          <a:latin typeface="Calibri"/>
                        </a:rPr>
                        <a:t>no module resolved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n/a</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232</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3"/>
                  </a:ext>
                </a:extLst>
              </a:tr>
              <a:tr h="475488">
                <a:tc>
                  <a:txBody>
                    <a:bodyPr/>
                    <a:lstStyle/>
                    <a:p>
                      <a:pPr algn="l">
                        <a:spcAft>
                          <a:spcPts val="0"/>
                        </a:spcAft>
                      </a:pPr>
                      <a:r>
                        <a:rPr sz="1400" b="0" i="0">
                          <a:solidFill>
                            <a:srgbClr val="2B3440"/>
                          </a:solidFill>
                          <a:latin typeface="Calibri"/>
                        </a:rPr>
                        <a:t>tree too large</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150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14</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4"/>
                  </a:ext>
                </a:extLst>
              </a:tr>
              <a:tr h="475488">
                <a:tc>
                  <a:txBody>
                    <a:bodyPr/>
                    <a:lstStyle/>
                    <a:p>
                      <a:pPr algn="l">
                        <a:spcAft>
                          <a:spcPts val="0"/>
                        </a:spcAft>
                      </a:pPr>
                      <a:r>
                        <a:rPr sz="1400" b="0" i="0">
                          <a:solidFill>
                            <a:srgbClr val="2B3440"/>
                          </a:solidFill>
                          <a:latin typeface="Calibri"/>
                        </a:rPr>
                        <a:t>history gone</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18</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2</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5"/>
                  </a:ext>
                </a:extLst>
              </a:tr>
              <a:tr h="475488">
                <a:tc>
                  <a:txBody>
                    <a:bodyPr/>
                    <a:lstStyle/>
                    <a:p>
                      <a:pPr algn="l">
                        <a:spcAft>
                          <a:spcPts val="0"/>
                        </a:spcAft>
                      </a:pPr>
                      <a:r>
                        <a:rPr sz="1400" b="0" i="0">
                          <a:solidFill>
                            <a:srgbClr val="2B3440"/>
                          </a:solidFill>
                          <a:latin typeface="Calibri"/>
                        </a:rPr>
                        <a:t>no distinct before tree</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40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6"/>
                  </a:ext>
                </a:extLst>
              </a:tr>
              <a:tr h="475488">
                <a:tc>
                  <a:txBody>
                    <a:bodyPr/>
                    <a:lstStyle/>
                    <a:p>
                      <a:pPr algn="l">
                        <a:spcAft>
                          <a:spcPts val="0"/>
                        </a:spcAft>
                      </a:pPr>
                      <a:r>
                        <a:rPr sz="1400" b="1" i="0">
                          <a:solidFill>
                            <a:srgbClr val="2B3440"/>
                          </a:solidFill>
                          <a:latin typeface="Calibri"/>
                        </a:rPr>
                        <a:t>curated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9DFE6"/>
                    </a:solidFill>
                  </a:tcPr>
                </a:tc>
                <a:tc>
                  <a:txBody>
                    <a:bodyPr/>
                    <a:lstStyle/>
                    <a:p>
                      <a:pPr algn="ctr">
                        <a:spcAft>
                          <a:spcPts val="0"/>
                        </a:spcAft>
                      </a:pPr>
                      <a:r>
                        <a:rPr sz="1400" b="1" i="0">
                          <a:solidFill>
                            <a:srgbClr val="2B3440"/>
                          </a:solidFill>
                          <a:latin typeface="Calibri"/>
                        </a:rPr>
                        <a:t>6,956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9DFE6"/>
                    </a:solidFill>
                  </a:tcPr>
                </a:tc>
                <a:tc>
                  <a:txBody>
                    <a:bodyPr/>
                    <a:lstStyle/>
                    <a:p>
                      <a:pPr algn="ctr">
                        <a:spcAft>
                          <a:spcPts val="0"/>
                        </a:spcAft>
                      </a:pPr>
                      <a:r>
                        <a:rPr sz="1400" b="1" i="0">
                          <a:solidFill>
                            <a:srgbClr val="2B3440"/>
                          </a:solidFill>
                          <a:latin typeface="Calibri"/>
                        </a:rPr>
                        <a:t>7,050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9DFE6"/>
                    </a:solidFill>
                  </a:tcPr>
                </a:tc>
                <a:extLst>
                  <a:ext uri="{0D108BD9-81ED-4DB2-BD59-A6C34878D82A}">
                    <a16:rowId xmlns:a16="http://schemas.microsoft.com/office/drawing/2014/main" val="10007"/>
                  </a:ext>
                </a:extLst>
              </a:tr>
            </a:tbl>
          </a:graphicData>
        </a:graphic>
      </p:graphicFrame>
      <p:sp>
        <p:nvSpPr>
          <p:cNvPr id="67" name="TextBox 66"/>
          <p:cNvSpPr txBox="1"/>
          <p:nvPr/>
        </p:nvSpPr>
        <p:spPr>
          <a:xfrm>
            <a:off x="5897880" y="914400"/>
            <a:ext cx="5669280" cy="274320"/>
          </a:xfrm>
          <a:prstGeom prst="rect">
            <a:avLst/>
          </a:prstGeom>
          <a:noFill/>
        </p:spPr>
        <p:txBody>
          <a:bodyPr wrap="square" lIns="18288" tIns="18288" rIns="18288" bIns="18288" anchor="t">
            <a:spAutoFit/>
          </a:bodyPr>
          <a:lstStyle/>
          <a:p>
            <a:pPr algn="l">
              <a:spcAft>
                <a:spcPts val="0"/>
              </a:spcAft>
            </a:pPr>
            <a:r>
              <a:rPr sz="1200" b="1" i="0">
                <a:solidFill>
                  <a:srgbClr val="34495E"/>
                </a:solidFill>
                <a:latin typeface="Arial"/>
              </a:rPr>
              <a:t>RECOVERY METHOD BY OUTCOME (JAVA)</a:t>
            </a:r>
          </a:p>
        </p:txBody>
      </p:sp>
      <p:graphicFrame>
        <p:nvGraphicFramePr>
          <p:cNvPr id="68" name="Table 67"/>
          <p:cNvGraphicFramePr>
            <a:graphicFrameLocks noGrp="1"/>
          </p:cNvGraphicFramePr>
          <p:nvPr/>
        </p:nvGraphicFramePr>
        <p:xfrm>
          <a:off x="5897880" y="1280160"/>
          <a:ext cx="5669280" cy="1883664"/>
        </p:xfrm>
        <a:graphic>
          <a:graphicData uri="http://schemas.openxmlformats.org/drawingml/2006/table">
            <a:tbl>
              <a:tblPr>
                <a:tableStyleId>{2D5ABB26-0587-4C30-8999-92F81FD0307C}</a:tableStyleId>
              </a:tblPr>
              <a:tblGrid>
                <a:gridCol w="16459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457200">
                <a:tc>
                  <a:txBody>
                    <a:bodyPr/>
                    <a:lstStyle/>
                    <a:p>
                      <a:pPr algn="l">
                        <a:spcAft>
                          <a:spcPts val="0"/>
                        </a:spcAft>
                      </a:pPr>
                      <a:endParaRP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00" b="1" i="0">
                          <a:solidFill>
                            <a:srgbClr val="FFFFFF"/>
                          </a:solidFill>
                          <a:latin typeface="Calibri"/>
                        </a:rPr>
                        <a:t>1</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00" b="1" i="0">
                          <a:solidFill>
                            <a:srgbClr val="FFFFFF"/>
                          </a:solidFill>
                          <a:latin typeface="Calibri"/>
                        </a:rPr>
                        <a:t>2</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00" b="1" i="0">
                          <a:solidFill>
                            <a:srgbClr val="FFFFFF"/>
                          </a:solidFill>
                          <a:latin typeface="Calibri"/>
                        </a:rPr>
                        <a:t>3</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00" b="1" i="0">
                          <a:solidFill>
                            <a:srgbClr val="FFFFFF"/>
                          </a:solidFill>
                          <a:latin typeface="Calibri"/>
                        </a:rPr>
                        <a:t>4</a:t>
                      </a:r>
                    </a:p>
                  </a:txBody>
                  <a:tcPr marL="73152" marR="73152" marT="27432" marB="27432" anchor="ctr">
                    <a:lnL w="0">
                      <a:noFill/>
                    </a:lnL>
                    <a:lnR w="0">
                      <a:noFill/>
                    </a:lnR>
                    <a:lnT w="0">
                      <a:noFill/>
                    </a:lnT>
                    <a:lnB w="6350">
                      <a:solidFill>
                        <a:srgbClr val="C9D0D8"/>
                      </a:solidFill>
                    </a:lnB>
                    <a:solidFill>
                      <a:srgbClr val="202A36"/>
                    </a:solidFill>
                  </a:tcPr>
                </a:tc>
                <a:extLst>
                  <a:ext uri="{0D108BD9-81ED-4DB2-BD59-A6C34878D82A}">
                    <a16:rowId xmlns:a16="http://schemas.microsoft.com/office/drawing/2014/main" val="10000"/>
                  </a:ext>
                </a:extLst>
              </a:tr>
              <a:tr h="475488">
                <a:tc>
                  <a:txBody>
                    <a:bodyPr/>
                    <a:lstStyle/>
                    <a:p>
                      <a:pPr algn="l">
                        <a:spcAft>
                          <a:spcPts val="0"/>
                        </a:spcAft>
                      </a:pPr>
                      <a:r>
                        <a:rPr sz="1400" b="0" i="0">
                          <a:solidFill>
                            <a:srgbClr val="2B3440"/>
                          </a:solidFill>
                          <a:latin typeface="Calibri"/>
                        </a:rPr>
                        <a:t>merged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1,052</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425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665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431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1"/>
                  </a:ext>
                </a:extLst>
              </a:tr>
              <a:tr h="475488">
                <a:tc>
                  <a:txBody>
                    <a:bodyPr/>
                    <a:lstStyle/>
                    <a:p>
                      <a:pPr algn="l">
                        <a:spcAft>
                          <a:spcPts val="0"/>
                        </a:spcAft>
                      </a:pPr>
                      <a:r>
                        <a:rPr sz="1400" b="0" i="0">
                          <a:solidFill>
                            <a:srgbClr val="2B3440"/>
                          </a:solidFill>
                          <a:latin typeface="Calibri"/>
                        </a:rPr>
                        <a:t>open</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209</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250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31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2"/>
                  </a:ext>
                </a:extLst>
              </a:tr>
              <a:tr h="475488">
                <a:tc>
                  <a:txBody>
                    <a:bodyPr/>
                    <a:lstStyle/>
                    <a:p>
                      <a:pPr algn="l">
                        <a:spcAft>
                          <a:spcPts val="0"/>
                        </a:spcAft>
                      </a:pPr>
                      <a:r>
                        <a:rPr sz="1400" b="0" i="0">
                          <a:solidFill>
                            <a:srgbClr val="2B3440"/>
                          </a:solidFill>
                          <a:latin typeface="Calibri"/>
                        </a:rPr>
                        <a:t>rejected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646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482</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49</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3"/>
                  </a:ext>
                </a:extLst>
              </a:tr>
            </a:tbl>
          </a:graphicData>
        </a:graphic>
      </p:graphicFrame>
      <p:sp>
        <p:nvSpPr>
          <p:cNvPr id="69" name="Rounded Rectangle 68"/>
          <p:cNvSpPr/>
          <p:nvPr/>
        </p:nvSpPr>
        <p:spPr>
          <a:xfrm>
            <a:off x="5897880" y="3346704"/>
            <a:ext cx="5687568" cy="1417320"/>
          </a:xfrm>
          <a:prstGeom prst="roundRect">
            <a:avLst>
              <a:gd name="adj" fmla="val 6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035040" y="3346704"/>
            <a:ext cx="5413248" cy="1417320"/>
          </a:xfrm>
          <a:prstGeom prst="rect">
            <a:avLst/>
          </a:prstGeom>
          <a:noFill/>
        </p:spPr>
        <p:txBody>
          <a:bodyPr wrap="square" lIns="45720" tIns="54864" rIns="45720" bIns="54864" anchor="ctr">
            <a:spAutoFit/>
          </a:bodyPr>
          <a:lstStyle/>
          <a:p>
            <a:pPr algn="l">
              <a:spcAft>
                <a:spcPts val="0"/>
              </a:spcAft>
            </a:pPr>
            <a:r>
              <a:rPr sz="1350" b="1" i="0">
                <a:solidFill>
                  <a:srgbClr val="2B3440"/>
                </a:solidFill>
                <a:latin typeface="Calibri"/>
              </a:rPr>
              <a:t>Method 1</a:t>
            </a:r>
            <a:r>
              <a:rPr sz="1350" b="0" i="0">
                <a:solidFill>
                  <a:srgbClr val="2B3440"/>
                </a:solidFill>
                <a:latin typeface="Calibri"/>
              </a:rPr>
              <a:t> is the merge commit, available to merged requests only. That is why every merged-versus-unmerged comparison is made </a:t>
            </a:r>
            <a:r>
              <a:rPr sz="1350" b="1" i="0">
                <a:solidFill>
                  <a:srgbClr val="2B3440"/>
                </a:solidFill>
                <a:latin typeface="Calibri"/>
              </a:rPr>
              <a:t>within the same method</a:t>
            </a:r>
            <a:r>
              <a:rPr sz="1350" b="0" i="0">
                <a:solidFill>
                  <a:srgbClr val="2B3440"/>
                </a:solidFill>
                <a:latin typeface="Calibri"/>
              </a:rPr>
              <a:t>.</a:t>
            </a:r>
          </a:p>
        </p:txBody>
      </p:sp>
      <p:sp>
        <p:nvSpPr>
          <p:cNvPr id="71" name="Rounded Rectangle 70"/>
          <p:cNvSpPr/>
          <p:nvPr/>
        </p:nvSpPr>
        <p:spPr>
          <a:xfrm>
            <a:off x="612648" y="5257800"/>
            <a:ext cx="10972800" cy="731520"/>
          </a:xfrm>
          <a:prstGeom prst="roundRect">
            <a:avLst>
              <a:gd name="adj" fmla="val 8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Hexagon 71"/>
          <p:cNvSpPr/>
          <p:nvPr/>
        </p:nvSpPr>
        <p:spPr>
          <a:xfrm>
            <a:off x="813816" y="5486400"/>
            <a:ext cx="316840" cy="274320"/>
          </a:xfrm>
          <a:prstGeom prst="hexagon">
            <a:avLst/>
          </a:prstGeom>
          <a:solidFill>
            <a:srgbClr val="46CE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1252728" y="5257800"/>
            <a:ext cx="10149840" cy="731520"/>
          </a:xfrm>
          <a:prstGeom prst="rect">
            <a:avLst/>
          </a:prstGeom>
          <a:noFill/>
        </p:spPr>
        <p:txBody>
          <a:bodyPr wrap="square" lIns="45720" rIns="45720" anchor="ctr">
            <a:spAutoFit/>
          </a:bodyPr>
          <a:lstStyle/>
          <a:p>
            <a:pPr algn="l">
              <a:spcAft>
                <a:spcPts val="0"/>
              </a:spcAft>
            </a:pPr>
            <a:r>
              <a:rPr sz="1400" b="0" i="0">
                <a:solidFill>
                  <a:srgbClr val="FFFFFF"/>
                </a:solidFill>
                <a:latin typeface="Calibri"/>
              </a:rPr>
              <a:t>7.0% of Python requests lost their source entirely: the branch was deleted.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3</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Method</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216777"/>
            <a:ext cx="8412480" cy="276999"/>
          </a:xfrm>
          <a:prstGeom prst="rect">
            <a:avLst/>
          </a:prstGeom>
          <a:noFill/>
        </p:spPr>
        <p:txBody>
          <a:bodyPr wrap="square" lIns="18288" tIns="0" rIns="18288" bIns="0" anchor="b">
            <a:spAutoFit/>
          </a:bodyPr>
          <a:lstStyle/>
          <a:p>
            <a:pPr algn="l">
              <a:spcAft>
                <a:spcPts val="0"/>
              </a:spcAft>
            </a:pPr>
            <a:r>
              <a:rPr sz="1800" b="1" i="0" dirty="0">
                <a:solidFill>
                  <a:srgbClr val="202A36"/>
                </a:solidFill>
                <a:latin typeface="Arial"/>
              </a:rPr>
              <a:t>Workflow</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16</a:t>
            </a:r>
          </a:p>
        </p:txBody>
      </p:sp>
      <p:sp>
        <p:nvSpPr>
          <p:cNvPr id="66" name="Rounded Rectangle 65"/>
          <p:cNvSpPr/>
          <p:nvPr/>
        </p:nvSpPr>
        <p:spPr>
          <a:xfrm>
            <a:off x="612648" y="914400"/>
            <a:ext cx="10972800" cy="544068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7" name="Picture 66" descr="fig_pipeline.png"/>
          <p:cNvPicPr>
            <a:picLocks noChangeAspect="1"/>
          </p:cNvPicPr>
          <p:nvPr/>
        </p:nvPicPr>
        <p:blipFill>
          <a:blip r:embed="rId2"/>
          <a:stretch>
            <a:fillRect/>
          </a:stretch>
        </p:blipFill>
        <p:spPr>
          <a:xfrm>
            <a:off x="1663524" y="1005840"/>
            <a:ext cx="8871048" cy="52578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3</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Method</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Algorithms: from the dataset to the facts</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17</a:t>
            </a:r>
          </a:p>
        </p:txBody>
      </p:sp>
      <p:graphicFrame>
        <p:nvGraphicFramePr>
          <p:cNvPr id="66" name="Table 65"/>
          <p:cNvGraphicFramePr>
            <a:graphicFrameLocks noGrp="1"/>
          </p:cNvGraphicFramePr>
          <p:nvPr/>
        </p:nvGraphicFramePr>
        <p:xfrm>
          <a:off x="612648" y="914400"/>
          <a:ext cx="10972800" cy="4114800"/>
        </p:xfrm>
        <a:graphic>
          <a:graphicData uri="http://schemas.openxmlformats.org/drawingml/2006/table">
            <a:tbl>
              <a:tblPr>
                <a:tableStyleId>{2D5ABB26-0587-4C30-8999-92F81FD0307C}</a:tableStyleId>
              </a:tblPr>
              <a:tblGrid>
                <a:gridCol w="18288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457200">
                <a:tc>
                  <a:txBody>
                    <a:bodyPr/>
                    <a:lstStyle/>
                    <a:p>
                      <a:pPr algn="l">
                        <a:spcAft>
                          <a:spcPts val="0"/>
                        </a:spcAft>
                      </a:pPr>
                      <a:r>
                        <a:rPr sz="1400" b="1" i="0">
                          <a:solidFill>
                            <a:srgbClr val="FFFFFF"/>
                          </a:solidFill>
                          <a:latin typeface="Calibri"/>
                        </a:rPr>
                        <a:t>Phase</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l">
                        <a:spcAft>
                          <a:spcPts val="0"/>
                        </a:spcAft>
                      </a:pPr>
                      <a:r>
                        <a:rPr sz="1400" b="1" i="0">
                          <a:solidFill>
                            <a:srgbClr val="FFFFFF"/>
                          </a:solidFill>
                          <a:latin typeface="Calibri"/>
                        </a:rPr>
                        <a:t>Algorithm</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l">
                        <a:spcAft>
                          <a:spcPts val="0"/>
                        </a:spcAft>
                      </a:pPr>
                      <a:r>
                        <a:rPr sz="1400" b="1" i="0">
                          <a:solidFill>
                            <a:srgbClr val="FFFFFF"/>
                          </a:solidFill>
                          <a:latin typeface="Calibri"/>
                        </a:rPr>
                        <a:t>Why it is needed</a:t>
                      </a:r>
                    </a:p>
                  </a:txBody>
                  <a:tcPr marL="73152" marR="73152" marT="27432" marB="27432" anchor="ctr">
                    <a:lnL w="0">
                      <a:noFill/>
                    </a:lnL>
                    <a:lnR w="0">
                      <a:noFill/>
                    </a:lnR>
                    <a:lnT w="0">
                      <a:noFill/>
                    </a:lnT>
                    <a:lnB w="6350">
                      <a:solidFill>
                        <a:srgbClr val="C9D0D8"/>
                      </a:solidFill>
                    </a:lnB>
                    <a:solidFill>
                      <a:srgbClr val="202A36"/>
                    </a:solidFill>
                  </a:tcPr>
                </a:tc>
                <a:extLst>
                  <a:ext uri="{0D108BD9-81ED-4DB2-BD59-A6C34878D82A}">
                    <a16:rowId xmlns:a16="http://schemas.microsoft.com/office/drawing/2014/main" val="10000"/>
                  </a:ext>
                </a:extLst>
              </a:tr>
              <a:tr h="914400">
                <a:tc>
                  <a:txBody>
                    <a:bodyPr/>
                    <a:lstStyle/>
                    <a:p>
                      <a:pPr algn="l">
                        <a:spcAft>
                          <a:spcPts val="0"/>
                        </a:spcAft>
                      </a:pPr>
                      <a:r>
                        <a:rPr sz="1500" b="1" i="0">
                          <a:solidFill>
                            <a:srgbClr val="202A36"/>
                          </a:solidFill>
                          <a:latin typeface="Calibri"/>
                        </a:rPr>
                        <a:t>Curation</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500" b="0" i="0">
                          <a:solidFill>
                            <a:srgbClr val="2B3440"/>
                          </a:solidFill>
                          <a:latin typeface="Calibri"/>
                        </a:rPr>
                        <a:t>seeded stratified draw, balanced on agent and outcome, repository-stratified in Python</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500" b="0" i="0">
                          <a:solidFill>
                            <a:srgbClr val="2B3440"/>
                          </a:solidFill>
                          <a:latin typeface="Calibri"/>
                        </a:rPr>
                        <a:t>one agent would dominate any raw aggregate</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1"/>
                  </a:ext>
                </a:extLst>
              </a:tr>
              <a:tr h="914400">
                <a:tc>
                  <a:txBody>
                    <a:bodyPr/>
                    <a:lstStyle/>
                    <a:p>
                      <a:pPr algn="l">
                        <a:spcAft>
                          <a:spcPts val="0"/>
                        </a:spcAft>
                      </a:pPr>
                      <a:r>
                        <a:rPr sz="1500" b="1" i="0">
                          <a:solidFill>
                            <a:srgbClr val="202A36"/>
                          </a:solidFill>
                          <a:latin typeface="Calibri"/>
                        </a:rPr>
                        <a:t>Tree recovery</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500" b="0" i="0">
                          <a:solidFill>
                            <a:srgbClr val="2B3440"/>
                          </a:solidFill>
                          <a:latin typeface="Calibri"/>
                        </a:rPr>
                        <a:t>four fallbacks, git archive, cache keyed by content hash</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500" b="0" i="0">
                          <a:solidFill>
                            <a:srgbClr val="2B3440"/>
                          </a:solidFill>
                          <a:latin typeface="Calibri"/>
                        </a:rPr>
                        <a:t>branches are deleted, especially for closed requests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2"/>
                  </a:ext>
                </a:extLst>
              </a:tr>
              <a:tr h="914400">
                <a:tc>
                  <a:txBody>
                    <a:bodyPr/>
                    <a:lstStyle/>
                    <a:p>
                      <a:pPr algn="l">
                        <a:spcAft>
                          <a:spcPts val="0"/>
                        </a:spcAft>
                      </a:pPr>
                      <a:r>
                        <a:rPr sz="1500" b="1" i="0">
                          <a:solidFill>
                            <a:srgbClr val="202A36"/>
                          </a:solidFill>
                          <a:latin typeface="Calibri"/>
                        </a:rPr>
                        <a:t>Java facts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500" b="0" i="0">
                          <a:solidFill>
                            <a:srgbClr val="2B3440"/>
                          </a:solidFill>
                          <a:latin typeface="Calibri"/>
                        </a:rPr>
                        <a:t>JavaParser with symbol solving, source roots inferred from package lines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500" b="0" i="0">
                          <a:solidFill>
                            <a:srgbClr val="2B3440"/>
                          </a:solidFill>
                          <a:latin typeface="Calibri"/>
                        </a:rPr>
                        <a:t>without resolution two classes named Node merge into one</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3"/>
                  </a:ext>
                </a:extLst>
              </a:tr>
              <a:tr h="914400">
                <a:tc>
                  <a:txBody>
                    <a:bodyPr/>
                    <a:lstStyle/>
                    <a:p>
                      <a:pPr algn="l">
                        <a:spcAft>
                          <a:spcPts val="0"/>
                        </a:spcAft>
                      </a:pPr>
                      <a:r>
                        <a:rPr sz="1500" b="1" i="0">
                          <a:solidFill>
                            <a:srgbClr val="202A36"/>
                          </a:solidFill>
                          <a:latin typeface="Calibri"/>
                        </a:rPr>
                        <a:t>Python facts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500" b="0" i="0">
                          <a:solidFill>
                            <a:srgbClr val="2B3440"/>
                          </a:solidFill>
                          <a:latin typeface="Calibri"/>
                        </a:rPr>
                        <a:t>standard library ast, imports resolved by module path</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500" b="0" i="0">
                          <a:solidFill>
                            <a:srgbClr val="2B3440"/>
                          </a:solidFill>
                          <a:latin typeface="Calibri"/>
                        </a:rPr>
                        <a:t>no compiler and no type information is available</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3</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Method</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What is charged to the pull request</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18</a:t>
            </a:r>
          </a:p>
        </p:txBody>
      </p:sp>
      <p:sp>
        <p:nvSpPr>
          <p:cNvPr id="66" name="Rounded Rectangle 65"/>
          <p:cNvSpPr/>
          <p:nvPr/>
        </p:nvSpPr>
        <p:spPr>
          <a:xfrm>
            <a:off x="612648" y="1371600"/>
            <a:ext cx="10972800" cy="420624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7" name="Picture 66" descr="fig_delta_steps.png"/>
          <p:cNvPicPr>
            <a:picLocks noChangeAspect="1"/>
          </p:cNvPicPr>
          <p:nvPr/>
        </p:nvPicPr>
        <p:blipFill>
          <a:blip r:embed="rId2"/>
          <a:stretch>
            <a:fillRect/>
          </a:stretch>
        </p:blipFill>
        <p:spPr>
          <a:xfrm>
            <a:off x="749808" y="1708462"/>
            <a:ext cx="10698480" cy="353251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3</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Method</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The delta in the data</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19</a:t>
            </a:r>
          </a:p>
        </p:txBody>
      </p:sp>
      <p:sp>
        <p:nvSpPr>
          <p:cNvPr id="66" name="Rounded Rectangle 65"/>
          <p:cNvSpPr/>
          <p:nvPr/>
        </p:nvSpPr>
        <p:spPr>
          <a:xfrm>
            <a:off x="612648" y="914400"/>
            <a:ext cx="10972800" cy="406908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7" name="Picture 66" descr="fig_delta_harness.png"/>
          <p:cNvPicPr>
            <a:picLocks noChangeAspect="1"/>
          </p:cNvPicPr>
          <p:nvPr/>
        </p:nvPicPr>
        <p:blipFill>
          <a:blip r:embed="rId2"/>
          <a:stretch>
            <a:fillRect/>
          </a:stretch>
        </p:blipFill>
        <p:spPr>
          <a:xfrm>
            <a:off x="722376" y="1053002"/>
            <a:ext cx="10753344" cy="3791877"/>
          </a:xfrm>
          <a:prstGeom prst="rect">
            <a:avLst/>
          </a:prstGeom>
        </p:spPr>
      </p:pic>
      <p:sp>
        <p:nvSpPr>
          <p:cNvPr id="68" name="Rounded Rectangle 67"/>
          <p:cNvSpPr/>
          <p:nvPr/>
        </p:nvSpPr>
        <p:spPr>
          <a:xfrm>
            <a:off x="612648" y="5212080"/>
            <a:ext cx="10972800" cy="914400"/>
          </a:xfrm>
          <a:prstGeom prst="roundRect">
            <a:avLst>
              <a:gd name="adj" fmla="val 8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Hexagon 68"/>
          <p:cNvSpPr/>
          <p:nvPr/>
        </p:nvSpPr>
        <p:spPr>
          <a:xfrm>
            <a:off x="813816" y="5532120"/>
            <a:ext cx="316840" cy="274320"/>
          </a:xfrm>
          <a:prstGeom prst="hexagon">
            <a:avLst/>
          </a:prstGeom>
          <a:solidFill>
            <a:srgbClr val="46CE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1252728" y="5212080"/>
            <a:ext cx="10149840" cy="914400"/>
          </a:xfrm>
          <a:prstGeom prst="rect">
            <a:avLst/>
          </a:prstGeom>
          <a:noFill/>
        </p:spPr>
        <p:txBody>
          <a:bodyPr wrap="square" lIns="45720" rIns="45720" anchor="ctr">
            <a:spAutoFit/>
          </a:bodyPr>
          <a:lstStyle/>
          <a:p>
            <a:pPr algn="l">
              <a:spcAft>
                <a:spcPts val="0"/>
              </a:spcAft>
            </a:pPr>
            <a:r>
              <a:rPr sz="1400" b="1" i="0">
                <a:solidFill>
                  <a:srgbClr val="FFFFFF"/>
                </a:solidFill>
                <a:latin typeface="Calibri"/>
              </a:rPr>
              <a:t>Attribution rule for relations:</a:t>
            </a:r>
            <a:r>
              <a:rPr sz="1400" b="0" i="0">
                <a:solidFill>
                  <a:srgbClr val="FFFFFF"/>
                </a:solidFill>
                <a:latin typeface="Calibri"/>
              </a:rPr>
              <a:t> a violation is charged when </a:t>
            </a:r>
            <a:r>
              <a:rPr sz="1400" b="1" i="0">
                <a:solidFill>
                  <a:srgbClr val="FFFFFF"/>
                </a:solidFill>
                <a:latin typeface="Calibri"/>
              </a:rPr>
              <a:t>either end</a:t>
            </a:r>
            <a:r>
              <a:rPr sz="1400" b="0" i="0">
                <a:solidFill>
                  <a:srgbClr val="FFFFFF"/>
                </a:solidFill>
                <a:latin typeface="Calibri"/>
              </a:rPr>
              <a:t> is in a changed file, so an agent that widens a base class is charged for the subclasses it breaks in files it never opened.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3</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Method</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Algorithms: detectors and statistics</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20</a:t>
            </a:r>
          </a:p>
        </p:txBody>
      </p:sp>
      <p:graphicFrame>
        <p:nvGraphicFramePr>
          <p:cNvPr id="66" name="Table 65"/>
          <p:cNvGraphicFramePr>
            <a:graphicFrameLocks noGrp="1"/>
          </p:cNvGraphicFramePr>
          <p:nvPr/>
        </p:nvGraphicFramePr>
        <p:xfrm>
          <a:off x="612648" y="914400"/>
          <a:ext cx="10972800" cy="4992624"/>
        </p:xfrm>
        <a:graphic>
          <a:graphicData uri="http://schemas.openxmlformats.org/drawingml/2006/table">
            <a:tbl>
              <a:tblPr>
                <a:tableStyleId>{2D5ABB26-0587-4C30-8999-92F81FD0307C}</a:tableStyleId>
              </a:tblPr>
              <a:tblGrid>
                <a:gridCol w="128016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457200">
                <a:tc>
                  <a:txBody>
                    <a:bodyPr/>
                    <a:lstStyle/>
                    <a:p>
                      <a:pPr algn="l">
                        <a:spcAft>
                          <a:spcPts val="0"/>
                        </a:spcAft>
                      </a:pPr>
                      <a:r>
                        <a:rPr sz="1400" b="1" i="0">
                          <a:solidFill>
                            <a:srgbClr val="FFFFFF"/>
                          </a:solidFill>
                          <a:latin typeface="Calibri"/>
                        </a:rPr>
                        <a:t>Phase</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l">
                        <a:spcAft>
                          <a:spcPts val="0"/>
                        </a:spcAft>
                      </a:pPr>
                      <a:r>
                        <a:rPr sz="1400" b="1" i="0">
                          <a:solidFill>
                            <a:srgbClr val="FFFFFF"/>
                          </a:solidFill>
                          <a:latin typeface="Calibri"/>
                        </a:rPr>
                        <a:t>Algorithm</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l">
                        <a:spcAft>
                          <a:spcPts val="0"/>
                        </a:spcAft>
                      </a:pPr>
                      <a:r>
                        <a:rPr sz="1400" b="1" i="0">
                          <a:solidFill>
                            <a:srgbClr val="FFFFFF"/>
                          </a:solidFill>
                          <a:latin typeface="Calibri"/>
                        </a:rPr>
                        <a:t>Why it is needed</a:t>
                      </a:r>
                    </a:p>
                  </a:txBody>
                  <a:tcPr marL="73152" marR="73152" marT="27432" marB="27432" anchor="ctr">
                    <a:lnL w="0">
                      <a:noFill/>
                    </a:lnL>
                    <a:lnR w="0">
                      <a:noFill/>
                    </a:lnR>
                    <a:lnT w="0">
                      <a:noFill/>
                    </a:lnT>
                    <a:lnB w="6350">
                      <a:solidFill>
                        <a:srgbClr val="C9D0D8"/>
                      </a:solidFill>
                    </a:lnB>
                    <a:solidFill>
                      <a:srgbClr val="202A36"/>
                    </a:solidFill>
                  </a:tcPr>
                </a:tc>
                <a:extLst>
                  <a:ext uri="{0D108BD9-81ED-4DB2-BD59-A6C34878D82A}">
                    <a16:rowId xmlns:a16="http://schemas.microsoft.com/office/drawing/2014/main" val="10000"/>
                  </a:ext>
                </a:extLst>
              </a:tr>
              <a:tr h="566928">
                <a:tc>
                  <a:txBody>
                    <a:bodyPr/>
                    <a:lstStyle/>
                    <a:p>
                      <a:pPr algn="l">
                        <a:spcAft>
                          <a:spcPts val="0"/>
                        </a:spcAft>
                      </a:pPr>
                      <a:r>
                        <a:rPr sz="1400" b="1" i="0">
                          <a:solidFill>
                            <a:srgbClr val="202A36"/>
                          </a:solidFill>
                          <a:latin typeface="Calibri"/>
                        </a:rPr>
                        <a:t>SRP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400" b="0" i="0">
                          <a:solidFill>
                            <a:srgbClr val="2B3440"/>
                          </a:solidFill>
                          <a:latin typeface="Calibri"/>
                        </a:rPr>
                        <a:t>union-find for LCOM4, TF-IDF cosine for C3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400" b="0" i="0">
                          <a:solidFill>
                            <a:srgbClr val="2B3440"/>
                          </a:solidFill>
                          <a:latin typeface="Calibri"/>
                        </a:rPr>
                        <a:t>size alone cannot separate large from incoherent</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1"/>
                  </a:ext>
                </a:extLst>
              </a:tr>
              <a:tr h="566928">
                <a:tc>
                  <a:txBody>
                    <a:bodyPr/>
                    <a:lstStyle/>
                    <a:p>
                      <a:pPr algn="l">
                        <a:spcAft>
                          <a:spcPts val="0"/>
                        </a:spcAft>
                      </a:pPr>
                      <a:r>
                        <a:rPr sz="1400" b="1" i="0">
                          <a:solidFill>
                            <a:srgbClr val="202A36"/>
                          </a:solidFill>
                          <a:latin typeface="Calibri"/>
                        </a:rPr>
                        <a:t>OCP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400" b="0" i="0">
                          <a:solidFill>
                            <a:srgbClr val="2B3440"/>
                          </a:solidFill>
                          <a:latin typeface="Calibri"/>
                        </a:rPr>
                        <a:t>dispatch chains grouped by subject, enum resolution</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400" b="0" i="0">
                          <a:solidFill>
                            <a:srgbClr val="2B3440"/>
                          </a:solidFill>
                          <a:latin typeface="Calibri"/>
                        </a:rPr>
                        <a:t>a switch over a fixed set is not a violation</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2"/>
                  </a:ext>
                </a:extLst>
              </a:tr>
              <a:tr h="566928">
                <a:tc>
                  <a:txBody>
                    <a:bodyPr/>
                    <a:lstStyle/>
                    <a:p>
                      <a:pPr algn="l">
                        <a:spcAft>
                          <a:spcPts val="0"/>
                        </a:spcAft>
                      </a:pPr>
                      <a:r>
                        <a:rPr sz="1400" b="1" i="0">
                          <a:solidFill>
                            <a:srgbClr val="202A36"/>
                          </a:solidFill>
                          <a:latin typeface="Calibri"/>
                        </a:rPr>
                        <a:t>LSP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400" b="0" i="0">
                          <a:solidFill>
                            <a:srgbClr val="2B3440"/>
                          </a:solidFill>
                          <a:latin typeface="Calibri"/>
                        </a:rPr>
                        <a:t>nearest ancestor with a real body, over the resolved hierarchy</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400" b="0" i="0">
                          <a:solidFill>
                            <a:srgbClr val="2B3440"/>
                          </a:solidFill>
                          <a:latin typeface="Calibri"/>
                        </a:rPr>
                        <a:t>an abstract base has no behaviour to refuse</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3"/>
                  </a:ext>
                </a:extLst>
              </a:tr>
              <a:tr h="566928">
                <a:tc>
                  <a:txBody>
                    <a:bodyPr/>
                    <a:lstStyle/>
                    <a:p>
                      <a:pPr algn="l">
                        <a:spcAft>
                          <a:spcPts val="0"/>
                        </a:spcAft>
                      </a:pPr>
                      <a:r>
                        <a:rPr sz="1400" b="1" i="0">
                          <a:solidFill>
                            <a:srgbClr val="202A36"/>
                          </a:solidFill>
                          <a:latin typeface="Calibri"/>
                        </a:rPr>
                        <a:t>ISP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400" b="0" i="0">
                          <a:solidFill>
                            <a:srgbClr val="2B3440"/>
                          </a:solidFill>
                          <a:latin typeface="Calibri"/>
                        </a:rPr>
                        <a:t>contract to implementer index over the hierarchy</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400" b="0" i="0">
                          <a:solidFill>
                            <a:srgbClr val="2B3440"/>
                          </a:solidFill>
                          <a:latin typeface="Calibri"/>
                        </a:rPr>
                        <a:t>inherited members are part of the contract</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4"/>
                  </a:ext>
                </a:extLst>
              </a:tr>
              <a:tr h="566928">
                <a:tc>
                  <a:txBody>
                    <a:bodyPr/>
                    <a:lstStyle/>
                    <a:p>
                      <a:pPr algn="l">
                        <a:spcAft>
                          <a:spcPts val="0"/>
                        </a:spcAft>
                      </a:pPr>
                      <a:r>
                        <a:rPr sz="1400" b="1" i="0">
                          <a:solidFill>
                            <a:srgbClr val="202A36"/>
                          </a:solidFill>
                          <a:latin typeface="Calibri"/>
                        </a:rPr>
                        <a:t>DIP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400" b="0" i="0">
                          <a:solidFill>
                            <a:srgbClr val="2B3440"/>
                          </a:solidFill>
                          <a:latin typeface="Calibri"/>
                        </a:rPr>
                        <a:t>Tarjan strongly connected components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400" b="0" i="0">
                          <a:solidFill>
                            <a:srgbClr val="2B3440"/>
                          </a:solidFill>
                          <a:latin typeface="Calibri"/>
                        </a:rPr>
                        <a:t>a cycle is a property of the whole graph</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5"/>
                  </a:ext>
                </a:extLst>
              </a:tr>
              <a:tr h="566928">
                <a:tc>
                  <a:txBody>
                    <a:bodyPr/>
                    <a:lstStyle/>
                    <a:p>
                      <a:pPr algn="l">
                        <a:spcAft>
                          <a:spcPts val="0"/>
                        </a:spcAft>
                      </a:pPr>
                      <a:r>
                        <a:rPr sz="1400" b="1" i="0">
                          <a:solidFill>
                            <a:srgbClr val="202A36"/>
                          </a:solidFill>
                          <a:latin typeface="Calibri"/>
                        </a:rPr>
                        <a:t>Sampling</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400" b="0" i="0">
                          <a:solidFill>
                            <a:srgbClr val="2B3440"/>
                          </a:solidFill>
                          <a:latin typeface="Calibri"/>
                        </a:rPr>
                        <a:t>seeded stratified draw after entity deduplication</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400" b="0" i="0">
                          <a:solidFill>
                            <a:srgbClr val="2B3440"/>
                          </a:solidFill>
                          <a:latin typeface="Calibri"/>
                        </a:rPr>
                        <a:t>classes touched by many requests would dominate</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6"/>
                  </a:ext>
                </a:extLst>
              </a:tr>
              <a:tr h="566928">
                <a:tc>
                  <a:txBody>
                    <a:bodyPr/>
                    <a:lstStyle/>
                    <a:p>
                      <a:pPr algn="l">
                        <a:spcAft>
                          <a:spcPts val="0"/>
                        </a:spcAft>
                      </a:pPr>
                      <a:r>
                        <a:rPr sz="1400" b="1" i="0">
                          <a:solidFill>
                            <a:srgbClr val="202A36"/>
                          </a:solidFill>
                          <a:latin typeface="Calibri"/>
                        </a:rPr>
                        <a:t>Scoring</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400" b="0" i="0">
                          <a:solidFill>
                            <a:srgbClr val="2B3440"/>
                          </a:solidFill>
                          <a:latin typeface="Calibri"/>
                        </a:rPr>
                        <a:t>Wilson intervals, stratum-weighted recall</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400" b="0" i="0">
                          <a:solidFill>
                            <a:srgbClr val="2B3440"/>
                          </a:solidFill>
                          <a:latin typeface="Calibri"/>
                        </a:rPr>
                        <a:t>the sample is half flagged, the corpus is not</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7"/>
                  </a:ext>
                </a:extLst>
              </a:tr>
              <a:tr h="566928">
                <a:tc>
                  <a:txBody>
                    <a:bodyPr/>
                    <a:lstStyle/>
                    <a:p>
                      <a:pPr algn="l">
                        <a:spcAft>
                          <a:spcPts val="0"/>
                        </a:spcAft>
                      </a:pPr>
                      <a:r>
                        <a:rPr sz="1400" b="1" i="0">
                          <a:solidFill>
                            <a:srgbClr val="202A36"/>
                          </a:solidFill>
                          <a:latin typeface="Calibri"/>
                        </a:rPr>
                        <a:t>Model</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400" b="0" i="0">
                          <a:solidFill>
                            <a:srgbClr val="2B3440"/>
                          </a:solidFill>
                          <a:latin typeface="Calibri"/>
                        </a:rPr>
                        <a:t>GEE, exchangeable within repository, cluster-robust errors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400" b="0" i="0">
                          <a:solidFill>
                            <a:srgbClr val="2B3440"/>
                          </a:solidFill>
                          <a:latin typeface="Calibri"/>
                        </a:rPr>
                        <a:t>requests from one repository are not independent</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组合 58"/>
          <p:cNvGrpSpPr/>
          <p:nvPr/>
        </p:nvGrpSpPr>
        <p:grpSpPr>
          <a:xfrm>
            <a:off x="2052459" y="1413384"/>
            <a:ext cx="2036802" cy="2036802"/>
            <a:chOff x="8125599" y="1434035"/>
            <a:chExt cx="2036802" cy="2036802"/>
          </a:xfrm>
        </p:grpSpPr>
        <p:sp>
          <p:nvSpPr>
            <p:cNvPr id="60" name="椭圆 59"/>
            <p:cNvSpPr/>
            <p:nvPr/>
          </p:nvSpPr>
          <p:spPr>
            <a:xfrm>
              <a:off x="8125599" y="1434035"/>
              <a:ext cx="2036802" cy="2036802"/>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Freeform 9"/>
            <p:cNvSpPr>
              <a:spLocks noEditPoints="1"/>
            </p:cNvSpPr>
            <p:nvPr/>
          </p:nvSpPr>
          <p:spPr bwMode="auto">
            <a:xfrm rot="19469485">
              <a:off x="8577909" y="1818269"/>
              <a:ext cx="1162163" cy="1238355"/>
            </a:xfrm>
            <a:custGeom>
              <a:avLst/>
              <a:gdLst>
                <a:gd name="T0" fmla="*/ 147 w 243"/>
                <a:gd name="T1" fmla="*/ 240 h 269"/>
                <a:gd name="T2" fmla="*/ 90 w 243"/>
                <a:gd name="T3" fmla="*/ 234 h 269"/>
                <a:gd name="T4" fmla="*/ 147 w 243"/>
                <a:gd name="T5" fmla="*/ 227 h 269"/>
                <a:gd name="T6" fmla="*/ 147 w 243"/>
                <a:gd name="T7" fmla="*/ 243 h 269"/>
                <a:gd name="T8" fmla="*/ 90 w 243"/>
                <a:gd name="T9" fmla="*/ 252 h 269"/>
                <a:gd name="T10" fmla="*/ 96 w 243"/>
                <a:gd name="T11" fmla="*/ 256 h 269"/>
                <a:gd name="T12" fmla="*/ 105 w 243"/>
                <a:gd name="T13" fmla="*/ 262 h 269"/>
                <a:gd name="T14" fmla="*/ 126 w 243"/>
                <a:gd name="T15" fmla="*/ 269 h 269"/>
                <a:gd name="T16" fmla="*/ 138 w 243"/>
                <a:gd name="T17" fmla="*/ 261 h 269"/>
                <a:gd name="T18" fmla="*/ 147 w 243"/>
                <a:gd name="T19" fmla="*/ 256 h 269"/>
                <a:gd name="T20" fmla="*/ 147 w 243"/>
                <a:gd name="T21" fmla="*/ 243 h 269"/>
                <a:gd name="T22" fmla="*/ 128 w 243"/>
                <a:gd name="T23" fmla="*/ 32 h 269"/>
                <a:gd name="T24" fmla="*/ 122 w 243"/>
                <a:gd name="T25" fmla="*/ 0 h 269"/>
                <a:gd name="T26" fmla="*/ 115 w 243"/>
                <a:gd name="T27" fmla="*/ 32 h 269"/>
                <a:gd name="T28" fmla="*/ 54 w 243"/>
                <a:gd name="T29" fmla="*/ 63 h 269"/>
                <a:gd name="T30" fmla="*/ 63 w 243"/>
                <a:gd name="T31" fmla="*/ 63 h 269"/>
                <a:gd name="T32" fmla="*/ 45 w 243"/>
                <a:gd name="T33" fmla="*/ 36 h 269"/>
                <a:gd name="T34" fmla="*/ 36 w 243"/>
                <a:gd name="T35" fmla="*/ 45 h 269"/>
                <a:gd name="T36" fmla="*/ 38 w 243"/>
                <a:gd name="T37" fmla="*/ 122 h 269"/>
                <a:gd name="T38" fmla="*/ 6 w 243"/>
                <a:gd name="T39" fmla="*/ 115 h 269"/>
                <a:gd name="T40" fmla="*/ 6 w 243"/>
                <a:gd name="T41" fmla="*/ 128 h 269"/>
                <a:gd name="T42" fmla="*/ 38 w 243"/>
                <a:gd name="T43" fmla="*/ 122 h 269"/>
                <a:gd name="T44" fmla="*/ 36 w 243"/>
                <a:gd name="T45" fmla="*/ 199 h 269"/>
                <a:gd name="T46" fmla="*/ 40 w 243"/>
                <a:gd name="T47" fmla="*/ 209 h 269"/>
                <a:gd name="T48" fmla="*/ 63 w 243"/>
                <a:gd name="T49" fmla="*/ 189 h 269"/>
                <a:gd name="T50" fmla="*/ 54 w 243"/>
                <a:gd name="T51" fmla="*/ 180 h 269"/>
                <a:gd name="T52" fmla="*/ 180 w 243"/>
                <a:gd name="T53" fmla="*/ 180 h 269"/>
                <a:gd name="T54" fmla="*/ 199 w 243"/>
                <a:gd name="T55" fmla="*/ 208 h 269"/>
                <a:gd name="T56" fmla="*/ 208 w 243"/>
                <a:gd name="T57" fmla="*/ 208 h 269"/>
                <a:gd name="T58" fmla="*/ 189 w 243"/>
                <a:gd name="T59" fmla="*/ 180 h 269"/>
                <a:gd name="T60" fmla="*/ 211 w 243"/>
                <a:gd name="T61" fmla="*/ 115 h 269"/>
                <a:gd name="T62" fmla="*/ 211 w 243"/>
                <a:gd name="T63" fmla="*/ 128 h 269"/>
                <a:gd name="T64" fmla="*/ 243 w 243"/>
                <a:gd name="T65" fmla="*/ 122 h 269"/>
                <a:gd name="T66" fmla="*/ 185 w 243"/>
                <a:gd name="T67" fmla="*/ 65 h 269"/>
                <a:gd name="T68" fmla="*/ 208 w 243"/>
                <a:gd name="T69" fmla="*/ 45 h 269"/>
                <a:gd name="T70" fmla="*/ 199 w 243"/>
                <a:gd name="T71" fmla="*/ 36 h 269"/>
                <a:gd name="T72" fmla="*/ 180 w 243"/>
                <a:gd name="T73" fmla="*/ 63 h 269"/>
                <a:gd name="T74" fmla="*/ 154 w 243"/>
                <a:gd name="T75" fmla="*/ 218 h 269"/>
                <a:gd name="T76" fmla="*/ 96 w 243"/>
                <a:gd name="T77" fmla="*/ 224 h 269"/>
                <a:gd name="T78" fmla="*/ 96 w 243"/>
                <a:gd name="T79" fmla="*/ 211 h 269"/>
                <a:gd name="T80" fmla="*/ 122 w 243"/>
                <a:gd name="T81" fmla="*/ 58 h 269"/>
                <a:gd name="T82" fmla="*/ 148 w 243"/>
                <a:gd name="T83" fmla="*/ 211 h 269"/>
                <a:gd name="T84" fmla="*/ 107 w 243"/>
                <a:gd name="T85" fmla="*/ 76 h 269"/>
                <a:gd name="T86" fmla="*/ 67 w 243"/>
                <a:gd name="T87" fmla="*/ 111 h 269"/>
                <a:gd name="T88" fmla="*/ 72 w 243"/>
                <a:gd name="T89" fmla="*/ 117 h 269"/>
                <a:gd name="T90" fmla="*/ 104 w 243"/>
                <a:gd name="T91" fmla="*/ 82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3" h="269">
                  <a:moveTo>
                    <a:pt x="154" y="234"/>
                  </a:moveTo>
                  <a:cubicBezTo>
                    <a:pt x="154" y="237"/>
                    <a:pt x="151" y="240"/>
                    <a:pt x="147" y="240"/>
                  </a:cubicBezTo>
                  <a:cubicBezTo>
                    <a:pt x="96" y="240"/>
                    <a:pt x="96" y="240"/>
                    <a:pt x="96" y="240"/>
                  </a:cubicBezTo>
                  <a:cubicBezTo>
                    <a:pt x="92" y="240"/>
                    <a:pt x="90" y="237"/>
                    <a:pt x="90" y="234"/>
                  </a:cubicBezTo>
                  <a:cubicBezTo>
                    <a:pt x="90" y="230"/>
                    <a:pt x="92" y="227"/>
                    <a:pt x="96" y="227"/>
                  </a:cubicBezTo>
                  <a:cubicBezTo>
                    <a:pt x="147" y="227"/>
                    <a:pt x="147" y="227"/>
                    <a:pt x="147" y="227"/>
                  </a:cubicBezTo>
                  <a:cubicBezTo>
                    <a:pt x="151" y="227"/>
                    <a:pt x="154" y="230"/>
                    <a:pt x="154" y="234"/>
                  </a:cubicBezTo>
                  <a:close/>
                  <a:moveTo>
                    <a:pt x="147" y="243"/>
                  </a:moveTo>
                  <a:cubicBezTo>
                    <a:pt x="96" y="243"/>
                    <a:pt x="96" y="243"/>
                    <a:pt x="96" y="243"/>
                  </a:cubicBezTo>
                  <a:cubicBezTo>
                    <a:pt x="92" y="243"/>
                    <a:pt x="89" y="247"/>
                    <a:pt x="90" y="252"/>
                  </a:cubicBezTo>
                  <a:cubicBezTo>
                    <a:pt x="91" y="254"/>
                    <a:pt x="93" y="256"/>
                    <a:pt x="96" y="256"/>
                  </a:cubicBezTo>
                  <a:cubicBezTo>
                    <a:pt x="96" y="256"/>
                    <a:pt x="96" y="256"/>
                    <a:pt x="96" y="256"/>
                  </a:cubicBezTo>
                  <a:cubicBezTo>
                    <a:pt x="100" y="256"/>
                    <a:pt x="103" y="258"/>
                    <a:pt x="105" y="261"/>
                  </a:cubicBezTo>
                  <a:cubicBezTo>
                    <a:pt x="105" y="262"/>
                    <a:pt x="105" y="262"/>
                    <a:pt x="105" y="262"/>
                  </a:cubicBezTo>
                  <a:cubicBezTo>
                    <a:pt x="107" y="266"/>
                    <a:pt x="112" y="269"/>
                    <a:pt x="117" y="269"/>
                  </a:cubicBezTo>
                  <a:cubicBezTo>
                    <a:pt x="126" y="269"/>
                    <a:pt x="126" y="269"/>
                    <a:pt x="126" y="269"/>
                  </a:cubicBezTo>
                  <a:cubicBezTo>
                    <a:pt x="131" y="269"/>
                    <a:pt x="136" y="266"/>
                    <a:pt x="138" y="262"/>
                  </a:cubicBezTo>
                  <a:cubicBezTo>
                    <a:pt x="138" y="261"/>
                    <a:pt x="138" y="261"/>
                    <a:pt x="138" y="261"/>
                  </a:cubicBezTo>
                  <a:cubicBezTo>
                    <a:pt x="140" y="258"/>
                    <a:pt x="143" y="256"/>
                    <a:pt x="147" y="256"/>
                  </a:cubicBezTo>
                  <a:cubicBezTo>
                    <a:pt x="147" y="256"/>
                    <a:pt x="147" y="256"/>
                    <a:pt x="147" y="256"/>
                  </a:cubicBezTo>
                  <a:cubicBezTo>
                    <a:pt x="150" y="256"/>
                    <a:pt x="152" y="254"/>
                    <a:pt x="153" y="252"/>
                  </a:cubicBezTo>
                  <a:cubicBezTo>
                    <a:pt x="155" y="247"/>
                    <a:pt x="151" y="243"/>
                    <a:pt x="147" y="243"/>
                  </a:cubicBezTo>
                  <a:close/>
                  <a:moveTo>
                    <a:pt x="122" y="38"/>
                  </a:moveTo>
                  <a:cubicBezTo>
                    <a:pt x="125" y="38"/>
                    <a:pt x="128" y="36"/>
                    <a:pt x="128" y="32"/>
                  </a:cubicBezTo>
                  <a:cubicBezTo>
                    <a:pt x="128" y="6"/>
                    <a:pt x="128" y="6"/>
                    <a:pt x="128" y="6"/>
                  </a:cubicBezTo>
                  <a:cubicBezTo>
                    <a:pt x="128" y="3"/>
                    <a:pt x="125" y="0"/>
                    <a:pt x="122" y="0"/>
                  </a:cubicBezTo>
                  <a:cubicBezTo>
                    <a:pt x="118" y="0"/>
                    <a:pt x="115" y="3"/>
                    <a:pt x="115" y="6"/>
                  </a:cubicBezTo>
                  <a:cubicBezTo>
                    <a:pt x="115" y="32"/>
                    <a:pt x="115" y="32"/>
                    <a:pt x="115" y="32"/>
                  </a:cubicBezTo>
                  <a:cubicBezTo>
                    <a:pt x="115" y="36"/>
                    <a:pt x="118" y="38"/>
                    <a:pt x="122" y="38"/>
                  </a:cubicBezTo>
                  <a:close/>
                  <a:moveTo>
                    <a:pt x="54" y="63"/>
                  </a:moveTo>
                  <a:cubicBezTo>
                    <a:pt x="55" y="64"/>
                    <a:pt x="57" y="65"/>
                    <a:pt x="58" y="65"/>
                  </a:cubicBezTo>
                  <a:cubicBezTo>
                    <a:pt x="60" y="65"/>
                    <a:pt x="62" y="64"/>
                    <a:pt x="63" y="63"/>
                  </a:cubicBezTo>
                  <a:cubicBezTo>
                    <a:pt x="65" y="60"/>
                    <a:pt x="65" y="56"/>
                    <a:pt x="63" y="54"/>
                  </a:cubicBezTo>
                  <a:cubicBezTo>
                    <a:pt x="45" y="36"/>
                    <a:pt x="45" y="36"/>
                    <a:pt x="45" y="36"/>
                  </a:cubicBezTo>
                  <a:cubicBezTo>
                    <a:pt x="42" y="33"/>
                    <a:pt x="38" y="33"/>
                    <a:pt x="36" y="36"/>
                  </a:cubicBezTo>
                  <a:cubicBezTo>
                    <a:pt x="33" y="38"/>
                    <a:pt x="33" y="42"/>
                    <a:pt x="36" y="45"/>
                  </a:cubicBezTo>
                  <a:lnTo>
                    <a:pt x="54" y="63"/>
                  </a:lnTo>
                  <a:close/>
                  <a:moveTo>
                    <a:pt x="38" y="122"/>
                  </a:moveTo>
                  <a:cubicBezTo>
                    <a:pt x="38" y="118"/>
                    <a:pt x="36" y="115"/>
                    <a:pt x="32" y="115"/>
                  </a:cubicBezTo>
                  <a:cubicBezTo>
                    <a:pt x="6" y="115"/>
                    <a:pt x="6" y="115"/>
                    <a:pt x="6" y="115"/>
                  </a:cubicBezTo>
                  <a:cubicBezTo>
                    <a:pt x="3" y="115"/>
                    <a:pt x="0" y="118"/>
                    <a:pt x="0" y="122"/>
                  </a:cubicBezTo>
                  <a:cubicBezTo>
                    <a:pt x="0" y="125"/>
                    <a:pt x="3" y="128"/>
                    <a:pt x="6" y="128"/>
                  </a:cubicBezTo>
                  <a:cubicBezTo>
                    <a:pt x="32" y="128"/>
                    <a:pt x="32" y="128"/>
                    <a:pt x="32" y="128"/>
                  </a:cubicBezTo>
                  <a:cubicBezTo>
                    <a:pt x="36" y="128"/>
                    <a:pt x="38" y="125"/>
                    <a:pt x="38" y="122"/>
                  </a:cubicBezTo>
                  <a:close/>
                  <a:moveTo>
                    <a:pt x="54" y="180"/>
                  </a:moveTo>
                  <a:cubicBezTo>
                    <a:pt x="36" y="199"/>
                    <a:pt x="36" y="199"/>
                    <a:pt x="36" y="199"/>
                  </a:cubicBezTo>
                  <a:cubicBezTo>
                    <a:pt x="33" y="201"/>
                    <a:pt x="33" y="205"/>
                    <a:pt x="36" y="208"/>
                  </a:cubicBezTo>
                  <a:cubicBezTo>
                    <a:pt x="37" y="209"/>
                    <a:pt x="39" y="209"/>
                    <a:pt x="40" y="209"/>
                  </a:cubicBezTo>
                  <a:cubicBezTo>
                    <a:pt x="42" y="209"/>
                    <a:pt x="43" y="209"/>
                    <a:pt x="45" y="208"/>
                  </a:cubicBezTo>
                  <a:cubicBezTo>
                    <a:pt x="63" y="189"/>
                    <a:pt x="63" y="189"/>
                    <a:pt x="63" y="189"/>
                  </a:cubicBezTo>
                  <a:cubicBezTo>
                    <a:pt x="65" y="187"/>
                    <a:pt x="65" y="183"/>
                    <a:pt x="63" y="180"/>
                  </a:cubicBezTo>
                  <a:cubicBezTo>
                    <a:pt x="60" y="178"/>
                    <a:pt x="56" y="178"/>
                    <a:pt x="54" y="180"/>
                  </a:cubicBezTo>
                  <a:close/>
                  <a:moveTo>
                    <a:pt x="189" y="180"/>
                  </a:moveTo>
                  <a:cubicBezTo>
                    <a:pt x="187" y="178"/>
                    <a:pt x="183" y="178"/>
                    <a:pt x="180" y="180"/>
                  </a:cubicBezTo>
                  <a:cubicBezTo>
                    <a:pt x="178" y="183"/>
                    <a:pt x="178" y="187"/>
                    <a:pt x="180" y="189"/>
                  </a:cubicBezTo>
                  <a:cubicBezTo>
                    <a:pt x="199" y="208"/>
                    <a:pt x="199" y="208"/>
                    <a:pt x="199" y="208"/>
                  </a:cubicBezTo>
                  <a:cubicBezTo>
                    <a:pt x="200" y="209"/>
                    <a:pt x="201" y="209"/>
                    <a:pt x="203" y="209"/>
                  </a:cubicBezTo>
                  <a:cubicBezTo>
                    <a:pt x="205" y="209"/>
                    <a:pt x="206" y="209"/>
                    <a:pt x="208" y="208"/>
                  </a:cubicBezTo>
                  <a:cubicBezTo>
                    <a:pt x="210" y="205"/>
                    <a:pt x="210" y="201"/>
                    <a:pt x="208" y="199"/>
                  </a:cubicBezTo>
                  <a:lnTo>
                    <a:pt x="189" y="180"/>
                  </a:lnTo>
                  <a:close/>
                  <a:moveTo>
                    <a:pt x="237" y="115"/>
                  </a:moveTo>
                  <a:cubicBezTo>
                    <a:pt x="211" y="115"/>
                    <a:pt x="211" y="115"/>
                    <a:pt x="211" y="115"/>
                  </a:cubicBezTo>
                  <a:cubicBezTo>
                    <a:pt x="208" y="115"/>
                    <a:pt x="205" y="118"/>
                    <a:pt x="205" y="122"/>
                  </a:cubicBezTo>
                  <a:cubicBezTo>
                    <a:pt x="205" y="125"/>
                    <a:pt x="208" y="128"/>
                    <a:pt x="211" y="128"/>
                  </a:cubicBezTo>
                  <a:cubicBezTo>
                    <a:pt x="237" y="128"/>
                    <a:pt x="237" y="128"/>
                    <a:pt x="237" y="128"/>
                  </a:cubicBezTo>
                  <a:cubicBezTo>
                    <a:pt x="240" y="128"/>
                    <a:pt x="243" y="125"/>
                    <a:pt x="243" y="122"/>
                  </a:cubicBezTo>
                  <a:cubicBezTo>
                    <a:pt x="243" y="118"/>
                    <a:pt x="240" y="115"/>
                    <a:pt x="237" y="115"/>
                  </a:cubicBezTo>
                  <a:close/>
                  <a:moveTo>
                    <a:pt x="185" y="65"/>
                  </a:moveTo>
                  <a:cubicBezTo>
                    <a:pt x="187" y="65"/>
                    <a:pt x="188" y="64"/>
                    <a:pt x="189" y="63"/>
                  </a:cubicBezTo>
                  <a:cubicBezTo>
                    <a:pt x="208" y="45"/>
                    <a:pt x="208" y="45"/>
                    <a:pt x="208" y="45"/>
                  </a:cubicBezTo>
                  <a:cubicBezTo>
                    <a:pt x="210" y="42"/>
                    <a:pt x="210" y="38"/>
                    <a:pt x="208" y="36"/>
                  </a:cubicBezTo>
                  <a:cubicBezTo>
                    <a:pt x="205" y="33"/>
                    <a:pt x="201" y="33"/>
                    <a:pt x="199" y="36"/>
                  </a:cubicBezTo>
                  <a:cubicBezTo>
                    <a:pt x="180" y="54"/>
                    <a:pt x="180" y="54"/>
                    <a:pt x="180" y="54"/>
                  </a:cubicBezTo>
                  <a:cubicBezTo>
                    <a:pt x="178" y="56"/>
                    <a:pt x="178" y="60"/>
                    <a:pt x="180" y="63"/>
                  </a:cubicBezTo>
                  <a:cubicBezTo>
                    <a:pt x="182" y="64"/>
                    <a:pt x="183" y="65"/>
                    <a:pt x="185" y="65"/>
                  </a:cubicBezTo>
                  <a:close/>
                  <a:moveTo>
                    <a:pt x="154" y="218"/>
                  </a:moveTo>
                  <a:cubicBezTo>
                    <a:pt x="154" y="221"/>
                    <a:pt x="151" y="224"/>
                    <a:pt x="147" y="224"/>
                  </a:cubicBezTo>
                  <a:cubicBezTo>
                    <a:pt x="96" y="224"/>
                    <a:pt x="96" y="224"/>
                    <a:pt x="96" y="224"/>
                  </a:cubicBezTo>
                  <a:cubicBezTo>
                    <a:pt x="92" y="224"/>
                    <a:pt x="90" y="221"/>
                    <a:pt x="90" y="218"/>
                  </a:cubicBezTo>
                  <a:cubicBezTo>
                    <a:pt x="90" y="214"/>
                    <a:pt x="92" y="211"/>
                    <a:pt x="96" y="211"/>
                  </a:cubicBezTo>
                  <a:cubicBezTo>
                    <a:pt x="92" y="175"/>
                    <a:pt x="54" y="167"/>
                    <a:pt x="54" y="125"/>
                  </a:cubicBezTo>
                  <a:cubicBezTo>
                    <a:pt x="54" y="88"/>
                    <a:pt x="84" y="58"/>
                    <a:pt x="122" y="58"/>
                  </a:cubicBezTo>
                  <a:cubicBezTo>
                    <a:pt x="159" y="58"/>
                    <a:pt x="189" y="88"/>
                    <a:pt x="189" y="125"/>
                  </a:cubicBezTo>
                  <a:cubicBezTo>
                    <a:pt x="189" y="167"/>
                    <a:pt x="152" y="175"/>
                    <a:pt x="148" y="211"/>
                  </a:cubicBezTo>
                  <a:cubicBezTo>
                    <a:pt x="151" y="211"/>
                    <a:pt x="154" y="214"/>
                    <a:pt x="154" y="218"/>
                  </a:cubicBezTo>
                  <a:close/>
                  <a:moveTo>
                    <a:pt x="107" y="76"/>
                  </a:moveTo>
                  <a:cubicBezTo>
                    <a:pt x="106" y="73"/>
                    <a:pt x="103" y="72"/>
                    <a:pt x="101" y="73"/>
                  </a:cubicBezTo>
                  <a:cubicBezTo>
                    <a:pt x="84" y="80"/>
                    <a:pt x="72" y="94"/>
                    <a:pt x="67" y="111"/>
                  </a:cubicBezTo>
                  <a:cubicBezTo>
                    <a:pt x="67" y="113"/>
                    <a:pt x="68" y="116"/>
                    <a:pt x="71" y="117"/>
                  </a:cubicBezTo>
                  <a:cubicBezTo>
                    <a:pt x="71" y="117"/>
                    <a:pt x="72" y="117"/>
                    <a:pt x="72" y="117"/>
                  </a:cubicBezTo>
                  <a:cubicBezTo>
                    <a:pt x="74" y="117"/>
                    <a:pt x="76" y="115"/>
                    <a:pt x="77" y="113"/>
                  </a:cubicBezTo>
                  <a:cubicBezTo>
                    <a:pt x="80" y="99"/>
                    <a:pt x="91" y="87"/>
                    <a:pt x="104" y="82"/>
                  </a:cubicBezTo>
                  <a:cubicBezTo>
                    <a:pt x="107" y="81"/>
                    <a:pt x="108" y="78"/>
                    <a:pt x="107" y="76"/>
                  </a:cubicBezTo>
                  <a:close/>
                </a:path>
              </a:pathLst>
            </a:custGeom>
            <a:solidFill>
              <a:schemeClr val="bg1">
                <a:lumMod val="95000"/>
              </a:schemeClr>
            </a:solidFill>
            <a:ln>
              <a:noFill/>
            </a:ln>
          </p:spPr>
          <p:txBody>
            <a:bodyPr vert="horz" wrap="square" lIns="91440" tIns="45720" rIns="91440" bIns="45720" numCol="1" anchor="t" anchorCtr="0" compatLnSpc="1"/>
            <a:lstStyle/>
            <a:p>
              <a:endParaRPr lang="zh-CN" altLang="en-US"/>
            </a:p>
          </p:txBody>
        </p:sp>
      </p:grpSp>
      <p:sp>
        <p:nvSpPr>
          <p:cNvPr id="71" name="矩形 70"/>
          <p:cNvSpPr/>
          <p:nvPr/>
        </p:nvSpPr>
        <p:spPr>
          <a:xfrm>
            <a:off x="6095999" y="0"/>
            <a:ext cx="6099175" cy="6858000"/>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TextBox 71"/>
          <p:cNvSpPr txBox="1"/>
          <p:nvPr/>
        </p:nvSpPr>
        <p:spPr>
          <a:xfrm>
            <a:off x="457200" y="3749040"/>
            <a:ext cx="5184648" cy="548640"/>
          </a:xfrm>
          <a:prstGeom prst="rect">
            <a:avLst/>
          </a:prstGeom>
          <a:noFill/>
        </p:spPr>
        <p:txBody>
          <a:bodyPr wrap="square" lIns="45720" tIns="27432" rIns="45720" bIns="27432" anchor="t">
            <a:spAutoFit/>
          </a:bodyPr>
          <a:lstStyle/>
          <a:p>
            <a:pPr algn="ctr">
              <a:spcAft>
                <a:spcPts val="0"/>
              </a:spcAft>
            </a:pPr>
            <a:r>
              <a:rPr sz="2800" b="1" i="0">
                <a:solidFill>
                  <a:srgbClr val="46CEAE"/>
                </a:solidFill>
                <a:latin typeface="Arial"/>
              </a:rPr>
              <a:t>Part 4</a:t>
            </a:r>
          </a:p>
        </p:txBody>
      </p:sp>
      <p:sp>
        <p:nvSpPr>
          <p:cNvPr id="73" name="TextBox 72"/>
          <p:cNvSpPr txBox="1"/>
          <p:nvPr/>
        </p:nvSpPr>
        <p:spPr>
          <a:xfrm>
            <a:off x="457200" y="4315968"/>
            <a:ext cx="5184648" cy="1737360"/>
          </a:xfrm>
          <a:prstGeom prst="rect">
            <a:avLst/>
          </a:prstGeom>
          <a:noFill/>
        </p:spPr>
        <p:txBody>
          <a:bodyPr wrap="square" lIns="45720" tIns="27432" rIns="45720" bIns="27432" anchor="t">
            <a:spAutoFit/>
          </a:bodyPr>
          <a:lstStyle/>
          <a:p>
            <a:pPr algn="ctr">
              <a:lnSpc>
                <a:spcPct val="95000"/>
              </a:lnSpc>
              <a:spcAft>
                <a:spcPts val="0"/>
              </a:spcAft>
            </a:pPr>
            <a:r>
              <a:rPr sz="3200" b="1" i="0">
                <a:solidFill>
                  <a:srgbClr val="202A36"/>
                </a:solidFill>
                <a:latin typeface="Arial"/>
              </a:rPr>
              <a:t>The five SOLID principles and their proxies</a:t>
            </a:r>
          </a:p>
        </p:txBody>
      </p:sp>
      <p:cxnSp>
        <p:nvCxnSpPr>
          <p:cNvPr id="74" name="Connector 73"/>
          <p:cNvCxnSpPr/>
          <p:nvPr/>
        </p:nvCxnSpPr>
        <p:spPr>
          <a:xfrm>
            <a:off x="7863840" y="758952"/>
            <a:ext cx="0" cy="5340096"/>
          </a:xfrm>
          <a:prstGeom prst="line">
            <a:avLst/>
          </a:prstGeom>
          <a:ln w="19050">
            <a:solidFill>
              <a:srgbClr val="8E98A5"/>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7790688" y="1051560"/>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8229600" y="923544"/>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From principle to detector</a:t>
            </a:r>
          </a:p>
        </p:txBody>
      </p:sp>
      <p:sp>
        <p:nvSpPr>
          <p:cNvPr id="77" name="Oval 76"/>
          <p:cNvSpPr/>
          <p:nvPr/>
        </p:nvSpPr>
        <p:spPr>
          <a:xfrm>
            <a:off x="7790688" y="1709928"/>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8229600" y="1581912"/>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Five principles, five proxies</a:t>
            </a:r>
          </a:p>
        </p:txBody>
      </p:sp>
      <p:sp>
        <p:nvSpPr>
          <p:cNvPr id="79" name="Oval 78"/>
          <p:cNvSpPr/>
          <p:nvPr/>
        </p:nvSpPr>
        <p:spPr>
          <a:xfrm>
            <a:off x="7790688" y="2368296"/>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8229600" y="2240280"/>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SRP: God Class rubric</a:t>
            </a:r>
          </a:p>
        </p:txBody>
      </p:sp>
      <p:sp>
        <p:nvSpPr>
          <p:cNvPr id="81" name="Oval 80"/>
          <p:cNvSpPr/>
          <p:nvPr/>
        </p:nvSpPr>
        <p:spPr>
          <a:xfrm>
            <a:off x="7790688" y="3026664"/>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8229600" y="2898648"/>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OCP: dispatch width</a:t>
            </a:r>
          </a:p>
        </p:txBody>
      </p:sp>
      <p:sp>
        <p:nvSpPr>
          <p:cNvPr id="83" name="Oval 82"/>
          <p:cNvSpPr/>
          <p:nvPr/>
        </p:nvSpPr>
        <p:spPr>
          <a:xfrm>
            <a:off x="7790688" y="3685032"/>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8229600" y="3557016"/>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LSP: refused bequest</a:t>
            </a:r>
          </a:p>
        </p:txBody>
      </p:sp>
      <p:sp>
        <p:nvSpPr>
          <p:cNvPr id="85" name="Oval 84"/>
          <p:cNvSpPr/>
          <p:nvPr/>
        </p:nvSpPr>
        <p:spPr>
          <a:xfrm>
            <a:off x="7790688" y="4343400"/>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8229600" y="4215384"/>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ISP: contract width</a:t>
            </a:r>
          </a:p>
        </p:txBody>
      </p:sp>
      <p:sp>
        <p:nvSpPr>
          <p:cNvPr id="87" name="Oval 86"/>
          <p:cNvSpPr/>
          <p:nvPr/>
        </p:nvSpPr>
        <p:spPr>
          <a:xfrm>
            <a:off x="7790688" y="5001768"/>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8229600" y="4873752"/>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DIP: new import cycles</a:t>
            </a:r>
          </a:p>
        </p:txBody>
      </p:sp>
      <p:sp>
        <p:nvSpPr>
          <p:cNvPr id="89" name="Oval 88"/>
          <p:cNvSpPr/>
          <p:nvPr/>
        </p:nvSpPr>
        <p:spPr>
          <a:xfrm>
            <a:off x="7790688" y="5660136"/>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8229600" y="5532120"/>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Calibration across languages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4</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SOLID proxies</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From principle to detector</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22</a:t>
            </a:r>
          </a:p>
        </p:txBody>
      </p:sp>
      <p:sp>
        <p:nvSpPr>
          <p:cNvPr id="66" name="Rounded Rectangle 65"/>
          <p:cNvSpPr/>
          <p:nvPr/>
        </p:nvSpPr>
        <p:spPr>
          <a:xfrm>
            <a:off x="612648" y="914400"/>
            <a:ext cx="10972800" cy="41148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7" name="Picture 66" descr="fig_solid_wheel.png"/>
          <p:cNvPicPr>
            <a:picLocks noChangeAspect="1"/>
          </p:cNvPicPr>
          <p:nvPr/>
        </p:nvPicPr>
        <p:blipFill>
          <a:blip r:embed="rId2"/>
          <a:stretch>
            <a:fillRect/>
          </a:stretch>
        </p:blipFill>
        <p:spPr>
          <a:xfrm>
            <a:off x="722376" y="1111529"/>
            <a:ext cx="10753344" cy="3720542"/>
          </a:xfrm>
          <a:prstGeom prst="rect">
            <a:avLst/>
          </a:prstGeom>
        </p:spPr>
      </p:pic>
      <p:sp>
        <p:nvSpPr>
          <p:cNvPr id="68" name="Rounded Rectangle 67"/>
          <p:cNvSpPr/>
          <p:nvPr/>
        </p:nvSpPr>
        <p:spPr>
          <a:xfrm>
            <a:off x="612648" y="5257800"/>
            <a:ext cx="10972800" cy="914400"/>
          </a:xfrm>
          <a:prstGeom prst="roundRect">
            <a:avLst>
              <a:gd name="adj" fmla="val 8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Hexagon 68"/>
          <p:cNvSpPr/>
          <p:nvPr/>
        </p:nvSpPr>
        <p:spPr>
          <a:xfrm>
            <a:off x="813816" y="5577840"/>
            <a:ext cx="316840" cy="274320"/>
          </a:xfrm>
          <a:prstGeom prst="hexagon">
            <a:avLst/>
          </a:prstGeom>
          <a:solidFill>
            <a:srgbClr val="46CE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1252728" y="5257800"/>
            <a:ext cx="10149840" cy="914400"/>
          </a:xfrm>
          <a:prstGeom prst="rect">
            <a:avLst/>
          </a:prstGeom>
          <a:noFill/>
        </p:spPr>
        <p:txBody>
          <a:bodyPr wrap="square" lIns="45720" rIns="45720" anchor="ctr">
            <a:spAutoFit/>
          </a:bodyPr>
          <a:lstStyle/>
          <a:p>
            <a:pPr algn="l">
              <a:spcAft>
                <a:spcPts val="0"/>
              </a:spcAft>
            </a:pPr>
            <a:r>
              <a:rPr sz="1400" b="1" i="0">
                <a:solidFill>
                  <a:srgbClr val="FFFFFF"/>
                </a:solidFill>
                <a:latin typeface="Calibri"/>
              </a:rPr>
              <a:t>Each principle is a statement about intent.</a:t>
            </a:r>
            <a:r>
              <a:rPr sz="1400" b="0" i="0">
                <a:solidFill>
                  <a:srgbClr val="FFFFFF"/>
                </a:solidFill>
                <a:latin typeface="Calibri"/>
              </a:rPr>
              <a:t> A detector can only see the structure that a violation usually leaves behind, so every result is first a statement about the detector.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4</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SOLID proxies</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The five principles and the proxy used for each</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23</a:t>
            </a:r>
          </a:p>
        </p:txBody>
      </p:sp>
      <p:graphicFrame>
        <p:nvGraphicFramePr>
          <p:cNvPr id="66" name="Table 65"/>
          <p:cNvGraphicFramePr>
            <a:graphicFrameLocks noGrp="1"/>
          </p:cNvGraphicFramePr>
          <p:nvPr/>
        </p:nvGraphicFramePr>
        <p:xfrm>
          <a:off x="612648" y="914400"/>
          <a:ext cx="10972800" cy="3625596"/>
        </p:xfrm>
        <a:graphic>
          <a:graphicData uri="http://schemas.openxmlformats.org/drawingml/2006/table">
            <a:tbl>
              <a:tblPr>
                <a:tableStyleId>{2D5ABB26-0587-4C30-8999-92F81FD0307C}</a:tableStyleId>
              </a:tblPr>
              <a:tblGrid>
                <a:gridCol w="210312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452628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509016">
                <a:tc>
                  <a:txBody>
                    <a:bodyPr/>
                    <a:lstStyle/>
                    <a:p>
                      <a:pPr algn="l">
                        <a:spcAft>
                          <a:spcPts val="0"/>
                        </a:spcAft>
                      </a:pPr>
                      <a:r>
                        <a:rPr sz="1250" b="1" i="0">
                          <a:solidFill>
                            <a:srgbClr val="FFFFFF"/>
                          </a:solidFill>
                          <a:latin typeface="Calibri"/>
                        </a:rPr>
                        <a:t>Principle</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l">
                        <a:spcAft>
                          <a:spcPts val="0"/>
                        </a:spcAft>
                      </a:pPr>
                      <a:r>
                        <a:rPr sz="1250" b="1" i="0">
                          <a:solidFill>
                            <a:srgbClr val="FFFFFF"/>
                          </a:solidFill>
                          <a:latin typeface="Calibri"/>
                        </a:rPr>
                        <a:t>What a violation looks like</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l">
                        <a:spcAft>
                          <a:spcPts val="0"/>
                        </a:spcAft>
                      </a:pPr>
                      <a:r>
                        <a:rPr sz="1250" b="1" i="0">
                          <a:solidFill>
                            <a:srgbClr val="FFFFFF"/>
                          </a:solidFill>
                          <a:latin typeface="Calibri"/>
                        </a:rPr>
                        <a:t>Proxy: one deterministic detector</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l">
                        <a:spcAft>
                          <a:spcPts val="0"/>
                        </a:spcAft>
                      </a:pPr>
                      <a:r>
                        <a:rPr sz="1250" b="1" i="0">
                          <a:solidFill>
                            <a:srgbClr val="FFFFFF"/>
                          </a:solidFill>
                          <a:latin typeface="Calibri"/>
                        </a:rPr>
                        <a:t>Where it lives</a:t>
                      </a:r>
                    </a:p>
                  </a:txBody>
                  <a:tcPr marL="73152" marR="73152" marT="27432" marB="27432" anchor="ctr">
                    <a:lnL w="0">
                      <a:noFill/>
                    </a:lnL>
                    <a:lnR w="0">
                      <a:noFill/>
                    </a:lnR>
                    <a:lnT w="0">
                      <a:noFill/>
                    </a:lnT>
                    <a:lnB w="6350">
                      <a:solidFill>
                        <a:srgbClr val="C9D0D8"/>
                      </a:solidFill>
                    </a:lnB>
                    <a:solidFill>
                      <a:srgbClr val="202A36"/>
                    </a:solidFill>
                  </a:tcPr>
                </a:tc>
                <a:extLst>
                  <a:ext uri="{0D108BD9-81ED-4DB2-BD59-A6C34878D82A}">
                    <a16:rowId xmlns:a16="http://schemas.microsoft.com/office/drawing/2014/main" val="10000"/>
                  </a:ext>
                </a:extLst>
              </a:tr>
              <a:tr h="699516">
                <a:tc>
                  <a:txBody>
                    <a:bodyPr/>
                    <a:lstStyle/>
                    <a:p>
                      <a:pPr algn="l">
                        <a:spcAft>
                          <a:spcPts val="0"/>
                        </a:spcAft>
                      </a:pPr>
                      <a:r>
                        <a:rPr sz="1250" b="1" i="0">
                          <a:solidFill>
                            <a:srgbClr val="2B3440"/>
                          </a:solidFill>
                          <a:latin typeface="Calibri"/>
                        </a:rPr>
                        <a:t>SRP</a:t>
                      </a:r>
                      <a:r>
                        <a:rPr sz="1250" b="0" i="0">
                          <a:solidFill>
                            <a:srgbClr val="2B3440"/>
                          </a:solidFill>
                          <a:latin typeface="Calibri"/>
                        </a:rPr>
                        <a:t>  Single Responsibility</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250" b="0" i="0">
                          <a:solidFill>
                            <a:srgbClr val="2B3440"/>
                          </a:solidFill>
                          <a:latin typeface="Calibri"/>
                        </a:rPr>
                        <a:t>God Class: one class doing several unrelated jobs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250" b="0" i="0">
                          <a:solidFill>
                            <a:srgbClr val="2B3440"/>
                          </a:solidFill>
                          <a:latin typeface="Calibri"/>
                        </a:rPr>
                        <a:t>Six size, complexity and cohesion metrics (at least two thresholds crossed); suppressed when the methods share a vocabulary (conceptual cohesion C3)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250" b="0" i="0">
                          <a:solidFill>
                            <a:srgbClr val="2B3440"/>
                          </a:solidFill>
                          <a:latin typeface="Calibri"/>
                        </a:rPr>
                        <a:t>Inside one unit</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1"/>
                  </a:ext>
                </a:extLst>
              </a:tr>
              <a:tr h="699516">
                <a:tc>
                  <a:txBody>
                    <a:bodyPr/>
                    <a:lstStyle/>
                    <a:p>
                      <a:pPr algn="l">
                        <a:spcAft>
                          <a:spcPts val="0"/>
                        </a:spcAft>
                      </a:pPr>
                      <a:r>
                        <a:rPr sz="1250" b="1" i="0">
                          <a:solidFill>
                            <a:srgbClr val="2B3440"/>
                          </a:solidFill>
                          <a:latin typeface="Calibri"/>
                        </a:rPr>
                        <a:t>OCP</a:t>
                      </a:r>
                      <a:r>
                        <a:rPr sz="1250" b="0" i="0">
                          <a:solidFill>
                            <a:srgbClr val="2B3440"/>
                          </a:solidFill>
                          <a:latin typeface="Calibri"/>
                        </a:rPr>
                        <a:t>  Open/Closed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250" b="0" i="0">
                          <a:solidFill>
                            <a:srgbClr val="2B3440"/>
                          </a:solidFill>
                          <a:latin typeface="Calibri"/>
                        </a:rPr>
                        <a:t>A type or tag switch that is edited for every new variant</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250" b="0" i="0">
                          <a:solidFill>
                            <a:srgbClr val="2B3440"/>
                          </a:solidFill>
                          <a:latin typeface="Calibri"/>
                        </a:rPr>
                        <a:t>Dispatch-chain width: type chains from 3 branches, tag or value chains from 8 (Java) or 5 (Python); suppressed when the subject is an enumeration</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250" b="0" i="0">
                          <a:solidFill>
                            <a:srgbClr val="2B3440"/>
                          </a:solidFill>
                          <a:latin typeface="Calibri"/>
                        </a:rPr>
                        <a:t>Inside one unit</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2"/>
                  </a:ext>
                </a:extLst>
              </a:tr>
              <a:tr h="699516">
                <a:tc>
                  <a:txBody>
                    <a:bodyPr/>
                    <a:lstStyle/>
                    <a:p>
                      <a:pPr algn="l">
                        <a:spcAft>
                          <a:spcPts val="0"/>
                        </a:spcAft>
                      </a:pPr>
                      <a:r>
                        <a:rPr sz="1250" b="1" i="0">
                          <a:solidFill>
                            <a:srgbClr val="2B3440"/>
                          </a:solidFill>
                          <a:latin typeface="Calibri"/>
                        </a:rPr>
                        <a:t>LSP</a:t>
                      </a:r>
                      <a:r>
                        <a:rPr sz="1250" b="0" i="0">
                          <a:solidFill>
                            <a:srgbClr val="2B3440"/>
                          </a:solidFill>
                          <a:latin typeface="Calibri"/>
                        </a:rPr>
                        <a:t>  Liskov Substitution</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250" b="0" i="0">
                          <a:solidFill>
                            <a:srgbClr val="2B3440"/>
                          </a:solidFill>
                          <a:latin typeface="Calibri"/>
                        </a:rPr>
                        <a:t>An override that cannot stand in for its base method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250" b="0" i="0">
                          <a:solidFill>
                            <a:srgbClr val="2B3440"/>
                          </a:solidFill>
                          <a:latin typeface="Calibri"/>
                        </a:rPr>
                        <a:t>Override against its nearest ancestor: refused bequest, strengthened precondition, weakened postcondition; Python adds signature faults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250" b="0" i="0">
                          <a:solidFill>
                            <a:srgbClr val="2B3440"/>
                          </a:solidFill>
                          <a:latin typeface="Calibri"/>
                        </a:rPr>
                        <a:t>Between units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3"/>
                  </a:ext>
                </a:extLst>
              </a:tr>
              <a:tr h="509016">
                <a:tc>
                  <a:txBody>
                    <a:bodyPr/>
                    <a:lstStyle/>
                    <a:p>
                      <a:pPr algn="l">
                        <a:spcAft>
                          <a:spcPts val="0"/>
                        </a:spcAft>
                      </a:pPr>
                      <a:r>
                        <a:rPr sz="1250" b="1" i="0">
                          <a:solidFill>
                            <a:srgbClr val="2B3440"/>
                          </a:solidFill>
                          <a:latin typeface="Calibri"/>
                        </a:rPr>
                        <a:t>ISP</a:t>
                      </a:r>
                      <a:r>
                        <a:rPr sz="1250" b="0" i="0">
                          <a:solidFill>
                            <a:srgbClr val="2B3440"/>
                          </a:solidFill>
                          <a:latin typeface="Calibri"/>
                        </a:rPr>
                        <a:t>  Interface Segregation</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250" b="0" i="0">
                          <a:solidFill>
                            <a:srgbClr val="2B3440"/>
                          </a:solidFill>
                          <a:latin typeface="Calibri"/>
                        </a:rPr>
                        <a:t>A wide contract that forces stubs on its implementers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250" b="0" i="0">
                          <a:solidFill>
                            <a:srgbClr val="2B3440"/>
                          </a:solidFill>
                          <a:latin typeface="Calibri"/>
                        </a:rPr>
                        <a:t>Contract width and implementer stub ratio; a forced stub is direct evidence, width alone is a screen</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250" b="0" i="0">
                          <a:solidFill>
                            <a:srgbClr val="2B3440"/>
                          </a:solidFill>
                          <a:latin typeface="Calibri"/>
                        </a:rPr>
                        <a:t>Between units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4"/>
                  </a:ext>
                </a:extLst>
              </a:tr>
              <a:tr h="509016">
                <a:tc>
                  <a:txBody>
                    <a:bodyPr/>
                    <a:lstStyle/>
                    <a:p>
                      <a:pPr algn="l">
                        <a:spcAft>
                          <a:spcPts val="0"/>
                        </a:spcAft>
                      </a:pPr>
                      <a:r>
                        <a:rPr sz="1250" b="1" i="0">
                          <a:solidFill>
                            <a:srgbClr val="2B3440"/>
                          </a:solidFill>
                          <a:latin typeface="Calibri"/>
                        </a:rPr>
                        <a:t>DIP</a:t>
                      </a:r>
                      <a:r>
                        <a:rPr sz="1250" b="0" i="0">
                          <a:solidFill>
                            <a:srgbClr val="2B3440"/>
                          </a:solidFill>
                          <a:latin typeface="Calibri"/>
                        </a:rPr>
                        <a:t>  Dependency Inversion</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250" b="0" i="0">
                          <a:solidFill>
                            <a:srgbClr val="2B3440"/>
                          </a:solidFill>
                          <a:latin typeface="Calibri"/>
                        </a:rPr>
                        <a:t>Modules that depend on each other in cycles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250" b="0" i="0">
                          <a:solidFill>
                            <a:srgbClr val="2B3440"/>
                          </a:solidFill>
                          <a:latin typeface="Calibri"/>
                        </a:rPr>
                        <a:t>New cycles in the import graph, before against after, found with Tarjan’s strongly connected components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250" b="0" i="0">
                          <a:solidFill>
                            <a:srgbClr val="2B3440"/>
                          </a:solidFill>
                          <a:latin typeface="Calibri"/>
                        </a:rPr>
                        <a:t>Between units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5"/>
                  </a:ext>
                </a:extLst>
              </a:tr>
            </a:tbl>
          </a:graphicData>
        </a:graphic>
      </p:graphicFrame>
      <p:sp>
        <p:nvSpPr>
          <p:cNvPr id="67" name="Rounded Rectangle 66"/>
          <p:cNvSpPr/>
          <p:nvPr/>
        </p:nvSpPr>
        <p:spPr>
          <a:xfrm>
            <a:off x="612648" y="4722876"/>
            <a:ext cx="10972800" cy="777240"/>
          </a:xfrm>
          <a:prstGeom prst="roundRect">
            <a:avLst>
              <a:gd name="adj" fmla="val 8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Hexagon 67"/>
          <p:cNvSpPr/>
          <p:nvPr/>
        </p:nvSpPr>
        <p:spPr>
          <a:xfrm>
            <a:off x="813816" y="4974336"/>
            <a:ext cx="316840" cy="274320"/>
          </a:xfrm>
          <a:prstGeom prst="hexagon">
            <a:avLst/>
          </a:prstGeom>
          <a:solidFill>
            <a:srgbClr val="46CE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252728" y="4722876"/>
            <a:ext cx="10149840" cy="777240"/>
          </a:xfrm>
          <a:prstGeom prst="rect">
            <a:avLst/>
          </a:prstGeom>
          <a:noFill/>
        </p:spPr>
        <p:txBody>
          <a:bodyPr wrap="square" lIns="45720" rIns="45720" anchor="ctr">
            <a:spAutoFit/>
          </a:bodyPr>
          <a:lstStyle/>
          <a:p>
            <a:pPr algn="l">
              <a:spcAft>
                <a:spcPts val="0"/>
              </a:spcAft>
            </a:pPr>
            <a:r>
              <a:rPr sz="1400" b="1" i="0">
                <a:solidFill>
                  <a:srgbClr val="FFFFFF"/>
                </a:solidFill>
                <a:latin typeface="Calibri"/>
              </a:rPr>
              <a:t>A proxy sees the structure a violation leaves behind, not the intent.</a:t>
            </a:r>
            <a:r>
              <a:rPr sz="1400" b="0" i="0">
                <a:solidFill>
                  <a:srgbClr val="FFFFFF"/>
                </a:solidFill>
                <a:latin typeface="Calibri"/>
              </a:rPr>
              <a:t> Every result is first a statement about the detector, which is why each one is validated against a reader (Part 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4</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SOLID proxies</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SRP: God Class rubric with a cohesion suppressor</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24</a:t>
            </a:r>
          </a:p>
        </p:txBody>
      </p:sp>
      <p:sp>
        <p:nvSpPr>
          <p:cNvPr id="66" name="Rounded Rectangle 65"/>
          <p:cNvSpPr/>
          <p:nvPr/>
        </p:nvSpPr>
        <p:spPr>
          <a:xfrm>
            <a:off x="612648" y="914400"/>
            <a:ext cx="6172200" cy="132588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49808" y="987552"/>
            <a:ext cx="5897880" cy="365760"/>
          </a:xfrm>
          <a:prstGeom prst="rect">
            <a:avLst/>
          </a:prstGeom>
          <a:noFill/>
        </p:spPr>
        <p:txBody>
          <a:bodyPr wrap="square" lIns="45720" tIns="27432" rIns="45720" bIns="27432" anchor="t">
            <a:spAutoFit/>
          </a:bodyPr>
          <a:lstStyle/>
          <a:p>
            <a:pPr algn="l">
              <a:spcAft>
                <a:spcPts val="0"/>
              </a:spcAft>
            </a:pPr>
            <a:r>
              <a:rPr sz="1350" b="0" i="0">
                <a:solidFill>
                  <a:srgbClr val="2B3440"/>
                </a:solidFill>
                <a:latin typeface="Calibri"/>
              </a:rPr>
              <a:t>Six size and complexity metrics; one hit per threshold reached:</a:t>
            </a:r>
          </a:p>
        </p:txBody>
      </p:sp>
      <p:pic>
        <p:nvPicPr>
          <p:cNvPr id="68" name="Picture 67" descr="eq_02.png"/>
          <p:cNvPicPr>
            <a:picLocks noChangeAspect="1"/>
          </p:cNvPicPr>
          <p:nvPr/>
        </p:nvPicPr>
        <p:blipFill>
          <a:blip r:embed="rId2"/>
          <a:stretch>
            <a:fillRect/>
          </a:stretch>
        </p:blipFill>
        <p:spPr>
          <a:xfrm>
            <a:off x="886968" y="1600200"/>
            <a:ext cx="3534770" cy="457200"/>
          </a:xfrm>
          <a:prstGeom prst="rect">
            <a:avLst/>
          </a:prstGeom>
        </p:spPr>
      </p:pic>
      <p:sp>
        <p:nvSpPr>
          <p:cNvPr id="69" name="Rounded Rectangle 68"/>
          <p:cNvSpPr/>
          <p:nvPr/>
        </p:nvSpPr>
        <p:spPr>
          <a:xfrm>
            <a:off x="612648" y="2377440"/>
            <a:ext cx="6172200" cy="13716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749808" y="2450592"/>
            <a:ext cx="5897880" cy="548640"/>
          </a:xfrm>
          <a:prstGeom prst="rect">
            <a:avLst/>
          </a:prstGeom>
          <a:noFill/>
        </p:spPr>
        <p:txBody>
          <a:bodyPr wrap="square" lIns="45720" tIns="27432" rIns="45720" bIns="27432" anchor="t">
            <a:spAutoFit/>
          </a:bodyPr>
          <a:lstStyle/>
          <a:p>
            <a:pPr algn="l">
              <a:spcAft>
                <a:spcPts val="0"/>
              </a:spcAft>
            </a:pPr>
            <a:r>
              <a:rPr sz="1350" b="0" i="0">
                <a:solidFill>
                  <a:srgbClr val="2B3440"/>
                </a:solidFill>
                <a:latin typeface="Calibri"/>
              </a:rPr>
              <a:t>Cohesion, LCOM4 over the method graph (edge = shared field or a call), constructors excluded:</a:t>
            </a:r>
          </a:p>
        </p:txBody>
      </p:sp>
      <p:pic>
        <p:nvPicPr>
          <p:cNvPr id="71" name="Picture 70" descr="eq_03.png"/>
          <p:cNvPicPr>
            <a:picLocks noChangeAspect="1"/>
          </p:cNvPicPr>
          <p:nvPr/>
        </p:nvPicPr>
        <p:blipFill>
          <a:blip r:embed="rId3"/>
          <a:stretch>
            <a:fillRect/>
          </a:stretch>
        </p:blipFill>
        <p:spPr>
          <a:xfrm>
            <a:off x="886968" y="2999232"/>
            <a:ext cx="1916566" cy="685800"/>
          </a:xfrm>
          <a:prstGeom prst="rect">
            <a:avLst/>
          </a:prstGeom>
        </p:spPr>
      </p:pic>
      <p:sp>
        <p:nvSpPr>
          <p:cNvPr id="72" name="Rounded Rectangle 71"/>
          <p:cNvSpPr/>
          <p:nvPr/>
        </p:nvSpPr>
        <p:spPr>
          <a:xfrm>
            <a:off x="612648" y="3886200"/>
            <a:ext cx="6172200" cy="16002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749808" y="3959352"/>
            <a:ext cx="5897880" cy="365760"/>
          </a:xfrm>
          <a:prstGeom prst="rect">
            <a:avLst/>
          </a:prstGeom>
          <a:noFill/>
        </p:spPr>
        <p:txBody>
          <a:bodyPr wrap="square" lIns="45720" tIns="27432" rIns="45720" bIns="27432" anchor="t">
            <a:spAutoFit/>
          </a:bodyPr>
          <a:lstStyle/>
          <a:p>
            <a:pPr algn="l">
              <a:spcAft>
                <a:spcPts val="0"/>
              </a:spcAft>
            </a:pPr>
            <a:r>
              <a:rPr sz="1350" b="0" i="0">
                <a:solidFill>
                  <a:srgbClr val="2B3440"/>
                </a:solidFill>
                <a:latin typeface="Calibri"/>
              </a:rPr>
              <a:t>Conceptual cohesion over TF-IDF vectors of method token bags:</a:t>
            </a:r>
          </a:p>
        </p:txBody>
      </p:sp>
      <p:pic>
        <p:nvPicPr>
          <p:cNvPr id="74" name="Picture 73" descr="eq_04.png"/>
          <p:cNvPicPr>
            <a:picLocks noChangeAspect="1"/>
          </p:cNvPicPr>
          <p:nvPr/>
        </p:nvPicPr>
        <p:blipFill>
          <a:blip r:embed="rId4"/>
          <a:stretch>
            <a:fillRect/>
          </a:stretch>
        </p:blipFill>
        <p:spPr>
          <a:xfrm>
            <a:off x="886968" y="4370832"/>
            <a:ext cx="2045110" cy="457200"/>
          </a:xfrm>
          <a:prstGeom prst="rect">
            <a:avLst/>
          </a:prstGeom>
        </p:spPr>
      </p:pic>
      <p:pic>
        <p:nvPicPr>
          <p:cNvPr id="75" name="Picture 74" descr="eq_05.png"/>
          <p:cNvPicPr>
            <a:picLocks noChangeAspect="1"/>
          </p:cNvPicPr>
          <p:nvPr/>
        </p:nvPicPr>
        <p:blipFill>
          <a:blip r:embed="rId5"/>
          <a:stretch>
            <a:fillRect/>
          </a:stretch>
        </p:blipFill>
        <p:spPr>
          <a:xfrm>
            <a:off x="886968" y="4937760"/>
            <a:ext cx="4458724" cy="411480"/>
          </a:xfrm>
          <a:prstGeom prst="rect">
            <a:avLst/>
          </a:prstGeom>
        </p:spPr>
      </p:pic>
      <p:graphicFrame>
        <p:nvGraphicFramePr>
          <p:cNvPr id="76" name="Table 75"/>
          <p:cNvGraphicFramePr>
            <a:graphicFrameLocks noGrp="1"/>
          </p:cNvGraphicFramePr>
          <p:nvPr/>
        </p:nvGraphicFramePr>
        <p:xfrm>
          <a:off x="7040880" y="914400"/>
          <a:ext cx="4544568" cy="2816352"/>
        </p:xfrm>
        <a:graphic>
          <a:graphicData uri="http://schemas.openxmlformats.org/drawingml/2006/table">
            <a:tbl>
              <a:tblPr>
                <a:tableStyleId>{2D5ABB26-0587-4C30-8999-92F81FD0307C}</a:tableStyleId>
              </a:tblPr>
              <a:tblGrid>
                <a:gridCol w="21945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61288">
                  <a:extLst>
                    <a:ext uri="{9D8B030D-6E8A-4147-A177-3AD203B41FA5}">
                      <a16:colId xmlns:a16="http://schemas.microsoft.com/office/drawing/2014/main" val="20002"/>
                    </a:ext>
                  </a:extLst>
                </a:gridCol>
              </a:tblGrid>
              <a:tr h="402336">
                <a:tc>
                  <a:txBody>
                    <a:bodyPr/>
                    <a:lstStyle/>
                    <a:p>
                      <a:pPr algn="l">
                        <a:spcAft>
                          <a:spcPts val="0"/>
                        </a:spcAft>
                      </a:pPr>
                      <a:r>
                        <a:rPr sz="1350" b="1" i="0">
                          <a:solidFill>
                            <a:srgbClr val="FFFFFF"/>
                          </a:solidFill>
                          <a:latin typeface="Calibri"/>
                        </a:rPr>
                        <a:t>Threshold</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350" b="1" i="0">
                          <a:solidFill>
                            <a:srgbClr val="FFFFFF"/>
                          </a:solidFill>
                          <a:latin typeface="Calibri"/>
                        </a:rPr>
                        <a:t>Java</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350" b="1" i="0">
                          <a:solidFill>
                            <a:srgbClr val="FFFFFF"/>
                          </a:solidFill>
                          <a:latin typeface="Calibri"/>
                        </a:rPr>
                        <a:t>Python</a:t>
                      </a:r>
                    </a:p>
                  </a:txBody>
                  <a:tcPr marL="73152" marR="73152" marT="27432" marB="27432" anchor="ctr">
                    <a:lnL w="0">
                      <a:noFill/>
                    </a:lnL>
                    <a:lnR w="0">
                      <a:noFill/>
                    </a:lnR>
                    <a:lnT w="0">
                      <a:noFill/>
                    </a:lnT>
                    <a:lnB w="6350">
                      <a:solidFill>
                        <a:srgbClr val="C9D0D8"/>
                      </a:solidFill>
                    </a:lnB>
                    <a:solidFill>
                      <a:srgbClr val="202A36"/>
                    </a:solidFill>
                  </a:tcPr>
                </a:tc>
                <a:extLst>
                  <a:ext uri="{0D108BD9-81ED-4DB2-BD59-A6C34878D82A}">
                    <a16:rowId xmlns:a16="http://schemas.microsoft.com/office/drawing/2014/main" val="10000"/>
                  </a:ext>
                </a:extLst>
              </a:tr>
              <a:tr h="402336">
                <a:tc>
                  <a:txBody>
                    <a:bodyPr/>
                    <a:lstStyle/>
                    <a:p>
                      <a:pPr algn="l">
                        <a:spcAft>
                          <a:spcPts val="0"/>
                        </a:spcAft>
                      </a:pPr>
                      <a:r>
                        <a:rPr sz="1350" b="0" i="0">
                          <a:solidFill>
                            <a:srgbClr val="2B3440"/>
                          </a:solidFill>
                          <a:latin typeface="Calibri"/>
                        </a:rPr>
                        <a:t>class lines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350" b="0" i="0">
                          <a:solidFill>
                            <a:srgbClr val="2B3440"/>
                          </a:solidFill>
                          <a:latin typeface="Calibri"/>
                        </a:rPr>
                        <a:t>362</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350" b="0" i="0">
                          <a:solidFill>
                            <a:srgbClr val="2B3440"/>
                          </a:solidFill>
                          <a:latin typeface="Calibri"/>
                        </a:rPr>
                        <a:t>250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1"/>
                  </a:ext>
                </a:extLst>
              </a:tr>
              <a:tr h="402336">
                <a:tc>
                  <a:txBody>
                    <a:bodyPr/>
                    <a:lstStyle/>
                    <a:p>
                      <a:pPr algn="l">
                        <a:spcAft>
                          <a:spcPts val="0"/>
                        </a:spcAft>
                      </a:pPr>
                      <a:r>
                        <a:rPr sz="1350" b="0" i="0">
                          <a:solidFill>
                            <a:srgbClr val="2B3440"/>
                          </a:solidFill>
                          <a:latin typeface="Calibri"/>
                        </a:rPr>
                        <a:t>weighted methods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350" b="0" i="0">
                          <a:solidFill>
                            <a:srgbClr val="2B3440"/>
                          </a:solidFill>
                          <a:latin typeface="Calibri"/>
                        </a:rPr>
                        <a:t>45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350" b="0" i="0">
                          <a:solidFill>
                            <a:srgbClr val="2B3440"/>
                          </a:solidFill>
                          <a:latin typeface="Calibri"/>
                        </a:rPr>
                        <a:t>36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2"/>
                  </a:ext>
                </a:extLst>
              </a:tr>
              <a:tr h="402336">
                <a:tc>
                  <a:txBody>
                    <a:bodyPr/>
                    <a:lstStyle/>
                    <a:p>
                      <a:pPr algn="l">
                        <a:spcAft>
                          <a:spcPts val="0"/>
                        </a:spcAft>
                      </a:pPr>
                      <a:r>
                        <a:rPr sz="1350" b="0" i="0">
                          <a:solidFill>
                            <a:srgbClr val="2B3440"/>
                          </a:solidFill>
                          <a:latin typeface="Calibri"/>
                        </a:rPr>
                        <a:t>methods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350" b="0" i="0">
                          <a:solidFill>
                            <a:srgbClr val="2B3440"/>
                          </a:solidFill>
                          <a:latin typeface="Calibri"/>
                        </a:rPr>
                        <a:t>20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350" b="0" i="0">
                          <a:solidFill>
                            <a:srgbClr val="2B3440"/>
                          </a:solidFill>
                          <a:latin typeface="Calibri"/>
                        </a:rPr>
                        <a:t>10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3"/>
                  </a:ext>
                </a:extLst>
              </a:tr>
              <a:tr h="402336">
                <a:tc>
                  <a:txBody>
                    <a:bodyPr/>
                    <a:lstStyle/>
                    <a:p>
                      <a:pPr algn="l">
                        <a:spcAft>
                          <a:spcPts val="0"/>
                        </a:spcAft>
                      </a:pPr>
                      <a:r>
                        <a:rPr sz="1350" b="0" i="0">
                          <a:solidFill>
                            <a:srgbClr val="2B3440"/>
                          </a:solidFill>
                          <a:latin typeface="Calibri"/>
                        </a:rPr>
                        <a:t>method complexity</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350" b="0" i="0">
                          <a:solidFill>
                            <a:srgbClr val="2B3440"/>
                          </a:solidFill>
                          <a:latin typeface="Calibri"/>
                        </a:rPr>
                        <a:t>11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350" b="0" i="0">
                          <a:solidFill>
                            <a:srgbClr val="2B3440"/>
                          </a:solidFill>
                          <a:latin typeface="Calibri"/>
                        </a:rPr>
                        <a:t>12</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4"/>
                  </a:ext>
                </a:extLst>
              </a:tr>
              <a:tr h="402336">
                <a:tc>
                  <a:txBody>
                    <a:bodyPr/>
                    <a:lstStyle/>
                    <a:p>
                      <a:pPr algn="l">
                        <a:spcAft>
                          <a:spcPts val="0"/>
                        </a:spcAft>
                      </a:pPr>
                      <a:r>
                        <a:rPr sz="1350" b="0" i="0">
                          <a:solidFill>
                            <a:srgbClr val="2B3440"/>
                          </a:solidFill>
                          <a:latin typeface="Calibri"/>
                        </a:rPr>
                        <a:t>parameters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350" b="0" i="0">
                          <a:solidFill>
                            <a:srgbClr val="2B3440"/>
                          </a:solidFill>
                          <a:latin typeface="Calibri"/>
                        </a:rPr>
                        <a:t>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350" b="0" i="0">
                          <a:solidFill>
                            <a:srgbClr val="2B3440"/>
                          </a:solidFill>
                          <a:latin typeface="Calibri"/>
                        </a:rPr>
                        <a:t>7</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5"/>
                  </a:ext>
                </a:extLst>
              </a:tr>
              <a:tr h="402336">
                <a:tc>
                  <a:txBody>
                    <a:bodyPr/>
                    <a:lstStyle/>
                    <a:p>
                      <a:pPr algn="l">
                        <a:spcAft>
                          <a:spcPts val="0"/>
                        </a:spcAft>
                      </a:pPr>
                      <a:r>
                        <a:rPr sz="1350" b="0" i="0">
                          <a:solidFill>
                            <a:srgbClr val="2B3440"/>
                          </a:solidFill>
                          <a:latin typeface="Calibri"/>
                        </a:rPr>
                        <a:t>LCOM</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350" b="0" i="0">
                          <a:solidFill>
                            <a:srgbClr val="2B3440"/>
                          </a:solidFill>
                          <a:latin typeface="Calibri"/>
                        </a:rPr>
                        <a:t>0.86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350" b="0" i="0">
                          <a:solidFill>
                            <a:srgbClr val="2B3440"/>
                          </a:solidFill>
                          <a:latin typeface="Calibri"/>
                        </a:rPr>
                        <a:t>0.8</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6"/>
                  </a:ext>
                </a:extLst>
              </a:tr>
            </a:tbl>
          </a:graphicData>
        </a:graphic>
      </p:graphicFrame>
      <p:sp>
        <p:nvSpPr>
          <p:cNvPr id="77" name="Rounded Rectangle 76"/>
          <p:cNvSpPr/>
          <p:nvPr/>
        </p:nvSpPr>
        <p:spPr>
          <a:xfrm>
            <a:off x="7040880" y="3913632"/>
            <a:ext cx="4544568" cy="1572768"/>
          </a:xfrm>
          <a:prstGeom prst="roundRect">
            <a:avLst>
              <a:gd name="adj" fmla="val 6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7178040" y="4005072"/>
            <a:ext cx="4270248" cy="786384"/>
          </a:xfrm>
          <a:prstGeom prst="rect">
            <a:avLst/>
          </a:prstGeom>
          <a:noFill/>
        </p:spPr>
        <p:txBody>
          <a:bodyPr wrap="square" lIns="45720" tIns="27432" rIns="45720" bIns="27432" anchor="b">
            <a:spAutoFit/>
          </a:bodyPr>
          <a:lstStyle/>
          <a:p>
            <a:pPr algn="ctr">
              <a:spcAft>
                <a:spcPts val="0"/>
              </a:spcAft>
            </a:pPr>
            <a:r>
              <a:rPr sz="3200" b="1" i="0">
                <a:solidFill>
                  <a:srgbClr val="46CEAE"/>
                </a:solidFill>
                <a:latin typeface="Arial"/>
              </a:rPr>
              <a:t>0.350 / 0.110</a:t>
            </a:r>
          </a:p>
        </p:txBody>
      </p:sp>
      <p:sp>
        <p:nvSpPr>
          <p:cNvPr id="79" name="TextBox 78"/>
          <p:cNvSpPr txBox="1"/>
          <p:nvPr/>
        </p:nvSpPr>
        <p:spPr>
          <a:xfrm>
            <a:off x="7223760" y="4778654"/>
            <a:ext cx="4178808" cy="660563"/>
          </a:xfrm>
          <a:prstGeom prst="rect">
            <a:avLst/>
          </a:prstGeom>
          <a:noFill/>
        </p:spPr>
        <p:txBody>
          <a:bodyPr wrap="square" lIns="45720" tIns="27432" rIns="45720" bIns="27432" anchor="t">
            <a:spAutoFit/>
          </a:bodyPr>
          <a:lstStyle/>
          <a:p>
            <a:pPr algn="ctr">
              <a:spcAft>
                <a:spcPts val="0"/>
              </a:spcAft>
            </a:pPr>
            <a:r>
              <a:rPr sz="1300" b="0" i="0">
                <a:solidFill>
                  <a:srgbClr val="D5DCE4"/>
                </a:solidFill>
                <a:latin typeface="Calibri"/>
              </a:rPr>
              <a:t>precision, Java / Python</a:t>
            </a:r>
          </a:p>
        </p:txBody>
      </p:sp>
      <p:sp>
        <p:nvSpPr>
          <p:cNvPr id="80" name="Rounded Rectangle 79"/>
          <p:cNvSpPr/>
          <p:nvPr/>
        </p:nvSpPr>
        <p:spPr>
          <a:xfrm>
            <a:off x="612648" y="5669280"/>
            <a:ext cx="10972800" cy="640080"/>
          </a:xfrm>
          <a:prstGeom prst="roundRect">
            <a:avLst>
              <a:gd name="adj" fmla="val 8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Hexagon 80"/>
          <p:cNvSpPr/>
          <p:nvPr/>
        </p:nvSpPr>
        <p:spPr>
          <a:xfrm>
            <a:off x="813816" y="5852160"/>
            <a:ext cx="316840" cy="274320"/>
          </a:xfrm>
          <a:prstGeom prst="hexagon">
            <a:avLst/>
          </a:prstGeom>
          <a:solidFill>
            <a:srgbClr val="46CE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1252728" y="5669280"/>
            <a:ext cx="10149840" cy="640080"/>
          </a:xfrm>
          <a:prstGeom prst="rect">
            <a:avLst/>
          </a:prstGeom>
          <a:noFill/>
        </p:spPr>
        <p:txBody>
          <a:bodyPr wrap="square" lIns="45720" rIns="45720" anchor="ctr">
            <a:spAutoFit/>
          </a:bodyPr>
          <a:lstStyle/>
          <a:p>
            <a:pPr algn="l">
              <a:spcAft>
                <a:spcPts val="0"/>
              </a:spcAft>
            </a:pPr>
            <a:r>
              <a:rPr sz="1400" b="0" i="0">
                <a:solidFill>
                  <a:srgbClr val="FFFFFF"/>
                </a:solidFill>
                <a:latin typeface="Calibri"/>
              </a:rPr>
              <a:t>Each value is the 90th percentile of that corpus, fixed before any label existed.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4</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SOLID proxies</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OCP: dispatch width with a closed-set suppressor</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25</a:t>
            </a:r>
          </a:p>
        </p:txBody>
      </p:sp>
      <p:sp>
        <p:nvSpPr>
          <p:cNvPr id="66" name="Rounded Rectangle 65"/>
          <p:cNvSpPr/>
          <p:nvPr/>
        </p:nvSpPr>
        <p:spPr>
          <a:xfrm>
            <a:off x="612648" y="914400"/>
            <a:ext cx="6172200" cy="18288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49808" y="1005840"/>
            <a:ext cx="5897880" cy="640080"/>
          </a:xfrm>
          <a:prstGeom prst="rect">
            <a:avLst/>
          </a:prstGeom>
          <a:noFill/>
        </p:spPr>
        <p:txBody>
          <a:bodyPr wrap="square" lIns="45720" tIns="27432" rIns="45720" bIns="27432" anchor="t">
            <a:spAutoFit/>
          </a:bodyPr>
          <a:lstStyle/>
          <a:p>
            <a:pPr algn="l">
              <a:spcAft>
                <a:spcPts val="0"/>
              </a:spcAft>
            </a:pPr>
            <a:r>
              <a:rPr sz="1350" b="0" i="0">
                <a:solidFill>
                  <a:srgbClr val="2B3440"/>
                </a:solidFill>
                <a:latin typeface="Calibri"/>
              </a:rPr>
              <a:t>A dispatch chain is an if/else if ladder or a switch branching on one subject. With b branches:</a:t>
            </a:r>
          </a:p>
        </p:txBody>
      </p:sp>
      <p:pic>
        <p:nvPicPr>
          <p:cNvPr id="68" name="Picture 67" descr="eq_06.png"/>
          <p:cNvPicPr>
            <a:picLocks noChangeAspect="1"/>
          </p:cNvPicPr>
          <p:nvPr/>
        </p:nvPicPr>
        <p:blipFill>
          <a:blip r:embed="rId2"/>
          <a:stretch>
            <a:fillRect/>
          </a:stretch>
        </p:blipFill>
        <p:spPr>
          <a:xfrm>
            <a:off x="886968" y="1920240"/>
            <a:ext cx="4640239" cy="457200"/>
          </a:xfrm>
          <a:prstGeom prst="rect">
            <a:avLst/>
          </a:prstGeom>
        </p:spPr>
      </p:pic>
      <p:sp>
        <p:nvSpPr>
          <p:cNvPr id="69" name="Rounded Rectangle 68"/>
          <p:cNvSpPr/>
          <p:nvPr/>
        </p:nvSpPr>
        <p:spPr>
          <a:xfrm>
            <a:off x="612648" y="2880360"/>
            <a:ext cx="6172200" cy="173736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749808" y="2971800"/>
            <a:ext cx="5897880" cy="1554480"/>
          </a:xfrm>
          <a:prstGeom prst="rect">
            <a:avLst/>
          </a:prstGeom>
          <a:noFill/>
        </p:spPr>
        <p:txBody>
          <a:bodyPr wrap="square" lIns="45720" tIns="27432" rIns="45720" bIns="27432" anchor="ctr">
            <a:spAutoFit/>
          </a:bodyPr>
          <a:lstStyle/>
          <a:p>
            <a:pPr algn="l">
              <a:spcAft>
                <a:spcPts val="0"/>
              </a:spcAft>
            </a:pPr>
            <a:r>
              <a:rPr sz="1400" b="1" i="0">
                <a:solidFill>
                  <a:srgbClr val="2B3440"/>
                </a:solidFill>
                <a:latin typeface="Calibri"/>
              </a:rPr>
              <a:t>closed</a:t>
            </a:r>
            <a:r>
              <a:rPr sz="1400" b="0" i="0">
                <a:solidFill>
                  <a:srgbClr val="2B3440"/>
                </a:solidFill>
                <a:latin typeface="Calibri"/>
              </a:rPr>
              <a:t> holds when the subject’s resolved type is an enumeration: a client cannot add a value. A pull request is flagged when it </a:t>
            </a:r>
            <a:r>
              <a:rPr sz="1400" b="1" i="0">
                <a:solidFill>
                  <a:srgbClr val="2B3440"/>
                </a:solidFill>
                <a:latin typeface="Calibri"/>
              </a:rPr>
              <a:t>creates or widens</a:t>
            </a:r>
            <a:r>
              <a:rPr sz="1400" b="0" i="0">
                <a:solidFill>
                  <a:srgbClr val="2B3440"/>
                </a:solidFill>
                <a:latin typeface="Calibri"/>
              </a:rPr>
              <a:t> such a chain.</a:t>
            </a:r>
          </a:p>
        </p:txBody>
      </p:sp>
      <p:graphicFrame>
        <p:nvGraphicFramePr>
          <p:cNvPr id="71" name="Table 70"/>
          <p:cNvGraphicFramePr>
            <a:graphicFrameLocks noGrp="1"/>
          </p:cNvGraphicFramePr>
          <p:nvPr/>
        </p:nvGraphicFramePr>
        <p:xfrm>
          <a:off x="7040880" y="914400"/>
          <a:ext cx="4544568" cy="1371600"/>
        </p:xfrm>
        <a:graphic>
          <a:graphicData uri="http://schemas.openxmlformats.org/drawingml/2006/table">
            <a:tbl>
              <a:tblPr>
                <a:tableStyleId>{2D5ABB26-0587-4C30-8999-92F81FD0307C}</a:tableStyleId>
              </a:tblPr>
              <a:tblGrid>
                <a:gridCol w="23774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69848">
                  <a:extLst>
                    <a:ext uri="{9D8B030D-6E8A-4147-A177-3AD203B41FA5}">
                      <a16:colId xmlns:a16="http://schemas.microsoft.com/office/drawing/2014/main" val="20002"/>
                    </a:ext>
                  </a:extLst>
                </a:gridCol>
              </a:tblGrid>
              <a:tr h="457200">
                <a:tc>
                  <a:txBody>
                    <a:bodyPr/>
                    <a:lstStyle/>
                    <a:p>
                      <a:pPr algn="l">
                        <a:spcAft>
                          <a:spcPts val="0"/>
                        </a:spcAft>
                      </a:pPr>
                      <a:r>
                        <a:rPr sz="1400" b="1" i="0">
                          <a:solidFill>
                            <a:srgbClr val="FFFFFF"/>
                          </a:solidFill>
                          <a:latin typeface="Calibri"/>
                        </a:rPr>
                        <a:t>τ</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00" b="1" i="0">
                          <a:solidFill>
                            <a:srgbClr val="FFFFFF"/>
                          </a:solidFill>
                          <a:latin typeface="Calibri"/>
                        </a:rPr>
                        <a:t>Java</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00" b="1" i="0">
                          <a:solidFill>
                            <a:srgbClr val="FFFFFF"/>
                          </a:solidFill>
                          <a:latin typeface="Calibri"/>
                        </a:rPr>
                        <a:t>Python</a:t>
                      </a:r>
                    </a:p>
                  </a:txBody>
                  <a:tcPr marL="73152" marR="73152" marT="27432" marB="27432" anchor="ctr">
                    <a:lnL w="0">
                      <a:noFill/>
                    </a:lnL>
                    <a:lnR w="0">
                      <a:noFill/>
                    </a:lnR>
                    <a:lnT w="0">
                      <a:noFill/>
                    </a:lnT>
                    <a:lnB w="6350">
                      <a:solidFill>
                        <a:srgbClr val="C9D0D8"/>
                      </a:solidFill>
                    </a:lnB>
                    <a:solidFill>
                      <a:srgbClr val="202A36"/>
                    </a:solidFill>
                  </a:tcPr>
                </a:tc>
                <a:extLst>
                  <a:ext uri="{0D108BD9-81ED-4DB2-BD59-A6C34878D82A}">
                    <a16:rowId xmlns:a16="http://schemas.microsoft.com/office/drawing/2014/main" val="10000"/>
                  </a:ext>
                </a:extLst>
              </a:tr>
              <a:tr h="457200">
                <a:tc>
                  <a:txBody>
                    <a:bodyPr/>
                    <a:lstStyle/>
                    <a:p>
                      <a:pPr algn="l">
                        <a:spcAft>
                          <a:spcPts val="0"/>
                        </a:spcAft>
                      </a:pPr>
                      <a:r>
                        <a:rPr sz="1400" b="0" i="0">
                          <a:solidFill>
                            <a:srgbClr val="2B3440"/>
                          </a:solidFill>
                          <a:latin typeface="Calibri"/>
                        </a:rPr>
                        <a:t>type chains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1"/>
                  </a:ext>
                </a:extLst>
              </a:tr>
              <a:tr h="457200">
                <a:tc>
                  <a:txBody>
                    <a:bodyPr/>
                    <a:lstStyle/>
                    <a:p>
                      <a:pPr algn="l">
                        <a:spcAft>
                          <a:spcPts val="0"/>
                        </a:spcAft>
                      </a:pPr>
                      <a:r>
                        <a:rPr sz="1400" b="0" i="0">
                          <a:solidFill>
                            <a:srgbClr val="2B3440"/>
                          </a:solidFill>
                          <a:latin typeface="Calibri"/>
                        </a:rPr>
                        <a:t>tag / value chains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8</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2"/>
                  </a:ext>
                </a:extLst>
              </a:tr>
            </a:tbl>
          </a:graphicData>
        </a:graphic>
      </p:graphicFrame>
      <p:sp>
        <p:nvSpPr>
          <p:cNvPr id="72" name="Rounded Rectangle 71"/>
          <p:cNvSpPr/>
          <p:nvPr/>
        </p:nvSpPr>
        <p:spPr>
          <a:xfrm>
            <a:off x="7040880" y="2468880"/>
            <a:ext cx="4544568" cy="2148840"/>
          </a:xfrm>
          <a:prstGeom prst="roundRect">
            <a:avLst>
              <a:gd name="adj" fmla="val 6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7178040" y="2560320"/>
            <a:ext cx="4270248" cy="1074420"/>
          </a:xfrm>
          <a:prstGeom prst="rect">
            <a:avLst/>
          </a:prstGeom>
          <a:noFill/>
        </p:spPr>
        <p:txBody>
          <a:bodyPr wrap="square" lIns="45720" tIns="27432" rIns="45720" bIns="27432" anchor="b">
            <a:spAutoFit/>
          </a:bodyPr>
          <a:lstStyle/>
          <a:p>
            <a:pPr algn="ctr">
              <a:spcAft>
                <a:spcPts val="0"/>
              </a:spcAft>
            </a:pPr>
            <a:r>
              <a:rPr sz="3200" b="1" i="0">
                <a:solidFill>
                  <a:srgbClr val="46CEAE"/>
                </a:solidFill>
                <a:latin typeface="Arial"/>
              </a:rPr>
              <a:t>0.330 / 0.390</a:t>
            </a:r>
          </a:p>
        </p:txBody>
      </p:sp>
      <p:sp>
        <p:nvSpPr>
          <p:cNvPr id="74" name="TextBox 73"/>
          <p:cNvSpPr txBox="1"/>
          <p:nvPr/>
        </p:nvSpPr>
        <p:spPr>
          <a:xfrm>
            <a:off x="7223760" y="3650742"/>
            <a:ext cx="4178808" cy="902513"/>
          </a:xfrm>
          <a:prstGeom prst="rect">
            <a:avLst/>
          </a:prstGeom>
          <a:noFill/>
        </p:spPr>
        <p:txBody>
          <a:bodyPr wrap="square" lIns="45720" tIns="27432" rIns="45720" bIns="27432" anchor="t">
            <a:spAutoFit/>
          </a:bodyPr>
          <a:lstStyle/>
          <a:p>
            <a:pPr algn="ctr">
              <a:spcAft>
                <a:spcPts val="0"/>
              </a:spcAft>
            </a:pPr>
            <a:r>
              <a:rPr sz="1300" b="0" i="0">
                <a:solidFill>
                  <a:srgbClr val="D5DCE4"/>
                </a:solidFill>
                <a:latin typeface="Calibri"/>
              </a:rPr>
              <a:t>precision, Java / Python</a:t>
            </a:r>
          </a:p>
        </p:txBody>
      </p:sp>
      <p:sp>
        <p:nvSpPr>
          <p:cNvPr id="75" name="Rounded Rectangle 74"/>
          <p:cNvSpPr/>
          <p:nvPr/>
        </p:nvSpPr>
        <p:spPr>
          <a:xfrm>
            <a:off x="612648" y="4892040"/>
            <a:ext cx="10972800" cy="1097280"/>
          </a:xfrm>
          <a:prstGeom prst="roundRect">
            <a:avLst>
              <a:gd name="adj" fmla="val 8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Hexagon 75"/>
          <p:cNvSpPr/>
          <p:nvPr/>
        </p:nvSpPr>
        <p:spPr>
          <a:xfrm>
            <a:off x="813816" y="5303520"/>
            <a:ext cx="316840" cy="274320"/>
          </a:xfrm>
          <a:prstGeom prst="hexagon">
            <a:avLst/>
          </a:prstGeom>
          <a:solidFill>
            <a:srgbClr val="46CE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1252728" y="4892040"/>
            <a:ext cx="10149840" cy="1097280"/>
          </a:xfrm>
          <a:prstGeom prst="rect">
            <a:avLst/>
          </a:prstGeom>
          <a:noFill/>
        </p:spPr>
        <p:txBody>
          <a:bodyPr wrap="square" lIns="45720" rIns="45720" anchor="ctr">
            <a:spAutoFit/>
          </a:bodyPr>
          <a:lstStyle/>
          <a:p>
            <a:pPr algn="l">
              <a:spcAft>
                <a:spcPts val="0"/>
              </a:spcAft>
            </a:pPr>
            <a:r>
              <a:rPr sz="1400" b="1" i="0">
                <a:solidFill>
                  <a:srgbClr val="FFFFFF"/>
                </a:solidFill>
                <a:latin typeface="Calibri"/>
              </a:rPr>
              <a:t>Width does not predict truth:</a:t>
            </a:r>
            <a:r>
              <a:rPr sz="1400" b="0" i="0">
                <a:solidFill>
                  <a:srgbClr val="FFFFFF"/>
                </a:solidFill>
                <a:latin typeface="Calibri"/>
              </a:rPr>
              <a:t> precision stays between 0.270 and 0.400 across every band. The sets that are closed in practice are fixed by specifications, not by the language.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4</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SOLID proxies</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LSP: override compared with its nearest ancestor</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26</a:t>
            </a:r>
          </a:p>
        </p:txBody>
      </p:sp>
      <p:sp>
        <p:nvSpPr>
          <p:cNvPr id="66" name="Rounded Rectangle 65"/>
          <p:cNvSpPr/>
          <p:nvPr/>
        </p:nvSpPr>
        <p:spPr>
          <a:xfrm>
            <a:off x="612648" y="914400"/>
            <a:ext cx="6172200" cy="18288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49808" y="1005840"/>
            <a:ext cx="5897880" cy="640080"/>
          </a:xfrm>
          <a:prstGeom prst="rect">
            <a:avLst/>
          </a:prstGeom>
          <a:noFill/>
        </p:spPr>
        <p:txBody>
          <a:bodyPr wrap="square" lIns="45720" tIns="27432" rIns="45720" bIns="27432" anchor="t">
            <a:spAutoFit/>
          </a:bodyPr>
          <a:lstStyle/>
          <a:p>
            <a:pPr algn="l">
              <a:spcAft>
                <a:spcPts val="0"/>
              </a:spcAft>
            </a:pPr>
            <a:r>
              <a:rPr sz="1350" b="0" i="0">
                <a:solidFill>
                  <a:srgbClr val="2B3440"/>
                </a:solidFill>
                <a:latin typeface="Calibri"/>
              </a:rPr>
              <a:t>For each pair (subclass method, nearest ancestor method with the same signature and a real body):</a:t>
            </a:r>
          </a:p>
        </p:txBody>
      </p:sp>
      <p:pic>
        <p:nvPicPr>
          <p:cNvPr id="68" name="Picture 67" descr="eq_07.png"/>
          <p:cNvPicPr>
            <a:picLocks noChangeAspect="1"/>
          </p:cNvPicPr>
          <p:nvPr/>
        </p:nvPicPr>
        <p:blipFill>
          <a:blip r:embed="rId2"/>
          <a:stretch>
            <a:fillRect/>
          </a:stretch>
        </p:blipFill>
        <p:spPr>
          <a:xfrm>
            <a:off x="886968" y="1920240"/>
            <a:ext cx="4879075" cy="457200"/>
          </a:xfrm>
          <a:prstGeom prst="rect">
            <a:avLst/>
          </a:prstGeom>
        </p:spPr>
      </p:pic>
      <p:sp>
        <p:nvSpPr>
          <p:cNvPr id="69" name="Rounded Rectangle 68"/>
          <p:cNvSpPr/>
          <p:nvPr/>
        </p:nvSpPr>
        <p:spPr>
          <a:xfrm>
            <a:off x="612648" y="2880360"/>
            <a:ext cx="6172200" cy="173736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749808" y="2971800"/>
            <a:ext cx="5897880" cy="1554480"/>
          </a:xfrm>
          <a:prstGeom prst="rect">
            <a:avLst/>
          </a:prstGeom>
          <a:noFill/>
        </p:spPr>
        <p:txBody>
          <a:bodyPr wrap="square" lIns="45720" tIns="27432" rIns="45720" bIns="27432" anchor="ctr">
            <a:spAutoFit/>
          </a:bodyPr>
          <a:lstStyle/>
          <a:p>
            <a:pPr algn="l">
              <a:spcAft>
                <a:spcPts val="0"/>
              </a:spcAft>
            </a:pPr>
            <a:r>
              <a:rPr sz="1350" b="1" i="0">
                <a:solidFill>
                  <a:srgbClr val="2B3440"/>
                </a:solidFill>
                <a:latin typeface="Calibri"/>
              </a:rPr>
              <a:t>Java</a:t>
            </a:r>
            <a:r>
              <a:rPr sz="1350" b="0" i="0">
                <a:solidFill>
                  <a:srgbClr val="2B3440"/>
                </a:solidFill>
                <a:latin typeface="Calibri"/>
              </a:rPr>
              <a:t> S = refused bequest, strengthened precondition, weakened postcondition. </a:t>
            </a:r>
            <a:r>
              <a:rPr sz="1350" b="1" i="0">
                <a:solidFill>
                  <a:srgbClr val="2B3440"/>
                </a:solidFill>
                <a:latin typeface="Calibri"/>
              </a:rPr>
              <a:t>Python</a:t>
            </a:r>
            <a:r>
              <a:rPr sz="1350" b="0" i="0">
                <a:solidFill>
                  <a:srgbClr val="2B3440"/>
                </a:solidFill>
                <a:latin typeface="Calibri"/>
              </a:rPr>
              <a:t> S adds what no compiler checks: parameter removed, required parameter added, parameter type narrowed, return type widened.</a:t>
            </a:r>
          </a:p>
        </p:txBody>
      </p:sp>
      <p:graphicFrame>
        <p:nvGraphicFramePr>
          <p:cNvPr id="71" name="Table 70"/>
          <p:cNvGraphicFramePr>
            <a:graphicFrameLocks noGrp="1"/>
          </p:cNvGraphicFramePr>
          <p:nvPr/>
        </p:nvGraphicFramePr>
        <p:xfrm>
          <a:off x="7040880" y="914400"/>
          <a:ext cx="4544568" cy="1828800"/>
        </p:xfrm>
        <a:graphic>
          <a:graphicData uri="http://schemas.openxmlformats.org/drawingml/2006/table">
            <a:tbl>
              <a:tblPr>
                <a:tableStyleId>{2D5ABB26-0587-4C30-8999-92F81FD0307C}</a:tableStyleId>
              </a:tblPr>
              <a:tblGrid>
                <a:gridCol w="3017520">
                  <a:extLst>
                    <a:ext uri="{9D8B030D-6E8A-4147-A177-3AD203B41FA5}">
                      <a16:colId xmlns:a16="http://schemas.microsoft.com/office/drawing/2014/main" val="20000"/>
                    </a:ext>
                  </a:extLst>
                </a:gridCol>
                <a:gridCol w="1527048">
                  <a:extLst>
                    <a:ext uri="{9D8B030D-6E8A-4147-A177-3AD203B41FA5}">
                      <a16:colId xmlns:a16="http://schemas.microsoft.com/office/drawing/2014/main" val="20001"/>
                    </a:ext>
                  </a:extLst>
                </a:gridCol>
              </a:tblGrid>
              <a:tr h="457200">
                <a:tc>
                  <a:txBody>
                    <a:bodyPr/>
                    <a:lstStyle/>
                    <a:p>
                      <a:pPr algn="l">
                        <a:spcAft>
                          <a:spcPts val="0"/>
                        </a:spcAft>
                      </a:pPr>
                      <a:r>
                        <a:rPr sz="1350" b="1" i="0">
                          <a:solidFill>
                            <a:srgbClr val="FFFFFF"/>
                          </a:solidFill>
                          <a:latin typeface="Calibri"/>
                        </a:rPr>
                        <a:t>Java signal</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350" b="1" i="0">
                          <a:solidFill>
                            <a:srgbClr val="FFFFFF"/>
                          </a:solidFill>
                          <a:latin typeface="Calibri"/>
                        </a:rPr>
                        <a:t>precision</a:t>
                      </a:r>
                    </a:p>
                  </a:txBody>
                  <a:tcPr marL="73152" marR="73152" marT="27432" marB="27432" anchor="ctr">
                    <a:lnL w="0">
                      <a:noFill/>
                    </a:lnL>
                    <a:lnR w="0">
                      <a:noFill/>
                    </a:lnR>
                    <a:lnT w="0">
                      <a:noFill/>
                    </a:lnT>
                    <a:lnB w="6350">
                      <a:solidFill>
                        <a:srgbClr val="C9D0D8"/>
                      </a:solidFill>
                    </a:lnB>
                    <a:solidFill>
                      <a:srgbClr val="202A36"/>
                    </a:solidFill>
                  </a:tcPr>
                </a:tc>
                <a:extLst>
                  <a:ext uri="{0D108BD9-81ED-4DB2-BD59-A6C34878D82A}">
                    <a16:rowId xmlns:a16="http://schemas.microsoft.com/office/drawing/2014/main" val="10000"/>
                  </a:ext>
                </a:extLst>
              </a:tr>
              <a:tr h="457200">
                <a:tc>
                  <a:txBody>
                    <a:bodyPr/>
                    <a:lstStyle/>
                    <a:p>
                      <a:pPr algn="l">
                        <a:spcAft>
                          <a:spcPts val="0"/>
                        </a:spcAft>
                      </a:pPr>
                      <a:r>
                        <a:rPr sz="1350" b="0" i="0">
                          <a:solidFill>
                            <a:srgbClr val="2B3440"/>
                          </a:solidFill>
                          <a:latin typeface="Calibri"/>
                        </a:rPr>
                        <a:t>refused bequest</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350" b="0" i="0">
                          <a:solidFill>
                            <a:srgbClr val="2B3440"/>
                          </a:solidFill>
                          <a:latin typeface="Calibri"/>
                        </a:rPr>
                        <a:t>31/31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1"/>
                  </a:ext>
                </a:extLst>
              </a:tr>
              <a:tr h="457200">
                <a:tc>
                  <a:txBody>
                    <a:bodyPr/>
                    <a:lstStyle/>
                    <a:p>
                      <a:pPr algn="l">
                        <a:spcAft>
                          <a:spcPts val="0"/>
                        </a:spcAft>
                      </a:pPr>
                      <a:r>
                        <a:rPr sz="1350" b="0" i="0">
                          <a:solidFill>
                            <a:srgbClr val="2B3440"/>
                          </a:solidFill>
                          <a:latin typeface="Calibri"/>
                        </a:rPr>
                        <a:t>weakened postcondition</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350" b="0" i="0">
                          <a:solidFill>
                            <a:srgbClr val="2B3440"/>
                          </a:solidFill>
                          <a:latin typeface="Calibri"/>
                        </a:rPr>
                        <a:t>6/36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2"/>
                  </a:ext>
                </a:extLst>
              </a:tr>
              <a:tr h="457200">
                <a:tc>
                  <a:txBody>
                    <a:bodyPr/>
                    <a:lstStyle/>
                    <a:p>
                      <a:pPr algn="l">
                        <a:spcAft>
                          <a:spcPts val="0"/>
                        </a:spcAft>
                      </a:pPr>
                      <a:r>
                        <a:rPr sz="1350" b="0" i="0">
                          <a:solidFill>
                            <a:srgbClr val="2B3440"/>
                          </a:solidFill>
                          <a:latin typeface="Calibri"/>
                        </a:rPr>
                        <a:t>strengthened precondition</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350" b="0" i="0">
                          <a:solidFill>
                            <a:srgbClr val="2B3440"/>
                          </a:solidFill>
                          <a:latin typeface="Calibri"/>
                        </a:rPr>
                        <a:t>3/33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3"/>
                  </a:ext>
                </a:extLst>
              </a:tr>
            </a:tbl>
          </a:graphicData>
        </a:graphic>
      </p:graphicFrame>
      <p:sp>
        <p:nvSpPr>
          <p:cNvPr id="72" name="Rounded Rectangle 71"/>
          <p:cNvSpPr/>
          <p:nvPr/>
        </p:nvSpPr>
        <p:spPr>
          <a:xfrm>
            <a:off x="7040880" y="2926080"/>
            <a:ext cx="4544568" cy="1691640"/>
          </a:xfrm>
          <a:prstGeom prst="roundRect">
            <a:avLst>
              <a:gd name="adj" fmla="val 6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7178040" y="3017520"/>
            <a:ext cx="4270248" cy="845820"/>
          </a:xfrm>
          <a:prstGeom prst="rect">
            <a:avLst/>
          </a:prstGeom>
          <a:noFill/>
        </p:spPr>
        <p:txBody>
          <a:bodyPr wrap="square" lIns="45720" tIns="27432" rIns="45720" bIns="27432" anchor="b">
            <a:spAutoFit/>
          </a:bodyPr>
          <a:lstStyle/>
          <a:p>
            <a:pPr algn="ctr">
              <a:spcAft>
                <a:spcPts val="0"/>
              </a:spcAft>
            </a:pPr>
            <a:r>
              <a:rPr sz="3000" b="1" i="0">
                <a:solidFill>
                  <a:srgbClr val="46CEAE"/>
                </a:solidFill>
                <a:latin typeface="Arial"/>
              </a:rPr>
              <a:t>0.420 / 0.510</a:t>
            </a:r>
          </a:p>
        </p:txBody>
      </p:sp>
      <p:sp>
        <p:nvSpPr>
          <p:cNvPr id="74" name="TextBox 73"/>
          <p:cNvSpPr txBox="1"/>
          <p:nvPr/>
        </p:nvSpPr>
        <p:spPr>
          <a:xfrm>
            <a:off x="7223760" y="3856482"/>
            <a:ext cx="4178808" cy="710489"/>
          </a:xfrm>
          <a:prstGeom prst="rect">
            <a:avLst/>
          </a:prstGeom>
          <a:noFill/>
        </p:spPr>
        <p:txBody>
          <a:bodyPr wrap="square" lIns="45720" tIns="27432" rIns="45720" bIns="27432" anchor="t">
            <a:spAutoFit/>
          </a:bodyPr>
          <a:lstStyle/>
          <a:p>
            <a:pPr algn="ctr">
              <a:spcAft>
                <a:spcPts val="0"/>
              </a:spcAft>
            </a:pPr>
            <a:r>
              <a:rPr sz="1300" b="0" i="0">
                <a:solidFill>
                  <a:srgbClr val="D5DCE4"/>
                </a:solidFill>
                <a:latin typeface="Calibri"/>
              </a:rPr>
              <a:t>precision of the full signal set, Java / Python</a:t>
            </a:r>
          </a:p>
        </p:txBody>
      </p:sp>
      <p:sp>
        <p:nvSpPr>
          <p:cNvPr id="75" name="Rounded Rectangle 74"/>
          <p:cNvSpPr/>
          <p:nvPr/>
        </p:nvSpPr>
        <p:spPr>
          <a:xfrm>
            <a:off x="612648" y="4892040"/>
            <a:ext cx="10972800" cy="914400"/>
          </a:xfrm>
          <a:prstGeom prst="roundRect">
            <a:avLst>
              <a:gd name="adj" fmla="val 8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Hexagon 75"/>
          <p:cNvSpPr/>
          <p:nvPr/>
        </p:nvSpPr>
        <p:spPr>
          <a:xfrm>
            <a:off x="813816" y="5212080"/>
            <a:ext cx="316840" cy="274320"/>
          </a:xfrm>
          <a:prstGeom prst="hexagon">
            <a:avLst/>
          </a:prstGeom>
          <a:solidFill>
            <a:srgbClr val="46CE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1252728" y="4892040"/>
            <a:ext cx="10149840" cy="914400"/>
          </a:xfrm>
          <a:prstGeom prst="rect">
            <a:avLst/>
          </a:prstGeom>
          <a:noFill/>
        </p:spPr>
        <p:txBody>
          <a:bodyPr wrap="square" lIns="45720" rIns="45720" anchor="ctr">
            <a:spAutoFit/>
          </a:bodyPr>
          <a:lstStyle/>
          <a:p>
            <a:pPr algn="l">
              <a:spcAft>
                <a:spcPts val="0"/>
              </a:spcAft>
            </a:pPr>
            <a:r>
              <a:rPr sz="1400" b="1" i="0">
                <a:solidFill>
                  <a:srgbClr val="FFFFFF"/>
                </a:solidFill>
                <a:latin typeface="Calibri"/>
              </a:rPr>
              <a:t>The shipped Java flag keeps refused bequest only:</a:t>
            </a:r>
            <a:r>
              <a:rPr sz="1400" b="0" i="0">
                <a:solidFill>
                  <a:srgbClr val="FFFFFF"/>
                </a:solidFill>
                <a:latin typeface="Calibri"/>
              </a:rPr>
              <a:t> 64 of 64 across two samples.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4</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SOLID proxies</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ISP: contract width and implementer stubs</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27</a:t>
            </a:r>
          </a:p>
        </p:txBody>
      </p:sp>
      <p:sp>
        <p:nvSpPr>
          <p:cNvPr id="66" name="Rounded Rectangle 65"/>
          <p:cNvSpPr/>
          <p:nvPr/>
        </p:nvSpPr>
        <p:spPr>
          <a:xfrm>
            <a:off x="612648" y="914400"/>
            <a:ext cx="6172200" cy="210312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49808" y="1005840"/>
            <a:ext cx="5897880" cy="914400"/>
          </a:xfrm>
          <a:prstGeom prst="rect">
            <a:avLst/>
          </a:prstGeom>
          <a:noFill/>
        </p:spPr>
        <p:txBody>
          <a:bodyPr wrap="square" lIns="45720" tIns="27432" rIns="45720" bIns="27432" anchor="t">
            <a:spAutoFit/>
          </a:bodyPr>
          <a:lstStyle/>
          <a:p>
            <a:pPr algn="l">
              <a:spcAft>
                <a:spcPts val="0"/>
              </a:spcAft>
            </a:pPr>
            <a:r>
              <a:rPr sz="1350" b="0" i="0">
                <a:solidFill>
                  <a:srgbClr val="2B3440"/>
                </a:solidFill>
                <a:latin typeface="Calibri"/>
              </a:rPr>
              <a:t>A contract is an interface or abstract class with at least one abstract member and at least one implementer inside the repository. Width w = abstract members; for each implementer,</a:t>
            </a:r>
          </a:p>
        </p:txBody>
      </p:sp>
      <p:pic>
        <p:nvPicPr>
          <p:cNvPr id="68" name="Picture 67" descr="eq_08.png"/>
          <p:cNvPicPr>
            <a:picLocks noChangeAspect="1"/>
          </p:cNvPicPr>
          <p:nvPr/>
        </p:nvPicPr>
        <p:blipFill>
          <a:blip r:embed="rId2"/>
          <a:stretch>
            <a:fillRect/>
          </a:stretch>
        </p:blipFill>
        <p:spPr>
          <a:xfrm>
            <a:off x="886968" y="2240280"/>
            <a:ext cx="2753958" cy="640080"/>
          </a:xfrm>
          <a:prstGeom prst="rect">
            <a:avLst/>
          </a:prstGeom>
        </p:spPr>
      </p:pic>
      <p:sp>
        <p:nvSpPr>
          <p:cNvPr id="69" name="Rounded Rectangle 68"/>
          <p:cNvSpPr/>
          <p:nvPr/>
        </p:nvSpPr>
        <p:spPr>
          <a:xfrm>
            <a:off x="612648" y="3154680"/>
            <a:ext cx="6172200" cy="210312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749808" y="3200400"/>
            <a:ext cx="5897880" cy="2011680"/>
          </a:xfrm>
          <a:prstGeom prst="rect">
            <a:avLst/>
          </a:prstGeom>
          <a:noFill/>
        </p:spPr>
        <p:txBody>
          <a:bodyPr wrap="square" lIns="45720" tIns="27432" rIns="45720" bIns="27432" anchor="ctr">
            <a:spAutoFit/>
          </a:bodyPr>
          <a:lstStyle/>
          <a:p>
            <a:pPr algn="l">
              <a:spcAft>
                <a:spcPts val="600"/>
              </a:spcAft>
            </a:pPr>
            <a:r>
              <a:rPr sz="1350" b="1" i="0">
                <a:solidFill>
                  <a:srgbClr val="2B3440"/>
                </a:solidFill>
                <a:latin typeface="Calibri"/>
              </a:rPr>
              <a:t>Java:</a:t>
            </a:r>
            <a:r>
              <a:rPr sz="1350" b="0" i="0">
                <a:solidFill>
                  <a:srgbClr val="2B3440"/>
                </a:solidFill>
                <a:latin typeface="Calibri"/>
              </a:rPr>
              <a:t> contract fat if w ≥ 13; forced stub if stubs ≥ 2 and s ≥ 0.5. Flag if the request creates a fat contract, widens one, or leaves a forced stub.</a:t>
            </a:r>
          </a:p>
          <a:p>
            <a:pPr algn="l">
              <a:spcAft>
                <a:spcPts val="0"/>
              </a:spcAft>
            </a:pPr>
            <a:r>
              <a:rPr sz="1350" b="1" i="0">
                <a:solidFill>
                  <a:srgbClr val="2B3440"/>
                </a:solidFill>
                <a:latin typeface="Calibri"/>
              </a:rPr>
              <a:t>Python:</a:t>
            </a:r>
            <a:r>
              <a:rPr sz="1350" b="0" i="0">
                <a:solidFill>
                  <a:srgbClr val="2B3440"/>
                </a:solidFill>
                <a:latin typeface="Calibri"/>
              </a:rPr>
              <a:t> flag if at least two of: w &gt; 7; mean implementer coverage &lt; 0.75 over ≥ 2 implementers; an implementer with forced stubs.</a:t>
            </a:r>
          </a:p>
        </p:txBody>
      </p:sp>
      <p:graphicFrame>
        <p:nvGraphicFramePr>
          <p:cNvPr id="71" name="Table 70"/>
          <p:cNvGraphicFramePr>
            <a:graphicFrameLocks noGrp="1"/>
          </p:cNvGraphicFramePr>
          <p:nvPr/>
        </p:nvGraphicFramePr>
        <p:xfrm>
          <a:off x="7040880" y="914400"/>
          <a:ext cx="4544568" cy="2359152"/>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435608">
                  <a:extLst>
                    <a:ext uri="{9D8B030D-6E8A-4147-A177-3AD203B41FA5}">
                      <a16:colId xmlns:a16="http://schemas.microsoft.com/office/drawing/2014/main" val="20002"/>
                    </a:ext>
                  </a:extLst>
                </a:gridCol>
              </a:tblGrid>
              <a:tr h="393192">
                <a:tc>
                  <a:txBody>
                    <a:bodyPr/>
                    <a:lstStyle/>
                    <a:p>
                      <a:pPr algn="l">
                        <a:spcAft>
                          <a:spcPts val="0"/>
                        </a:spcAft>
                      </a:pPr>
                      <a:r>
                        <a:rPr sz="1350" b="1" i="0">
                          <a:solidFill>
                            <a:srgbClr val="FFFFFF"/>
                          </a:solidFill>
                          <a:latin typeface="Calibri"/>
                        </a:rPr>
                        <a:t>Members</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350" b="1" i="0">
                          <a:solidFill>
                            <a:srgbClr val="FFFFFF"/>
                          </a:solidFill>
                          <a:latin typeface="Calibri"/>
                        </a:rPr>
                        <a:t>judged</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350" b="1" i="0">
                          <a:solidFill>
                            <a:srgbClr val="FFFFFF"/>
                          </a:solidFill>
                          <a:latin typeface="Calibri"/>
                        </a:rPr>
                        <a:t>precision</a:t>
                      </a:r>
                    </a:p>
                  </a:txBody>
                  <a:tcPr marL="73152" marR="73152" marT="27432" marB="27432" anchor="ctr">
                    <a:lnL w="0">
                      <a:noFill/>
                    </a:lnL>
                    <a:lnR w="0">
                      <a:noFill/>
                    </a:lnR>
                    <a:lnT w="0">
                      <a:noFill/>
                    </a:lnT>
                    <a:lnB w="6350">
                      <a:solidFill>
                        <a:srgbClr val="C9D0D8"/>
                      </a:solidFill>
                    </a:lnB>
                    <a:solidFill>
                      <a:srgbClr val="202A36"/>
                    </a:solidFill>
                  </a:tcPr>
                </a:tc>
                <a:extLst>
                  <a:ext uri="{0D108BD9-81ED-4DB2-BD59-A6C34878D82A}">
                    <a16:rowId xmlns:a16="http://schemas.microsoft.com/office/drawing/2014/main" val="10000"/>
                  </a:ext>
                </a:extLst>
              </a:tr>
              <a:tr h="393192">
                <a:tc>
                  <a:txBody>
                    <a:bodyPr/>
                    <a:lstStyle/>
                    <a:p>
                      <a:pPr algn="l">
                        <a:spcAft>
                          <a:spcPts val="0"/>
                        </a:spcAft>
                      </a:pPr>
                      <a:r>
                        <a:rPr sz="1350" b="0" i="0">
                          <a:solidFill>
                            <a:srgbClr val="2B3440"/>
                          </a:solidFill>
                          <a:latin typeface="Calibri"/>
                        </a:rPr>
                        <a:t>0–17</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350" b="0" i="0">
                          <a:solidFill>
                            <a:srgbClr val="2B3440"/>
                          </a:solidFill>
                          <a:latin typeface="Calibri"/>
                        </a:rPr>
                        <a:t>43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350" b="0" i="0">
                          <a:solidFill>
                            <a:srgbClr val="2B3440"/>
                          </a:solidFill>
                          <a:latin typeface="Calibri"/>
                        </a:rPr>
                        <a:t>0.116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1"/>
                  </a:ext>
                </a:extLst>
              </a:tr>
              <a:tr h="393192">
                <a:tc>
                  <a:txBody>
                    <a:bodyPr/>
                    <a:lstStyle/>
                    <a:p>
                      <a:pPr algn="l">
                        <a:spcAft>
                          <a:spcPts val="0"/>
                        </a:spcAft>
                      </a:pPr>
                      <a:r>
                        <a:rPr sz="1350" b="0" i="0">
                          <a:solidFill>
                            <a:srgbClr val="2B3440"/>
                          </a:solidFill>
                          <a:latin typeface="Calibri"/>
                        </a:rPr>
                        <a:t>18–29</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350" b="0" i="0">
                          <a:solidFill>
                            <a:srgbClr val="2B3440"/>
                          </a:solidFill>
                          <a:latin typeface="Calibri"/>
                        </a:rPr>
                        <a:t>28</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350" b="0" i="0">
                          <a:solidFill>
                            <a:srgbClr val="2B3440"/>
                          </a:solidFill>
                          <a:latin typeface="Calibri"/>
                        </a:rPr>
                        <a:t>0.071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2"/>
                  </a:ext>
                </a:extLst>
              </a:tr>
              <a:tr h="393192">
                <a:tc>
                  <a:txBody>
                    <a:bodyPr/>
                    <a:lstStyle/>
                    <a:p>
                      <a:pPr algn="l">
                        <a:spcAft>
                          <a:spcPts val="0"/>
                        </a:spcAft>
                      </a:pPr>
                      <a:r>
                        <a:rPr sz="1350" b="0" i="0">
                          <a:solidFill>
                            <a:srgbClr val="2B3440"/>
                          </a:solidFill>
                          <a:latin typeface="Calibri"/>
                        </a:rPr>
                        <a:t>30–49</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350" b="0" i="0">
                          <a:solidFill>
                            <a:srgbClr val="2B3440"/>
                          </a:solidFill>
                          <a:latin typeface="Calibri"/>
                        </a:rPr>
                        <a:t>14</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350" b="0" i="0">
                          <a:solidFill>
                            <a:srgbClr val="2B3440"/>
                          </a:solidFill>
                          <a:latin typeface="Calibri"/>
                        </a:rPr>
                        <a:t>0.786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3"/>
                  </a:ext>
                </a:extLst>
              </a:tr>
              <a:tr h="393192">
                <a:tc>
                  <a:txBody>
                    <a:bodyPr/>
                    <a:lstStyle/>
                    <a:p>
                      <a:pPr algn="l">
                        <a:spcAft>
                          <a:spcPts val="0"/>
                        </a:spcAft>
                      </a:pPr>
                      <a:r>
                        <a:rPr sz="1350" b="0" i="0">
                          <a:solidFill>
                            <a:srgbClr val="2B3440"/>
                          </a:solidFill>
                          <a:latin typeface="Calibri"/>
                        </a:rPr>
                        <a:t>50–99</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350" b="0" i="0">
                          <a:solidFill>
                            <a:srgbClr val="2B3440"/>
                          </a:solidFill>
                          <a:latin typeface="Calibri"/>
                        </a:rPr>
                        <a:t>10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350" b="0" i="0">
                          <a:solidFill>
                            <a:srgbClr val="2B3440"/>
                          </a:solidFill>
                          <a:latin typeface="Calibri"/>
                        </a:rPr>
                        <a:t>0.900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4"/>
                  </a:ext>
                </a:extLst>
              </a:tr>
              <a:tr h="393192">
                <a:tc>
                  <a:txBody>
                    <a:bodyPr/>
                    <a:lstStyle/>
                    <a:p>
                      <a:pPr algn="l">
                        <a:spcAft>
                          <a:spcPts val="0"/>
                        </a:spcAft>
                      </a:pPr>
                      <a:r>
                        <a:rPr sz="1350" b="0" i="0">
                          <a:solidFill>
                            <a:srgbClr val="2B3440"/>
                          </a:solidFill>
                          <a:latin typeface="Calibri"/>
                        </a:rPr>
                        <a:t>≥100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350" b="0" i="0">
                          <a:solidFill>
                            <a:srgbClr val="2B3440"/>
                          </a:solidFill>
                          <a:latin typeface="Calibri"/>
                        </a:rPr>
                        <a:t>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350" b="0" i="0">
                          <a:solidFill>
                            <a:srgbClr val="2B3440"/>
                          </a:solidFill>
                          <a:latin typeface="Calibri"/>
                        </a:rPr>
                        <a:t>1.000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5"/>
                  </a:ext>
                </a:extLst>
              </a:tr>
            </a:tbl>
          </a:graphicData>
        </a:graphic>
      </p:graphicFrame>
      <p:sp>
        <p:nvSpPr>
          <p:cNvPr id="72" name="Rounded Rectangle 71"/>
          <p:cNvSpPr/>
          <p:nvPr/>
        </p:nvSpPr>
        <p:spPr>
          <a:xfrm>
            <a:off x="7040880" y="3456432"/>
            <a:ext cx="4544568" cy="1801368"/>
          </a:xfrm>
          <a:prstGeom prst="roundRect">
            <a:avLst>
              <a:gd name="adj" fmla="val 6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7178040" y="3547872"/>
            <a:ext cx="4270248" cy="900684"/>
          </a:xfrm>
          <a:prstGeom prst="rect">
            <a:avLst/>
          </a:prstGeom>
          <a:noFill/>
        </p:spPr>
        <p:txBody>
          <a:bodyPr wrap="square" lIns="45720" tIns="27432" rIns="45720" bIns="27432" anchor="b">
            <a:spAutoFit/>
          </a:bodyPr>
          <a:lstStyle/>
          <a:p>
            <a:pPr algn="ctr">
              <a:spcAft>
                <a:spcPts val="0"/>
              </a:spcAft>
            </a:pPr>
            <a:r>
              <a:rPr sz="3000" b="1" i="0">
                <a:solidFill>
                  <a:srgbClr val="46CEAE"/>
                </a:solidFill>
                <a:latin typeface="Arial"/>
              </a:rPr>
              <a:t>0.335 / 0.425</a:t>
            </a:r>
          </a:p>
        </p:txBody>
      </p:sp>
      <p:sp>
        <p:nvSpPr>
          <p:cNvPr id="74" name="TextBox 73"/>
          <p:cNvSpPr txBox="1"/>
          <p:nvPr/>
        </p:nvSpPr>
        <p:spPr>
          <a:xfrm>
            <a:off x="7223760" y="4447184"/>
            <a:ext cx="4178808" cy="756575"/>
          </a:xfrm>
          <a:prstGeom prst="rect">
            <a:avLst/>
          </a:prstGeom>
          <a:noFill/>
        </p:spPr>
        <p:txBody>
          <a:bodyPr wrap="square" lIns="45720" tIns="27432" rIns="45720" bIns="27432" anchor="t">
            <a:spAutoFit/>
          </a:bodyPr>
          <a:lstStyle/>
          <a:p>
            <a:pPr algn="ctr">
              <a:spcAft>
                <a:spcPts val="0"/>
              </a:spcAft>
            </a:pPr>
            <a:r>
              <a:rPr sz="1300" b="0" i="0">
                <a:solidFill>
                  <a:srgbClr val="D5DCE4"/>
                </a:solidFill>
                <a:latin typeface="Calibri"/>
              </a:rPr>
              <a:t>precision, Java / Python</a:t>
            </a:r>
          </a:p>
        </p:txBody>
      </p:sp>
      <p:sp>
        <p:nvSpPr>
          <p:cNvPr id="75" name="Rounded Rectangle 74"/>
          <p:cNvSpPr/>
          <p:nvPr/>
        </p:nvSpPr>
        <p:spPr>
          <a:xfrm>
            <a:off x="612648" y="5440680"/>
            <a:ext cx="10972800" cy="777240"/>
          </a:xfrm>
          <a:prstGeom prst="roundRect">
            <a:avLst>
              <a:gd name="adj" fmla="val 8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Hexagon 75"/>
          <p:cNvSpPr/>
          <p:nvPr/>
        </p:nvSpPr>
        <p:spPr>
          <a:xfrm>
            <a:off x="813816" y="5692140"/>
            <a:ext cx="316840" cy="274320"/>
          </a:xfrm>
          <a:prstGeom prst="hexagon">
            <a:avLst/>
          </a:prstGeom>
          <a:solidFill>
            <a:srgbClr val="46CE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1252728" y="5440680"/>
            <a:ext cx="10149840" cy="777240"/>
          </a:xfrm>
          <a:prstGeom prst="rect">
            <a:avLst/>
          </a:prstGeom>
          <a:noFill/>
        </p:spPr>
        <p:txBody>
          <a:bodyPr wrap="square" lIns="45720" rIns="45720" anchor="ctr">
            <a:spAutoFit/>
          </a:bodyPr>
          <a:lstStyle/>
          <a:p>
            <a:pPr algn="l">
              <a:spcAft>
                <a:spcPts val="0"/>
              </a:spcAft>
            </a:pPr>
            <a:r>
              <a:rPr sz="1400" b="0" i="0">
                <a:solidFill>
                  <a:srgbClr val="FFFFFF"/>
                </a:solidFill>
                <a:latin typeface="Calibri"/>
              </a:rPr>
              <a:t>Width does separate violations here, which is why 13 was too low a bar.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4</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SOLID proxies</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DIP: new cycles in the import graph</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28</a:t>
            </a:r>
          </a:p>
        </p:txBody>
      </p:sp>
      <p:sp>
        <p:nvSpPr>
          <p:cNvPr id="66" name="Rounded Rectangle 65"/>
          <p:cNvSpPr/>
          <p:nvPr/>
        </p:nvSpPr>
        <p:spPr>
          <a:xfrm>
            <a:off x="612648" y="914400"/>
            <a:ext cx="6172200" cy="25146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49808" y="1005840"/>
            <a:ext cx="5897880" cy="914400"/>
          </a:xfrm>
          <a:prstGeom prst="rect">
            <a:avLst/>
          </a:prstGeom>
          <a:noFill/>
        </p:spPr>
        <p:txBody>
          <a:bodyPr wrap="square" lIns="45720" tIns="27432" rIns="45720" bIns="27432" anchor="t">
            <a:spAutoFit/>
          </a:bodyPr>
          <a:lstStyle/>
          <a:p>
            <a:pPr algn="l">
              <a:spcAft>
                <a:spcPts val="0"/>
              </a:spcAft>
            </a:pPr>
            <a:r>
              <a:rPr sz="1350" b="0" i="0">
                <a:solidFill>
                  <a:srgbClr val="2B3440"/>
                </a:solidFill>
                <a:latin typeface="Calibri"/>
              </a:rPr>
              <a:t>Build the internal import graph before and after the change and take strongly connected components with Tarjan’s algorithm. With P(G) the set of module pairs inside one component:</a:t>
            </a:r>
          </a:p>
        </p:txBody>
      </p:sp>
      <p:pic>
        <p:nvPicPr>
          <p:cNvPr id="68" name="Picture 67" descr="eq_09.png"/>
          <p:cNvPicPr>
            <a:picLocks noChangeAspect="1"/>
          </p:cNvPicPr>
          <p:nvPr/>
        </p:nvPicPr>
        <p:blipFill>
          <a:blip r:embed="rId2"/>
          <a:stretch>
            <a:fillRect/>
          </a:stretch>
        </p:blipFill>
        <p:spPr>
          <a:xfrm>
            <a:off x="886968" y="2103120"/>
            <a:ext cx="3725839" cy="457200"/>
          </a:xfrm>
          <a:prstGeom prst="rect">
            <a:avLst/>
          </a:prstGeom>
        </p:spPr>
      </p:pic>
      <p:pic>
        <p:nvPicPr>
          <p:cNvPr id="69" name="Picture 68" descr="eq_10.png"/>
          <p:cNvPicPr>
            <a:picLocks noChangeAspect="1"/>
          </p:cNvPicPr>
          <p:nvPr/>
        </p:nvPicPr>
        <p:blipFill>
          <a:blip r:embed="rId3"/>
          <a:stretch>
            <a:fillRect/>
          </a:stretch>
        </p:blipFill>
        <p:spPr>
          <a:xfrm>
            <a:off x="886968" y="2697480"/>
            <a:ext cx="5356746" cy="457200"/>
          </a:xfrm>
          <a:prstGeom prst="rect">
            <a:avLst/>
          </a:prstGeom>
        </p:spPr>
      </p:pic>
      <p:sp>
        <p:nvSpPr>
          <p:cNvPr id="70" name="Rounded Rectangle 69"/>
          <p:cNvSpPr/>
          <p:nvPr/>
        </p:nvSpPr>
        <p:spPr>
          <a:xfrm>
            <a:off x="612648" y="3566160"/>
            <a:ext cx="6172200" cy="128016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49808" y="3611880"/>
            <a:ext cx="5897880" cy="1188720"/>
          </a:xfrm>
          <a:prstGeom prst="rect">
            <a:avLst/>
          </a:prstGeom>
          <a:noFill/>
        </p:spPr>
        <p:txBody>
          <a:bodyPr wrap="square" lIns="45720" tIns="27432" rIns="45720" bIns="27432" anchor="ctr">
            <a:spAutoFit/>
          </a:bodyPr>
          <a:lstStyle/>
          <a:p>
            <a:pPr algn="l">
              <a:spcAft>
                <a:spcPts val="0"/>
              </a:spcAft>
            </a:pPr>
            <a:r>
              <a:rPr sz="1400" b="0" i="0">
                <a:solidFill>
                  <a:srgbClr val="2B3440"/>
                </a:solidFill>
                <a:latin typeface="Calibri"/>
              </a:rPr>
              <a:t>Also computed, as description only: I = C</a:t>
            </a:r>
            <a:r>
              <a:rPr sz="1400" b="0" i="0" baseline="-25000">
                <a:solidFill>
                  <a:srgbClr val="2B3440"/>
                </a:solidFill>
                <a:latin typeface="Calibri"/>
              </a:rPr>
              <a:t>e</a:t>
            </a:r>
            <a:r>
              <a:rPr sz="1400" b="0" i="0">
                <a:solidFill>
                  <a:srgbClr val="2B3440"/>
                </a:solidFill>
                <a:latin typeface="Calibri"/>
              </a:rPr>
              <a:t>/(C</a:t>
            </a:r>
            <a:r>
              <a:rPr sz="1400" b="0" i="0" baseline="-25000">
                <a:solidFill>
                  <a:srgbClr val="2B3440"/>
                </a:solidFill>
                <a:latin typeface="Calibri"/>
              </a:rPr>
              <a:t>a</a:t>
            </a:r>
            <a:r>
              <a:rPr sz="1400" b="0" i="0">
                <a:solidFill>
                  <a:srgbClr val="2B3440"/>
                </a:solidFill>
                <a:latin typeface="Calibri"/>
              </a:rPr>
              <a:t> + C</a:t>
            </a:r>
            <a:r>
              <a:rPr sz="1400" b="0" i="0" baseline="-25000">
                <a:solidFill>
                  <a:srgbClr val="2B3440"/>
                </a:solidFill>
                <a:latin typeface="Calibri"/>
              </a:rPr>
              <a:t>e</a:t>
            </a:r>
            <a:r>
              <a:rPr sz="1400" b="0" i="0">
                <a:solidFill>
                  <a:srgbClr val="2B3440"/>
                </a:solidFill>
                <a:latin typeface="Calibri"/>
              </a:rPr>
              <a:t>), A = N</a:t>
            </a:r>
            <a:r>
              <a:rPr sz="1400" b="0" i="0" baseline="-25000">
                <a:solidFill>
                  <a:srgbClr val="2B3440"/>
                </a:solidFill>
                <a:latin typeface="Calibri"/>
              </a:rPr>
              <a:t>a</a:t>
            </a:r>
            <a:r>
              <a:rPr sz="1400" b="0" i="0">
                <a:solidFill>
                  <a:srgbClr val="2B3440"/>
                </a:solidFill>
                <a:latin typeface="Calibri"/>
              </a:rPr>
              <a:t>/N</a:t>
            </a:r>
            <a:r>
              <a:rPr sz="1400" b="0" i="0" baseline="-25000">
                <a:solidFill>
                  <a:srgbClr val="2B3440"/>
                </a:solidFill>
                <a:latin typeface="Calibri"/>
              </a:rPr>
              <a:t>c</a:t>
            </a:r>
            <a:r>
              <a:rPr sz="1400" b="0" i="0">
                <a:solidFill>
                  <a:srgbClr val="2B3440"/>
                </a:solidFill>
                <a:latin typeface="Calibri"/>
              </a:rPr>
              <a:t>, D = |A + I − 1|.</a:t>
            </a:r>
          </a:p>
        </p:txBody>
      </p:sp>
      <p:sp>
        <p:nvSpPr>
          <p:cNvPr id="72" name="Rounded Rectangle 71"/>
          <p:cNvSpPr/>
          <p:nvPr/>
        </p:nvSpPr>
        <p:spPr>
          <a:xfrm>
            <a:off x="7040880" y="914400"/>
            <a:ext cx="4544568" cy="1600200"/>
          </a:xfrm>
          <a:prstGeom prst="roundRect">
            <a:avLst>
              <a:gd name="adj" fmla="val 6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7178040" y="1005840"/>
            <a:ext cx="4270248" cy="800100"/>
          </a:xfrm>
          <a:prstGeom prst="rect">
            <a:avLst/>
          </a:prstGeom>
          <a:noFill/>
        </p:spPr>
        <p:txBody>
          <a:bodyPr wrap="square" lIns="45720" tIns="27432" rIns="45720" bIns="27432" anchor="b">
            <a:spAutoFit/>
          </a:bodyPr>
          <a:lstStyle/>
          <a:p>
            <a:pPr algn="ctr">
              <a:spcAft>
                <a:spcPts val="0"/>
              </a:spcAft>
            </a:pPr>
            <a:r>
              <a:rPr sz="3200" b="1" i="0">
                <a:solidFill>
                  <a:srgbClr val="46CEAE"/>
                </a:solidFill>
                <a:latin typeface="Arial"/>
              </a:rPr>
              <a:t>0.892 / 1.000</a:t>
            </a:r>
          </a:p>
        </p:txBody>
      </p:sp>
      <p:sp>
        <p:nvSpPr>
          <p:cNvPr id="74" name="TextBox 73"/>
          <p:cNvSpPr txBox="1"/>
          <p:nvPr/>
        </p:nvSpPr>
        <p:spPr>
          <a:xfrm>
            <a:off x="7223760" y="1794510"/>
            <a:ext cx="4178808" cy="672084"/>
          </a:xfrm>
          <a:prstGeom prst="rect">
            <a:avLst/>
          </a:prstGeom>
          <a:noFill/>
        </p:spPr>
        <p:txBody>
          <a:bodyPr wrap="square" lIns="45720" tIns="27432" rIns="45720" bIns="27432" anchor="t">
            <a:spAutoFit/>
          </a:bodyPr>
          <a:lstStyle/>
          <a:p>
            <a:pPr algn="ctr">
              <a:spcAft>
                <a:spcPts val="0"/>
              </a:spcAft>
            </a:pPr>
            <a:r>
              <a:rPr sz="1300" b="0" i="0">
                <a:solidFill>
                  <a:srgbClr val="D5DCE4"/>
                </a:solidFill>
                <a:latin typeface="Calibri"/>
              </a:rPr>
              <a:t>precision, Java / Python</a:t>
            </a:r>
          </a:p>
        </p:txBody>
      </p:sp>
      <p:sp>
        <p:nvSpPr>
          <p:cNvPr id="75" name="Rounded Rectangle 74"/>
          <p:cNvSpPr/>
          <p:nvPr/>
        </p:nvSpPr>
        <p:spPr>
          <a:xfrm>
            <a:off x="7040880" y="2697480"/>
            <a:ext cx="4544568" cy="2148840"/>
          </a:xfrm>
          <a:prstGeom prst="roundRect">
            <a:avLst>
              <a:gd name="adj" fmla="val 6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7178040" y="2697480"/>
            <a:ext cx="4270248" cy="2148840"/>
          </a:xfrm>
          <a:prstGeom prst="rect">
            <a:avLst/>
          </a:prstGeom>
          <a:noFill/>
        </p:spPr>
        <p:txBody>
          <a:bodyPr wrap="square" lIns="45720" tIns="54864" rIns="45720" bIns="54864" anchor="ctr">
            <a:spAutoFit/>
          </a:bodyPr>
          <a:lstStyle/>
          <a:p>
            <a:pPr algn="l">
              <a:spcAft>
                <a:spcPts val="0"/>
              </a:spcAft>
            </a:pPr>
            <a:r>
              <a:rPr sz="1400" b="1" i="0">
                <a:solidFill>
                  <a:srgbClr val="2B3440"/>
                </a:solidFill>
                <a:latin typeface="Calibri"/>
              </a:rPr>
              <a:t>Java precision is exact:</a:t>
            </a:r>
            <a:r>
              <a:rPr sz="1400" b="0" i="0">
                <a:solidFill>
                  <a:srgbClr val="2B3440"/>
                </a:solidFill>
                <a:latin typeface="Calibri"/>
              </a:rPr>
              <a:t> all 195 flagged pull requests were judged. In Python, 100 of 173 were judged and all were correct.</a:t>
            </a:r>
          </a:p>
        </p:txBody>
      </p:sp>
      <p:sp>
        <p:nvSpPr>
          <p:cNvPr id="77" name="Rounded Rectangle 76"/>
          <p:cNvSpPr/>
          <p:nvPr/>
        </p:nvSpPr>
        <p:spPr>
          <a:xfrm>
            <a:off x="612648" y="5120640"/>
            <a:ext cx="10972800" cy="1005840"/>
          </a:xfrm>
          <a:prstGeom prst="roundRect">
            <a:avLst>
              <a:gd name="adj" fmla="val 8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Hexagon 77"/>
          <p:cNvSpPr/>
          <p:nvPr/>
        </p:nvSpPr>
        <p:spPr>
          <a:xfrm>
            <a:off x="813816" y="5486400"/>
            <a:ext cx="316840" cy="274320"/>
          </a:xfrm>
          <a:prstGeom prst="hexagon">
            <a:avLst/>
          </a:prstGeom>
          <a:solidFill>
            <a:srgbClr val="46CE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1252728" y="5120640"/>
            <a:ext cx="10149840" cy="1005840"/>
          </a:xfrm>
          <a:prstGeom prst="rect">
            <a:avLst/>
          </a:prstGeom>
          <a:noFill/>
        </p:spPr>
        <p:txBody>
          <a:bodyPr wrap="square" lIns="45720" rIns="45720" anchor="ctr">
            <a:spAutoFit/>
          </a:bodyPr>
          <a:lstStyle/>
          <a:p>
            <a:pPr algn="l">
              <a:spcAft>
                <a:spcPts val="0"/>
              </a:spcAft>
            </a:pPr>
            <a:r>
              <a:rPr sz="1400" b="0" i="0">
                <a:solidFill>
                  <a:srgbClr val="FFFFFF"/>
                </a:solidFill>
                <a:latin typeface="Calibri"/>
              </a:rPr>
              <a:t>The distance D was tested as a change signal and confirmed </a:t>
            </a:r>
            <a:r>
              <a:rPr sz="1400" b="1" i="0">
                <a:solidFill>
                  <a:srgbClr val="FFFFFF"/>
                </a:solidFill>
                <a:latin typeface="Calibri"/>
              </a:rPr>
              <a:t>none of 17 flags</a:t>
            </a:r>
            <a:r>
              <a:rPr sz="1400" b="0" i="0">
                <a:solidFill>
                  <a:srgbClr val="FFFFFF"/>
                </a:solidFill>
                <a:latin typeface="Calibri"/>
              </a:rPr>
              <a:t>, so it describes packages and never raises a flag.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4</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SOLID proxies</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Calibration: same rules, two languages</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29</a:t>
            </a:r>
          </a:p>
        </p:txBody>
      </p:sp>
      <p:graphicFrame>
        <p:nvGraphicFramePr>
          <p:cNvPr id="66" name="Table 65"/>
          <p:cNvGraphicFramePr>
            <a:graphicFrameLocks noGrp="1"/>
          </p:cNvGraphicFramePr>
          <p:nvPr/>
        </p:nvGraphicFramePr>
        <p:xfrm>
          <a:off x="612648" y="914400"/>
          <a:ext cx="10972800" cy="3657600"/>
        </p:xfrm>
        <a:graphic>
          <a:graphicData uri="http://schemas.openxmlformats.org/drawingml/2006/table">
            <a:tbl>
              <a:tblPr>
                <a:tableStyleId>{2D5ABB26-0587-4C30-8999-92F81FD0307C}</a:tableStyleId>
              </a:tblPr>
              <a:tblGrid>
                <a:gridCol w="128016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457200">
                <a:tc>
                  <a:txBody>
                    <a:bodyPr/>
                    <a:lstStyle/>
                    <a:p>
                      <a:pPr algn="l">
                        <a:spcAft>
                          <a:spcPts val="0"/>
                        </a:spcAft>
                      </a:pPr>
                      <a:r>
                        <a:rPr sz="1450" b="1" i="0">
                          <a:solidFill>
                            <a:srgbClr val="FFFFFF"/>
                          </a:solidFill>
                          <a:latin typeface="Calibri"/>
                        </a:rPr>
                        <a:t>Principle</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l">
                        <a:spcAft>
                          <a:spcPts val="0"/>
                        </a:spcAft>
                      </a:pPr>
                      <a:r>
                        <a:rPr sz="1450" b="1" i="0">
                          <a:solidFill>
                            <a:srgbClr val="FFFFFF"/>
                          </a:solidFill>
                          <a:latin typeface="Calibri"/>
                        </a:rPr>
                        <a:t>Java</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l">
                        <a:spcAft>
                          <a:spcPts val="0"/>
                        </a:spcAft>
                      </a:pPr>
                      <a:r>
                        <a:rPr sz="1450" b="1" i="0">
                          <a:solidFill>
                            <a:srgbClr val="FFFFFF"/>
                          </a:solidFill>
                          <a:latin typeface="Calibri"/>
                        </a:rPr>
                        <a:t>Python</a:t>
                      </a:r>
                    </a:p>
                  </a:txBody>
                  <a:tcPr marL="73152" marR="73152" marT="27432" marB="27432" anchor="ctr">
                    <a:lnL w="0">
                      <a:noFill/>
                    </a:lnL>
                    <a:lnR w="0">
                      <a:noFill/>
                    </a:lnR>
                    <a:lnT w="0">
                      <a:noFill/>
                    </a:lnT>
                    <a:lnB w="6350">
                      <a:solidFill>
                        <a:srgbClr val="C9D0D8"/>
                      </a:solidFill>
                    </a:lnB>
                    <a:solidFill>
                      <a:srgbClr val="202A36"/>
                    </a:solidFill>
                  </a:tcPr>
                </a:tc>
                <a:extLst>
                  <a:ext uri="{0D108BD9-81ED-4DB2-BD59-A6C34878D82A}">
                    <a16:rowId xmlns:a16="http://schemas.microsoft.com/office/drawing/2014/main" val="10000"/>
                  </a:ext>
                </a:extLst>
              </a:tr>
              <a:tr h="640080">
                <a:tc>
                  <a:txBody>
                    <a:bodyPr/>
                    <a:lstStyle/>
                    <a:p>
                      <a:pPr algn="l">
                        <a:spcAft>
                          <a:spcPts val="0"/>
                        </a:spcAft>
                      </a:pPr>
                      <a:r>
                        <a:rPr sz="1450" b="1" i="0">
                          <a:solidFill>
                            <a:srgbClr val="202A36"/>
                          </a:solidFill>
                          <a:latin typeface="Calibri"/>
                        </a:rPr>
                        <a:t>SRP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450" b="0" i="0">
                          <a:solidFill>
                            <a:srgbClr val="2B3440"/>
                          </a:solidFill>
                          <a:latin typeface="Calibri"/>
                        </a:rPr>
                        <a:t>six metrics, ≥2 hits; 362 / 45 / 20 / 11 / 5 / 0.86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450" b="0" i="0">
                          <a:solidFill>
                            <a:srgbClr val="2B3440"/>
                          </a:solidFill>
                          <a:latin typeface="Calibri"/>
                        </a:rPr>
                        <a:t>same rubric; 250 / 36 / 10 / 12 / 7 / 0.8</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1"/>
                  </a:ext>
                </a:extLst>
              </a:tr>
              <a:tr h="640080">
                <a:tc>
                  <a:txBody>
                    <a:bodyPr/>
                    <a:lstStyle/>
                    <a:p>
                      <a:pPr algn="l">
                        <a:spcAft>
                          <a:spcPts val="0"/>
                        </a:spcAft>
                      </a:pPr>
                      <a:r>
                        <a:rPr sz="1450" b="1" i="0">
                          <a:solidFill>
                            <a:srgbClr val="202A36"/>
                          </a:solidFill>
                          <a:latin typeface="Calibri"/>
                        </a:rPr>
                        <a:t>OCP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450" b="0" i="0">
                          <a:solidFill>
                            <a:srgbClr val="2B3440"/>
                          </a:solidFill>
                          <a:latin typeface="Calibri"/>
                        </a:rPr>
                        <a:t>type ≥3, tag ≥8 branches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450" b="0" i="0">
                          <a:solidFill>
                            <a:srgbClr val="2B3440"/>
                          </a:solidFill>
                          <a:latin typeface="Calibri"/>
                        </a:rPr>
                        <a:t>type ≥3, value ≥5 branches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2"/>
                  </a:ext>
                </a:extLst>
              </a:tr>
              <a:tr h="640080">
                <a:tc>
                  <a:txBody>
                    <a:bodyPr/>
                    <a:lstStyle/>
                    <a:p>
                      <a:pPr algn="l">
                        <a:spcAft>
                          <a:spcPts val="0"/>
                        </a:spcAft>
                      </a:pPr>
                      <a:r>
                        <a:rPr sz="1450" b="1" i="0">
                          <a:solidFill>
                            <a:srgbClr val="202A36"/>
                          </a:solidFill>
                          <a:latin typeface="Calibri"/>
                        </a:rPr>
                        <a:t>LSP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450" b="0" i="0">
                          <a:solidFill>
                            <a:srgbClr val="2B3440"/>
                          </a:solidFill>
                          <a:latin typeface="Calibri"/>
                        </a:rPr>
                        <a:t>three behavioural signals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450" b="0" i="0">
                          <a:solidFill>
                            <a:srgbClr val="2B3440"/>
                          </a:solidFill>
                          <a:latin typeface="Calibri"/>
                        </a:rPr>
                        <a:t>five signals, adding what a compiler would reject</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3"/>
                  </a:ext>
                </a:extLst>
              </a:tr>
              <a:tr h="640080">
                <a:tc>
                  <a:txBody>
                    <a:bodyPr/>
                    <a:lstStyle/>
                    <a:p>
                      <a:pPr algn="l">
                        <a:spcAft>
                          <a:spcPts val="0"/>
                        </a:spcAft>
                      </a:pPr>
                      <a:r>
                        <a:rPr sz="1450" b="1" i="0">
                          <a:solidFill>
                            <a:srgbClr val="202A36"/>
                          </a:solidFill>
                          <a:latin typeface="Calibri"/>
                        </a:rPr>
                        <a:t>ISP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450" b="0" i="0">
                          <a:solidFill>
                            <a:srgbClr val="2B3440"/>
                          </a:solidFill>
                          <a:latin typeface="Calibri"/>
                        </a:rPr>
                        <a:t>contract ≥13 members, or a forced stub</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450" b="0" i="0">
                          <a:solidFill>
                            <a:srgbClr val="2B3440"/>
                          </a:solidFill>
                          <a:latin typeface="Calibri"/>
                        </a:rPr>
                        <a:t>at least two of three signals, width alone never flags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4"/>
                  </a:ext>
                </a:extLst>
              </a:tr>
              <a:tr h="640080">
                <a:tc>
                  <a:txBody>
                    <a:bodyPr/>
                    <a:lstStyle/>
                    <a:p>
                      <a:pPr algn="l">
                        <a:spcAft>
                          <a:spcPts val="0"/>
                        </a:spcAft>
                      </a:pPr>
                      <a:r>
                        <a:rPr sz="1450" b="1" i="0">
                          <a:solidFill>
                            <a:srgbClr val="202A36"/>
                          </a:solidFill>
                          <a:latin typeface="Calibri"/>
                        </a:rPr>
                        <a:t>DIP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450" b="0" i="0">
                          <a:solidFill>
                            <a:srgbClr val="2B3440"/>
                          </a:solidFill>
                          <a:latin typeface="Calibri"/>
                        </a:rPr>
                        <a:t>new cyclic pairs through a touched file</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450" b="0" i="0">
                          <a:solidFill>
                            <a:srgbClr val="2B3440"/>
                          </a:solidFill>
                          <a:latin typeface="Calibri"/>
                        </a:rPr>
                        <a:t>new cyclic pairs through a touched module</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5"/>
                  </a:ext>
                </a:extLst>
              </a:tr>
            </a:tbl>
          </a:graphicData>
        </a:graphic>
      </p:graphicFrame>
      <p:sp>
        <p:nvSpPr>
          <p:cNvPr id="67" name="Rounded Rectangle 66"/>
          <p:cNvSpPr/>
          <p:nvPr/>
        </p:nvSpPr>
        <p:spPr>
          <a:xfrm>
            <a:off x="612648" y="4846320"/>
            <a:ext cx="10972800" cy="914400"/>
          </a:xfrm>
          <a:prstGeom prst="roundRect">
            <a:avLst>
              <a:gd name="adj" fmla="val 8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Hexagon 67"/>
          <p:cNvSpPr/>
          <p:nvPr/>
        </p:nvSpPr>
        <p:spPr>
          <a:xfrm>
            <a:off x="813816" y="5166360"/>
            <a:ext cx="316840" cy="274320"/>
          </a:xfrm>
          <a:prstGeom prst="hexagon">
            <a:avLst/>
          </a:prstGeom>
          <a:solidFill>
            <a:srgbClr val="46CE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252728" y="4846320"/>
            <a:ext cx="10149840" cy="914400"/>
          </a:xfrm>
          <a:prstGeom prst="rect">
            <a:avLst/>
          </a:prstGeom>
          <a:noFill/>
        </p:spPr>
        <p:txBody>
          <a:bodyPr wrap="square" lIns="45720" rIns="45720" anchor="ctr">
            <a:spAutoFit/>
          </a:bodyPr>
          <a:lstStyle/>
          <a:p>
            <a:pPr algn="l">
              <a:spcAft>
                <a:spcPts val="0"/>
              </a:spcAft>
            </a:pPr>
            <a:r>
              <a:rPr sz="1400" b="1" i="0">
                <a:solidFill>
                  <a:srgbClr val="FFFFFF"/>
                </a:solidFill>
                <a:latin typeface="Calibri"/>
              </a:rPr>
              <a:t>Every threshold is the 90th percentile of its own corpus, set before any label existed;</a:t>
            </a:r>
            <a:r>
              <a:rPr sz="1400" b="0" i="0">
                <a:solidFill>
                  <a:srgbClr val="FFFFFF"/>
                </a:solidFill>
                <a:latin typeface="Calibri"/>
              </a:rPr>
              <a:t> the result files were then deleted and the pass re-run, so no flag predates its threshold.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组合 54"/>
          <p:cNvGrpSpPr/>
          <p:nvPr/>
        </p:nvGrpSpPr>
        <p:grpSpPr>
          <a:xfrm>
            <a:off x="2052459" y="1419448"/>
            <a:ext cx="2036802" cy="2036802"/>
            <a:chOff x="8125599" y="1434035"/>
            <a:chExt cx="2036802" cy="2036802"/>
          </a:xfrm>
        </p:grpSpPr>
        <p:sp>
          <p:nvSpPr>
            <p:cNvPr id="56" name="椭圆 55"/>
            <p:cNvSpPr/>
            <p:nvPr/>
          </p:nvSpPr>
          <p:spPr>
            <a:xfrm>
              <a:off x="8125599" y="1434035"/>
              <a:ext cx="2036802" cy="2036802"/>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Freeform 206"/>
            <p:cNvSpPr>
              <a:spLocks noChangeAspect="1" noEditPoints="1"/>
            </p:cNvSpPr>
            <p:nvPr/>
          </p:nvSpPr>
          <p:spPr bwMode="auto">
            <a:xfrm>
              <a:off x="8691164" y="1871942"/>
              <a:ext cx="935653" cy="1131009"/>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chemeClr val="bg1">
                <a:lumMod val="95000"/>
              </a:schemeClr>
            </a:solidFill>
            <a:ln>
              <a:noFill/>
            </a:ln>
          </p:spPr>
          <p:txBody>
            <a:bodyPr vert="horz" wrap="square" lIns="91440" tIns="45720" rIns="91440" bIns="45720" numCol="1" anchor="t" anchorCtr="0" compatLnSpc="1"/>
            <a:lstStyle/>
            <a:p>
              <a:endParaRPr lang="zh-CN" altLang="en-US">
                <a:latin typeface="Arial" panose="020B0604020202020204" pitchFamily="34" charset="0"/>
                <a:cs typeface="Arial" panose="020B0604020202020204" pitchFamily="34" charset="0"/>
              </a:endParaRPr>
            </a:p>
          </p:txBody>
        </p:sp>
      </p:grpSp>
      <p:sp>
        <p:nvSpPr>
          <p:cNvPr id="61" name="矩形 60"/>
          <p:cNvSpPr/>
          <p:nvPr/>
        </p:nvSpPr>
        <p:spPr>
          <a:xfrm>
            <a:off x="6095999" y="0"/>
            <a:ext cx="6099175" cy="6858000"/>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TextBox 61"/>
          <p:cNvSpPr txBox="1"/>
          <p:nvPr/>
        </p:nvSpPr>
        <p:spPr>
          <a:xfrm>
            <a:off x="457200" y="3749040"/>
            <a:ext cx="5184648" cy="548640"/>
          </a:xfrm>
          <a:prstGeom prst="rect">
            <a:avLst/>
          </a:prstGeom>
          <a:noFill/>
        </p:spPr>
        <p:txBody>
          <a:bodyPr wrap="square" lIns="45720" tIns="27432" rIns="45720" bIns="27432" anchor="t">
            <a:spAutoFit/>
          </a:bodyPr>
          <a:lstStyle/>
          <a:p>
            <a:pPr algn="ctr">
              <a:spcAft>
                <a:spcPts val="0"/>
              </a:spcAft>
            </a:pPr>
            <a:r>
              <a:rPr sz="2800" b="1" i="0">
                <a:solidFill>
                  <a:srgbClr val="46CEAE"/>
                </a:solidFill>
                <a:latin typeface="Arial"/>
              </a:rPr>
              <a:t>Part 5</a:t>
            </a:r>
          </a:p>
        </p:txBody>
      </p:sp>
      <p:sp>
        <p:nvSpPr>
          <p:cNvPr id="63" name="TextBox 62"/>
          <p:cNvSpPr txBox="1"/>
          <p:nvPr/>
        </p:nvSpPr>
        <p:spPr>
          <a:xfrm>
            <a:off x="457200" y="4315968"/>
            <a:ext cx="5184648" cy="1737360"/>
          </a:xfrm>
          <a:prstGeom prst="rect">
            <a:avLst/>
          </a:prstGeom>
          <a:noFill/>
        </p:spPr>
        <p:txBody>
          <a:bodyPr wrap="square" lIns="45720" tIns="27432" rIns="45720" bIns="27432" anchor="t">
            <a:spAutoFit/>
          </a:bodyPr>
          <a:lstStyle/>
          <a:p>
            <a:pPr algn="ctr">
              <a:lnSpc>
                <a:spcPct val="95000"/>
              </a:lnSpc>
              <a:spcAft>
                <a:spcPts val="0"/>
              </a:spcAft>
            </a:pPr>
            <a:r>
              <a:rPr sz="3200" b="1" i="0">
                <a:solidFill>
                  <a:srgbClr val="202A36"/>
                </a:solidFill>
                <a:latin typeface="Arial"/>
              </a:rPr>
              <a:t>Validation</a:t>
            </a:r>
          </a:p>
        </p:txBody>
      </p:sp>
      <p:cxnSp>
        <p:nvCxnSpPr>
          <p:cNvPr id="64" name="Connector 63"/>
          <p:cNvCxnSpPr/>
          <p:nvPr/>
        </p:nvCxnSpPr>
        <p:spPr>
          <a:xfrm>
            <a:off x="7863840" y="1088136"/>
            <a:ext cx="0" cy="4681728"/>
          </a:xfrm>
          <a:prstGeom prst="line">
            <a:avLst/>
          </a:prstGeom>
          <a:ln w="19050">
            <a:solidFill>
              <a:srgbClr val="8E98A5"/>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7790688" y="1380744"/>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8229600" y="1252728"/>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Why a reading judge</a:t>
            </a:r>
          </a:p>
        </p:txBody>
      </p:sp>
      <p:sp>
        <p:nvSpPr>
          <p:cNvPr id="67" name="Oval 66"/>
          <p:cNvSpPr/>
          <p:nvPr/>
        </p:nvSpPr>
        <p:spPr>
          <a:xfrm>
            <a:off x="7790688" y="2039112"/>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229600" y="1911096"/>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How a detector is validated</a:t>
            </a:r>
          </a:p>
        </p:txBody>
      </p:sp>
      <p:sp>
        <p:nvSpPr>
          <p:cNvPr id="69" name="Oval 68"/>
          <p:cNvSpPr/>
          <p:nvPr/>
        </p:nvSpPr>
        <p:spPr>
          <a:xfrm>
            <a:off x="7790688" y="2697480"/>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229600" y="2569464"/>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Validation results</a:t>
            </a:r>
          </a:p>
        </p:txBody>
      </p:sp>
      <p:sp>
        <p:nvSpPr>
          <p:cNvPr id="71" name="Oval 70"/>
          <p:cNvSpPr/>
          <p:nvPr/>
        </p:nvSpPr>
        <p:spPr>
          <a:xfrm>
            <a:off x="7790688" y="3355848"/>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229600" y="3227832"/>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What the disagreements are made of</a:t>
            </a:r>
          </a:p>
        </p:txBody>
      </p:sp>
      <p:sp>
        <p:nvSpPr>
          <p:cNvPr id="73" name="Oval 72"/>
          <p:cNvSpPr/>
          <p:nvPr/>
        </p:nvSpPr>
        <p:spPr>
          <a:xfrm>
            <a:off x="7790688" y="4014216"/>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229600" y="3886200"/>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Two refinements</a:t>
            </a:r>
          </a:p>
        </p:txBody>
      </p:sp>
      <p:sp>
        <p:nvSpPr>
          <p:cNvPr id="75" name="Oval 74"/>
          <p:cNvSpPr/>
          <p:nvPr/>
        </p:nvSpPr>
        <p:spPr>
          <a:xfrm>
            <a:off x="7790688" y="4672584"/>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8229600" y="4544568"/>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Can tuning fix the weak ones?</a:t>
            </a:r>
          </a:p>
        </p:txBody>
      </p:sp>
      <p:sp>
        <p:nvSpPr>
          <p:cNvPr id="77" name="Oval 76"/>
          <p:cNvSpPr/>
          <p:nvPr/>
        </p:nvSpPr>
        <p:spPr>
          <a:xfrm>
            <a:off x="7790688" y="5330952"/>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8229600" y="5202936"/>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Three published analysers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5</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Validation</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600" b="1" i="0">
                <a:solidFill>
                  <a:srgbClr val="202A36"/>
                </a:solidFill>
                <a:latin typeface="Arial"/>
              </a:rPr>
              <a:t>Why a reading judge: from checking by hand to an LLM judge</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31</a:t>
            </a:r>
          </a:p>
        </p:txBody>
      </p:sp>
      <p:sp>
        <p:nvSpPr>
          <p:cNvPr id="66" name="Rounded Rectangle 65"/>
          <p:cNvSpPr/>
          <p:nvPr/>
        </p:nvSpPr>
        <p:spPr>
          <a:xfrm>
            <a:off x="612648" y="914400"/>
            <a:ext cx="2606040" cy="393192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Hexagon 66"/>
          <p:cNvSpPr/>
          <p:nvPr/>
        </p:nvSpPr>
        <p:spPr>
          <a:xfrm>
            <a:off x="795528" y="1115568"/>
            <a:ext cx="633679" cy="54864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Arial"/>
              </a:rPr>
              <a:t>1</a:t>
            </a:r>
          </a:p>
        </p:txBody>
      </p:sp>
      <p:sp>
        <p:nvSpPr>
          <p:cNvPr id="68" name="TextBox 67"/>
          <p:cNvSpPr txBox="1"/>
          <p:nvPr/>
        </p:nvSpPr>
        <p:spPr>
          <a:xfrm>
            <a:off x="795528" y="1828800"/>
            <a:ext cx="2240280" cy="457200"/>
          </a:xfrm>
          <a:prstGeom prst="rect">
            <a:avLst/>
          </a:prstGeom>
          <a:noFill/>
        </p:spPr>
        <p:txBody>
          <a:bodyPr wrap="square" lIns="45720" tIns="27432" rIns="45720" bIns="27432" anchor="ctr">
            <a:spAutoFit/>
          </a:bodyPr>
          <a:lstStyle/>
          <a:p>
            <a:pPr algn="l">
              <a:spcAft>
                <a:spcPts val="0"/>
              </a:spcAft>
            </a:pPr>
            <a:r>
              <a:rPr sz="1600" b="1" i="0">
                <a:solidFill>
                  <a:srgbClr val="202A36"/>
                </a:solidFill>
                <a:latin typeface="Arial"/>
              </a:rPr>
              <a:t>Check by hand</a:t>
            </a:r>
          </a:p>
        </p:txBody>
      </p:sp>
      <p:sp>
        <p:nvSpPr>
          <p:cNvPr id="69" name="TextBox 68"/>
          <p:cNvSpPr txBox="1"/>
          <p:nvPr/>
        </p:nvSpPr>
        <p:spPr>
          <a:xfrm>
            <a:off x="795528" y="2377440"/>
            <a:ext cx="2240280" cy="2377440"/>
          </a:xfrm>
          <a:prstGeom prst="rect">
            <a:avLst/>
          </a:prstGeom>
          <a:noFill/>
        </p:spPr>
        <p:txBody>
          <a:bodyPr wrap="square" lIns="45720" tIns="27432" rIns="45720" bIns="27432" anchor="t">
            <a:spAutoFit/>
          </a:bodyPr>
          <a:lstStyle/>
          <a:p>
            <a:pPr algn="l">
              <a:spcAft>
                <a:spcPts val="0"/>
              </a:spcAft>
            </a:pPr>
            <a:r>
              <a:rPr sz="1350" b="0" i="0">
                <a:solidFill>
                  <a:srgbClr val="2B3440"/>
                </a:solidFill>
                <a:latin typeface="Calibri"/>
              </a:rPr>
              <a:t>We started by reading the flagged results ourselves, to see whether each detector did a good job. It worked, but it was a very long process.</a:t>
            </a:r>
          </a:p>
        </p:txBody>
      </p:sp>
      <p:sp>
        <p:nvSpPr>
          <p:cNvPr id="70" name="Rounded Rectangle 69"/>
          <p:cNvSpPr/>
          <p:nvPr/>
        </p:nvSpPr>
        <p:spPr>
          <a:xfrm>
            <a:off x="3401568" y="914400"/>
            <a:ext cx="2606040" cy="393192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Hexagon 70"/>
          <p:cNvSpPr/>
          <p:nvPr/>
        </p:nvSpPr>
        <p:spPr>
          <a:xfrm>
            <a:off x="3584448" y="1115568"/>
            <a:ext cx="633679" cy="54864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Arial"/>
              </a:rPr>
              <a:t>2</a:t>
            </a:r>
          </a:p>
        </p:txBody>
      </p:sp>
      <p:sp>
        <p:nvSpPr>
          <p:cNvPr id="72" name="TextBox 71"/>
          <p:cNvSpPr txBox="1"/>
          <p:nvPr/>
        </p:nvSpPr>
        <p:spPr>
          <a:xfrm>
            <a:off x="3584448" y="1828800"/>
            <a:ext cx="2240280" cy="457200"/>
          </a:xfrm>
          <a:prstGeom prst="rect">
            <a:avLst/>
          </a:prstGeom>
          <a:noFill/>
        </p:spPr>
        <p:txBody>
          <a:bodyPr wrap="square" lIns="45720" tIns="27432" rIns="45720" bIns="27432" anchor="ctr">
            <a:spAutoFit/>
          </a:bodyPr>
          <a:lstStyle/>
          <a:p>
            <a:pPr algn="l">
              <a:spcAft>
                <a:spcPts val="0"/>
              </a:spcAft>
            </a:pPr>
            <a:r>
              <a:rPr sz="1600" b="1" i="0">
                <a:solidFill>
                  <a:srgbClr val="202A36"/>
                </a:solidFill>
                <a:latin typeface="Arial"/>
              </a:rPr>
              <a:t>Automate the checking</a:t>
            </a:r>
          </a:p>
        </p:txBody>
      </p:sp>
      <p:sp>
        <p:nvSpPr>
          <p:cNvPr id="73" name="TextBox 72"/>
          <p:cNvSpPr txBox="1"/>
          <p:nvPr/>
        </p:nvSpPr>
        <p:spPr>
          <a:xfrm>
            <a:off x="3584448" y="2377440"/>
            <a:ext cx="2240280" cy="2377440"/>
          </a:xfrm>
          <a:prstGeom prst="rect">
            <a:avLst/>
          </a:prstGeom>
          <a:noFill/>
        </p:spPr>
        <p:txBody>
          <a:bodyPr wrap="square" lIns="45720" tIns="27432" rIns="45720" bIns="27432" anchor="t">
            <a:spAutoFit/>
          </a:bodyPr>
          <a:lstStyle/>
          <a:p>
            <a:pPr algn="l">
              <a:spcAft>
                <a:spcPts val="0"/>
              </a:spcAft>
            </a:pPr>
            <a:r>
              <a:rPr sz="1350" b="0" i="0">
                <a:solidFill>
                  <a:srgbClr val="2B3440"/>
                </a:solidFill>
                <a:latin typeface="Calibri"/>
              </a:rPr>
              <a:t>So we asked whether a data-science approach could do the checking at scale instead of a person reading everything.</a:t>
            </a:r>
          </a:p>
        </p:txBody>
      </p:sp>
      <p:sp>
        <p:nvSpPr>
          <p:cNvPr id="74" name="Rounded Rectangle 73"/>
          <p:cNvSpPr/>
          <p:nvPr/>
        </p:nvSpPr>
        <p:spPr>
          <a:xfrm>
            <a:off x="6190488" y="914400"/>
            <a:ext cx="2606040" cy="393192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Hexagon 74"/>
          <p:cNvSpPr/>
          <p:nvPr/>
        </p:nvSpPr>
        <p:spPr>
          <a:xfrm>
            <a:off x="6373368" y="1115568"/>
            <a:ext cx="633679" cy="54864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Arial"/>
              </a:rPr>
              <a:t>3</a:t>
            </a:r>
          </a:p>
        </p:txBody>
      </p:sp>
      <p:sp>
        <p:nvSpPr>
          <p:cNvPr id="76" name="TextBox 75"/>
          <p:cNvSpPr txBox="1"/>
          <p:nvPr/>
        </p:nvSpPr>
        <p:spPr>
          <a:xfrm>
            <a:off x="6373368" y="1828800"/>
            <a:ext cx="2240280" cy="457200"/>
          </a:xfrm>
          <a:prstGeom prst="rect">
            <a:avLst/>
          </a:prstGeom>
          <a:noFill/>
        </p:spPr>
        <p:txBody>
          <a:bodyPr wrap="square" lIns="45720" tIns="27432" rIns="45720" bIns="27432" anchor="ctr">
            <a:spAutoFit/>
          </a:bodyPr>
          <a:lstStyle/>
          <a:p>
            <a:pPr algn="l">
              <a:spcAft>
                <a:spcPts val="0"/>
              </a:spcAft>
            </a:pPr>
            <a:r>
              <a:rPr sz="1600" b="1" i="0">
                <a:solidFill>
                  <a:srgbClr val="202A36"/>
                </a:solidFill>
                <a:latin typeface="Arial"/>
              </a:rPr>
              <a:t>LLM as judge</a:t>
            </a:r>
          </a:p>
        </p:txBody>
      </p:sp>
      <p:sp>
        <p:nvSpPr>
          <p:cNvPr id="77" name="TextBox 76"/>
          <p:cNvSpPr txBox="1"/>
          <p:nvPr/>
        </p:nvSpPr>
        <p:spPr>
          <a:xfrm>
            <a:off x="6373368" y="2377440"/>
            <a:ext cx="2240280" cy="2377440"/>
          </a:xfrm>
          <a:prstGeom prst="rect">
            <a:avLst/>
          </a:prstGeom>
          <a:noFill/>
        </p:spPr>
        <p:txBody>
          <a:bodyPr wrap="square" lIns="45720" tIns="27432" rIns="45720" bIns="27432" anchor="t">
            <a:spAutoFit/>
          </a:bodyPr>
          <a:lstStyle/>
          <a:p>
            <a:pPr algn="l">
              <a:spcAft>
                <a:spcPts val="0"/>
              </a:spcAft>
            </a:pPr>
            <a:r>
              <a:rPr sz="1350" b="0" i="0">
                <a:solidFill>
                  <a:srgbClr val="2B3440"/>
                </a:solidFill>
                <a:latin typeface="Calibri"/>
              </a:rPr>
              <a:t>Research shows that language models can judge SOLID violations (Pehlivan et al., 2025: four models, 240 manually validated examples).</a:t>
            </a:r>
          </a:p>
        </p:txBody>
      </p:sp>
      <p:sp>
        <p:nvSpPr>
          <p:cNvPr id="78" name="Rounded Rectangle 77"/>
          <p:cNvSpPr/>
          <p:nvPr/>
        </p:nvSpPr>
        <p:spPr>
          <a:xfrm>
            <a:off x="8979408" y="914400"/>
            <a:ext cx="2606040" cy="393192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Hexagon 78"/>
          <p:cNvSpPr/>
          <p:nvPr/>
        </p:nvSpPr>
        <p:spPr>
          <a:xfrm>
            <a:off x="9162288" y="1115568"/>
            <a:ext cx="633679" cy="54864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Arial"/>
              </a:rPr>
              <a:t>4</a:t>
            </a:r>
          </a:p>
        </p:txBody>
      </p:sp>
      <p:sp>
        <p:nvSpPr>
          <p:cNvPr id="80" name="TextBox 79"/>
          <p:cNvSpPr txBox="1"/>
          <p:nvPr/>
        </p:nvSpPr>
        <p:spPr>
          <a:xfrm>
            <a:off x="9162288" y="1828800"/>
            <a:ext cx="2240280" cy="457200"/>
          </a:xfrm>
          <a:prstGeom prst="rect">
            <a:avLst/>
          </a:prstGeom>
          <a:noFill/>
        </p:spPr>
        <p:txBody>
          <a:bodyPr wrap="square" lIns="45720" tIns="27432" rIns="45720" bIns="27432" anchor="ctr">
            <a:spAutoFit/>
          </a:bodyPr>
          <a:lstStyle/>
          <a:p>
            <a:pPr algn="l">
              <a:spcAft>
                <a:spcPts val="0"/>
              </a:spcAft>
            </a:pPr>
            <a:r>
              <a:rPr sz="1600" b="1" i="0">
                <a:solidFill>
                  <a:srgbClr val="202A36"/>
                </a:solidFill>
                <a:latin typeface="Arial"/>
              </a:rPr>
              <a:t>Make the task easier</a:t>
            </a:r>
          </a:p>
        </p:txBody>
      </p:sp>
      <p:sp>
        <p:nvSpPr>
          <p:cNvPr id="81" name="TextBox 80"/>
          <p:cNvSpPr txBox="1"/>
          <p:nvPr/>
        </p:nvSpPr>
        <p:spPr>
          <a:xfrm>
            <a:off x="9162288" y="2377440"/>
            <a:ext cx="2240280" cy="2377440"/>
          </a:xfrm>
          <a:prstGeom prst="rect">
            <a:avLst/>
          </a:prstGeom>
          <a:noFill/>
        </p:spPr>
        <p:txBody>
          <a:bodyPr wrap="square" lIns="45720" tIns="27432" rIns="45720" bIns="27432" anchor="t">
            <a:spAutoFit/>
          </a:bodyPr>
          <a:lstStyle/>
          <a:p>
            <a:pPr algn="l">
              <a:spcAft>
                <a:spcPts val="0"/>
              </a:spcAft>
            </a:pPr>
            <a:r>
              <a:rPr sz="1350" b="0" i="0">
                <a:solidFill>
                  <a:srgbClr val="2B3440"/>
                </a:solidFill>
                <a:latin typeface="Calibri"/>
              </a:rPr>
              <a:t>The judge does not analyse repositories. It reads an already exported sample of results, the source of each entity, and returns a label and a written reason.</a:t>
            </a:r>
          </a:p>
        </p:txBody>
      </p:sp>
      <p:sp>
        <p:nvSpPr>
          <p:cNvPr id="82" name="Rounded Rectangle 81"/>
          <p:cNvSpPr/>
          <p:nvPr/>
        </p:nvSpPr>
        <p:spPr>
          <a:xfrm>
            <a:off x="612648" y="5074920"/>
            <a:ext cx="10972800" cy="1188720"/>
          </a:xfrm>
          <a:prstGeom prst="roundRect">
            <a:avLst>
              <a:gd name="adj" fmla="val 8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Hexagon 82"/>
          <p:cNvSpPr/>
          <p:nvPr/>
        </p:nvSpPr>
        <p:spPr>
          <a:xfrm>
            <a:off x="813816" y="5532120"/>
            <a:ext cx="316840" cy="274320"/>
          </a:xfrm>
          <a:prstGeom prst="hexagon">
            <a:avLst/>
          </a:prstGeom>
          <a:solidFill>
            <a:srgbClr val="46CE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1252728" y="5074920"/>
            <a:ext cx="10149840" cy="1188720"/>
          </a:xfrm>
          <a:prstGeom prst="rect">
            <a:avLst/>
          </a:prstGeom>
          <a:noFill/>
        </p:spPr>
        <p:txBody>
          <a:bodyPr wrap="square" lIns="45720" rIns="45720" anchor="ctr">
            <a:spAutoFit/>
          </a:bodyPr>
          <a:lstStyle/>
          <a:p>
            <a:pPr algn="l">
              <a:spcAft>
                <a:spcPts val="0"/>
              </a:spcAft>
            </a:pPr>
            <a:r>
              <a:rPr sz="1400" b="1" i="0">
                <a:solidFill>
                  <a:srgbClr val="FFFFFF"/>
                </a:solidFill>
                <a:latin typeface="Calibri"/>
              </a:rPr>
              <a:t>Consequence:</a:t>
            </a:r>
            <a:r>
              <a:rPr sz="1400" b="0" i="0">
                <a:solidFill>
                  <a:srgbClr val="FFFFFF"/>
                </a:solidFill>
                <a:latin typeface="Calibri"/>
              </a:rPr>
              <a:t> every precision and recall figure is agreement between a detector and the judge. Because the judge can err in the same direction as a detector, a second check was added: three independent analysers (CK, PMD, DesigniteJava).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5</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Validation</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How a detector is validated</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32</a:t>
            </a:r>
          </a:p>
        </p:txBody>
      </p:sp>
      <p:sp>
        <p:nvSpPr>
          <p:cNvPr id="66" name="Rounded Rectangle 65"/>
          <p:cNvSpPr/>
          <p:nvPr/>
        </p:nvSpPr>
        <p:spPr>
          <a:xfrm>
            <a:off x="612648" y="1371600"/>
            <a:ext cx="10972800" cy="420624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7" name="Picture 66" descr="fig_validation_flow.png"/>
          <p:cNvPicPr>
            <a:picLocks noChangeAspect="1"/>
          </p:cNvPicPr>
          <p:nvPr/>
        </p:nvPicPr>
        <p:blipFill>
          <a:blip r:embed="rId2"/>
          <a:stretch>
            <a:fillRect/>
          </a:stretch>
        </p:blipFill>
        <p:spPr>
          <a:xfrm>
            <a:off x="749808" y="1678862"/>
            <a:ext cx="10698480" cy="3591717"/>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5</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Validation</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Validation results</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33</a:t>
            </a:r>
          </a:p>
        </p:txBody>
      </p:sp>
      <p:sp>
        <p:nvSpPr>
          <p:cNvPr id="66" name="Rounded Rectangle 65"/>
          <p:cNvSpPr/>
          <p:nvPr/>
        </p:nvSpPr>
        <p:spPr>
          <a:xfrm>
            <a:off x="612648" y="914400"/>
            <a:ext cx="7772400" cy="539496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7" name="Picture 66" descr="fig_validation_pr.png"/>
          <p:cNvPicPr>
            <a:picLocks noChangeAspect="1"/>
          </p:cNvPicPr>
          <p:nvPr/>
        </p:nvPicPr>
        <p:blipFill>
          <a:blip r:embed="rId2"/>
          <a:stretch>
            <a:fillRect/>
          </a:stretch>
        </p:blipFill>
        <p:spPr>
          <a:xfrm>
            <a:off x="722376" y="1380635"/>
            <a:ext cx="7552944" cy="4462490"/>
          </a:xfrm>
          <a:prstGeom prst="rect">
            <a:avLst/>
          </a:prstGeom>
        </p:spPr>
      </p:pic>
      <p:sp>
        <p:nvSpPr>
          <p:cNvPr id="68" name="Rounded Rectangle 67"/>
          <p:cNvSpPr/>
          <p:nvPr/>
        </p:nvSpPr>
        <p:spPr>
          <a:xfrm>
            <a:off x="8549640" y="914400"/>
            <a:ext cx="3035808" cy="2011680"/>
          </a:xfrm>
          <a:prstGeom prst="roundRect">
            <a:avLst>
              <a:gd name="adj" fmla="val 6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686800" y="1005840"/>
            <a:ext cx="2761488" cy="1005840"/>
          </a:xfrm>
          <a:prstGeom prst="rect">
            <a:avLst/>
          </a:prstGeom>
          <a:noFill/>
        </p:spPr>
        <p:txBody>
          <a:bodyPr wrap="square" lIns="45720" tIns="27432" rIns="45720" bIns="27432" anchor="b">
            <a:spAutoFit/>
          </a:bodyPr>
          <a:lstStyle/>
          <a:p>
            <a:pPr algn="ctr">
              <a:spcAft>
                <a:spcPts val="0"/>
              </a:spcAft>
            </a:pPr>
            <a:r>
              <a:rPr sz="3600" b="1" i="0">
                <a:solidFill>
                  <a:srgbClr val="46CEAE"/>
                </a:solidFill>
                <a:latin typeface="Arial"/>
              </a:rPr>
              <a:t>2,475</a:t>
            </a:r>
          </a:p>
        </p:txBody>
      </p:sp>
      <p:sp>
        <p:nvSpPr>
          <p:cNvPr id="70" name="TextBox 69"/>
          <p:cNvSpPr txBox="1"/>
          <p:nvPr/>
        </p:nvSpPr>
        <p:spPr>
          <a:xfrm>
            <a:off x="8732520" y="2020824"/>
            <a:ext cx="2670048" cy="844906"/>
          </a:xfrm>
          <a:prstGeom prst="rect">
            <a:avLst/>
          </a:prstGeom>
          <a:noFill/>
        </p:spPr>
        <p:txBody>
          <a:bodyPr wrap="square" lIns="45720" tIns="27432" rIns="45720" bIns="27432" anchor="t">
            <a:spAutoFit/>
          </a:bodyPr>
          <a:lstStyle/>
          <a:p>
            <a:pPr algn="ctr">
              <a:spcAft>
                <a:spcPts val="0"/>
              </a:spcAft>
            </a:pPr>
            <a:r>
              <a:rPr sz="1300" b="0" i="0">
                <a:solidFill>
                  <a:srgbClr val="D5DCE4"/>
                </a:solidFill>
                <a:latin typeface="Calibri"/>
              </a:rPr>
              <a:t>entities judged, each with a written reason</a:t>
            </a:r>
          </a:p>
        </p:txBody>
      </p:sp>
      <p:sp>
        <p:nvSpPr>
          <p:cNvPr id="71" name="Rounded Rectangle 70"/>
          <p:cNvSpPr/>
          <p:nvPr/>
        </p:nvSpPr>
        <p:spPr>
          <a:xfrm>
            <a:off x="8549640" y="3108960"/>
            <a:ext cx="3035808" cy="3200400"/>
          </a:xfrm>
          <a:prstGeom prst="roundRect">
            <a:avLst>
              <a:gd name="adj" fmla="val 6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686800" y="3108960"/>
            <a:ext cx="2761488" cy="3200400"/>
          </a:xfrm>
          <a:prstGeom prst="rect">
            <a:avLst/>
          </a:prstGeom>
          <a:noFill/>
        </p:spPr>
        <p:txBody>
          <a:bodyPr wrap="square" lIns="45720" tIns="54864" rIns="45720" bIns="54864" anchor="ctr">
            <a:spAutoFit/>
          </a:bodyPr>
          <a:lstStyle/>
          <a:p>
            <a:pPr algn="l">
              <a:spcAft>
                <a:spcPts val="0"/>
              </a:spcAft>
            </a:pPr>
            <a:r>
              <a:rPr sz="1450" b="1" i="0">
                <a:solidFill>
                  <a:srgbClr val="2B3440"/>
                </a:solidFill>
                <a:latin typeface="Calibri"/>
              </a:rPr>
              <a:t>Dependency Inversion is precise in both languages;</a:t>
            </a:r>
            <a:r>
              <a:rPr sz="1450" b="0" i="0">
                <a:solidFill>
                  <a:srgbClr val="2B3440"/>
                </a:solidFill>
                <a:latin typeface="Calibri"/>
              </a:rPr>
              <a:t> Single Responsibility, Open/Closed and Interface Segregation are screens.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5</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Validation</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What the judge’s disagreements are made of</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34</a:t>
            </a:r>
          </a:p>
        </p:txBody>
      </p:sp>
      <p:sp>
        <p:nvSpPr>
          <p:cNvPr id="66" name="Rounded Rectangle 65"/>
          <p:cNvSpPr/>
          <p:nvPr/>
        </p:nvSpPr>
        <p:spPr>
          <a:xfrm>
            <a:off x="612648" y="914400"/>
            <a:ext cx="5577840" cy="393192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95528" y="1024128"/>
            <a:ext cx="5212080" cy="411480"/>
          </a:xfrm>
          <a:prstGeom prst="rect">
            <a:avLst/>
          </a:prstGeom>
          <a:noFill/>
        </p:spPr>
        <p:txBody>
          <a:bodyPr wrap="square" lIns="45720" tIns="27432" rIns="45720" bIns="27432" anchor="ctr">
            <a:spAutoFit/>
          </a:bodyPr>
          <a:lstStyle/>
          <a:p>
            <a:pPr algn="l">
              <a:spcAft>
                <a:spcPts val="0"/>
              </a:spcAft>
            </a:pPr>
            <a:r>
              <a:rPr sz="1600" b="1" i="0">
                <a:solidFill>
                  <a:srgbClr val="202A36"/>
                </a:solidFill>
                <a:latin typeface="Arial"/>
              </a:rPr>
              <a:t>Why flags fail</a:t>
            </a:r>
          </a:p>
        </p:txBody>
      </p:sp>
      <p:sp>
        <p:nvSpPr>
          <p:cNvPr id="68" name="TextBox 67"/>
          <p:cNvSpPr txBox="1"/>
          <p:nvPr/>
        </p:nvSpPr>
        <p:spPr>
          <a:xfrm>
            <a:off x="795528" y="1508760"/>
            <a:ext cx="5212080" cy="3246120"/>
          </a:xfrm>
          <a:prstGeom prst="rect">
            <a:avLst/>
          </a:prstGeom>
          <a:noFill/>
        </p:spPr>
        <p:txBody>
          <a:bodyPr wrap="square" lIns="45720" tIns="27432" rIns="45720" bIns="27432" anchor="t">
            <a:spAutoFit/>
          </a:bodyPr>
          <a:lstStyle/>
          <a:p>
            <a:pPr marL="182880" indent="-182880" algn="l">
              <a:spcAft>
                <a:spcPts val="1000"/>
              </a:spcAft>
              <a:buClr>
                <a:srgbClr val="1F9C82"/>
              </a:buClr>
              <a:buChar char="•"/>
            </a:pPr>
            <a:r>
              <a:rPr sz="1400" b="1" i="0">
                <a:solidFill>
                  <a:srgbClr val="2B3440"/>
                </a:solidFill>
                <a:latin typeface="Calibri"/>
              </a:rPr>
              <a:t>OCP:</a:t>
            </a:r>
            <a:r>
              <a:rPr sz="1400" b="0" i="0">
                <a:solidFill>
                  <a:srgbClr val="2B3440"/>
                </a:solidFill>
                <a:latin typeface="Calibri"/>
              </a:rPr>
              <a:t> the set is fixed by a specification, not by the language (JDBC codes, protobuf types, Unicode blocks, generated parser tables)</a:t>
            </a:r>
          </a:p>
          <a:p>
            <a:pPr marL="182880" indent="-182880" algn="l">
              <a:spcAft>
                <a:spcPts val="1000"/>
              </a:spcAft>
              <a:buClr>
                <a:srgbClr val="1F9C82"/>
              </a:buClr>
              <a:buChar char="•"/>
            </a:pPr>
            <a:r>
              <a:rPr sz="1400" b="1" i="0">
                <a:solidFill>
                  <a:srgbClr val="2B3440"/>
                </a:solidFill>
                <a:latin typeface="Calibri"/>
              </a:rPr>
              <a:t>Python SRP:</a:t>
            </a:r>
            <a:r>
              <a:rPr sz="1400" b="0" i="0">
                <a:solidFill>
                  <a:srgbClr val="2B3440"/>
                </a:solidFill>
                <a:latin typeface="Calibri"/>
              </a:rPr>
              <a:t> classes whose size a framework imposes (model heads, home-automation entities, training callbacks)</a:t>
            </a:r>
          </a:p>
          <a:p>
            <a:pPr marL="182880" indent="-182880" algn="l">
              <a:spcAft>
                <a:spcPts val="1000"/>
              </a:spcAft>
              <a:buClr>
                <a:srgbClr val="1F9C82"/>
              </a:buClr>
              <a:buChar char="•"/>
            </a:pPr>
            <a:r>
              <a:rPr sz="1400" b="1" i="0">
                <a:solidFill>
                  <a:srgbClr val="2B3440"/>
                </a:solidFill>
                <a:latin typeface="Calibri"/>
              </a:rPr>
              <a:t>ISP in Python:</a:t>
            </a:r>
            <a:r>
              <a:rPr sz="1400" b="0" i="0">
                <a:solidFill>
                  <a:srgbClr val="2B3440"/>
                </a:solidFill>
                <a:latin typeface="Calibri"/>
              </a:rPr>
              <a:t> test doubles and unfinished scaffolds that stub on purpose</a:t>
            </a:r>
          </a:p>
        </p:txBody>
      </p:sp>
      <p:sp>
        <p:nvSpPr>
          <p:cNvPr id="69" name="Rounded Rectangle 68"/>
          <p:cNvSpPr/>
          <p:nvPr/>
        </p:nvSpPr>
        <p:spPr>
          <a:xfrm>
            <a:off x="6355080" y="914400"/>
            <a:ext cx="5230368" cy="393192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537960" y="1024128"/>
            <a:ext cx="4846320" cy="411480"/>
          </a:xfrm>
          <a:prstGeom prst="rect">
            <a:avLst/>
          </a:prstGeom>
          <a:noFill/>
        </p:spPr>
        <p:txBody>
          <a:bodyPr wrap="square" lIns="45720" tIns="27432" rIns="45720" bIns="27432" anchor="ctr">
            <a:spAutoFit/>
          </a:bodyPr>
          <a:lstStyle/>
          <a:p>
            <a:pPr algn="l">
              <a:spcAft>
                <a:spcPts val="0"/>
              </a:spcAft>
            </a:pPr>
            <a:r>
              <a:rPr sz="1600" b="1" i="0">
                <a:solidFill>
                  <a:srgbClr val="202A36"/>
                </a:solidFill>
                <a:latin typeface="Arial"/>
              </a:rPr>
              <a:t>What the detectors miss</a:t>
            </a:r>
          </a:p>
        </p:txBody>
      </p:sp>
      <p:sp>
        <p:nvSpPr>
          <p:cNvPr id="71" name="TextBox 70"/>
          <p:cNvSpPr txBox="1"/>
          <p:nvPr/>
        </p:nvSpPr>
        <p:spPr>
          <a:xfrm>
            <a:off x="6537960" y="1508760"/>
            <a:ext cx="4846320" cy="3246120"/>
          </a:xfrm>
          <a:prstGeom prst="rect">
            <a:avLst/>
          </a:prstGeom>
          <a:noFill/>
        </p:spPr>
        <p:txBody>
          <a:bodyPr wrap="square" lIns="45720" tIns="27432" rIns="45720" bIns="27432" anchor="t">
            <a:spAutoFit/>
          </a:bodyPr>
          <a:lstStyle/>
          <a:p>
            <a:pPr marL="182880" indent="-182880" algn="l">
              <a:spcAft>
                <a:spcPts val="1000"/>
              </a:spcAft>
              <a:buClr>
                <a:srgbClr val="1F9C82"/>
              </a:buClr>
              <a:buChar char="•"/>
            </a:pPr>
            <a:r>
              <a:rPr sz="1400" b="0" i="0">
                <a:solidFill>
                  <a:srgbClr val="2B3440"/>
                </a:solidFill>
                <a:latin typeface="Calibri"/>
              </a:rPr>
              <a:t>The three Liskov violations found in the unflagged sample are silent: an override that throws for every argument, one with an empty body, one that assigns null</a:t>
            </a:r>
          </a:p>
          <a:p>
            <a:pPr marL="182880" indent="-182880" algn="l">
              <a:spcAft>
                <a:spcPts val="1000"/>
              </a:spcAft>
              <a:buClr>
                <a:srgbClr val="1F9C82"/>
              </a:buClr>
              <a:buChar char="•"/>
            </a:pPr>
            <a:r>
              <a:rPr sz="1400" b="0" i="0">
                <a:solidFill>
                  <a:srgbClr val="2B3440"/>
                </a:solidFill>
                <a:latin typeface="Calibri"/>
              </a:rPr>
              <a:t>Structural rules catch refusals that are declared, not refusals that are quiet</a:t>
            </a:r>
          </a:p>
        </p:txBody>
      </p:sp>
      <p:sp>
        <p:nvSpPr>
          <p:cNvPr id="72" name="Rounded Rectangle 71"/>
          <p:cNvSpPr/>
          <p:nvPr/>
        </p:nvSpPr>
        <p:spPr>
          <a:xfrm>
            <a:off x="612648" y="5074920"/>
            <a:ext cx="10972800" cy="1188720"/>
          </a:xfrm>
          <a:prstGeom prst="roundRect">
            <a:avLst>
              <a:gd name="adj" fmla="val 8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78408" y="5074920"/>
            <a:ext cx="2926080" cy="1188720"/>
          </a:xfrm>
          <a:prstGeom prst="rect">
            <a:avLst/>
          </a:prstGeom>
          <a:noFill/>
        </p:spPr>
        <p:txBody>
          <a:bodyPr wrap="square" lIns="45720" tIns="27432" rIns="45720" bIns="27432" anchor="ctr">
            <a:spAutoFit/>
          </a:bodyPr>
          <a:lstStyle/>
          <a:p>
            <a:pPr algn="ctr">
              <a:spcAft>
                <a:spcPts val="0"/>
              </a:spcAft>
            </a:pPr>
            <a:r>
              <a:rPr sz="4400" b="1" i="0">
                <a:solidFill>
                  <a:srgbClr val="46CEAE"/>
                </a:solidFill>
                <a:latin typeface="Arial"/>
              </a:rPr>
              <a:t>89.7%</a:t>
            </a:r>
          </a:p>
        </p:txBody>
      </p:sp>
      <p:sp>
        <p:nvSpPr>
          <p:cNvPr id="74" name="TextBox 73"/>
          <p:cNvSpPr txBox="1"/>
          <p:nvPr/>
        </p:nvSpPr>
        <p:spPr>
          <a:xfrm>
            <a:off x="4178808" y="5074920"/>
            <a:ext cx="7040880" cy="1188720"/>
          </a:xfrm>
          <a:prstGeom prst="rect">
            <a:avLst/>
          </a:prstGeom>
          <a:noFill/>
        </p:spPr>
        <p:txBody>
          <a:bodyPr wrap="square" lIns="45720" tIns="27432" rIns="45720" bIns="27432" anchor="ctr">
            <a:spAutoFit/>
          </a:bodyPr>
          <a:lstStyle/>
          <a:p>
            <a:pPr algn="l">
              <a:spcAft>
                <a:spcPts val="0"/>
              </a:spcAft>
            </a:pPr>
            <a:r>
              <a:rPr sz="1800" b="0" i="0">
                <a:solidFill>
                  <a:srgbClr val="FFFFFF"/>
                </a:solidFill>
                <a:latin typeface="Calibri"/>
              </a:rPr>
              <a:t>agreement when 174 Java entities were judged twice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5</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Validation</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Two refinements, and the test that separates them</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35</a:t>
            </a:r>
          </a:p>
        </p:txBody>
      </p:sp>
      <p:graphicFrame>
        <p:nvGraphicFramePr>
          <p:cNvPr id="66" name="Table 65"/>
          <p:cNvGraphicFramePr>
            <a:graphicFrameLocks noGrp="1"/>
          </p:cNvGraphicFramePr>
          <p:nvPr/>
        </p:nvGraphicFramePr>
        <p:xfrm>
          <a:off x="612648" y="914400"/>
          <a:ext cx="10972800" cy="1645920"/>
        </p:xfrm>
        <a:graphic>
          <a:graphicData uri="http://schemas.openxmlformats.org/drawingml/2006/table">
            <a:tbl>
              <a:tblPr>
                <a:tableStyleId>{2D5ABB26-0587-4C30-8999-92F81FD0307C}</a:tableStyleId>
              </a:tblPr>
              <a:tblGrid>
                <a:gridCol w="32918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457200">
                <a:tc>
                  <a:txBody>
                    <a:bodyPr/>
                    <a:lstStyle/>
                    <a:p>
                      <a:pPr algn="l">
                        <a:spcAft>
                          <a:spcPts val="0"/>
                        </a:spcAft>
                      </a:pPr>
                      <a:r>
                        <a:rPr sz="1500" b="1" i="0">
                          <a:solidFill>
                            <a:srgbClr val="FFFFFF"/>
                          </a:solidFill>
                          <a:latin typeface="Calibri"/>
                        </a:rPr>
                        <a:t>Refinement</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500" b="1" i="0">
                          <a:solidFill>
                            <a:srgbClr val="FFFFFF"/>
                          </a:solidFill>
                          <a:latin typeface="Calibri"/>
                        </a:rPr>
                        <a:t>Derivation sample</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500" b="1" i="0">
                          <a:solidFill>
                            <a:srgbClr val="FFFFFF"/>
                          </a:solidFill>
                          <a:latin typeface="Calibri"/>
                        </a:rPr>
                        <a:t>Java holdout</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500" b="1" i="0">
                          <a:solidFill>
                            <a:srgbClr val="FFFFFF"/>
                          </a:solidFill>
                          <a:latin typeface="Calibri"/>
                        </a:rPr>
                        <a:t>Python, unchanged rule</a:t>
                      </a:r>
                    </a:p>
                  </a:txBody>
                  <a:tcPr marL="73152" marR="73152" marT="27432" marB="27432" anchor="ctr">
                    <a:lnL w="0">
                      <a:noFill/>
                    </a:lnL>
                    <a:lnR w="0">
                      <a:noFill/>
                    </a:lnR>
                    <a:lnT w="0">
                      <a:noFill/>
                    </a:lnT>
                    <a:lnB w="6350">
                      <a:solidFill>
                        <a:srgbClr val="C9D0D8"/>
                      </a:solidFill>
                    </a:lnB>
                    <a:solidFill>
                      <a:srgbClr val="202A36"/>
                    </a:solidFill>
                  </a:tcPr>
                </a:tc>
                <a:extLst>
                  <a:ext uri="{0D108BD9-81ED-4DB2-BD59-A6C34878D82A}">
                    <a16:rowId xmlns:a16="http://schemas.microsoft.com/office/drawing/2014/main" val="10000"/>
                  </a:ext>
                </a:extLst>
              </a:tr>
              <a:tr h="594360">
                <a:tc>
                  <a:txBody>
                    <a:bodyPr/>
                    <a:lstStyle/>
                    <a:p>
                      <a:pPr algn="l">
                        <a:spcAft>
                          <a:spcPts val="0"/>
                        </a:spcAft>
                      </a:pPr>
                      <a:r>
                        <a:rPr sz="1500" b="1" i="0">
                          <a:solidFill>
                            <a:srgbClr val="202A36"/>
                          </a:solidFill>
                          <a:latin typeface="Calibri"/>
                        </a:rPr>
                        <a:t>LSP, refused bequest only</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500" b="0" i="0">
                          <a:solidFill>
                            <a:srgbClr val="2B3440"/>
                          </a:solidFill>
                          <a:latin typeface="Calibri"/>
                        </a:rPr>
                        <a:t>1.000 (31/31)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500" b="0" i="0">
                          <a:solidFill>
                            <a:srgbClr val="2B3440"/>
                          </a:solidFill>
                          <a:latin typeface="Calibri"/>
                        </a:rPr>
                        <a:t>1.000 (33/33)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500" b="0" i="0">
                          <a:solidFill>
                            <a:srgbClr val="2B3440"/>
                          </a:solidFill>
                          <a:latin typeface="Calibri"/>
                        </a:rPr>
                        <a:t>0.857 (6/7)</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1"/>
                  </a:ext>
                </a:extLst>
              </a:tr>
              <a:tr h="594360">
                <a:tc>
                  <a:txBody>
                    <a:bodyPr/>
                    <a:lstStyle/>
                    <a:p>
                      <a:pPr algn="l">
                        <a:spcAft>
                          <a:spcPts val="0"/>
                        </a:spcAft>
                      </a:pPr>
                      <a:r>
                        <a:rPr sz="1500" b="1" i="0">
                          <a:solidFill>
                            <a:srgbClr val="202A36"/>
                          </a:solidFill>
                          <a:latin typeface="Calibri"/>
                        </a:rPr>
                        <a:t>ISP, ≥30 members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500" b="0" i="0">
                          <a:solidFill>
                            <a:srgbClr val="2B3440"/>
                          </a:solidFill>
                          <a:latin typeface="Calibri"/>
                        </a:rPr>
                        <a:t>0.862 (25/29)</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500" b="0" i="0">
                          <a:solidFill>
                            <a:srgbClr val="2B3440"/>
                          </a:solidFill>
                          <a:latin typeface="Calibri"/>
                        </a:rPr>
                        <a:t>0.704 (19/27)</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500" b="0" i="0">
                          <a:solidFill>
                            <a:srgbClr val="2B3440"/>
                          </a:solidFill>
                          <a:latin typeface="Calibri"/>
                        </a:rPr>
                        <a:t>0.200 (1/5)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2"/>
                  </a:ext>
                </a:extLst>
              </a:tr>
            </a:tbl>
          </a:graphicData>
        </a:graphic>
      </p:graphicFrame>
      <p:sp>
        <p:nvSpPr>
          <p:cNvPr id="67" name="Rounded Rectangle 66"/>
          <p:cNvSpPr/>
          <p:nvPr/>
        </p:nvSpPr>
        <p:spPr>
          <a:xfrm>
            <a:off x="612648" y="2834640"/>
            <a:ext cx="5394960" cy="34290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95528" y="2926080"/>
            <a:ext cx="5029200" cy="3246120"/>
          </a:xfrm>
          <a:prstGeom prst="rect">
            <a:avLst/>
          </a:prstGeom>
          <a:noFill/>
        </p:spPr>
        <p:txBody>
          <a:bodyPr wrap="square" lIns="45720" tIns="27432" rIns="45720" bIns="27432" anchor="ctr">
            <a:spAutoFit/>
          </a:bodyPr>
          <a:lstStyle/>
          <a:p>
            <a:pPr marL="182880" indent="-182880" algn="l">
              <a:spcAft>
                <a:spcPts val="1200"/>
              </a:spcAft>
              <a:buClr>
                <a:srgbClr val="1F9C82"/>
              </a:buClr>
              <a:buChar char="•"/>
            </a:pPr>
            <a:r>
              <a:rPr sz="1500" b="0" i="0">
                <a:solidFill>
                  <a:srgbClr val="2B3440"/>
                </a:solidFill>
                <a:latin typeface="Calibri"/>
              </a:rPr>
              <a:t>Refused bequest is </a:t>
            </a:r>
            <a:r>
              <a:rPr sz="1500" b="1" i="0">
                <a:solidFill>
                  <a:srgbClr val="2B3440"/>
                </a:solidFill>
                <a:latin typeface="Calibri"/>
              </a:rPr>
              <a:t>categorical:</a:t>
            </a:r>
            <a:r>
              <a:rPr sz="1500" b="0" i="0">
                <a:solidFill>
                  <a:srgbClr val="2B3440"/>
                </a:solidFill>
                <a:latin typeface="Calibri"/>
              </a:rPr>
              <a:t> a body either is only a throw, or it is not.</a:t>
            </a:r>
          </a:p>
          <a:p>
            <a:pPr marL="182880" indent="-182880" algn="l">
              <a:spcAft>
                <a:spcPts val="1200"/>
              </a:spcAft>
              <a:buClr>
                <a:srgbClr val="1F9C82"/>
              </a:buClr>
              <a:buChar char="•"/>
            </a:pPr>
            <a:r>
              <a:rPr sz="1500" b="0" i="0">
                <a:solidFill>
                  <a:srgbClr val="2B3440"/>
                </a:solidFill>
                <a:latin typeface="Calibri"/>
              </a:rPr>
              <a:t>A width of 30 was chosen where the false positives stopped, and absorbed the noise of that sample.</a:t>
            </a:r>
          </a:p>
        </p:txBody>
      </p:sp>
      <p:sp>
        <p:nvSpPr>
          <p:cNvPr id="69" name="Rounded Rectangle 68"/>
          <p:cNvSpPr/>
          <p:nvPr/>
        </p:nvSpPr>
        <p:spPr>
          <a:xfrm>
            <a:off x="6190488" y="2834640"/>
            <a:ext cx="5394960" cy="34290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373368" y="2926080"/>
            <a:ext cx="5029200" cy="3246120"/>
          </a:xfrm>
          <a:prstGeom prst="rect">
            <a:avLst/>
          </a:prstGeom>
          <a:noFill/>
        </p:spPr>
        <p:txBody>
          <a:bodyPr wrap="square" lIns="45720" tIns="27432" rIns="45720" bIns="27432" anchor="ctr">
            <a:spAutoFit/>
          </a:bodyPr>
          <a:lstStyle/>
          <a:p>
            <a:pPr marL="182880" indent="-182880" algn="l">
              <a:spcAft>
                <a:spcPts val="1200"/>
              </a:spcAft>
              <a:buClr>
                <a:srgbClr val="1F9C82"/>
              </a:buClr>
              <a:buChar char="•"/>
            </a:pPr>
            <a:r>
              <a:rPr sz="1500" b="0" i="0">
                <a:solidFill>
                  <a:srgbClr val="2B3440"/>
                </a:solidFill>
                <a:latin typeface="Calibri"/>
              </a:rPr>
              <a:t>Both rules were fixed on Java data before any Python label existed, so Python is a second, out-of-language test.</a:t>
            </a:r>
          </a:p>
          <a:p>
            <a:pPr marL="182880" indent="-182880" algn="l">
              <a:spcAft>
                <a:spcPts val="1200"/>
              </a:spcAft>
              <a:buClr>
                <a:srgbClr val="1F9C82"/>
              </a:buClr>
              <a:buChar char="•"/>
            </a:pPr>
            <a:r>
              <a:rPr sz="1500" b="1" i="0">
                <a:solidFill>
                  <a:srgbClr val="2B3440"/>
                </a:solidFill>
                <a:latin typeface="Calibri"/>
              </a:rPr>
              <a:t>Lesson:</a:t>
            </a:r>
            <a:r>
              <a:rPr sz="1500" b="0" i="0">
                <a:solidFill>
                  <a:srgbClr val="2B3440"/>
                </a:solidFill>
                <a:latin typeface="Calibri"/>
              </a:rPr>
              <a:t> a rule that names a shape of code transfers; a tuned number does not.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5</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Validation</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600" b="1" i="0">
                <a:solidFill>
                  <a:srgbClr val="202A36"/>
                </a:solidFill>
                <a:latin typeface="Arial"/>
              </a:rPr>
              <a:t>“Three of your detectors are weak. Can you fix them?”</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36</a:t>
            </a:r>
          </a:p>
        </p:txBody>
      </p:sp>
      <p:graphicFrame>
        <p:nvGraphicFramePr>
          <p:cNvPr id="66" name="Table 65"/>
          <p:cNvGraphicFramePr>
            <a:graphicFrameLocks noGrp="1"/>
          </p:cNvGraphicFramePr>
          <p:nvPr/>
        </p:nvGraphicFramePr>
        <p:xfrm>
          <a:off x="612648" y="914400"/>
          <a:ext cx="10972800" cy="3657600"/>
        </p:xfrm>
        <a:graphic>
          <a:graphicData uri="http://schemas.openxmlformats.org/drawingml/2006/table">
            <a:tbl>
              <a:tblPr>
                <a:tableStyleId>{2D5ABB26-0587-4C30-8999-92F81FD0307C}</a:tableStyleId>
              </a:tblPr>
              <a:tblGrid>
                <a:gridCol w="11887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7498080">
                  <a:extLst>
                    <a:ext uri="{9D8B030D-6E8A-4147-A177-3AD203B41FA5}">
                      <a16:colId xmlns:a16="http://schemas.microsoft.com/office/drawing/2014/main" val="20002"/>
                    </a:ext>
                  </a:extLst>
                </a:gridCol>
              </a:tblGrid>
              <a:tr h="457200">
                <a:tc>
                  <a:txBody>
                    <a:bodyPr/>
                    <a:lstStyle/>
                    <a:p>
                      <a:pPr algn="l">
                        <a:spcAft>
                          <a:spcPts val="0"/>
                        </a:spcAft>
                      </a:pPr>
                      <a:r>
                        <a:rPr sz="1400" b="1" i="0">
                          <a:solidFill>
                            <a:srgbClr val="FFFFFF"/>
                          </a:solidFill>
                          <a:latin typeface="Calibri"/>
                        </a:rPr>
                        <a:t>Principle</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l">
                        <a:spcAft>
                          <a:spcPts val="0"/>
                        </a:spcAft>
                      </a:pPr>
                      <a:r>
                        <a:rPr sz="1400" b="1" i="0">
                          <a:solidFill>
                            <a:srgbClr val="FFFFFF"/>
                          </a:solidFill>
                          <a:latin typeface="Calibri"/>
                        </a:rPr>
                        <a:t>Can tuning fix it?</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l">
                        <a:spcAft>
                          <a:spcPts val="0"/>
                        </a:spcAft>
                      </a:pPr>
                      <a:r>
                        <a:rPr sz="1400" b="1" i="0">
                          <a:solidFill>
                            <a:srgbClr val="FFFFFF"/>
                          </a:solidFill>
                          <a:latin typeface="Calibri"/>
                        </a:rPr>
                        <a:t>Evidence</a:t>
                      </a:r>
                    </a:p>
                  </a:txBody>
                  <a:tcPr marL="73152" marR="73152" marT="27432" marB="27432" anchor="ctr">
                    <a:lnL w="0">
                      <a:noFill/>
                    </a:lnL>
                    <a:lnR w="0">
                      <a:noFill/>
                    </a:lnR>
                    <a:lnT w="0">
                      <a:noFill/>
                    </a:lnT>
                    <a:lnB w="6350">
                      <a:solidFill>
                        <a:srgbClr val="C9D0D8"/>
                      </a:solidFill>
                    </a:lnB>
                    <a:solidFill>
                      <a:srgbClr val="202A36"/>
                    </a:solidFill>
                  </a:tcPr>
                </a:tc>
                <a:extLst>
                  <a:ext uri="{0D108BD9-81ED-4DB2-BD59-A6C34878D82A}">
                    <a16:rowId xmlns:a16="http://schemas.microsoft.com/office/drawing/2014/main" val="10000"/>
                  </a:ext>
                </a:extLst>
              </a:tr>
              <a:tr h="640080">
                <a:tc>
                  <a:txBody>
                    <a:bodyPr/>
                    <a:lstStyle/>
                    <a:p>
                      <a:pPr algn="l">
                        <a:spcAft>
                          <a:spcPts val="0"/>
                        </a:spcAft>
                      </a:pPr>
                      <a:r>
                        <a:rPr sz="1400" b="1" i="0">
                          <a:solidFill>
                            <a:srgbClr val="202A36"/>
                          </a:solidFill>
                          <a:latin typeface="Calibri"/>
                        </a:rPr>
                        <a:t>SRP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400" b="0" i="0">
                          <a:solidFill>
                            <a:srgbClr val="2B3440"/>
                          </a:solidFill>
                          <a:latin typeface="Calibri"/>
                        </a:rPr>
                        <a:t>Not by a threshold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400" b="0" i="0">
                          <a:solidFill>
                            <a:srgbClr val="2B3440"/>
                          </a:solidFill>
                          <a:latin typeface="Calibri"/>
                        </a:rPr>
                        <a:t>0.350 Java, 0.110 Python. The Python false positives are classes whose size a framework imposes: that needs framework awareness, not a new number</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1"/>
                  </a:ext>
                </a:extLst>
              </a:tr>
              <a:tr h="640080">
                <a:tc>
                  <a:txBody>
                    <a:bodyPr/>
                    <a:lstStyle/>
                    <a:p>
                      <a:pPr algn="l">
                        <a:spcAft>
                          <a:spcPts val="0"/>
                        </a:spcAft>
                      </a:pPr>
                      <a:r>
                        <a:rPr sz="1400" b="1" i="0">
                          <a:solidFill>
                            <a:srgbClr val="202A36"/>
                          </a:solidFill>
                          <a:latin typeface="Calibri"/>
                        </a:rPr>
                        <a:t>OCP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400" b="1" i="0">
                          <a:solidFill>
                            <a:srgbClr val="B03A36"/>
                          </a:solidFill>
                          <a:latin typeface="Calibri"/>
                        </a:rPr>
                        <a:t>No threshold exists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400" b="0" i="0">
                          <a:solidFill>
                            <a:srgbClr val="2B3440"/>
                          </a:solidFill>
                          <a:latin typeface="Calibri"/>
                        </a:rPr>
                        <a:t>Precision by branch count: 0.270, 0.391, 0.316, 0.400, 0.364. Flat. A 64-branch switch over protocol codes is closed, a 5-branch one over backends is open</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2"/>
                  </a:ext>
                </a:extLst>
              </a:tr>
              <a:tr h="640080">
                <a:tc>
                  <a:txBody>
                    <a:bodyPr/>
                    <a:lstStyle/>
                    <a:p>
                      <a:pPr algn="l">
                        <a:spcAft>
                          <a:spcPts val="0"/>
                        </a:spcAft>
                      </a:pPr>
                      <a:r>
                        <a:rPr sz="1400" b="1" i="0">
                          <a:solidFill>
                            <a:srgbClr val="202A36"/>
                          </a:solidFill>
                          <a:latin typeface="Calibri"/>
                        </a:rPr>
                        <a:t>LSP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400" b="1" i="0">
                          <a:solidFill>
                            <a:srgbClr val="1B7F68"/>
                          </a:solidFill>
                          <a:latin typeface="Calibri"/>
                        </a:rPr>
                        <a:t>Already done</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400" b="0" i="0">
                          <a:solidFill>
                            <a:srgbClr val="2B3440"/>
                          </a:solidFill>
                          <a:latin typeface="Calibri"/>
                        </a:rPr>
                        <a:t>0.420 → 1.000 restricted to refused bequest; holdout 33/33, Python 6/7</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3"/>
                  </a:ext>
                </a:extLst>
              </a:tr>
              <a:tr h="640080">
                <a:tc>
                  <a:txBody>
                    <a:bodyPr/>
                    <a:lstStyle/>
                    <a:p>
                      <a:pPr algn="l">
                        <a:spcAft>
                          <a:spcPts val="0"/>
                        </a:spcAft>
                      </a:pPr>
                      <a:r>
                        <a:rPr sz="1400" b="1" i="0">
                          <a:solidFill>
                            <a:srgbClr val="202A36"/>
                          </a:solidFill>
                          <a:latin typeface="Calibri"/>
                        </a:rPr>
                        <a:t>ISP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400" b="1" i="0">
                          <a:solidFill>
                            <a:srgbClr val="B03A36"/>
                          </a:solidFill>
                          <a:latin typeface="Calibri"/>
                        </a:rPr>
                        <a:t>Tried, and it failed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400" b="0" i="0">
                          <a:solidFill>
                            <a:srgbClr val="2B3440"/>
                          </a:solidFill>
                          <a:latin typeface="Calibri"/>
                        </a:rPr>
                        <a:t>The ≥30 rule: 0.862 where derived, 0.704 on the holdout, 0.200 in Python, outside its own interval</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4"/>
                  </a:ext>
                </a:extLst>
              </a:tr>
              <a:tr h="640080">
                <a:tc>
                  <a:txBody>
                    <a:bodyPr/>
                    <a:lstStyle/>
                    <a:p>
                      <a:pPr algn="l">
                        <a:spcAft>
                          <a:spcPts val="0"/>
                        </a:spcAft>
                      </a:pPr>
                      <a:r>
                        <a:rPr sz="1400" b="1" i="0">
                          <a:solidFill>
                            <a:srgbClr val="202A36"/>
                          </a:solidFill>
                          <a:latin typeface="Calibri"/>
                        </a:rPr>
                        <a:t>DIP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400" b="0" i="0">
                          <a:solidFill>
                            <a:srgbClr val="2B3440"/>
                          </a:solidFill>
                          <a:latin typeface="Calibri"/>
                        </a:rPr>
                        <a:t>Nothing to fix</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400" b="0" i="0">
                          <a:solidFill>
                            <a:srgbClr val="2B3440"/>
                          </a:solidFill>
                          <a:latin typeface="Calibri"/>
                        </a:rPr>
                        <a:t>0.892 on a census of all 195 Java flags, 1.000 in Python</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5"/>
                  </a:ext>
                </a:extLst>
              </a:tr>
            </a:tbl>
          </a:graphicData>
        </a:graphic>
      </p:graphicFrame>
      <p:sp>
        <p:nvSpPr>
          <p:cNvPr id="67" name="Rounded Rectangle 66"/>
          <p:cNvSpPr/>
          <p:nvPr/>
        </p:nvSpPr>
        <p:spPr>
          <a:xfrm>
            <a:off x="612648" y="4800600"/>
            <a:ext cx="10972800" cy="1005840"/>
          </a:xfrm>
          <a:prstGeom prst="roundRect">
            <a:avLst>
              <a:gd name="adj" fmla="val 8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Hexagon 67"/>
          <p:cNvSpPr/>
          <p:nvPr/>
        </p:nvSpPr>
        <p:spPr>
          <a:xfrm>
            <a:off x="813816" y="5166360"/>
            <a:ext cx="316840" cy="274320"/>
          </a:xfrm>
          <a:prstGeom prst="hexagon">
            <a:avLst/>
          </a:prstGeom>
          <a:solidFill>
            <a:srgbClr val="46CE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252728" y="4800600"/>
            <a:ext cx="10149840" cy="1005840"/>
          </a:xfrm>
          <a:prstGeom prst="rect">
            <a:avLst/>
          </a:prstGeom>
          <a:noFill/>
        </p:spPr>
        <p:txBody>
          <a:bodyPr wrap="square" lIns="45720" rIns="45720" anchor="ctr">
            <a:spAutoFit/>
          </a:bodyPr>
          <a:lstStyle/>
          <a:p>
            <a:pPr algn="l">
              <a:spcAft>
                <a:spcPts val="0"/>
              </a:spcAft>
            </a:pPr>
            <a:r>
              <a:rPr sz="1400" b="1" i="0">
                <a:solidFill>
                  <a:srgbClr val="FFFFFF"/>
                </a:solidFill>
                <a:latin typeface="Calibri"/>
              </a:rPr>
              <a:t>A reported precision is the answer to RQ2, not a defect to hide.</a:t>
            </a:r>
            <a:r>
              <a:rPr sz="1400" b="0" i="0">
                <a:solidFill>
                  <a:srgbClr val="FFFFFF"/>
                </a:solidFill>
                <a:latin typeface="Calibri"/>
              </a:rPr>
              <a:t> Every rate here is already corrected by it: 7,501 SRP flags become about 2,600 genuine ones.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5</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Validation</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Second check: three published analysers (Java)</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37</a:t>
            </a:r>
          </a:p>
        </p:txBody>
      </p:sp>
      <p:graphicFrame>
        <p:nvGraphicFramePr>
          <p:cNvPr id="66" name="Table 65"/>
          <p:cNvGraphicFramePr>
            <a:graphicFrameLocks noGrp="1"/>
          </p:cNvGraphicFramePr>
          <p:nvPr/>
        </p:nvGraphicFramePr>
        <p:xfrm>
          <a:off x="612648" y="914400"/>
          <a:ext cx="5212080" cy="4572000"/>
        </p:xfrm>
        <a:graphic>
          <a:graphicData uri="http://schemas.openxmlformats.org/drawingml/2006/table">
            <a:tbl>
              <a:tblPr>
                <a:tableStyleId>{2D5ABB26-0587-4C30-8999-92F81FD0307C}</a:tableStyleId>
              </a:tblPr>
              <a:tblGrid>
                <a:gridCol w="36576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457200">
                <a:tc>
                  <a:txBody>
                    <a:bodyPr/>
                    <a:lstStyle/>
                    <a:p>
                      <a:pPr algn="l">
                        <a:spcAft>
                          <a:spcPts val="0"/>
                        </a:spcAft>
                      </a:pPr>
                      <a:r>
                        <a:rPr sz="1400" b="1" i="0">
                          <a:solidFill>
                            <a:srgbClr val="202A36"/>
                          </a:solidFill>
                          <a:latin typeface="Calibri"/>
                        </a:rPr>
                        <a:t>God Class detectors, 82,553 types</a:t>
                      </a:r>
                    </a:p>
                  </a:txBody>
                  <a:tcPr marL="73152" marR="73152" marT="27432" marB="27432" anchor="ctr">
                    <a:lnL w="0">
                      <a:noFill/>
                    </a:lnL>
                    <a:lnR w="0">
                      <a:noFill/>
                    </a:lnR>
                    <a:lnT w="0">
                      <a:noFill/>
                    </a:lnT>
                    <a:lnB w="6350">
                      <a:solidFill>
                        <a:srgbClr val="C9D0D8"/>
                      </a:solidFill>
                    </a:lnB>
                    <a:solidFill>
                      <a:srgbClr val="D9DFE6"/>
                    </a:solidFill>
                  </a:tcPr>
                </a:tc>
                <a:tc>
                  <a:txBody>
                    <a:bodyPr/>
                    <a:lstStyle/>
                    <a:p>
                      <a:pPr algn="l">
                        <a:spcAft>
                          <a:spcPts val="0"/>
                        </a:spcAft>
                      </a:pPr>
                      <a:r>
                        <a:rPr sz="1400" b="1" i="0">
                          <a:solidFill>
                            <a:srgbClr val="202A36"/>
                          </a:solidFill>
                          <a:latin typeface="Calibri"/>
                        </a:rPr>
                        <a:t>Cohen’s κ</a:t>
                      </a:r>
                    </a:p>
                  </a:txBody>
                  <a:tcPr marL="73152" marR="73152" marT="27432" marB="27432" anchor="ctr">
                    <a:lnL w="0">
                      <a:noFill/>
                    </a:lnL>
                    <a:lnR w="0">
                      <a:noFill/>
                    </a:lnR>
                    <a:lnT w="0">
                      <a:noFill/>
                    </a:lnT>
                    <a:lnB w="6350">
                      <a:solidFill>
                        <a:srgbClr val="C9D0D8"/>
                      </a:solidFill>
                    </a:lnB>
                    <a:solidFill>
                      <a:srgbClr val="D9DFE6"/>
                    </a:solidFill>
                  </a:tcPr>
                </a:tc>
                <a:extLst>
                  <a:ext uri="{0D108BD9-81ED-4DB2-BD59-A6C34878D82A}">
                    <a16:rowId xmlns:a16="http://schemas.microsoft.com/office/drawing/2014/main" val="10000"/>
                  </a:ext>
                </a:extLst>
              </a:tr>
              <a:tr h="457200">
                <a:tc>
                  <a:txBody>
                    <a:bodyPr/>
                    <a:lstStyle/>
                    <a:p>
                      <a:pPr algn="l">
                        <a:spcAft>
                          <a:spcPts val="0"/>
                        </a:spcAft>
                      </a:pPr>
                      <a:r>
                        <a:rPr sz="1400" b="0" i="0">
                          <a:solidFill>
                            <a:srgbClr val="2B3440"/>
                          </a:solidFill>
                          <a:latin typeface="Calibri"/>
                        </a:rPr>
                        <a:t>ours vs PMD GodClass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0.574</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1"/>
                  </a:ext>
                </a:extLst>
              </a:tr>
              <a:tr h="457200">
                <a:tc>
                  <a:txBody>
                    <a:bodyPr/>
                    <a:lstStyle/>
                    <a:p>
                      <a:pPr algn="l">
                        <a:spcAft>
                          <a:spcPts val="0"/>
                        </a:spcAft>
                      </a:pPr>
                      <a:r>
                        <a:rPr sz="1400" b="0" i="0">
                          <a:solidFill>
                            <a:srgbClr val="2B3440"/>
                          </a:solidFill>
                          <a:latin typeface="Calibri"/>
                        </a:rPr>
                        <a:t>ours vs DesigniteJava</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0.531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2"/>
                  </a:ext>
                </a:extLst>
              </a:tr>
              <a:tr h="457200">
                <a:tc>
                  <a:txBody>
                    <a:bodyPr/>
                    <a:lstStyle/>
                    <a:p>
                      <a:pPr algn="l">
                        <a:spcAft>
                          <a:spcPts val="0"/>
                        </a:spcAft>
                      </a:pPr>
                      <a:r>
                        <a:rPr sz="1400" b="0" i="0">
                          <a:solidFill>
                            <a:srgbClr val="2B3440"/>
                          </a:solidFill>
                          <a:latin typeface="Calibri"/>
                        </a:rPr>
                        <a:t>PMD vs DesigniteJava</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0.384</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3"/>
                  </a:ext>
                </a:extLst>
              </a:tr>
              <a:tr h="457200">
                <a:tc>
                  <a:txBody>
                    <a:bodyPr/>
                    <a:lstStyle/>
                    <a:p>
                      <a:pPr algn="l">
                        <a:spcAft>
                          <a:spcPts val="0"/>
                        </a:spcAft>
                      </a:pPr>
                      <a:r>
                        <a:rPr sz="1400" b="1" i="0">
                          <a:solidFill>
                            <a:srgbClr val="202A36"/>
                          </a:solidFill>
                          <a:latin typeface="Calibri"/>
                        </a:rPr>
                        <a:t>Open/Closed, 63,326 types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9DFE6"/>
                    </a:solidFill>
                  </a:tcPr>
                </a:tc>
                <a:tc>
                  <a:txBody>
                    <a:bodyPr/>
                    <a:lstStyle/>
                    <a:p>
                      <a:pPr algn="l">
                        <a:spcAft>
                          <a:spcPts val="0"/>
                        </a:spcAft>
                      </a:pPr>
                      <a:endParaRP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9DFE6"/>
                    </a:solidFill>
                  </a:tcPr>
                </a:tc>
                <a:extLst>
                  <a:ext uri="{0D108BD9-81ED-4DB2-BD59-A6C34878D82A}">
                    <a16:rowId xmlns:a16="http://schemas.microsoft.com/office/drawing/2014/main" val="10004"/>
                  </a:ext>
                </a:extLst>
              </a:tr>
              <a:tr h="457200">
                <a:tc>
                  <a:txBody>
                    <a:bodyPr/>
                    <a:lstStyle/>
                    <a:p>
                      <a:pPr algn="l">
                        <a:spcAft>
                          <a:spcPts val="0"/>
                        </a:spcAft>
                      </a:pPr>
                      <a:r>
                        <a:rPr sz="1400" b="0" i="0">
                          <a:solidFill>
                            <a:srgbClr val="2B3440"/>
                          </a:solidFill>
                          <a:latin typeface="Calibri"/>
                        </a:rPr>
                        <a:t>ours vs Designite type-conditional</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1" i="0">
                          <a:solidFill>
                            <a:srgbClr val="B03A36"/>
                          </a:solidFill>
                          <a:latin typeface="Calibri"/>
                        </a:rPr>
                        <a:t>0.122</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5"/>
                  </a:ext>
                </a:extLst>
              </a:tr>
              <a:tr h="457200">
                <a:tc>
                  <a:txBody>
                    <a:bodyPr/>
                    <a:lstStyle/>
                    <a:p>
                      <a:pPr algn="l">
                        <a:spcAft>
                          <a:spcPts val="0"/>
                        </a:spcAft>
                      </a:pPr>
                      <a:r>
                        <a:rPr sz="1400" b="1" i="0">
                          <a:solidFill>
                            <a:srgbClr val="202A36"/>
                          </a:solidFill>
                          <a:latin typeface="Calibri"/>
                        </a:rPr>
                        <a:t>Rank correlation with CK</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9DFE6"/>
                    </a:solidFill>
                  </a:tcPr>
                </a:tc>
                <a:tc>
                  <a:txBody>
                    <a:bodyPr/>
                    <a:lstStyle/>
                    <a:p>
                      <a:pPr algn="l">
                        <a:spcAft>
                          <a:spcPts val="0"/>
                        </a:spcAft>
                      </a:pPr>
                      <a:r>
                        <a:rPr sz="1400" b="1" i="0">
                          <a:solidFill>
                            <a:srgbClr val="202A36"/>
                          </a:solidFill>
                          <a:latin typeface="Calibri"/>
                        </a:rPr>
                        <a:t>ρ</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9DFE6"/>
                    </a:solidFill>
                  </a:tcPr>
                </a:tc>
                <a:extLst>
                  <a:ext uri="{0D108BD9-81ED-4DB2-BD59-A6C34878D82A}">
                    <a16:rowId xmlns:a16="http://schemas.microsoft.com/office/drawing/2014/main" val="10006"/>
                  </a:ext>
                </a:extLst>
              </a:tr>
              <a:tr h="457200">
                <a:tc>
                  <a:txBody>
                    <a:bodyPr/>
                    <a:lstStyle/>
                    <a:p>
                      <a:pPr algn="l">
                        <a:spcAft>
                          <a:spcPts val="0"/>
                        </a:spcAft>
                      </a:pPr>
                      <a:r>
                        <a:rPr sz="1400" b="0" i="0">
                          <a:solidFill>
                            <a:srgbClr val="2B3440"/>
                          </a:solidFill>
                          <a:latin typeface="Calibri"/>
                        </a:rPr>
                        <a:t>weighted methods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0.977</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7"/>
                  </a:ext>
                </a:extLst>
              </a:tr>
              <a:tr h="457200">
                <a:tc>
                  <a:txBody>
                    <a:bodyPr/>
                    <a:lstStyle/>
                    <a:p>
                      <a:pPr algn="l">
                        <a:spcAft>
                          <a:spcPts val="0"/>
                        </a:spcAft>
                      </a:pPr>
                      <a:r>
                        <a:rPr sz="1400" b="0" i="0">
                          <a:solidFill>
                            <a:srgbClr val="2B3440"/>
                          </a:solidFill>
                          <a:latin typeface="Calibri"/>
                        </a:rPr>
                        <a:t>lines of code</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0.944</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8"/>
                  </a:ext>
                </a:extLst>
              </a:tr>
              <a:tr h="457200">
                <a:tc>
                  <a:txBody>
                    <a:bodyPr/>
                    <a:lstStyle/>
                    <a:p>
                      <a:pPr algn="l">
                        <a:spcAft>
                          <a:spcPts val="0"/>
                        </a:spcAft>
                      </a:pPr>
                      <a:r>
                        <a:rPr sz="1400" b="0" i="0">
                          <a:solidFill>
                            <a:srgbClr val="2B3440"/>
                          </a:solidFill>
                          <a:latin typeface="Calibri"/>
                        </a:rPr>
                        <a:t>cohesion (LCOM1)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0.288</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9"/>
                  </a:ext>
                </a:extLst>
              </a:tr>
            </a:tbl>
          </a:graphicData>
        </a:graphic>
      </p:graphicFrame>
      <p:sp>
        <p:nvSpPr>
          <p:cNvPr id="67" name="Rounded Rectangle 66"/>
          <p:cNvSpPr/>
          <p:nvPr/>
        </p:nvSpPr>
        <p:spPr>
          <a:xfrm>
            <a:off x="6172200" y="914400"/>
            <a:ext cx="5413248" cy="9144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355080" y="914400"/>
            <a:ext cx="5047488" cy="914400"/>
          </a:xfrm>
          <a:prstGeom prst="rect">
            <a:avLst/>
          </a:prstGeom>
          <a:noFill/>
        </p:spPr>
        <p:txBody>
          <a:bodyPr wrap="square" lIns="36576" tIns="36576" rIns="36576" bIns="36576" anchor="ctr">
            <a:spAutoFit/>
          </a:bodyPr>
          <a:lstStyle/>
          <a:p>
            <a:pPr algn="l">
              <a:spcAft>
                <a:spcPts val="300"/>
              </a:spcAft>
            </a:pPr>
            <a:r>
              <a:rPr sz="1400" b="0" i="0">
                <a:solidFill>
                  <a:srgbClr val="2B3440"/>
                </a:solidFill>
                <a:latin typeface="Calibri"/>
              </a:rPr>
              <a:t>150 random repositories, tools at their own default thresholds</a:t>
            </a:r>
          </a:p>
        </p:txBody>
      </p:sp>
      <p:sp>
        <p:nvSpPr>
          <p:cNvPr id="69" name="Rounded Rectangle 68"/>
          <p:cNvSpPr/>
          <p:nvPr/>
        </p:nvSpPr>
        <p:spPr>
          <a:xfrm>
            <a:off x="6172200" y="2034540"/>
            <a:ext cx="5413248" cy="9144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355080" y="2034540"/>
            <a:ext cx="5047488" cy="914400"/>
          </a:xfrm>
          <a:prstGeom prst="rect">
            <a:avLst/>
          </a:prstGeom>
          <a:noFill/>
        </p:spPr>
        <p:txBody>
          <a:bodyPr wrap="square" lIns="36576" tIns="36576" rIns="36576" bIns="36576" anchor="ctr">
            <a:spAutoFit/>
          </a:bodyPr>
          <a:lstStyle/>
          <a:p>
            <a:pPr algn="l">
              <a:spcAft>
                <a:spcPts val="300"/>
              </a:spcAft>
            </a:pPr>
            <a:r>
              <a:rPr sz="1400" b="0" i="0">
                <a:solidFill>
                  <a:srgbClr val="2B3440"/>
                </a:solidFill>
                <a:latin typeface="Calibri"/>
              </a:rPr>
              <a:t>Our rubric agrees with each tool more than the two tools agree with each other</a:t>
            </a:r>
          </a:p>
        </p:txBody>
      </p:sp>
      <p:sp>
        <p:nvSpPr>
          <p:cNvPr id="71" name="Rounded Rectangle 70"/>
          <p:cNvSpPr/>
          <p:nvPr/>
        </p:nvSpPr>
        <p:spPr>
          <a:xfrm>
            <a:off x="6172200" y="3154680"/>
            <a:ext cx="5413248" cy="9144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355080" y="3154680"/>
            <a:ext cx="5047488" cy="914400"/>
          </a:xfrm>
          <a:prstGeom prst="rect">
            <a:avLst/>
          </a:prstGeom>
          <a:noFill/>
        </p:spPr>
        <p:txBody>
          <a:bodyPr wrap="square" lIns="36576" tIns="36576" rIns="36576" bIns="36576" anchor="ctr">
            <a:spAutoFit/>
          </a:bodyPr>
          <a:lstStyle/>
          <a:p>
            <a:pPr algn="l">
              <a:spcAft>
                <a:spcPts val="300"/>
              </a:spcAft>
            </a:pPr>
            <a:r>
              <a:rPr sz="1400" b="0" i="0">
                <a:solidFill>
                  <a:srgbClr val="2B3440"/>
                </a:solidFill>
                <a:latin typeface="Calibri"/>
              </a:rPr>
              <a:t>68.0% of our flags are confirmed by at least one of them</a:t>
            </a:r>
          </a:p>
        </p:txBody>
      </p:sp>
      <p:sp>
        <p:nvSpPr>
          <p:cNvPr id="73" name="Rounded Rectangle 72"/>
          <p:cNvSpPr/>
          <p:nvPr/>
        </p:nvSpPr>
        <p:spPr>
          <a:xfrm>
            <a:off x="6172200" y="4274820"/>
            <a:ext cx="5413248" cy="9144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355080" y="4274820"/>
            <a:ext cx="5047488" cy="914400"/>
          </a:xfrm>
          <a:prstGeom prst="rect">
            <a:avLst/>
          </a:prstGeom>
          <a:noFill/>
        </p:spPr>
        <p:txBody>
          <a:bodyPr wrap="square" lIns="36576" tIns="36576" rIns="36576" bIns="36576" anchor="ctr">
            <a:spAutoFit/>
          </a:bodyPr>
          <a:lstStyle/>
          <a:p>
            <a:pPr algn="l">
              <a:spcAft>
                <a:spcPts val="300"/>
              </a:spcAft>
            </a:pPr>
            <a:r>
              <a:rPr sz="1400" b="0" i="0">
                <a:solidFill>
                  <a:srgbClr val="2B3440"/>
                </a:solidFill>
                <a:latin typeface="Calibri"/>
              </a:rPr>
              <a:t>Cohesion disagrees everywhere, including CK with itself (0.490)</a:t>
            </a:r>
          </a:p>
        </p:txBody>
      </p:sp>
      <p:sp>
        <p:nvSpPr>
          <p:cNvPr id="75" name="Rounded Rectangle 74"/>
          <p:cNvSpPr/>
          <p:nvPr/>
        </p:nvSpPr>
        <p:spPr>
          <a:xfrm>
            <a:off x="6172200" y="5394960"/>
            <a:ext cx="5413248" cy="9144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6355080" y="5394960"/>
            <a:ext cx="5047488" cy="914400"/>
          </a:xfrm>
          <a:prstGeom prst="rect">
            <a:avLst/>
          </a:prstGeom>
          <a:noFill/>
        </p:spPr>
        <p:txBody>
          <a:bodyPr wrap="square" lIns="36576" tIns="36576" rIns="36576" bIns="36576" anchor="ctr">
            <a:spAutoFit/>
          </a:bodyPr>
          <a:lstStyle/>
          <a:p>
            <a:pPr algn="l">
              <a:spcAft>
                <a:spcPts val="300"/>
              </a:spcAft>
            </a:pPr>
            <a:r>
              <a:rPr sz="1400" b="1" i="0">
                <a:solidFill>
                  <a:srgbClr val="2B3440"/>
                </a:solidFill>
                <a:latin typeface="Calibri"/>
              </a:rPr>
              <a:t>Open/Closed is the exception:</a:t>
            </a:r>
            <a:r>
              <a:rPr sz="1400" b="0" i="0">
                <a:solidFill>
                  <a:srgbClr val="2B3440"/>
                </a:solidFill>
                <a:latin typeface="Calibri"/>
              </a:rPr>
              <a:t> it fires 3× as often as Designite’s smells and shares only 76 types, so it rests on the judge alone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组合 55"/>
          <p:cNvGrpSpPr/>
          <p:nvPr/>
        </p:nvGrpSpPr>
        <p:grpSpPr>
          <a:xfrm>
            <a:off x="2052459" y="1413384"/>
            <a:ext cx="2036802" cy="2036802"/>
            <a:chOff x="8077074" y="845254"/>
            <a:chExt cx="2036802" cy="2036802"/>
          </a:xfrm>
        </p:grpSpPr>
        <p:sp>
          <p:nvSpPr>
            <p:cNvPr id="57" name="椭圆 56"/>
            <p:cNvSpPr/>
            <p:nvPr/>
          </p:nvSpPr>
          <p:spPr>
            <a:xfrm>
              <a:off x="8077074" y="845254"/>
              <a:ext cx="2036802" cy="2036802"/>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Freeform 126"/>
            <p:cNvSpPr>
              <a:spLocks noChangeAspect="1" noEditPoints="1"/>
            </p:cNvSpPr>
            <p:nvPr/>
          </p:nvSpPr>
          <p:spPr bwMode="auto">
            <a:xfrm>
              <a:off x="8639337" y="1292886"/>
              <a:ext cx="912277" cy="1141539"/>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lumMod val="95000"/>
              </a:schemeClr>
            </a:solidFill>
            <a:ln>
              <a:noFill/>
            </a:ln>
          </p:spPr>
          <p:txBody>
            <a:bodyPr vert="horz" wrap="square" lIns="91440" tIns="45720" rIns="91440" bIns="45720" numCol="1" anchor="t" anchorCtr="0" compatLnSpc="1"/>
            <a:lstStyle/>
            <a:p>
              <a:endParaRPr lang="zh-CN" altLang="en-US">
                <a:latin typeface="Arial" panose="020B0604020202020204" pitchFamily="34" charset="0"/>
                <a:cs typeface="Arial" panose="020B0604020202020204" pitchFamily="34" charset="0"/>
              </a:endParaRPr>
            </a:p>
          </p:txBody>
        </p:sp>
      </p:grpSp>
      <p:sp>
        <p:nvSpPr>
          <p:cNvPr id="59" name="矩形 58"/>
          <p:cNvSpPr/>
          <p:nvPr/>
        </p:nvSpPr>
        <p:spPr>
          <a:xfrm>
            <a:off x="6095999" y="0"/>
            <a:ext cx="6099175" cy="6858000"/>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TextBox 59"/>
          <p:cNvSpPr txBox="1"/>
          <p:nvPr/>
        </p:nvSpPr>
        <p:spPr>
          <a:xfrm>
            <a:off x="457200" y="3749040"/>
            <a:ext cx="5184648" cy="548640"/>
          </a:xfrm>
          <a:prstGeom prst="rect">
            <a:avLst/>
          </a:prstGeom>
          <a:noFill/>
        </p:spPr>
        <p:txBody>
          <a:bodyPr wrap="square" lIns="45720" tIns="27432" rIns="45720" bIns="27432" anchor="t">
            <a:spAutoFit/>
          </a:bodyPr>
          <a:lstStyle/>
          <a:p>
            <a:pPr algn="ctr">
              <a:spcAft>
                <a:spcPts val="0"/>
              </a:spcAft>
            </a:pPr>
            <a:r>
              <a:rPr sz="2800" b="1" i="0">
                <a:solidFill>
                  <a:srgbClr val="46CEAE"/>
                </a:solidFill>
                <a:latin typeface="Arial"/>
              </a:rPr>
              <a:t>Part 6</a:t>
            </a:r>
          </a:p>
        </p:txBody>
      </p:sp>
      <p:sp>
        <p:nvSpPr>
          <p:cNvPr id="61" name="TextBox 60"/>
          <p:cNvSpPr txBox="1"/>
          <p:nvPr/>
        </p:nvSpPr>
        <p:spPr>
          <a:xfrm>
            <a:off x="457200" y="4315968"/>
            <a:ext cx="5184648" cy="1737360"/>
          </a:xfrm>
          <a:prstGeom prst="rect">
            <a:avLst/>
          </a:prstGeom>
          <a:noFill/>
        </p:spPr>
        <p:txBody>
          <a:bodyPr wrap="square" lIns="45720" tIns="27432" rIns="45720" bIns="27432" anchor="t">
            <a:spAutoFit/>
          </a:bodyPr>
          <a:lstStyle/>
          <a:p>
            <a:pPr algn="ctr">
              <a:lnSpc>
                <a:spcPct val="95000"/>
              </a:lnSpc>
              <a:spcAft>
                <a:spcPts val="0"/>
              </a:spcAft>
            </a:pPr>
            <a:r>
              <a:rPr sz="3200" b="1" i="0">
                <a:solidFill>
                  <a:srgbClr val="202A36"/>
                </a:solidFill>
                <a:latin typeface="Arial"/>
              </a:rPr>
              <a:t>Results</a:t>
            </a:r>
          </a:p>
        </p:txBody>
      </p:sp>
      <p:cxnSp>
        <p:nvCxnSpPr>
          <p:cNvPr id="62" name="Connector 61"/>
          <p:cNvCxnSpPr/>
          <p:nvPr/>
        </p:nvCxnSpPr>
        <p:spPr>
          <a:xfrm>
            <a:off x="7863840" y="1088136"/>
            <a:ext cx="0" cy="4681728"/>
          </a:xfrm>
          <a:prstGeom prst="line">
            <a:avLst/>
          </a:prstGeom>
          <a:ln w="19050">
            <a:solidFill>
              <a:srgbClr val="8E98A5"/>
            </a:solidFill>
          </a:ln>
        </p:spPr>
        <p:style>
          <a:lnRef idx="2">
            <a:schemeClr val="accent1"/>
          </a:lnRef>
          <a:fillRef idx="0">
            <a:schemeClr val="accent1"/>
          </a:fillRef>
          <a:effectRef idx="1">
            <a:schemeClr val="accent1"/>
          </a:effectRef>
          <a:fontRef idx="minor">
            <a:schemeClr val="tx1"/>
          </a:fontRef>
        </p:style>
      </p:cxnSp>
      <p:sp>
        <p:nvSpPr>
          <p:cNvPr id="63" name="Oval 62"/>
          <p:cNvSpPr/>
          <p:nvPr/>
        </p:nvSpPr>
        <p:spPr>
          <a:xfrm>
            <a:off x="7790688" y="1380744"/>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8229600" y="1252728"/>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How often principles are violated</a:t>
            </a:r>
          </a:p>
        </p:txBody>
      </p:sp>
      <p:sp>
        <p:nvSpPr>
          <p:cNvPr id="65" name="Oval 64"/>
          <p:cNvSpPr/>
          <p:nvPr/>
        </p:nvSpPr>
        <p:spPr>
          <a:xfrm>
            <a:off x="7790688" y="2039112"/>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8229600" y="1911096"/>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Flag rate by agent</a:t>
            </a:r>
          </a:p>
        </p:txBody>
      </p:sp>
      <p:sp>
        <p:nvSpPr>
          <p:cNvPr id="67" name="Oval 66"/>
          <p:cNvSpPr/>
          <p:nvPr/>
        </p:nvSpPr>
        <p:spPr>
          <a:xfrm>
            <a:off x="7790688" y="2697480"/>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229600" y="2569464"/>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Is the instrument fair?</a:t>
            </a:r>
          </a:p>
        </p:txBody>
      </p:sp>
      <p:sp>
        <p:nvSpPr>
          <p:cNvPr id="69" name="Oval 68"/>
          <p:cNvSpPr/>
          <p:nvPr/>
        </p:nvSpPr>
        <p:spPr>
          <a:xfrm>
            <a:off x="7790688" y="3355848"/>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229600" y="3227832"/>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Change size and the joint model</a:t>
            </a:r>
          </a:p>
        </p:txBody>
      </p:sp>
      <p:sp>
        <p:nvSpPr>
          <p:cNvPr id="71" name="Oval 70"/>
          <p:cNvSpPr/>
          <p:nvPr/>
        </p:nvSpPr>
        <p:spPr>
          <a:xfrm>
            <a:off x="7790688" y="4014216"/>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229600" y="3886200"/>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Merged against unmerged code</a:t>
            </a:r>
          </a:p>
        </p:txBody>
      </p:sp>
      <p:sp>
        <p:nvSpPr>
          <p:cNvPr id="73" name="Oval 72"/>
          <p:cNvSpPr/>
          <p:nvPr/>
        </p:nvSpPr>
        <p:spPr>
          <a:xfrm>
            <a:off x="7790688" y="4672584"/>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229600" y="4544568"/>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Where the problems live</a:t>
            </a:r>
          </a:p>
        </p:txBody>
      </p:sp>
      <p:sp>
        <p:nvSpPr>
          <p:cNvPr id="75" name="Oval 74"/>
          <p:cNvSpPr/>
          <p:nvPr/>
        </p:nvSpPr>
        <p:spPr>
          <a:xfrm>
            <a:off x="7790688" y="5330952"/>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8229600" y="5202936"/>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Repair or damage?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6</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Results</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How often agents actually violate each principle</a:t>
            </a:r>
          </a:p>
        </p:txBody>
      </p:sp>
      <p:sp>
        <p:nvSpPr>
          <p:cNvPr id="65" name="TextBox 64"/>
          <p:cNvSpPr txBox="1"/>
          <p:nvPr/>
        </p:nvSpPr>
        <p:spPr>
          <a:xfrm>
            <a:off x="612648" y="548640"/>
            <a:ext cx="10972800" cy="292608"/>
          </a:xfrm>
          <a:prstGeom prst="rect">
            <a:avLst/>
          </a:prstGeom>
          <a:noFill/>
        </p:spPr>
        <p:txBody>
          <a:bodyPr wrap="square" lIns="18288" tIns="0" rIns="18288" bIns="0" anchor="ctr">
            <a:spAutoFit/>
          </a:bodyPr>
          <a:lstStyle/>
          <a:p>
            <a:pPr algn="l">
              <a:spcAft>
                <a:spcPts val="0"/>
              </a:spcAft>
            </a:pPr>
            <a:r>
              <a:rPr sz="1250" b="0" i="1">
                <a:solidFill>
                  <a:srgbClr val="5C6773"/>
                </a:solidFill>
                <a:latin typeface="Calibri"/>
              </a:rPr>
              <a:t>raw flag rate, corrected by the measured precision of its own detector</a:t>
            </a:r>
          </a:p>
        </p:txBody>
      </p:sp>
      <p:sp>
        <p:nvSpPr>
          <p:cNvPr id="66" name="TextBox 65"/>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39</a:t>
            </a:r>
          </a:p>
        </p:txBody>
      </p:sp>
      <p:graphicFrame>
        <p:nvGraphicFramePr>
          <p:cNvPr id="67" name="Table 66"/>
          <p:cNvGraphicFramePr>
            <a:graphicFrameLocks noGrp="1"/>
          </p:cNvGraphicFramePr>
          <p:nvPr/>
        </p:nvGraphicFramePr>
        <p:xfrm>
          <a:off x="612648" y="1005840"/>
          <a:ext cx="10972800" cy="3200400"/>
        </p:xfrm>
        <a:graphic>
          <a:graphicData uri="http://schemas.openxmlformats.org/drawingml/2006/table">
            <a:tbl>
              <a:tblPr>
                <a:tableStyleId>{2D5ABB26-0587-4C30-8999-92F81FD0307C}</a:tableStyleId>
              </a:tblPr>
              <a:tblGrid>
                <a:gridCol w="10972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040130">
                  <a:extLst>
                    <a:ext uri="{9D8B030D-6E8A-4147-A177-3AD203B41FA5}">
                      <a16:colId xmlns:a16="http://schemas.microsoft.com/office/drawing/2014/main" val="20002"/>
                    </a:ext>
                  </a:extLst>
                </a:gridCol>
                <a:gridCol w="1040130">
                  <a:extLst>
                    <a:ext uri="{9D8B030D-6E8A-4147-A177-3AD203B41FA5}">
                      <a16:colId xmlns:a16="http://schemas.microsoft.com/office/drawing/2014/main" val="20003"/>
                    </a:ext>
                  </a:extLst>
                </a:gridCol>
                <a:gridCol w="1040130">
                  <a:extLst>
                    <a:ext uri="{9D8B030D-6E8A-4147-A177-3AD203B41FA5}">
                      <a16:colId xmlns:a16="http://schemas.microsoft.com/office/drawing/2014/main" val="20004"/>
                    </a:ext>
                  </a:extLst>
                </a:gridCol>
                <a:gridCol w="1040130">
                  <a:extLst>
                    <a:ext uri="{9D8B030D-6E8A-4147-A177-3AD203B41FA5}">
                      <a16:colId xmlns:a16="http://schemas.microsoft.com/office/drawing/2014/main" val="20005"/>
                    </a:ext>
                  </a:extLst>
                </a:gridCol>
                <a:gridCol w="1040130">
                  <a:extLst>
                    <a:ext uri="{9D8B030D-6E8A-4147-A177-3AD203B41FA5}">
                      <a16:colId xmlns:a16="http://schemas.microsoft.com/office/drawing/2014/main" val="20006"/>
                    </a:ext>
                  </a:extLst>
                </a:gridCol>
                <a:gridCol w="1040130">
                  <a:extLst>
                    <a:ext uri="{9D8B030D-6E8A-4147-A177-3AD203B41FA5}">
                      <a16:colId xmlns:a16="http://schemas.microsoft.com/office/drawing/2014/main" val="20007"/>
                    </a:ext>
                  </a:extLst>
                </a:gridCol>
                <a:gridCol w="1040130">
                  <a:extLst>
                    <a:ext uri="{9D8B030D-6E8A-4147-A177-3AD203B41FA5}">
                      <a16:colId xmlns:a16="http://schemas.microsoft.com/office/drawing/2014/main" val="20008"/>
                    </a:ext>
                  </a:extLst>
                </a:gridCol>
                <a:gridCol w="1040130">
                  <a:extLst>
                    <a:ext uri="{9D8B030D-6E8A-4147-A177-3AD203B41FA5}">
                      <a16:colId xmlns:a16="http://schemas.microsoft.com/office/drawing/2014/main" val="20009"/>
                    </a:ext>
                  </a:extLst>
                </a:gridCol>
              </a:tblGrid>
              <a:tr h="457200">
                <a:tc>
                  <a:txBody>
                    <a:bodyPr/>
                    <a:lstStyle/>
                    <a:p>
                      <a:pPr algn="l">
                        <a:spcAft>
                          <a:spcPts val="0"/>
                        </a:spcAft>
                      </a:pPr>
                      <a:r>
                        <a:rPr sz="1400" b="1" i="0">
                          <a:solidFill>
                            <a:srgbClr val="FFFFFF"/>
                          </a:solidFill>
                          <a:latin typeface="Calibri"/>
                        </a:rPr>
                        <a:t>Principle</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l">
                        <a:spcAft>
                          <a:spcPts val="0"/>
                        </a:spcAft>
                      </a:pPr>
                      <a:r>
                        <a:rPr sz="1400" b="1" i="0">
                          <a:solidFill>
                            <a:srgbClr val="FFFFFF"/>
                          </a:solidFill>
                          <a:latin typeface="Calibri"/>
                        </a:rPr>
                        <a:t>Unit</a:t>
                      </a:r>
                    </a:p>
                  </a:txBody>
                  <a:tcPr marL="73152" marR="73152" marT="27432" marB="27432" anchor="ctr">
                    <a:lnL w="0">
                      <a:noFill/>
                    </a:lnL>
                    <a:lnR w="0">
                      <a:noFill/>
                    </a:lnR>
                    <a:lnT w="0">
                      <a:noFill/>
                    </a:lnT>
                    <a:lnB w="6350">
                      <a:solidFill>
                        <a:srgbClr val="C9D0D8"/>
                      </a:solidFill>
                    </a:lnB>
                    <a:solidFill>
                      <a:srgbClr val="202A36"/>
                    </a:solidFill>
                  </a:tcPr>
                </a:tc>
                <a:tc gridSpan="4">
                  <a:txBody>
                    <a:bodyPr/>
                    <a:lstStyle/>
                    <a:p>
                      <a:pPr algn="ctr">
                        <a:spcAft>
                          <a:spcPts val="0"/>
                        </a:spcAft>
                      </a:pPr>
                      <a:r>
                        <a:rPr sz="1400" b="1" i="0">
                          <a:solidFill>
                            <a:srgbClr val="FFFFFF"/>
                          </a:solidFill>
                          <a:latin typeface="Calibri"/>
                        </a:rPr>
                        <a:t>Java</a:t>
                      </a:r>
                    </a:p>
                  </a:txBody>
                  <a:tcPr marL="73152" marR="73152" marT="27432" marB="27432" anchor="ctr">
                    <a:lnL w="0">
                      <a:noFill/>
                    </a:lnL>
                    <a:lnR w="0">
                      <a:noFill/>
                    </a:lnR>
                    <a:lnT w="0">
                      <a:noFill/>
                    </a:lnT>
                    <a:lnB w="6350">
                      <a:solidFill>
                        <a:srgbClr val="C9D0D8"/>
                      </a:solidFill>
                    </a:lnB>
                    <a:solidFill>
                      <a:srgbClr val="202A36"/>
                    </a:solidFill>
                  </a:tcPr>
                </a:tc>
                <a:tc hMerge="1">
                  <a:txBody>
                    <a:bodyPr/>
                    <a:lstStyle/>
                    <a:p>
                      <a:endParaRPr/>
                    </a:p>
                  </a:txBody>
                  <a:tcPr/>
                </a:tc>
                <a:tc hMerge="1">
                  <a:txBody>
                    <a:bodyPr/>
                    <a:lstStyle/>
                    <a:p>
                      <a:endParaRPr/>
                    </a:p>
                  </a:txBody>
                  <a:tcPr/>
                </a:tc>
                <a:tc hMerge="1">
                  <a:txBody>
                    <a:bodyPr/>
                    <a:lstStyle/>
                    <a:p>
                      <a:endParaRPr/>
                    </a:p>
                  </a:txBody>
                  <a:tcPr/>
                </a:tc>
                <a:tc gridSpan="4">
                  <a:txBody>
                    <a:bodyPr/>
                    <a:lstStyle/>
                    <a:p>
                      <a:pPr algn="ctr">
                        <a:spcAft>
                          <a:spcPts val="0"/>
                        </a:spcAft>
                      </a:pPr>
                      <a:r>
                        <a:rPr sz="1400" b="1" i="0">
                          <a:solidFill>
                            <a:srgbClr val="FFFFFF"/>
                          </a:solidFill>
                          <a:latin typeface="Calibri"/>
                        </a:rPr>
                        <a:t>Python</a:t>
                      </a:r>
                    </a:p>
                  </a:txBody>
                  <a:tcPr marL="73152" marR="73152" marT="27432" marB="27432" anchor="ctr">
                    <a:lnL w="0">
                      <a:noFill/>
                    </a:lnL>
                    <a:lnR w="0">
                      <a:noFill/>
                    </a:lnR>
                    <a:lnT w="0">
                      <a:noFill/>
                    </a:lnT>
                    <a:lnB w="6350">
                      <a:solidFill>
                        <a:srgbClr val="C9D0D8"/>
                      </a:solidFill>
                    </a:lnB>
                    <a:solidFill>
                      <a:srgbClr val="202A36"/>
                    </a:solidFill>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457200">
                <a:tc>
                  <a:txBody>
                    <a:bodyPr/>
                    <a:lstStyle/>
                    <a:p>
                      <a:pPr algn="l">
                        <a:spcAft>
                          <a:spcPts val="0"/>
                        </a:spcAft>
                      </a:pPr>
                      <a:endParaRP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202A36"/>
                    </a:solidFill>
                  </a:tcPr>
                </a:tc>
                <a:tc>
                  <a:txBody>
                    <a:bodyPr/>
                    <a:lstStyle/>
                    <a:p>
                      <a:pPr algn="l">
                        <a:spcAft>
                          <a:spcPts val="0"/>
                        </a:spcAft>
                      </a:pPr>
                      <a:endParaRP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202A36"/>
                    </a:solidFill>
                  </a:tcPr>
                </a:tc>
                <a:tc>
                  <a:txBody>
                    <a:bodyPr/>
                    <a:lstStyle/>
                    <a:p>
                      <a:pPr algn="ctr">
                        <a:spcAft>
                          <a:spcPts val="0"/>
                        </a:spcAft>
                      </a:pPr>
                      <a:r>
                        <a:rPr sz="1400" b="1" i="0">
                          <a:solidFill>
                            <a:srgbClr val="FFFFFF"/>
                          </a:solidFill>
                          <a:latin typeface="Calibri"/>
                        </a:rPr>
                        <a:t>flagged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202A36"/>
                    </a:solidFill>
                  </a:tcPr>
                </a:tc>
                <a:tc>
                  <a:txBody>
                    <a:bodyPr/>
                    <a:lstStyle/>
                    <a:p>
                      <a:pPr algn="ctr">
                        <a:spcAft>
                          <a:spcPts val="0"/>
                        </a:spcAft>
                      </a:pPr>
                      <a:r>
                        <a:rPr sz="1400" b="1" i="0">
                          <a:solidFill>
                            <a:srgbClr val="FFFFFF"/>
                          </a:solidFill>
                          <a:latin typeface="Calibri"/>
                        </a:rPr>
                        <a:t>real</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00" b="1" i="0">
                          <a:solidFill>
                            <a:srgbClr val="FFFFFF"/>
                          </a:solidFill>
                          <a:latin typeface="Calibri"/>
                        </a:rPr>
                        <a:t>prec.</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00" b="1" i="0">
                          <a:solidFill>
                            <a:srgbClr val="FFFFFF"/>
                          </a:solidFill>
                          <a:latin typeface="Calibri"/>
                        </a:rPr>
                        <a:t>rec.</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00" b="1" i="0">
                          <a:solidFill>
                            <a:srgbClr val="FFFFFF"/>
                          </a:solidFill>
                          <a:latin typeface="Calibri"/>
                        </a:rPr>
                        <a:t>flagged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202A36"/>
                    </a:solidFill>
                  </a:tcPr>
                </a:tc>
                <a:tc>
                  <a:txBody>
                    <a:bodyPr/>
                    <a:lstStyle/>
                    <a:p>
                      <a:pPr algn="ctr">
                        <a:spcAft>
                          <a:spcPts val="0"/>
                        </a:spcAft>
                      </a:pPr>
                      <a:r>
                        <a:rPr sz="1400" b="1" i="0">
                          <a:solidFill>
                            <a:srgbClr val="FFFFFF"/>
                          </a:solidFill>
                          <a:latin typeface="Calibri"/>
                        </a:rPr>
                        <a:t>real</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00" b="1" i="0">
                          <a:solidFill>
                            <a:srgbClr val="FFFFFF"/>
                          </a:solidFill>
                          <a:latin typeface="Calibri"/>
                        </a:rPr>
                        <a:t>prec.</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00" b="1" i="0">
                          <a:solidFill>
                            <a:srgbClr val="FFFFFF"/>
                          </a:solidFill>
                          <a:latin typeface="Calibri"/>
                        </a:rPr>
                        <a:t>rec.</a:t>
                      </a:r>
                    </a:p>
                  </a:txBody>
                  <a:tcPr marL="73152" marR="73152" marT="27432" marB="27432" anchor="ctr">
                    <a:lnL w="0">
                      <a:noFill/>
                    </a:lnL>
                    <a:lnR w="0">
                      <a:noFill/>
                    </a:lnR>
                    <a:lnT w="0">
                      <a:noFill/>
                    </a:lnT>
                    <a:lnB w="6350">
                      <a:solidFill>
                        <a:srgbClr val="C9D0D8"/>
                      </a:solidFill>
                    </a:lnB>
                    <a:solidFill>
                      <a:srgbClr val="202A36"/>
                    </a:solidFill>
                  </a:tcPr>
                </a:tc>
                <a:extLst>
                  <a:ext uri="{0D108BD9-81ED-4DB2-BD59-A6C34878D82A}">
                    <a16:rowId xmlns:a16="http://schemas.microsoft.com/office/drawing/2014/main" val="10001"/>
                  </a:ext>
                </a:extLst>
              </a:tr>
              <a:tr h="457200">
                <a:tc>
                  <a:txBody>
                    <a:bodyPr/>
                    <a:lstStyle/>
                    <a:p>
                      <a:pPr algn="l">
                        <a:spcAft>
                          <a:spcPts val="0"/>
                        </a:spcAft>
                      </a:pPr>
                      <a:r>
                        <a:rPr sz="1400" b="1" i="0">
                          <a:solidFill>
                            <a:srgbClr val="202A36"/>
                          </a:solidFill>
                          <a:latin typeface="Calibri"/>
                        </a:rPr>
                        <a:t>SRP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400" b="0" i="0">
                          <a:solidFill>
                            <a:srgbClr val="2B3440"/>
                          </a:solidFill>
                          <a:latin typeface="Calibri"/>
                        </a:rPr>
                        <a:t>class touched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12.2%</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1" i="0">
                          <a:solidFill>
                            <a:srgbClr val="2B3440"/>
                          </a:solidFill>
                          <a:latin typeface="Calibri"/>
                        </a:rPr>
                        <a:t>4.3%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DF4EE"/>
                    </a:solidFill>
                  </a:tcPr>
                </a:tc>
                <a:tc>
                  <a:txBody>
                    <a:bodyPr/>
                    <a:lstStyle/>
                    <a:p>
                      <a:pPr algn="ctr">
                        <a:spcAft>
                          <a:spcPts val="0"/>
                        </a:spcAft>
                      </a:pPr>
                      <a:r>
                        <a:rPr sz="1400" b="0" i="0">
                          <a:solidFill>
                            <a:srgbClr val="2B3440"/>
                          </a:solidFill>
                          <a:latin typeface="Calibri"/>
                        </a:rPr>
                        <a:t>0.350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0.828</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11.6%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1" i="0">
                          <a:solidFill>
                            <a:srgbClr val="2B3440"/>
                          </a:solidFill>
                          <a:latin typeface="Calibri"/>
                        </a:rPr>
                        <a:t>1.3%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DF4EE"/>
                    </a:solidFill>
                  </a:tcPr>
                </a:tc>
                <a:tc>
                  <a:txBody>
                    <a:bodyPr/>
                    <a:lstStyle/>
                    <a:p>
                      <a:pPr algn="ctr">
                        <a:spcAft>
                          <a:spcPts val="0"/>
                        </a:spcAft>
                      </a:pPr>
                      <a:r>
                        <a:rPr sz="1400" b="0" i="0">
                          <a:solidFill>
                            <a:srgbClr val="2B3440"/>
                          </a:solidFill>
                          <a:latin typeface="Calibri"/>
                        </a:rPr>
                        <a:t>0.110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1.000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2"/>
                  </a:ext>
                </a:extLst>
              </a:tr>
              <a:tr h="457200">
                <a:tc>
                  <a:txBody>
                    <a:bodyPr/>
                    <a:lstStyle/>
                    <a:p>
                      <a:pPr algn="l">
                        <a:spcAft>
                          <a:spcPts val="0"/>
                        </a:spcAft>
                      </a:pPr>
                      <a:r>
                        <a:rPr sz="1400" b="1" i="0">
                          <a:solidFill>
                            <a:srgbClr val="202A36"/>
                          </a:solidFill>
                          <a:latin typeface="Calibri"/>
                        </a:rPr>
                        <a:t>OCP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400" b="0" i="0">
                          <a:solidFill>
                            <a:srgbClr val="2B3440"/>
                          </a:solidFill>
                          <a:latin typeface="Calibri"/>
                        </a:rPr>
                        <a:t>pull request</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6.7%</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1" i="0">
                          <a:solidFill>
                            <a:srgbClr val="2B3440"/>
                          </a:solidFill>
                          <a:latin typeface="Calibri"/>
                        </a:rPr>
                        <a:t>2.2%</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DF4EE"/>
                    </a:solidFill>
                  </a:tcPr>
                </a:tc>
                <a:tc>
                  <a:txBody>
                    <a:bodyPr/>
                    <a:lstStyle/>
                    <a:p>
                      <a:pPr algn="ctr">
                        <a:spcAft>
                          <a:spcPts val="0"/>
                        </a:spcAft>
                      </a:pPr>
                      <a:r>
                        <a:rPr sz="1400" b="0" i="0">
                          <a:solidFill>
                            <a:srgbClr val="2B3440"/>
                          </a:solidFill>
                          <a:latin typeface="Calibri"/>
                        </a:rPr>
                        <a:t>0.330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0.742</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6.4%</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1" i="0">
                          <a:solidFill>
                            <a:srgbClr val="2B3440"/>
                          </a:solidFill>
                          <a:latin typeface="Calibri"/>
                        </a:rPr>
                        <a:t>2.5%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DF4EE"/>
                    </a:solidFill>
                  </a:tcPr>
                </a:tc>
                <a:tc>
                  <a:txBody>
                    <a:bodyPr/>
                    <a:lstStyle/>
                    <a:p>
                      <a:pPr algn="ctr">
                        <a:spcAft>
                          <a:spcPts val="0"/>
                        </a:spcAft>
                      </a:pPr>
                      <a:r>
                        <a:rPr sz="1400" b="0" i="0">
                          <a:solidFill>
                            <a:srgbClr val="2B3440"/>
                          </a:solidFill>
                          <a:latin typeface="Calibri"/>
                        </a:rPr>
                        <a:t>0.390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0.364</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3"/>
                  </a:ext>
                </a:extLst>
              </a:tr>
              <a:tr h="457200">
                <a:tc>
                  <a:txBody>
                    <a:bodyPr/>
                    <a:lstStyle/>
                    <a:p>
                      <a:pPr algn="l">
                        <a:spcAft>
                          <a:spcPts val="0"/>
                        </a:spcAft>
                      </a:pPr>
                      <a:r>
                        <a:rPr sz="1400" b="1" i="0">
                          <a:solidFill>
                            <a:srgbClr val="202A36"/>
                          </a:solidFill>
                          <a:latin typeface="Calibri"/>
                        </a:rPr>
                        <a:t>LSP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400" b="0" i="0">
                          <a:solidFill>
                            <a:srgbClr val="2B3440"/>
                          </a:solidFill>
                          <a:latin typeface="Calibri"/>
                        </a:rPr>
                        <a:t>pull request</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0.4%</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1" i="0">
                          <a:solidFill>
                            <a:srgbClr val="2B3440"/>
                          </a:solidFill>
                          <a:latin typeface="Calibri"/>
                        </a:rPr>
                        <a:t>0.4%</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DF4EE"/>
                    </a:solidFill>
                  </a:tcPr>
                </a:tc>
                <a:tc>
                  <a:txBody>
                    <a:bodyPr/>
                    <a:lstStyle/>
                    <a:p>
                      <a:pPr algn="ctr">
                        <a:spcAft>
                          <a:spcPts val="0"/>
                        </a:spcAft>
                      </a:pPr>
                      <a:r>
                        <a:rPr sz="1400" b="0" i="0">
                          <a:solidFill>
                            <a:srgbClr val="2B3440"/>
                          </a:solidFill>
                          <a:latin typeface="Calibri"/>
                        </a:rPr>
                        <a:t>1.000</a:t>
                      </a:r>
                      <a:r>
                        <a:rPr sz="1400" b="0" i="0" baseline="30000">
                          <a:solidFill>
                            <a:srgbClr val="2B3440"/>
                          </a:solidFill>
                          <a:latin typeface="Calibri"/>
                        </a:rPr>
                        <a:t>a</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0.386</a:t>
                      </a:r>
                      <a:r>
                        <a:rPr sz="1400" b="0" i="0" baseline="30000">
                          <a:solidFill>
                            <a:srgbClr val="2B3440"/>
                          </a:solidFill>
                          <a:latin typeface="Calibri"/>
                        </a:rPr>
                        <a:t>b</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0.9%</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1" i="0">
                          <a:solidFill>
                            <a:srgbClr val="2B3440"/>
                          </a:solidFill>
                          <a:latin typeface="Calibri"/>
                        </a:rPr>
                        <a:t>0.5%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DF4EE"/>
                    </a:solidFill>
                  </a:tcPr>
                </a:tc>
                <a:tc>
                  <a:txBody>
                    <a:bodyPr/>
                    <a:lstStyle/>
                    <a:p>
                      <a:pPr algn="ctr">
                        <a:spcAft>
                          <a:spcPts val="0"/>
                        </a:spcAft>
                      </a:pPr>
                      <a:r>
                        <a:rPr sz="1400" b="0" i="0">
                          <a:solidFill>
                            <a:srgbClr val="2B3440"/>
                          </a:solidFill>
                          <a:latin typeface="Calibri"/>
                        </a:rPr>
                        <a:t>0.510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0.545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4"/>
                  </a:ext>
                </a:extLst>
              </a:tr>
              <a:tr h="457200">
                <a:tc>
                  <a:txBody>
                    <a:bodyPr/>
                    <a:lstStyle/>
                    <a:p>
                      <a:pPr algn="l">
                        <a:spcAft>
                          <a:spcPts val="0"/>
                        </a:spcAft>
                      </a:pPr>
                      <a:r>
                        <a:rPr sz="1400" b="1" i="0">
                          <a:solidFill>
                            <a:srgbClr val="202A36"/>
                          </a:solidFill>
                          <a:latin typeface="Calibri"/>
                        </a:rPr>
                        <a:t>ISP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400" b="0" i="0">
                          <a:solidFill>
                            <a:srgbClr val="2B3440"/>
                          </a:solidFill>
                          <a:latin typeface="Calibri"/>
                        </a:rPr>
                        <a:t>pull request</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6.5%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1" i="0">
                          <a:solidFill>
                            <a:srgbClr val="2B3440"/>
                          </a:solidFill>
                          <a:latin typeface="Calibri"/>
                        </a:rPr>
                        <a:t>2.2%</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DF4EE"/>
                    </a:solidFill>
                  </a:tcPr>
                </a:tc>
                <a:tc>
                  <a:txBody>
                    <a:bodyPr/>
                    <a:lstStyle/>
                    <a:p>
                      <a:pPr algn="ctr">
                        <a:spcAft>
                          <a:spcPts val="0"/>
                        </a:spcAft>
                      </a:pPr>
                      <a:r>
                        <a:rPr sz="1400" b="0" i="0">
                          <a:solidFill>
                            <a:srgbClr val="2B3440"/>
                          </a:solidFill>
                          <a:latin typeface="Calibri"/>
                        </a:rPr>
                        <a:t>0.335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0.464</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0.6%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1" i="0">
                          <a:solidFill>
                            <a:srgbClr val="2B3440"/>
                          </a:solidFill>
                          <a:latin typeface="Calibri"/>
                        </a:rPr>
                        <a:t>0.3%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DF4EE"/>
                    </a:solidFill>
                  </a:tcPr>
                </a:tc>
                <a:tc>
                  <a:txBody>
                    <a:bodyPr/>
                    <a:lstStyle/>
                    <a:p>
                      <a:pPr algn="ctr">
                        <a:spcAft>
                          <a:spcPts val="0"/>
                        </a:spcAft>
                      </a:pPr>
                      <a:r>
                        <a:rPr sz="1400" b="0" i="0">
                          <a:solidFill>
                            <a:srgbClr val="2B3440"/>
                          </a:solidFill>
                          <a:latin typeface="Calibri"/>
                        </a:rPr>
                        <a:t>0.425</a:t>
                      </a:r>
                      <a:r>
                        <a:rPr sz="1400" b="0" i="0" baseline="30000">
                          <a:solidFill>
                            <a:srgbClr val="2B3440"/>
                          </a:solidFill>
                          <a:latin typeface="Calibri"/>
                        </a:rPr>
                        <a:t>c</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1.000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5"/>
                  </a:ext>
                </a:extLst>
              </a:tr>
              <a:tr h="457200">
                <a:tc>
                  <a:txBody>
                    <a:bodyPr/>
                    <a:lstStyle/>
                    <a:p>
                      <a:pPr algn="l">
                        <a:spcAft>
                          <a:spcPts val="0"/>
                        </a:spcAft>
                      </a:pPr>
                      <a:r>
                        <a:rPr sz="1400" b="1" i="0">
                          <a:solidFill>
                            <a:srgbClr val="202A36"/>
                          </a:solidFill>
                          <a:latin typeface="Calibri"/>
                        </a:rPr>
                        <a:t>DIP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400" b="0" i="0">
                          <a:solidFill>
                            <a:srgbClr val="2B3440"/>
                          </a:solidFill>
                          <a:latin typeface="Calibri"/>
                        </a:rPr>
                        <a:t>pull request</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4.6%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1" i="0">
                          <a:solidFill>
                            <a:srgbClr val="2B3440"/>
                          </a:solidFill>
                          <a:latin typeface="Calibri"/>
                        </a:rPr>
                        <a:t>4.1%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DF4EE"/>
                    </a:solidFill>
                  </a:tcPr>
                </a:tc>
                <a:tc>
                  <a:txBody>
                    <a:bodyPr/>
                    <a:lstStyle/>
                    <a:p>
                      <a:pPr algn="ctr">
                        <a:spcAft>
                          <a:spcPts val="0"/>
                        </a:spcAft>
                      </a:pPr>
                      <a:r>
                        <a:rPr sz="1400" b="0" i="0">
                          <a:solidFill>
                            <a:srgbClr val="2B3440"/>
                          </a:solidFill>
                          <a:latin typeface="Calibri"/>
                        </a:rPr>
                        <a:t>0.892</a:t>
                      </a:r>
                      <a:r>
                        <a:rPr sz="1400" b="0" i="0" baseline="30000">
                          <a:solidFill>
                            <a:srgbClr val="2B3440"/>
                          </a:solidFill>
                          <a:latin typeface="Calibri"/>
                        </a:rPr>
                        <a:t>c</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1.000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3.5%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1" i="0">
                          <a:solidFill>
                            <a:srgbClr val="2B3440"/>
                          </a:solidFill>
                          <a:latin typeface="Calibri"/>
                        </a:rPr>
                        <a:t>3.5%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DF4EE"/>
                    </a:solidFill>
                  </a:tcPr>
                </a:tc>
                <a:tc>
                  <a:txBody>
                    <a:bodyPr/>
                    <a:lstStyle/>
                    <a:p>
                      <a:pPr algn="ctr">
                        <a:spcAft>
                          <a:spcPts val="0"/>
                        </a:spcAft>
                      </a:pPr>
                      <a:r>
                        <a:rPr sz="1400" b="0" i="0">
                          <a:solidFill>
                            <a:srgbClr val="2B3440"/>
                          </a:solidFill>
                          <a:latin typeface="Calibri"/>
                        </a:rPr>
                        <a:t>1.000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1.000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6"/>
                  </a:ext>
                </a:extLst>
              </a:tr>
            </a:tbl>
          </a:graphicData>
        </a:graphic>
      </p:graphicFrame>
      <p:sp>
        <p:nvSpPr>
          <p:cNvPr id="68" name="TextBox 67"/>
          <p:cNvSpPr txBox="1"/>
          <p:nvPr/>
        </p:nvSpPr>
        <p:spPr>
          <a:xfrm>
            <a:off x="612648" y="4343400"/>
            <a:ext cx="10972800" cy="914400"/>
          </a:xfrm>
          <a:prstGeom prst="rect">
            <a:avLst/>
          </a:prstGeom>
          <a:noFill/>
        </p:spPr>
        <p:txBody>
          <a:bodyPr wrap="square" lIns="45720" tIns="27432" rIns="45720" bIns="27432" anchor="t">
            <a:spAutoFit/>
          </a:bodyPr>
          <a:lstStyle/>
          <a:p>
            <a:pPr algn="l">
              <a:spcAft>
                <a:spcPts val="0"/>
              </a:spcAft>
            </a:pPr>
            <a:r>
              <a:rPr sz="1200" b="1" i="0">
                <a:solidFill>
                  <a:srgbClr val="5C6773"/>
                </a:solidFill>
                <a:latin typeface="Calibri"/>
              </a:rPr>
              <a:t>real = flagged × measured precision: the column to quote.</a:t>
            </a:r>
            <a:r>
              <a:rPr sz="1200" b="0" i="0">
                <a:solidFill>
                  <a:srgbClr val="5C6773"/>
                </a:solidFill>
                <a:latin typeface="Calibri"/>
              </a:rPr>
              <a:t> </a:t>
            </a:r>
            <a:r>
              <a:rPr sz="1200" b="0" i="0" baseline="30000">
                <a:solidFill>
                  <a:srgbClr val="5C6773"/>
                </a:solidFill>
                <a:latin typeface="Calibri"/>
              </a:rPr>
              <a:t>a</a:t>
            </a:r>
            <a:r>
              <a:rPr sz="1200" b="0" i="0">
                <a:solidFill>
                  <a:srgbClr val="5C6773"/>
                </a:solidFill>
                <a:latin typeface="Calibri"/>
              </a:rPr>
              <a:t> Java Liskov ships as refused bequest only, precision 1.000 on 64 judged flags. </a:t>
            </a:r>
            <a:r>
              <a:rPr sz="1200" b="0" i="0" baseline="30000">
                <a:solidFill>
                  <a:srgbClr val="5C6773"/>
                </a:solidFill>
                <a:latin typeface="Calibri"/>
              </a:rPr>
              <a:t>b</a:t>
            </a:r>
            <a:r>
              <a:rPr sz="1200" b="0" i="0">
                <a:solidFill>
                  <a:srgbClr val="5C6773"/>
                </a:solidFill>
                <a:latin typeface="Calibri"/>
              </a:rPr>
              <a:t> Recall is for the broader three-signal detector the sample was drawn from. </a:t>
            </a:r>
            <a:r>
              <a:rPr sz="1200" b="0" i="0" baseline="30000">
                <a:solidFill>
                  <a:srgbClr val="5C6773"/>
                </a:solidFill>
                <a:latin typeface="Calibri"/>
              </a:rPr>
              <a:t>c</a:t>
            </a:r>
            <a:r>
              <a:rPr sz="1200" b="0" i="0">
                <a:solidFill>
                  <a:srgbClr val="5C6773"/>
                </a:solidFill>
                <a:latin typeface="Calibri"/>
              </a:rPr>
              <a:t> Census, every flag judged: 195 Java DIP, 80 Python ISP. Recall is stratum-weighted; unweighted, Java LSP would read 0.966.</a:t>
            </a:r>
          </a:p>
        </p:txBody>
      </p:sp>
      <p:sp>
        <p:nvSpPr>
          <p:cNvPr id="69" name="Rounded Rectangle 68"/>
          <p:cNvSpPr/>
          <p:nvPr/>
        </p:nvSpPr>
        <p:spPr>
          <a:xfrm>
            <a:off x="612648" y="5212080"/>
            <a:ext cx="10972800" cy="1051560"/>
          </a:xfrm>
          <a:prstGeom prst="roundRect">
            <a:avLst>
              <a:gd name="adj" fmla="val 8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Hexagon 69"/>
          <p:cNvSpPr/>
          <p:nvPr/>
        </p:nvSpPr>
        <p:spPr>
          <a:xfrm>
            <a:off x="813816" y="5600700"/>
            <a:ext cx="316840" cy="274320"/>
          </a:xfrm>
          <a:prstGeom prst="hexagon">
            <a:avLst/>
          </a:prstGeom>
          <a:solidFill>
            <a:srgbClr val="46CE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1252728" y="5212080"/>
            <a:ext cx="10149840" cy="1051560"/>
          </a:xfrm>
          <a:prstGeom prst="rect">
            <a:avLst/>
          </a:prstGeom>
          <a:noFill/>
        </p:spPr>
        <p:txBody>
          <a:bodyPr wrap="square" lIns="45720" rIns="45720" anchor="ctr">
            <a:spAutoFit/>
          </a:bodyPr>
          <a:lstStyle/>
          <a:p>
            <a:pPr algn="l">
              <a:spcAft>
                <a:spcPts val="0"/>
              </a:spcAft>
            </a:pPr>
            <a:r>
              <a:rPr sz="1400" b="1" i="0">
                <a:solidFill>
                  <a:srgbClr val="FFFFFF"/>
                </a:solidFill>
                <a:latin typeface="Calibri"/>
              </a:rPr>
              <a:t>Nothing exceeds 4.3%.</a:t>
            </a:r>
            <a:r>
              <a:rPr sz="1400" b="0" i="0">
                <a:solidFill>
                  <a:srgbClr val="FFFFFF"/>
                </a:solidFill>
                <a:latin typeface="Calibri"/>
              </a:rPr>
              <a:t> Where a detector is imprecise the correction is large (Python SRP 11.6% to 1.3%); where it is precise the rate barely moves (DIP 4.6% to 4.1%).</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6</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Results</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Flag rate by agent, both languages</a:t>
            </a:r>
          </a:p>
        </p:txBody>
      </p:sp>
      <p:sp>
        <p:nvSpPr>
          <p:cNvPr id="65" name="TextBox 64"/>
          <p:cNvSpPr txBox="1"/>
          <p:nvPr/>
        </p:nvSpPr>
        <p:spPr>
          <a:xfrm>
            <a:off x="612648" y="548640"/>
            <a:ext cx="10972800" cy="292608"/>
          </a:xfrm>
          <a:prstGeom prst="rect">
            <a:avLst/>
          </a:prstGeom>
          <a:noFill/>
        </p:spPr>
        <p:txBody>
          <a:bodyPr wrap="square" lIns="18288" tIns="0" rIns="18288" bIns="0" anchor="ctr">
            <a:spAutoFit/>
          </a:bodyPr>
          <a:lstStyle/>
          <a:p>
            <a:pPr algn="l">
              <a:spcAft>
                <a:spcPts val="0"/>
              </a:spcAft>
            </a:pPr>
            <a:r>
              <a:rPr sz="1250" b="0" i="1">
                <a:solidFill>
                  <a:srgbClr val="5C6773"/>
                </a:solidFill>
                <a:latin typeface="Calibri"/>
              </a:rPr>
              <a:t>pooled, with the average over repositories in brackets</a:t>
            </a:r>
          </a:p>
        </p:txBody>
      </p:sp>
      <p:sp>
        <p:nvSpPr>
          <p:cNvPr id="66" name="TextBox 65"/>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40</a:t>
            </a:r>
          </a:p>
        </p:txBody>
      </p:sp>
      <p:graphicFrame>
        <p:nvGraphicFramePr>
          <p:cNvPr id="67" name="Table 66"/>
          <p:cNvGraphicFramePr>
            <a:graphicFrameLocks noGrp="1"/>
          </p:cNvGraphicFramePr>
          <p:nvPr/>
        </p:nvGraphicFramePr>
        <p:xfrm>
          <a:off x="612648" y="1005840"/>
          <a:ext cx="10972800" cy="3767328"/>
        </p:xfrm>
        <a:graphic>
          <a:graphicData uri="http://schemas.openxmlformats.org/drawingml/2006/table">
            <a:tbl>
              <a:tblPr>
                <a:tableStyleId>{2D5ABB26-0587-4C30-8999-92F81FD0307C}</a:tableStyleId>
              </a:tblPr>
              <a:tblGrid>
                <a:gridCol w="246888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gridCol w="1417320">
                  <a:extLst>
                    <a:ext uri="{9D8B030D-6E8A-4147-A177-3AD203B41FA5}">
                      <a16:colId xmlns:a16="http://schemas.microsoft.com/office/drawing/2014/main" val="20005"/>
                    </a:ext>
                  </a:extLst>
                </a:gridCol>
                <a:gridCol w="1417320">
                  <a:extLst>
                    <a:ext uri="{9D8B030D-6E8A-4147-A177-3AD203B41FA5}">
                      <a16:colId xmlns:a16="http://schemas.microsoft.com/office/drawing/2014/main" val="20006"/>
                    </a:ext>
                  </a:extLst>
                </a:gridCol>
              </a:tblGrid>
              <a:tr h="457200">
                <a:tc>
                  <a:txBody>
                    <a:bodyPr/>
                    <a:lstStyle/>
                    <a:p>
                      <a:pPr algn="l">
                        <a:spcAft>
                          <a:spcPts val="0"/>
                        </a:spcAft>
                      </a:pPr>
                      <a:r>
                        <a:rPr sz="1500" b="1" i="0">
                          <a:solidFill>
                            <a:srgbClr val="FFFFFF"/>
                          </a:solidFill>
                          <a:latin typeface="Calibri"/>
                        </a:rPr>
                        <a:t>Principle</a:t>
                      </a:r>
                    </a:p>
                  </a:txBody>
                  <a:tcPr marL="73152" marR="73152" marT="27432" marB="27432" anchor="ctr">
                    <a:lnL w="0">
                      <a:noFill/>
                    </a:lnL>
                    <a:lnR w="0">
                      <a:noFill/>
                    </a:lnR>
                    <a:lnT w="0">
                      <a:noFill/>
                    </a:lnT>
                    <a:lnB w="6350">
                      <a:solidFill>
                        <a:srgbClr val="C9D0D8"/>
                      </a:solidFill>
                    </a:lnB>
                    <a:solidFill>
                      <a:srgbClr val="202A36"/>
                    </a:solidFill>
                  </a:tcPr>
                </a:tc>
                <a:tc gridSpan="3">
                  <a:txBody>
                    <a:bodyPr/>
                    <a:lstStyle/>
                    <a:p>
                      <a:pPr algn="ctr">
                        <a:spcAft>
                          <a:spcPts val="0"/>
                        </a:spcAft>
                      </a:pPr>
                      <a:r>
                        <a:rPr sz="1500" b="1" i="0">
                          <a:solidFill>
                            <a:srgbClr val="FFFFFF"/>
                          </a:solidFill>
                          <a:latin typeface="Calibri"/>
                        </a:rPr>
                        <a:t>Java</a:t>
                      </a:r>
                    </a:p>
                  </a:txBody>
                  <a:tcPr marL="73152" marR="73152" marT="27432" marB="27432" anchor="ctr">
                    <a:lnL w="0">
                      <a:noFill/>
                    </a:lnL>
                    <a:lnR w="0">
                      <a:noFill/>
                    </a:lnR>
                    <a:lnT w="0">
                      <a:noFill/>
                    </a:lnT>
                    <a:lnB w="6350">
                      <a:solidFill>
                        <a:srgbClr val="C9D0D8"/>
                      </a:solidFill>
                    </a:lnB>
                    <a:solidFill>
                      <a:srgbClr val="202A36"/>
                    </a:solidFill>
                  </a:tcPr>
                </a:tc>
                <a:tc hMerge="1">
                  <a:txBody>
                    <a:bodyPr/>
                    <a:lstStyle/>
                    <a:p>
                      <a:endParaRPr/>
                    </a:p>
                  </a:txBody>
                  <a:tcPr/>
                </a:tc>
                <a:tc hMerge="1">
                  <a:txBody>
                    <a:bodyPr/>
                    <a:lstStyle/>
                    <a:p>
                      <a:endParaRPr/>
                    </a:p>
                  </a:txBody>
                  <a:tcPr/>
                </a:tc>
                <a:tc gridSpan="3">
                  <a:txBody>
                    <a:bodyPr/>
                    <a:lstStyle/>
                    <a:p>
                      <a:pPr algn="ctr">
                        <a:spcAft>
                          <a:spcPts val="0"/>
                        </a:spcAft>
                      </a:pPr>
                      <a:r>
                        <a:rPr sz="1500" b="1" i="0">
                          <a:solidFill>
                            <a:srgbClr val="FFFFFF"/>
                          </a:solidFill>
                          <a:latin typeface="Calibri"/>
                        </a:rPr>
                        <a:t>Python</a:t>
                      </a:r>
                    </a:p>
                  </a:txBody>
                  <a:tcPr marL="73152" marR="73152" marT="27432" marB="27432" anchor="ctr">
                    <a:lnL w="0">
                      <a:noFill/>
                    </a:lnL>
                    <a:lnR w="0">
                      <a:noFill/>
                    </a:lnR>
                    <a:lnT w="0">
                      <a:noFill/>
                    </a:lnT>
                    <a:lnB w="6350">
                      <a:solidFill>
                        <a:srgbClr val="C9D0D8"/>
                      </a:solidFill>
                    </a:lnB>
                    <a:solidFill>
                      <a:srgbClr val="202A36"/>
                    </a:solidFill>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457200">
                <a:tc>
                  <a:txBody>
                    <a:bodyPr/>
                    <a:lstStyle/>
                    <a:p>
                      <a:pPr algn="l">
                        <a:spcAft>
                          <a:spcPts val="0"/>
                        </a:spcAft>
                      </a:pPr>
                      <a:endParaRP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202A36"/>
                    </a:solidFill>
                  </a:tcPr>
                </a:tc>
                <a:tc>
                  <a:txBody>
                    <a:bodyPr/>
                    <a:lstStyle/>
                    <a:p>
                      <a:pPr algn="ctr">
                        <a:spcAft>
                          <a:spcPts val="0"/>
                        </a:spcAft>
                      </a:pPr>
                      <a:r>
                        <a:rPr sz="1500" b="1" i="0">
                          <a:solidFill>
                            <a:srgbClr val="FFFFFF"/>
                          </a:solidFill>
                          <a:latin typeface="Calibri"/>
                        </a:rPr>
                        <a:t>Claude</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202A36"/>
                    </a:solidFill>
                  </a:tcPr>
                </a:tc>
                <a:tc>
                  <a:txBody>
                    <a:bodyPr/>
                    <a:lstStyle/>
                    <a:p>
                      <a:pPr algn="ctr">
                        <a:spcAft>
                          <a:spcPts val="0"/>
                        </a:spcAft>
                      </a:pPr>
                      <a:r>
                        <a:rPr sz="1500" b="1" i="0">
                          <a:solidFill>
                            <a:srgbClr val="FFFFFF"/>
                          </a:solidFill>
                          <a:latin typeface="Calibri"/>
                        </a:rPr>
                        <a:t>Copilot</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500" b="1" i="0">
                          <a:solidFill>
                            <a:srgbClr val="FFFFFF"/>
                          </a:solidFill>
                          <a:latin typeface="Calibri"/>
                        </a:rPr>
                        <a:t>Codex</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500" b="1" i="0">
                          <a:solidFill>
                            <a:srgbClr val="FFFFFF"/>
                          </a:solidFill>
                          <a:latin typeface="Calibri"/>
                        </a:rPr>
                        <a:t>Claude</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202A36"/>
                    </a:solidFill>
                  </a:tcPr>
                </a:tc>
                <a:tc>
                  <a:txBody>
                    <a:bodyPr/>
                    <a:lstStyle/>
                    <a:p>
                      <a:pPr algn="ctr">
                        <a:spcAft>
                          <a:spcPts val="0"/>
                        </a:spcAft>
                      </a:pPr>
                      <a:r>
                        <a:rPr sz="1500" b="1" i="0">
                          <a:solidFill>
                            <a:srgbClr val="FFFFFF"/>
                          </a:solidFill>
                          <a:latin typeface="Calibri"/>
                        </a:rPr>
                        <a:t>Copilot</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500" b="1" i="0">
                          <a:solidFill>
                            <a:srgbClr val="FFFFFF"/>
                          </a:solidFill>
                          <a:latin typeface="Calibri"/>
                        </a:rPr>
                        <a:t>Codex</a:t>
                      </a:r>
                    </a:p>
                  </a:txBody>
                  <a:tcPr marL="73152" marR="73152" marT="27432" marB="27432" anchor="ctr">
                    <a:lnL w="0">
                      <a:noFill/>
                    </a:lnL>
                    <a:lnR w="0">
                      <a:noFill/>
                    </a:lnR>
                    <a:lnT w="0">
                      <a:noFill/>
                    </a:lnT>
                    <a:lnB w="6350">
                      <a:solidFill>
                        <a:srgbClr val="C9D0D8"/>
                      </a:solidFill>
                    </a:lnB>
                    <a:solidFill>
                      <a:srgbClr val="202A36"/>
                    </a:solidFill>
                  </a:tcPr>
                </a:tc>
                <a:extLst>
                  <a:ext uri="{0D108BD9-81ED-4DB2-BD59-A6C34878D82A}">
                    <a16:rowId xmlns:a16="http://schemas.microsoft.com/office/drawing/2014/main" val="10001"/>
                  </a:ext>
                </a:extLst>
              </a:tr>
              <a:tr h="585216">
                <a:tc>
                  <a:txBody>
                    <a:bodyPr/>
                    <a:lstStyle/>
                    <a:p>
                      <a:pPr algn="l">
                        <a:spcAft>
                          <a:spcPts val="0"/>
                        </a:spcAft>
                      </a:pPr>
                      <a:r>
                        <a:rPr sz="1500" b="1" i="0">
                          <a:solidFill>
                            <a:srgbClr val="202A36"/>
                          </a:solidFill>
                          <a:latin typeface="Calibri"/>
                        </a:rPr>
                        <a:t>SRP (authored classes)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500" b="0" i="0">
                          <a:solidFill>
                            <a:srgbClr val="2B3440"/>
                          </a:solidFill>
                          <a:latin typeface="Calibri"/>
                        </a:rPr>
                        <a:t>9.5 (8.4)</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500" b="0" i="0">
                          <a:solidFill>
                            <a:srgbClr val="2B3440"/>
                          </a:solidFill>
                          <a:latin typeface="Calibri"/>
                        </a:rPr>
                        <a:t>5.1 (3.5)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500" b="0" i="0">
                          <a:solidFill>
                            <a:srgbClr val="2B3440"/>
                          </a:solidFill>
                          <a:latin typeface="Calibri"/>
                        </a:rPr>
                        <a:t>6.8 (7.4)</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500" b="0" i="0">
                          <a:solidFill>
                            <a:srgbClr val="2B3440"/>
                          </a:solidFill>
                          <a:latin typeface="Calibri"/>
                        </a:rPr>
                        <a:t>9.6 (11.0)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500" b="0" i="0">
                          <a:solidFill>
                            <a:srgbClr val="2B3440"/>
                          </a:solidFill>
                          <a:latin typeface="Calibri"/>
                        </a:rPr>
                        <a:t>6.6 (10.3)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500" b="0" i="0">
                          <a:solidFill>
                            <a:srgbClr val="2B3440"/>
                          </a:solidFill>
                          <a:latin typeface="Calibri"/>
                        </a:rPr>
                        <a:t>8.9 (8.1)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2"/>
                  </a:ext>
                </a:extLst>
              </a:tr>
              <a:tr h="566928">
                <a:tc>
                  <a:txBody>
                    <a:bodyPr/>
                    <a:lstStyle/>
                    <a:p>
                      <a:pPr algn="l">
                        <a:spcAft>
                          <a:spcPts val="0"/>
                        </a:spcAft>
                      </a:pPr>
                      <a:r>
                        <a:rPr sz="1500" b="1" i="0">
                          <a:solidFill>
                            <a:srgbClr val="202A36"/>
                          </a:solidFill>
                          <a:latin typeface="Calibri"/>
                        </a:rPr>
                        <a:t>OCP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500" b="0" i="0">
                          <a:solidFill>
                            <a:srgbClr val="2B3440"/>
                          </a:solidFill>
                          <a:latin typeface="Calibri"/>
                        </a:rPr>
                        <a:t>10.6 (10.1)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500" b="0" i="0">
                          <a:solidFill>
                            <a:srgbClr val="2B3440"/>
                          </a:solidFill>
                          <a:latin typeface="Calibri"/>
                        </a:rPr>
                        <a:t>6.4 (3.0)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500" b="0" i="0">
                          <a:solidFill>
                            <a:srgbClr val="2B3440"/>
                          </a:solidFill>
                          <a:latin typeface="Calibri"/>
                        </a:rPr>
                        <a:t>2.1 (2.2)</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500" b="0" i="0">
                          <a:solidFill>
                            <a:srgbClr val="2B3440"/>
                          </a:solidFill>
                          <a:latin typeface="Calibri"/>
                        </a:rPr>
                        <a:t>9.7 (9.6)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500" b="0" i="0">
                          <a:solidFill>
                            <a:srgbClr val="2B3440"/>
                          </a:solidFill>
                          <a:latin typeface="Calibri"/>
                        </a:rPr>
                        <a:t>3.5 (3.1)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500" b="0" i="0">
                          <a:solidFill>
                            <a:srgbClr val="2B3440"/>
                          </a:solidFill>
                          <a:latin typeface="Calibri"/>
                        </a:rPr>
                        <a:t>5.7 (6.6)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3"/>
                  </a:ext>
                </a:extLst>
              </a:tr>
              <a:tr h="566928">
                <a:tc>
                  <a:txBody>
                    <a:bodyPr/>
                    <a:lstStyle/>
                    <a:p>
                      <a:pPr algn="l">
                        <a:spcAft>
                          <a:spcPts val="0"/>
                        </a:spcAft>
                      </a:pPr>
                      <a:r>
                        <a:rPr sz="1500" b="1" i="0">
                          <a:solidFill>
                            <a:srgbClr val="202A36"/>
                          </a:solidFill>
                          <a:latin typeface="Calibri"/>
                        </a:rPr>
                        <a:t>LSP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500" b="0" i="0">
                          <a:solidFill>
                            <a:srgbClr val="2B3440"/>
                          </a:solidFill>
                          <a:latin typeface="Calibri"/>
                        </a:rPr>
                        <a:t>0.7 (0.3)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500" b="0" i="0">
                          <a:solidFill>
                            <a:srgbClr val="2B3440"/>
                          </a:solidFill>
                          <a:latin typeface="Calibri"/>
                        </a:rPr>
                        <a:t>0.3 (0.1)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500" b="0" i="0">
                          <a:solidFill>
                            <a:srgbClr val="2B3440"/>
                          </a:solidFill>
                          <a:latin typeface="Calibri"/>
                        </a:rPr>
                        <a:t>0.0 (0.0)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500" b="0" i="0">
                          <a:solidFill>
                            <a:srgbClr val="2B3440"/>
                          </a:solidFill>
                          <a:latin typeface="Calibri"/>
                        </a:rPr>
                        <a:t>1.6 (1.2)</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500" b="0" i="0">
                          <a:solidFill>
                            <a:srgbClr val="2B3440"/>
                          </a:solidFill>
                          <a:latin typeface="Calibri"/>
                        </a:rPr>
                        <a:t>0.5 (0.3)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500" b="0" i="0">
                          <a:solidFill>
                            <a:srgbClr val="2B3440"/>
                          </a:solidFill>
                          <a:latin typeface="Calibri"/>
                        </a:rPr>
                        <a:t>0.8 (0.8)</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4"/>
                  </a:ext>
                </a:extLst>
              </a:tr>
              <a:tr h="566928">
                <a:tc>
                  <a:txBody>
                    <a:bodyPr/>
                    <a:lstStyle/>
                    <a:p>
                      <a:pPr algn="l">
                        <a:spcAft>
                          <a:spcPts val="0"/>
                        </a:spcAft>
                      </a:pPr>
                      <a:r>
                        <a:rPr sz="1500" b="1" i="0">
                          <a:solidFill>
                            <a:srgbClr val="202A36"/>
                          </a:solidFill>
                          <a:latin typeface="Calibri"/>
                        </a:rPr>
                        <a:t>ISP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500" b="0" i="0">
                          <a:solidFill>
                            <a:srgbClr val="2B3440"/>
                          </a:solidFill>
                          <a:latin typeface="Calibri"/>
                        </a:rPr>
                        <a:t>8.7 (6.0)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500" b="0" i="0">
                          <a:solidFill>
                            <a:srgbClr val="2B3440"/>
                          </a:solidFill>
                          <a:latin typeface="Calibri"/>
                        </a:rPr>
                        <a:t>6.7 (4.0)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500" b="0" i="0">
                          <a:solidFill>
                            <a:srgbClr val="2B3440"/>
                          </a:solidFill>
                          <a:latin typeface="Calibri"/>
                        </a:rPr>
                        <a:t>2.9 (5.0)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500" b="0" i="0">
                          <a:solidFill>
                            <a:srgbClr val="2B3440"/>
                          </a:solidFill>
                          <a:latin typeface="Calibri"/>
                        </a:rPr>
                        <a:t>1.3 (1.0)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500" b="0" i="0">
                          <a:solidFill>
                            <a:srgbClr val="2B3440"/>
                          </a:solidFill>
                          <a:latin typeface="Calibri"/>
                        </a:rPr>
                        <a:t>0.4 (0.4)</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500" b="0" i="0">
                          <a:solidFill>
                            <a:srgbClr val="2B3440"/>
                          </a:solidFill>
                          <a:latin typeface="Calibri"/>
                        </a:rPr>
                        <a:t>0.3 (0.1)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5"/>
                  </a:ext>
                </a:extLst>
              </a:tr>
              <a:tr h="566928">
                <a:tc>
                  <a:txBody>
                    <a:bodyPr/>
                    <a:lstStyle/>
                    <a:p>
                      <a:pPr algn="l">
                        <a:spcAft>
                          <a:spcPts val="0"/>
                        </a:spcAft>
                      </a:pPr>
                      <a:r>
                        <a:rPr sz="1500" b="1" i="0">
                          <a:solidFill>
                            <a:srgbClr val="202A36"/>
                          </a:solidFill>
                          <a:latin typeface="Calibri"/>
                        </a:rPr>
                        <a:t>DIP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500" b="0" i="0">
                          <a:solidFill>
                            <a:srgbClr val="2B3440"/>
                          </a:solidFill>
                          <a:latin typeface="Calibri"/>
                        </a:rPr>
                        <a:t>6.5 (5.1)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500" b="0" i="0">
                          <a:solidFill>
                            <a:srgbClr val="2B3440"/>
                          </a:solidFill>
                          <a:latin typeface="Calibri"/>
                        </a:rPr>
                        <a:t>4.1 (2.8)</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500" b="0" i="0">
                          <a:solidFill>
                            <a:srgbClr val="2B3440"/>
                          </a:solidFill>
                          <a:latin typeface="Calibri"/>
                        </a:rPr>
                        <a:t>3.2 (5.4)</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500" b="0" i="0">
                          <a:solidFill>
                            <a:srgbClr val="2B3440"/>
                          </a:solidFill>
                          <a:latin typeface="Calibri"/>
                        </a:rPr>
                        <a:t>5.8 (5.6)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500" b="0" i="0">
                          <a:solidFill>
                            <a:srgbClr val="2B3440"/>
                          </a:solidFill>
                          <a:latin typeface="Calibri"/>
                        </a:rPr>
                        <a:t>2.0 (1.5)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500" b="0" i="0">
                          <a:solidFill>
                            <a:srgbClr val="2B3440"/>
                          </a:solidFill>
                          <a:latin typeface="Calibri"/>
                        </a:rPr>
                        <a:t>2.6 (2.3)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6"/>
                  </a:ext>
                </a:extLst>
              </a:tr>
            </a:tbl>
          </a:graphicData>
        </a:graphic>
      </p:graphicFrame>
      <p:sp>
        <p:nvSpPr>
          <p:cNvPr id="68" name="Rounded Rectangle 67"/>
          <p:cNvSpPr/>
          <p:nvPr/>
        </p:nvSpPr>
        <p:spPr>
          <a:xfrm>
            <a:off x="612648" y="5093208"/>
            <a:ext cx="10972800" cy="914400"/>
          </a:xfrm>
          <a:prstGeom prst="roundRect">
            <a:avLst>
              <a:gd name="adj" fmla="val 8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Hexagon 68"/>
          <p:cNvSpPr/>
          <p:nvPr/>
        </p:nvSpPr>
        <p:spPr>
          <a:xfrm>
            <a:off x="813816" y="5413248"/>
            <a:ext cx="316840" cy="274320"/>
          </a:xfrm>
          <a:prstGeom prst="hexagon">
            <a:avLst/>
          </a:prstGeom>
          <a:solidFill>
            <a:srgbClr val="46CE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1252728" y="5093208"/>
            <a:ext cx="10149840" cy="914400"/>
          </a:xfrm>
          <a:prstGeom prst="rect">
            <a:avLst/>
          </a:prstGeom>
          <a:noFill/>
        </p:spPr>
        <p:txBody>
          <a:bodyPr wrap="square" lIns="45720" rIns="45720" anchor="ctr">
            <a:spAutoFit/>
          </a:bodyPr>
          <a:lstStyle/>
          <a:p>
            <a:pPr algn="l">
              <a:spcAft>
                <a:spcPts val="0"/>
              </a:spcAft>
            </a:pPr>
            <a:r>
              <a:rPr sz="1400" b="1" i="0">
                <a:solidFill>
                  <a:srgbClr val="FFFFFF"/>
                </a:solidFill>
                <a:latin typeface="Calibri"/>
              </a:rPr>
              <a:t>Read this only with the next two slides:</a:t>
            </a:r>
            <a:r>
              <a:rPr sz="1400" b="0" i="0">
                <a:solidFill>
                  <a:srgbClr val="FFFFFF"/>
                </a:solidFill>
                <a:latin typeface="Calibri"/>
              </a:rPr>
              <a:t> the agents do not write changes of the same size, and most of this ordering follows from that.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6</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Results</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Is the instrument fair to each agent?</a:t>
            </a:r>
          </a:p>
        </p:txBody>
      </p:sp>
      <p:sp>
        <p:nvSpPr>
          <p:cNvPr id="65" name="TextBox 64"/>
          <p:cNvSpPr txBox="1"/>
          <p:nvPr/>
        </p:nvSpPr>
        <p:spPr>
          <a:xfrm>
            <a:off x="612648" y="548640"/>
            <a:ext cx="10972800" cy="292608"/>
          </a:xfrm>
          <a:prstGeom prst="rect">
            <a:avLst/>
          </a:prstGeom>
          <a:noFill/>
        </p:spPr>
        <p:txBody>
          <a:bodyPr wrap="square" lIns="18288" tIns="0" rIns="18288" bIns="0" anchor="ctr">
            <a:spAutoFit/>
          </a:bodyPr>
          <a:lstStyle/>
          <a:p>
            <a:pPr algn="l">
              <a:spcAft>
                <a:spcPts val="0"/>
              </a:spcAft>
            </a:pPr>
            <a:r>
              <a:rPr sz="1250" b="0" i="1">
                <a:solidFill>
                  <a:srgbClr val="5C6773"/>
                </a:solidFill>
                <a:latin typeface="Calibri"/>
              </a:rPr>
              <a:t>precision by agent: true positives over flags judged</a:t>
            </a:r>
          </a:p>
        </p:txBody>
      </p:sp>
      <p:sp>
        <p:nvSpPr>
          <p:cNvPr id="66" name="TextBox 65"/>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41</a:t>
            </a:r>
          </a:p>
        </p:txBody>
      </p:sp>
      <p:graphicFrame>
        <p:nvGraphicFramePr>
          <p:cNvPr id="67" name="Table 66"/>
          <p:cNvGraphicFramePr>
            <a:graphicFrameLocks noGrp="1"/>
          </p:cNvGraphicFramePr>
          <p:nvPr/>
        </p:nvGraphicFramePr>
        <p:xfrm>
          <a:off x="612648" y="1005840"/>
          <a:ext cx="10972800" cy="3200400"/>
        </p:xfrm>
        <a:graphic>
          <a:graphicData uri="http://schemas.openxmlformats.org/drawingml/2006/table">
            <a:tbl>
              <a:tblPr>
                <a:tableStyleId>{2D5ABB26-0587-4C30-8999-92F81FD0307C}</a:tableStyleId>
              </a:tblPr>
              <a:tblGrid>
                <a:gridCol w="246888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gridCol w="1417320">
                  <a:extLst>
                    <a:ext uri="{9D8B030D-6E8A-4147-A177-3AD203B41FA5}">
                      <a16:colId xmlns:a16="http://schemas.microsoft.com/office/drawing/2014/main" val="20005"/>
                    </a:ext>
                  </a:extLst>
                </a:gridCol>
                <a:gridCol w="1417320">
                  <a:extLst>
                    <a:ext uri="{9D8B030D-6E8A-4147-A177-3AD203B41FA5}">
                      <a16:colId xmlns:a16="http://schemas.microsoft.com/office/drawing/2014/main" val="20006"/>
                    </a:ext>
                  </a:extLst>
                </a:gridCol>
              </a:tblGrid>
              <a:tr h="457200">
                <a:tc>
                  <a:txBody>
                    <a:bodyPr/>
                    <a:lstStyle/>
                    <a:p>
                      <a:pPr algn="l">
                        <a:spcAft>
                          <a:spcPts val="0"/>
                        </a:spcAft>
                      </a:pPr>
                      <a:r>
                        <a:rPr sz="1450" b="1" i="0">
                          <a:solidFill>
                            <a:srgbClr val="FFFFFF"/>
                          </a:solidFill>
                          <a:latin typeface="Calibri"/>
                        </a:rPr>
                        <a:t>Principle</a:t>
                      </a:r>
                    </a:p>
                  </a:txBody>
                  <a:tcPr marL="73152" marR="73152" marT="27432" marB="27432" anchor="ctr">
                    <a:lnL w="0">
                      <a:noFill/>
                    </a:lnL>
                    <a:lnR w="0">
                      <a:noFill/>
                    </a:lnR>
                    <a:lnT w="0">
                      <a:noFill/>
                    </a:lnT>
                    <a:lnB w="6350">
                      <a:solidFill>
                        <a:srgbClr val="C9D0D8"/>
                      </a:solidFill>
                    </a:lnB>
                    <a:solidFill>
                      <a:srgbClr val="202A36"/>
                    </a:solidFill>
                  </a:tcPr>
                </a:tc>
                <a:tc gridSpan="3">
                  <a:txBody>
                    <a:bodyPr/>
                    <a:lstStyle/>
                    <a:p>
                      <a:pPr algn="ctr">
                        <a:spcAft>
                          <a:spcPts val="0"/>
                        </a:spcAft>
                      </a:pPr>
                      <a:r>
                        <a:rPr sz="1450" b="1" i="0">
                          <a:solidFill>
                            <a:srgbClr val="FFFFFF"/>
                          </a:solidFill>
                          <a:latin typeface="Calibri"/>
                        </a:rPr>
                        <a:t>Java</a:t>
                      </a:r>
                    </a:p>
                  </a:txBody>
                  <a:tcPr marL="73152" marR="73152" marT="27432" marB="27432" anchor="ctr">
                    <a:lnL w="0">
                      <a:noFill/>
                    </a:lnL>
                    <a:lnR w="0">
                      <a:noFill/>
                    </a:lnR>
                    <a:lnT w="0">
                      <a:noFill/>
                    </a:lnT>
                    <a:lnB w="6350">
                      <a:solidFill>
                        <a:srgbClr val="C9D0D8"/>
                      </a:solidFill>
                    </a:lnB>
                    <a:solidFill>
                      <a:srgbClr val="202A36"/>
                    </a:solidFill>
                  </a:tcPr>
                </a:tc>
                <a:tc hMerge="1">
                  <a:txBody>
                    <a:bodyPr/>
                    <a:lstStyle/>
                    <a:p>
                      <a:endParaRPr/>
                    </a:p>
                  </a:txBody>
                  <a:tcPr/>
                </a:tc>
                <a:tc hMerge="1">
                  <a:txBody>
                    <a:bodyPr/>
                    <a:lstStyle/>
                    <a:p>
                      <a:endParaRPr/>
                    </a:p>
                  </a:txBody>
                  <a:tcPr/>
                </a:tc>
                <a:tc gridSpan="3">
                  <a:txBody>
                    <a:bodyPr/>
                    <a:lstStyle/>
                    <a:p>
                      <a:pPr algn="ctr">
                        <a:spcAft>
                          <a:spcPts val="0"/>
                        </a:spcAft>
                      </a:pPr>
                      <a:r>
                        <a:rPr sz="1450" b="1" i="0">
                          <a:solidFill>
                            <a:srgbClr val="FFFFFF"/>
                          </a:solidFill>
                          <a:latin typeface="Calibri"/>
                        </a:rPr>
                        <a:t>Python</a:t>
                      </a:r>
                    </a:p>
                  </a:txBody>
                  <a:tcPr marL="73152" marR="73152" marT="27432" marB="27432" anchor="ctr">
                    <a:lnL w="0">
                      <a:noFill/>
                    </a:lnL>
                    <a:lnR w="0">
                      <a:noFill/>
                    </a:lnR>
                    <a:lnT w="0">
                      <a:noFill/>
                    </a:lnT>
                    <a:lnB w="6350">
                      <a:solidFill>
                        <a:srgbClr val="C9D0D8"/>
                      </a:solidFill>
                    </a:lnB>
                    <a:solidFill>
                      <a:srgbClr val="202A36"/>
                    </a:solidFill>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457200">
                <a:tc>
                  <a:txBody>
                    <a:bodyPr/>
                    <a:lstStyle/>
                    <a:p>
                      <a:pPr algn="l">
                        <a:spcAft>
                          <a:spcPts val="0"/>
                        </a:spcAft>
                      </a:pPr>
                      <a:endParaRP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202A36"/>
                    </a:solidFill>
                  </a:tcPr>
                </a:tc>
                <a:tc>
                  <a:txBody>
                    <a:bodyPr/>
                    <a:lstStyle/>
                    <a:p>
                      <a:pPr algn="ctr">
                        <a:spcAft>
                          <a:spcPts val="0"/>
                        </a:spcAft>
                      </a:pPr>
                      <a:r>
                        <a:rPr sz="1450" b="1" i="0">
                          <a:solidFill>
                            <a:srgbClr val="FFFFFF"/>
                          </a:solidFill>
                          <a:latin typeface="Calibri"/>
                        </a:rPr>
                        <a:t>Claude</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202A36"/>
                    </a:solidFill>
                  </a:tcPr>
                </a:tc>
                <a:tc>
                  <a:txBody>
                    <a:bodyPr/>
                    <a:lstStyle/>
                    <a:p>
                      <a:pPr algn="ctr">
                        <a:spcAft>
                          <a:spcPts val="0"/>
                        </a:spcAft>
                      </a:pPr>
                      <a:r>
                        <a:rPr sz="1450" b="1" i="0">
                          <a:solidFill>
                            <a:srgbClr val="FFFFFF"/>
                          </a:solidFill>
                          <a:latin typeface="Calibri"/>
                        </a:rPr>
                        <a:t>Copilot</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50" b="1" i="0">
                          <a:solidFill>
                            <a:srgbClr val="FFFFFF"/>
                          </a:solidFill>
                          <a:latin typeface="Calibri"/>
                        </a:rPr>
                        <a:t>Codex</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50" b="1" i="0">
                          <a:solidFill>
                            <a:srgbClr val="FFFFFF"/>
                          </a:solidFill>
                          <a:latin typeface="Calibri"/>
                        </a:rPr>
                        <a:t>Claude</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202A36"/>
                    </a:solidFill>
                  </a:tcPr>
                </a:tc>
                <a:tc>
                  <a:txBody>
                    <a:bodyPr/>
                    <a:lstStyle/>
                    <a:p>
                      <a:pPr algn="ctr">
                        <a:spcAft>
                          <a:spcPts val="0"/>
                        </a:spcAft>
                      </a:pPr>
                      <a:r>
                        <a:rPr sz="1450" b="1" i="0">
                          <a:solidFill>
                            <a:srgbClr val="FFFFFF"/>
                          </a:solidFill>
                          <a:latin typeface="Calibri"/>
                        </a:rPr>
                        <a:t>Copilot</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50" b="1" i="0">
                          <a:solidFill>
                            <a:srgbClr val="FFFFFF"/>
                          </a:solidFill>
                          <a:latin typeface="Calibri"/>
                        </a:rPr>
                        <a:t>Codex</a:t>
                      </a:r>
                    </a:p>
                  </a:txBody>
                  <a:tcPr marL="73152" marR="73152" marT="27432" marB="27432" anchor="ctr">
                    <a:lnL w="0">
                      <a:noFill/>
                    </a:lnL>
                    <a:lnR w="0">
                      <a:noFill/>
                    </a:lnR>
                    <a:lnT w="0">
                      <a:noFill/>
                    </a:lnT>
                    <a:lnB w="6350">
                      <a:solidFill>
                        <a:srgbClr val="C9D0D8"/>
                      </a:solidFill>
                    </a:lnB>
                    <a:solidFill>
                      <a:srgbClr val="202A36"/>
                    </a:solidFill>
                  </a:tcPr>
                </a:tc>
                <a:extLst>
                  <a:ext uri="{0D108BD9-81ED-4DB2-BD59-A6C34878D82A}">
                    <a16:rowId xmlns:a16="http://schemas.microsoft.com/office/drawing/2014/main" val="10001"/>
                  </a:ext>
                </a:extLst>
              </a:tr>
              <a:tr h="457200">
                <a:tc>
                  <a:txBody>
                    <a:bodyPr/>
                    <a:lstStyle/>
                    <a:p>
                      <a:pPr algn="l">
                        <a:spcAft>
                          <a:spcPts val="0"/>
                        </a:spcAft>
                      </a:pPr>
                      <a:r>
                        <a:rPr sz="1450" b="1" i="0">
                          <a:solidFill>
                            <a:srgbClr val="202A36"/>
                          </a:solidFill>
                          <a:latin typeface="Calibri"/>
                        </a:rPr>
                        <a:t>SRP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18/55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10/38</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7/7</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6/46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2/26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3/28</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2"/>
                  </a:ext>
                </a:extLst>
              </a:tr>
              <a:tr h="457200">
                <a:tc>
                  <a:txBody>
                    <a:bodyPr/>
                    <a:lstStyle/>
                    <a:p>
                      <a:pPr algn="l">
                        <a:spcAft>
                          <a:spcPts val="0"/>
                        </a:spcAft>
                      </a:pPr>
                      <a:r>
                        <a:rPr sz="1450" b="1" i="0">
                          <a:solidFill>
                            <a:srgbClr val="202A36"/>
                          </a:solidFill>
                          <a:latin typeface="Calibri"/>
                        </a:rPr>
                        <a:t>OCP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50" b="0" i="0">
                          <a:solidFill>
                            <a:srgbClr val="2B3440"/>
                          </a:solidFill>
                          <a:latin typeface="Calibri"/>
                        </a:rPr>
                        <a:t>23/68</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50" b="0" i="0">
                          <a:solidFill>
                            <a:srgbClr val="2B3440"/>
                          </a:solidFill>
                          <a:latin typeface="Calibri"/>
                        </a:rPr>
                        <a:t>7/25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50" b="0" i="0">
                          <a:solidFill>
                            <a:srgbClr val="2B3440"/>
                          </a:solidFill>
                          <a:latin typeface="Calibri"/>
                        </a:rPr>
                        <a:t>3/7</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50" b="0" i="0">
                          <a:solidFill>
                            <a:srgbClr val="2B3440"/>
                          </a:solidFill>
                          <a:latin typeface="Calibri"/>
                        </a:rPr>
                        <a:t>20/45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50" b="0" i="0">
                          <a:solidFill>
                            <a:srgbClr val="2B3440"/>
                          </a:solidFill>
                          <a:latin typeface="Calibri"/>
                        </a:rPr>
                        <a:t>7/19</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50" b="0" i="0">
                          <a:solidFill>
                            <a:srgbClr val="2B3440"/>
                          </a:solidFill>
                          <a:latin typeface="Calibri"/>
                        </a:rPr>
                        <a:t>12/36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3"/>
                  </a:ext>
                </a:extLst>
              </a:tr>
              <a:tr h="457200">
                <a:tc>
                  <a:txBody>
                    <a:bodyPr/>
                    <a:lstStyle/>
                    <a:p>
                      <a:pPr algn="l">
                        <a:spcAft>
                          <a:spcPts val="0"/>
                        </a:spcAft>
                      </a:pPr>
                      <a:r>
                        <a:rPr sz="1450" b="1" i="0">
                          <a:solidFill>
                            <a:srgbClr val="202A36"/>
                          </a:solidFill>
                          <a:latin typeface="Calibri"/>
                        </a:rPr>
                        <a:t>LSP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53/106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22/68</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9/26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29/73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11/15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11/12</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4"/>
                  </a:ext>
                </a:extLst>
              </a:tr>
              <a:tr h="457200">
                <a:tc>
                  <a:txBody>
                    <a:bodyPr/>
                    <a:lstStyle/>
                    <a:p>
                      <a:pPr algn="l">
                        <a:spcAft>
                          <a:spcPts val="0"/>
                        </a:spcAft>
                      </a:pPr>
                      <a:r>
                        <a:rPr sz="1450" b="1" i="0">
                          <a:solidFill>
                            <a:srgbClr val="202A36"/>
                          </a:solidFill>
                          <a:latin typeface="Calibri"/>
                        </a:rPr>
                        <a:t>ISP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50" b="0" i="0">
                          <a:solidFill>
                            <a:srgbClr val="2B3440"/>
                          </a:solidFill>
                          <a:latin typeface="Calibri"/>
                        </a:rPr>
                        <a:t>35/83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50" b="0" i="0">
                          <a:solidFill>
                            <a:srgbClr val="2B3440"/>
                          </a:solidFill>
                          <a:latin typeface="Calibri"/>
                        </a:rPr>
                        <a:t>26/93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50" b="0" i="0">
                          <a:solidFill>
                            <a:srgbClr val="2B3440"/>
                          </a:solidFill>
                          <a:latin typeface="Calibri"/>
                        </a:rPr>
                        <a:t>6/24</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50" b="0" i="0">
                          <a:solidFill>
                            <a:srgbClr val="2B3440"/>
                          </a:solidFill>
                          <a:latin typeface="Calibri"/>
                        </a:rPr>
                        <a:t>23/48</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50" b="0" i="0">
                          <a:solidFill>
                            <a:srgbClr val="2B3440"/>
                          </a:solidFill>
                          <a:latin typeface="Calibri"/>
                        </a:rPr>
                        <a:t>6/17</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50" b="0" i="0">
                          <a:solidFill>
                            <a:srgbClr val="2B3440"/>
                          </a:solidFill>
                          <a:latin typeface="Calibri"/>
                        </a:rPr>
                        <a:t>5/15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5"/>
                  </a:ext>
                </a:extLst>
              </a:tr>
              <a:tr h="457200">
                <a:tc>
                  <a:txBody>
                    <a:bodyPr/>
                    <a:lstStyle/>
                    <a:p>
                      <a:pPr algn="l">
                        <a:spcAft>
                          <a:spcPts val="0"/>
                        </a:spcAft>
                      </a:pPr>
                      <a:r>
                        <a:rPr sz="1450" b="1" i="0">
                          <a:solidFill>
                            <a:srgbClr val="202A36"/>
                          </a:solidFill>
                          <a:latin typeface="Calibri"/>
                        </a:rPr>
                        <a:t>DIP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57/72</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94/98</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23/25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53/53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16/16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31/31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6"/>
                  </a:ext>
                </a:extLst>
              </a:tr>
            </a:tbl>
          </a:graphicData>
        </a:graphic>
      </p:graphicFrame>
      <p:sp>
        <p:nvSpPr>
          <p:cNvPr id="68" name="Rounded Rectangle 67"/>
          <p:cNvSpPr/>
          <p:nvPr/>
        </p:nvSpPr>
        <p:spPr>
          <a:xfrm>
            <a:off x="612648" y="4434840"/>
            <a:ext cx="10972800" cy="187452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41248" y="4480560"/>
            <a:ext cx="10515600" cy="1783080"/>
          </a:xfrm>
          <a:prstGeom prst="rect">
            <a:avLst/>
          </a:prstGeom>
          <a:noFill/>
        </p:spPr>
        <p:txBody>
          <a:bodyPr wrap="square" lIns="45720" tIns="27432" rIns="45720" bIns="27432" anchor="ctr">
            <a:spAutoFit/>
          </a:bodyPr>
          <a:lstStyle/>
          <a:p>
            <a:pPr marL="182880" indent="-182880" algn="l">
              <a:spcAft>
                <a:spcPts val="600"/>
              </a:spcAft>
              <a:buClr>
                <a:srgbClr val="1F9C82"/>
              </a:buClr>
              <a:buChar char="•"/>
            </a:pPr>
            <a:r>
              <a:rPr sz="1400" b="0" i="0">
                <a:solidFill>
                  <a:srgbClr val="2B3440"/>
                </a:solidFill>
                <a:latin typeface="Calibri"/>
              </a:rPr>
              <a:t>Claude Code’s flags are confirmed more often than Copilot’s on four of five Java principles, so its higher rates are not produced by the detector.</a:t>
            </a:r>
          </a:p>
          <a:p>
            <a:pPr marL="182880" indent="-182880" algn="l">
              <a:spcAft>
                <a:spcPts val="600"/>
              </a:spcAft>
              <a:buClr>
                <a:srgbClr val="1F9C82"/>
              </a:buClr>
              <a:buChar char="•"/>
            </a:pPr>
            <a:r>
              <a:rPr sz="1400" b="1" i="0">
                <a:solidFill>
                  <a:srgbClr val="2B3440"/>
                </a:solidFill>
                <a:latin typeface="Calibri"/>
              </a:rPr>
              <a:t>Dependency Inversion is the exception in Java</a:t>
            </a:r>
            <a:r>
              <a:rPr sz="1400" b="0" i="0">
                <a:solidFill>
                  <a:srgbClr val="2B3440"/>
                </a:solidFill>
                <a:latin typeface="Calibri"/>
              </a:rPr>
              <a:t> (0.792 against 0.959).</a:t>
            </a:r>
          </a:p>
          <a:p>
            <a:pPr marL="182880" indent="-182880" algn="l">
              <a:spcAft>
                <a:spcPts val="600"/>
              </a:spcAft>
              <a:buClr>
                <a:srgbClr val="1F9C82"/>
              </a:buClr>
              <a:buChar char="•"/>
            </a:pPr>
            <a:r>
              <a:rPr sz="1400" b="0" i="0">
                <a:solidFill>
                  <a:srgbClr val="2B3440"/>
                </a:solidFill>
                <a:latin typeface="Calibri"/>
              </a:rPr>
              <a:t>The judge is a Claude model and one agent is Claude Code: leniency would show up as fewer of its flags confirmed, and it does not.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6</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Results</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Change size explains most of the difference</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42</a:t>
            </a:r>
          </a:p>
        </p:txBody>
      </p:sp>
      <p:sp>
        <p:nvSpPr>
          <p:cNvPr id="66" name="Rounded Rectangle 65"/>
          <p:cNvSpPr/>
          <p:nvPr/>
        </p:nvSpPr>
        <p:spPr>
          <a:xfrm>
            <a:off x="612648" y="914400"/>
            <a:ext cx="10972800" cy="777240"/>
          </a:xfrm>
          <a:prstGeom prst="roundRect">
            <a:avLst>
              <a:gd name="adj" fmla="val 6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49808" y="914400"/>
            <a:ext cx="10698480" cy="777240"/>
          </a:xfrm>
          <a:prstGeom prst="rect">
            <a:avLst/>
          </a:prstGeom>
          <a:noFill/>
        </p:spPr>
        <p:txBody>
          <a:bodyPr wrap="square" lIns="45720" tIns="54864" rIns="45720" bIns="54864" anchor="ctr">
            <a:spAutoFit/>
          </a:bodyPr>
          <a:lstStyle/>
          <a:p>
            <a:pPr algn="l">
              <a:spcAft>
                <a:spcPts val="0"/>
              </a:spcAft>
            </a:pPr>
            <a:r>
              <a:rPr sz="1450" b="1" i="0">
                <a:solidFill>
                  <a:srgbClr val="2B3440"/>
                </a:solidFill>
                <a:latin typeface="Calibri"/>
              </a:rPr>
              <a:t>Mean files per pull request:</a:t>
            </a:r>
            <a:r>
              <a:rPr sz="1450" b="0" i="0">
                <a:solidFill>
                  <a:srgbClr val="2B3440"/>
                </a:solidFill>
                <a:latin typeface="Calibri"/>
              </a:rPr>
              <a:t>  Java: Claude 46.4, Copilot 18.5, Codex 10.9  ·  Python: Claude 16.5, Copilot 7.7, Codex 9.6</a:t>
            </a:r>
          </a:p>
        </p:txBody>
      </p:sp>
      <p:graphicFrame>
        <p:nvGraphicFramePr>
          <p:cNvPr id="68" name="Table 67"/>
          <p:cNvGraphicFramePr>
            <a:graphicFrameLocks noGrp="1"/>
          </p:cNvGraphicFramePr>
          <p:nvPr/>
        </p:nvGraphicFramePr>
        <p:xfrm>
          <a:off x="612648" y="1874520"/>
          <a:ext cx="5532120" cy="4114800"/>
        </p:xfrm>
        <a:graphic>
          <a:graphicData uri="http://schemas.openxmlformats.org/drawingml/2006/table">
            <a:tbl>
              <a:tblPr>
                <a:tableStyleId>{2D5ABB26-0587-4C30-8999-92F81FD0307C}</a:tableStyleId>
              </a:tblPr>
              <a:tblGrid>
                <a:gridCol w="155448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tblGrid>
              <a:tr h="457200">
                <a:tc>
                  <a:txBody>
                    <a:bodyPr/>
                    <a:lstStyle/>
                    <a:p>
                      <a:pPr algn="l">
                        <a:spcAft>
                          <a:spcPts val="0"/>
                        </a:spcAft>
                      </a:pPr>
                      <a:r>
                        <a:rPr sz="1400" b="1" i="0">
                          <a:solidFill>
                            <a:srgbClr val="FFFFFF"/>
                          </a:solidFill>
                          <a:latin typeface="Calibri"/>
                        </a:rPr>
                        <a:t>Files</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00" b="1" i="0">
                          <a:solidFill>
                            <a:srgbClr val="FFFFFF"/>
                          </a:solidFill>
                          <a:latin typeface="Calibri"/>
                        </a:rPr>
                        <a:t>Claude</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00" b="1" i="0">
                          <a:solidFill>
                            <a:srgbClr val="FFFFFF"/>
                          </a:solidFill>
                          <a:latin typeface="Calibri"/>
                        </a:rPr>
                        <a:t>Copilot</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00" b="1" i="0">
                          <a:solidFill>
                            <a:srgbClr val="FFFFFF"/>
                          </a:solidFill>
                          <a:latin typeface="Calibri"/>
                        </a:rPr>
                        <a:t>Codex</a:t>
                      </a:r>
                    </a:p>
                  </a:txBody>
                  <a:tcPr marL="73152" marR="73152" marT="27432" marB="27432" anchor="ctr">
                    <a:lnL w="0">
                      <a:noFill/>
                    </a:lnL>
                    <a:lnR w="0">
                      <a:noFill/>
                    </a:lnR>
                    <a:lnT w="0">
                      <a:noFill/>
                    </a:lnT>
                    <a:lnB w="6350">
                      <a:solidFill>
                        <a:srgbClr val="C9D0D8"/>
                      </a:solidFill>
                    </a:lnB>
                    <a:solidFill>
                      <a:srgbClr val="202A36"/>
                    </a:solidFill>
                  </a:tcPr>
                </a:tc>
                <a:extLst>
                  <a:ext uri="{0D108BD9-81ED-4DB2-BD59-A6C34878D82A}">
                    <a16:rowId xmlns:a16="http://schemas.microsoft.com/office/drawing/2014/main" val="10000"/>
                  </a:ext>
                </a:extLst>
              </a:tr>
              <a:tr h="457200">
                <a:tc gridSpan="4">
                  <a:txBody>
                    <a:bodyPr/>
                    <a:lstStyle/>
                    <a:p>
                      <a:pPr algn="l">
                        <a:spcAft>
                          <a:spcPts val="0"/>
                        </a:spcAft>
                      </a:pPr>
                      <a:r>
                        <a:rPr sz="1400" b="1" i="0">
                          <a:solidFill>
                            <a:srgbClr val="202A36"/>
                          </a:solidFill>
                          <a:latin typeface="Calibri"/>
                        </a:rPr>
                        <a:t>OCP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9DFE6"/>
                    </a:solidFill>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457200">
                <a:tc>
                  <a:txBody>
                    <a:bodyPr/>
                    <a:lstStyle/>
                    <a:p>
                      <a:pPr algn="l">
                        <a:spcAft>
                          <a:spcPts val="0"/>
                        </a:spcAft>
                      </a:pPr>
                      <a:r>
                        <a:rPr sz="1400" b="0" i="0">
                          <a:solidFill>
                            <a:srgbClr val="2B3440"/>
                          </a:solidFill>
                          <a:latin typeface="Calibri"/>
                        </a:rPr>
                        <a:t>1–3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1.3%</a:t>
                      </a:r>
                    </a:p>
                  </a:txBody>
                  <a:tcPr marL="73152" marR="73152" marT="27432" marB="27432" anchor="ctr">
                    <a:lnL w="0">
                      <a:noFill/>
                    </a:lnL>
                    <a:lnR w="0">
                      <a:noFill/>
                    </a:lnR>
                    <a:lnT w="0">
                      <a:noFill/>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1.9%</a:t>
                      </a:r>
                    </a:p>
                  </a:txBody>
                  <a:tcPr marL="73152" marR="73152" marT="27432" marB="27432" anchor="ctr">
                    <a:lnL w="0">
                      <a:noFill/>
                    </a:lnL>
                    <a:lnR w="0">
                      <a:noFill/>
                    </a:lnR>
                    <a:lnT w="0">
                      <a:noFill/>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0.4%</a:t>
                      </a:r>
                    </a:p>
                  </a:txBody>
                  <a:tcPr marL="73152" marR="73152" marT="27432" marB="27432" anchor="ctr">
                    <a:lnL w="0">
                      <a:noFill/>
                    </a:lnL>
                    <a:lnR w="0">
                      <a:noFill/>
                    </a:lnR>
                    <a:lnT w="0">
                      <a:noFill/>
                    </a:lnT>
                    <a:lnB w="6350">
                      <a:solidFill>
                        <a:srgbClr val="C9D0D8"/>
                      </a:solidFill>
                    </a:lnB>
                    <a:solidFill>
                      <a:srgbClr val="ECEFF3"/>
                    </a:solidFill>
                  </a:tcPr>
                </a:tc>
                <a:extLst>
                  <a:ext uri="{0D108BD9-81ED-4DB2-BD59-A6C34878D82A}">
                    <a16:rowId xmlns:a16="http://schemas.microsoft.com/office/drawing/2014/main" val="10002"/>
                  </a:ext>
                </a:extLst>
              </a:tr>
              <a:tr h="457200">
                <a:tc>
                  <a:txBody>
                    <a:bodyPr/>
                    <a:lstStyle/>
                    <a:p>
                      <a:pPr algn="l">
                        <a:spcAft>
                          <a:spcPts val="0"/>
                        </a:spcAft>
                      </a:pPr>
                      <a:r>
                        <a:rPr sz="1400" b="0" i="0">
                          <a:solidFill>
                            <a:srgbClr val="2B3440"/>
                          </a:solidFill>
                          <a:latin typeface="Calibri"/>
                        </a:rPr>
                        <a:t>4–10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7.0%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3.5%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1.9%</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3"/>
                  </a:ext>
                </a:extLst>
              </a:tr>
              <a:tr h="457200">
                <a:tc>
                  <a:txBody>
                    <a:bodyPr/>
                    <a:lstStyle/>
                    <a:p>
                      <a:pPr algn="l">
                        <a:spcAft>
                          <a:spcPts val="0"/>
                        </a:spcAft>
                      </a:pPr>
                      <a:r>
                        <a:rPr sz="1400" b="0" i="0">
                          <a:solidFill>
                            <a:srgbClr val="2B3440"/>
                          </a:solidFill>
                          <a:latin typeface="Calibri"/>
                        </a:rPr>
                        <a:t>11+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31.3%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19.3%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8.9%</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4"/>
                  </a:ext>
                </a:extLst>
              </a:tr>
              <a:tr h="457200">
                <a:tc gridSpan="4">
                  <a:txBody>
                    <a:bodyPr/>
                    <a:lstStyle/>
                    <a:p>
                      <a:pPr algn="l">
                        <a:spcAft>
                          <a:spcPts val="0"/>
                        </a:spcAft>
                      </a:pPr>
                      <a:r>
                        <a:rPr sz="1400" b="1" i="0">
                          <a:solidFill>
                            <a:srgbClr val="202A36"/>
                          </a:solidFill>
                          <a:latin typeface="Calibri"/>
                        </a:rPr>
                        <a:t>DIP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9DFE6"/>
                    </a:solidFill>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5"/>
                  </a:ext>
                </a:extLst>
              </a:tr>
              <a:tr h="457200">
                <a:tc>
                  <a:txBody>
                    <a:bodyPr/>
                    <a:lstStyle/>
                    <a:p>
                      <a:pPr algn="l">
                        <a:spcAft>
                          <a:spcPts val="0"/>
                        </a:spcAft>
                      </a:pPr>
                      <a:r>
                        <a:rPr sz="1400" b="0" i="0">
                          <a:solidFill>
                            <a:srgbClr val="2B3440"/>
                          </a:solidFill>
                          <a:latin typeface="Calibri"/>
                        </a:rPr>
                        <a:t>1–3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0.4%</a:t>
                      </a:r>
                    </a:p>
                  </a:txBody>
                  <a:tcPr marL="73152" marR="73152" marT="27432" marB="27432" anchor="ctr">
                    <a:lnL w="0">
                      <a:noFill/>
                    </a:lnL>
                    <a:lnR w="0">
                      <a:noFill/>
                    </a:lnR>
                    <a:lnT w="0">
                      <a:noFill/>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0.5%</a:t>
                      </a:r>
                    </a:p>
                  </a:txBody>
                  <a:tcPr marL="73152" marR="73152" marT="27432" marB="27432" anchor="ctr">
                    <a:lnL w="0">
                      <a:noFill/>
                    </a:lnL>
                    <a:lnR w="0">
                      <a:noFill/>
                    </a:lnR>
                    <a:lnT w="0">
                      <a:noFill/>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0.8%</a:t>
                      </a:r>
                    </a:p>
                  </a:txBody>
                  <a:tcPr marL="73152" marR="73152" marT="27432" marB="27432" anchor="ctr">
                    <a:lnL w="0">
                      <a:noFill/>
                    </a:lnL>
                    <a:lnR w="0">
                      <a:noFill/>
                    </a:lnR>
                    <a:lnT w="0">
                      <a:noFill/>
                    </a:lnT>
                    <a:lnB w="6350">
                      <a:solidFill>
                        <a:srgbClr val="C9D0D8"/>
                      </a:solidFill>
                    </a:lnB>
                    <a:solidFill>
                      <a:srgbClr val="ECEFF3"/>
                    </a:solidFill>
                  </a:tcPr>
                </a:tc>
                <a:extLst>
                  <a:ext uri="{0D108BD9-81ED-4DB2-BD59-A6C34878D82A}">
                    <a16:rowId xmlns:a16="http://schemas.microsoft.com/office/drawing/2014/main" val="10006"/>
                  </a:ext>
                </a:extLst>
              </a:tr>
              <a:tr h="457200">
                <a:tc>
                  <a:txBody>
                    <a:bodyPr/>
                    <a:lstStyle/>
                    <a:p>
                      <a:pPr algn="l">
                        <a:spcAft>
                          <a:spcPts val="0"/>
                        </a:spcAft>
                      </a:pPr>
                      <a:r>
                        <a:rPr sz="1400" b="0" i="0">
                          <a:solidFill>
                            <a:srgbClr val="2B3440"/>
                          </a:solidFill>
                          <a:latin typeface="Calibri"/>
                        </a:rPr>
                        <a:t>4–10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1.8%</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2.4%</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3.7%</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7"/>
                  </a:ext>
                </a:extLst>
              </a:tr>
              <a:tr h="457200">
                <a:tc>
                  <a:txBody>
                    <a:bodyPr/>
                    <a:lstStyle/>
                    <a:p>
                      <a:pPr algn="l">
                        <a:spcAft>
                          <a:spcPts val="0"/>
                        </a:spcAft>
                      </a:pPr>
                      <a:r>
                        <a:rPr sz="1400" b="0" i="0">
                          <a:solidFill>
                            <a:srgbClr val="2B3440"/>
                          </a:solidFill>
                          <a:latin typeface="Calibri"/>
                        </a:rPr>
                        <a:t>11+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22.3%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13.7%</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12.1%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8"/>
                  </a:ext>
                </a:extLst>
              </a:tr>
            </a:tbl>
          </a:graphicData>
        </a:graphic>
      </p:graphicFrame>
      <p:sp>
        <p:nvSpPr>
          <p:cNvPr id="69" name="Rounded Rectangle 68"/>
          <p:cNvSpPr/>
          <p:nvPr/>
        </p:nvSpPr>
        <p:spPr>
          <a:xfrm>
            <a:off x="6400800" y="1874520"/>
            <a:ext cx="5184648" cy="128016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583680" y="1874520"/>
            <a:ext cx="4818888" cy="1280160"/>
          </a:xfrm>
          <a:prstGeom prst="rect">
            <a:avLst/>
          </a:prstGeom>
          <a:noFill/>
        </p:spPr>
        <p:txBody>
          <a:bodyPr wrap="square" lIns="36576" tIns="36576" rIns="36576" bIns="36576" anchor="ctr">
            <a:spAutoFit/>
          </a:bodyPr>
          <a:lstStyle/>
          <a:p>
            <a:pPr algn="l">
              <a:spcAft>
                <a:spcPts val="300"/>
              </a:spcAft>
            </a:pPr>
            <a:r>
              <a:rPr sz="1450" b="0" i="0">
                <a:solidFill>
                  <a:srgbClr val="2B3440"/>
                </a:solidFill>
                <a:latin typeface="Calibri"/>
              </a:rPr>
              <a:t>The ordering holds only among the largest changes.</a:t>
            </a:r>
          </a:p>
        </p:txBody>
      </p:sp>
      <p:sp>
        <p:nvSpPr>
          <p:cNvPr id="71" name="Rounded Rectangle 70"/>
          <p:cNvSpPr/>
          <p:nvPr/>
        </p:nvSpPr>
        <p:spPr>
          <a:xfrm>
            <a:off x="6400800" y="3291840"/>
            <a:ext cx="5184648" cy="128016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583680" y="3291840"/>
            <a:ext cx="4818888" cy="1280160"/>
          </a:xfrm>
          <a:prstGeom prst="rect">
            <a:avLst/>
          </a:prstGeom>
          <a:noFill/>
        </p:spPr>
        <p:txBody>
          <a:bodyPr wrap="square" lIns="36576" tIns="36576" rIns="36576" bIns="36576" anchor="ctr">
            <a:spAutoFit/>
          </a:bodyPr>
          <a:lstStyle/>
          <a:p>
            <a:pPr algn="l">
              <a:spcAft>
                <a:spcPts val="300"/>
              </a:spcAft>
            </a:pPr>
            <a:r>
              <a:rPr sz="1450" b="0" i="0">
                <a:solidFill>
                  <a:srgbClr val="2B3440"/>
                </a:solidFill>
                <a:latin typeface="Calibri"/>
              </a:rPr>
              <a:t>Among changes of three files or fewer, Copilot leads on Open/Closed and Codex on Dependency Inversion.</a:t>
            </a:r>
          </a:p>
        </p:txBody>
      </p:sp>
      <p:sp>
        <p:nvSpPr>
          <p:cNvPr id="73" name="Rounded Rectangle 72"/>
          <p:cNvSpPr/>
          <p:nvPr/>
        </p:nvSpPr>
        <p:spPr>
          <a:xfrm>
            <a:off x="6400800" y="4709160"/>
            <a:ext cx="5184648" cy="128016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583680" y="4709160"/>
            <a:ext cx="4818888" cy="1280160"/>
          </a:xfrm>
          <a:prstGeom prst="rect">
            <a:avLst/>
          </a:prstGeom>
          <a:noFill/>
        </p:spPr>
        <p:txBody>
          <a:bodyPr wrap="square" lIns="36576" tIns="36576" rIns="36576" bIns="36576" anchor="ctr">
            <a:spAutoFit/>
          </a:bodyPr>
          <a:lstStyle/>
          <a:p>
            <a:pPr algn="l">
              <a:spcAft>
                <a:spcPts val="300"/>
              </a:spcAft>
            </a:pPr>
            <a:r>
              <a:rPr sz="1450" b="0" i="0">
                <a:solidFill>
                  <a:srgbClr val="2B3440"/>
                </a:solidFill>
                <a:latin typeface="Calibri"/>
              </a:rPr>
              <a:t>A delta detector has more chances to fire when more code changes, so size has to be adjusted for, not just described.</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6</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Results</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The joint model</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43</a:t>
            </a:r>
          </a:p>
        </p:txBody>
      </p:sp>
      <p:sp>
        <p:nvSpPr>
          <p:cNvPr id="66" name="Rounded Rectangle 65"/>
          <p:cNvSpPr/>
          <p:nvPr/>
        </p:nvSpPr>
        <p:spPr>
          <a:xfrm>
            <a:off x="612648" y="914400"/>
            <a:ext cx="5669280" cy="20574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7" name="Picture 66" descr="eq_11.png"/>
          <p:cNvPicPr>
            <a:picLocks noChangeAspect="1"/>
          </p:cNvPicPr>
          <p:nvPr/>
        </p:nvPicPr>
        <p:blipFill>
          <a:blip r:embed="rId2"/>
          <a:stretch>
            <a:fillRect/>
          </a:stretch>
        </p:blipFill>
        <p:spPr>
          <a:xfrm>
            <a:off x="886968" y="1051560"/>
            <a:ext cx="3352800" cy="457200"/>
          </a:xfrm>
          <a:prstGeom prst="rect">
            <a:avLst/>
          </a:prstGeom>
        </p:spPr>
      </p:pic>
      <p:pic>
        <p:nvPicPr>
          <p:cNvPr id="68" name="Picture 67" descr="eq_12.png"/>
          <p:cNvPicPr>
            <a:picLocks noChangeAspect="1"/>
          </p:cNvPicPr>
          <p:nvPr/>
        </p:nvPicPr>
        <p:blipFill>
          <a:blip r:embed="rId3"/>
          <a:stretch>
            <a:fillRect/>
          </a:stretch>
        </p:blipFill>
        <p:spPr>
          <a:xfrm>
            <a:off x="886968" y="1600200"/>
            <a:ext cx="4517409" cy="457200"/>
          </a:xfrm>
          <a:prstGeom prst="rect">
            <a:avLst/>
          </a:prstGeom>
        </p:spPr>
      </p:pic>
      <p:sp>
        <p:nvSpPr>
          <p:cNvPr id="69" name="TextBox 68"/>
          <p:cNvSpPr txBox="1"/>
          <p:nvPr/>
        </p:nvSpPr>
        <p:spPr>
          <a:xfrm>
            <a:off x="795528" y="2194560"/>
            <a:ext cx="5303520" cy="731520"/>
          </a:xfrm>
          <a:prstGeom prst="rect">
            <a:avLst/>
          </a:prstGeom>
          <a:noFill/>
        </p:spPr>
        <p:txBody>
          <a:bodyPr wrap="square" lIns="45720" tIns="27432" rIns="45720" bIns="27432" anchor="ctr">
            <a:spAutoFit/>
          </a:bodyPr>
          <a:lstStyle/>
          <a:p>
            <a:pPr algn="l">
              <a:spcAft>
                <a:spcPts val="0"/>
              </a:spcAft>
            </a:pPr>
            <a:r>
              <a:rPr sz="1300" b="0" i="0">
                <a:solidFill>
                  <a:srgbClr val="5C6773"/>
                </a:solidFill>
                <a:latin typeface="Calibri"/>
              </a:rPr>
              <a:t>estimated by GEE, exchangeable within repository, cluster-robust errors; Copilot is the reference.</a:t>
            </a:r>
          </a:p>
        </p:txBody>
      </p:sp>
      <p:graphicFrame>
        <p:nvGraphicFramePr>
          <p:cNvPr id="70" name="Table 69"/>
          <p:cNvGraphicFramePr>
            <a:graphicFrameLocks noGrp="1"/>
          </p:cNvGraphicFramePr>
          <p:nvPr/>
        </p:nvGraphicFramePr>
        <p:xfrm>
          <a:off x="612648" y="3154680"/>
          <a:ext cx="5669280" cy="2743200"/>
        </p:xfrm>
        <a:graphic>
          <a:graphicData uri="http://schemas.openxmlformats.org/drawingml/2006/table">
            <a:tbl>
              <a:tblPr>
                <a:tableStyleId>{2D5ABB26-0587-4C30-8999-92F81FD0307C}</a:tableStyleId>
              </a:tblPr>
              <a:tblGrid>
                <a:gridCol w="29260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457200">
                <a:tc>
                  <a:txBody>
                    <a:bodyPr/>
                    <a:lstStyle/>
                    <a:p>
                      <a:pPr algn="l">
                        <a:spcAft>
                          <a:spcPts val="0"/>
                        </a:spcAft>
                      </a:pPr>
                      <a:endParaRP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00" b="1" i="0">
                          <a:solidFill>
                            <a:srgbClr val="FFFFFF"/>
                          </a:solidFill>
                          <a:latin typeface="Calibri"/>
                        </a:rPr>
                        <a:t>Java</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00" b="1" i="0">
                          <a:solidFill>
                            <a:srgbClr val="FFFFFF"/>
                          </a:solidFill>
                          <a:latin typeface="Calibri"/>
                        </a:rPr>
                        <a:t>Python</a:t>
                      </a:r>
                    </a:p>
                  </a:txBody>
                  <a:tcPr marL="73152" marR="73152" marT="27432" marB="27432" anchor="ctr">
                    <a:lnL w="0">
                      <a:noFill/>
                    </a:lnL>
                    <a:lnR w="0">
                      <a:noFill/>
                    </a:lnR>
                    <a:lnT w="0">
                      <a:noFill/>
                    </a:lnT>
                    <a:lnB w="6350">
                      <a:solidFill>
                        <a:srgbClr val="C9D0D8"/>
                      </a:solidFill>
                    </a:lnB>
                    <a:solidFill>
                      <a:srgbClr val="202A36"/>
                    </a:solidFill>
                  </a:tcPr>
                </a:tc>
                <a:extLst>
                  <a:ext uri="{0D108BD9-81ED-4DB2-BD59-A6C34878D82A}">
                    <a16:rowId xmlns:a16="http://schemas.microsoft.com/office/drawing/2014/main" val="10000"/>
                  </a:ext>
                </a:extLst>
              </a:tr>
              <a:tr h="457200">
                <a:tc>
                  <a:txBody>
                    <a:bodyPr/>
                    <a:lstStyle/>
                    <a:p>
                      <a:pPr algn="l">
                        <a:spcAft>
                          <a:spcPts val="0"/>
                        </a:spcAft>
                      </a:pPr>
                      <a:r>
                        <a:rPr sz="1400" b="0" i="0">
                          <a:solidFill>
                            <a:srgbClr val="2B3440"/>
                          </a:solidFill>
                          <a:latin typeface="Calibri"/>
                        </a:rPr>
                        <a:t>odds per doubling of files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1.88–1.95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2.01–2.18</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1"/>
                  </a:ext>
                </a:extLst>
              </a:tr>
              <a:tr h="457200">
                <a:tc>
                  <a:txBody>
                    <a:bodyPr/>
                    <a:lstStyle/>
                    <a:p>
                      <a:pPr algn="l">
                        <a:spcAft>
                          <a:spcPts val="0"/>
                        </a:spcAft>
                      </a:pPr>
                      <a:r>
                        <a:rPr sz="1400" b="0" i="0">
                          <a:solidFill>
                            <a:srgbClr val="2B3440"/>
                          </a:solidFill>
                          <a:latin typeface="Calibri"/>
                        </a:rPr>
                        <a:t>Claude Code, OCP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2.22</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2.09</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2"/>
                  </a:ext>
                </a:extLst>
              </a:tr>
              <a:tr h="457200">
                <a:tc>
                  <a:txBody>
                    <a:bodyPr/>
                    <a:lstStyle/>
                    <a:p>
                      <a:pPr algn="l">
                        <a:spcAft>
                          <a:spcPts val="0"/>
                        </a:spcAft>
                      </a:pPr>
                      <a:r>
                        <a:rPr sz="1400" b="0" i="0">
                          <a:solidFill>
                            <a:srgbClr val="2B3440"/>
                          </a:solidFill>
                          <a:latin typeface="Calibri"/>
                        </a:rPr>
                        <a:t>95% interval</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1.21–4.07</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1.44–3.04</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3"/>
                  </a:ext>
                </a:extLst>
              </a:tr>
              <a:tr h="457200">
                <a:tc>
                  <a:txBody>
                    <a:bodyPr/>
                    <a:lstStyle/>
                    <a:p>
                      <a:pPr algn="l">
                        <a:spcAft>
                          <a:spcPts val="0"/>
                        </a:spcAft>
                      </a:pPr>
                      <a:r>
                        <a:rPr sz="1400" b="0" i="0">
                          <a:solidFill>
                            <a:srgbClr val="2B3440"/>
                          </a:solidFill>
                          <a:latin typeface="Calibri"/>
                        </a:rPr>
                        <a:t>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0.010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00" b="0" i="0">
                          <a:solidFill>
                            <a:srgbClr val="2B3440"/>
                          </a:solidFill>
                          <a:latin typeface="Calibri"/>
                        </a:rPr>
                        <a:t>0.0001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4"/>
                  </a:ext>
                </a:extLst>
              </a:tr>
              <a:tr h="457200">
                <a:tc>
                  <a:txBody>
                    <a:bodyPr/>
                    <a:lstStyle/>
                    <a:p>
                      <a:pPr algn="l">
                        <a:spcAft>
                          <a:spcPts val="0"/>
                        </a:spcAft>
                      </a:pPr>
                      <a:r>
                        <a:rPr sz="1400" b="0" i="0">
                          <a:solidFill>
                            <a:srgbClr val="2B3440"/>
                          </a:solidFill>
                          <a:latin typeface="Calibri"/>
                        </a:rPr>
                        <a:t>time, per month</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00" b="0" i="0">
                          <a:solidFill>
                            <a:srgbClr val="2B3440"/>
                          </a:solidFill>
                          <a:latin typeface="Calibri"/>
                        </a:rPr>
                        <a:t>≈1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5"/>
                  </a:ext>
                </a:extLst>
              </a:tr>
            </a:tbl>
          </a:graphicData>
        </a:graphic>
      </p:graphicFrame>
      <p:sp>
        <p:nvSpPr>
          <p:cNvPr id="71" name="Rounded Rectangle 70"/>
          <p:cNvSpPr/>
          <p:nvPr/>
        </p:nvSpPr>
        <p:spPr>
          <a:xfrm>
            <a:off x="6492240" y="914400"/>
            <a:ext cx="5093208" cy="1252728"/>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675120" y="914400"/>
            <a:ext cx="4727448" cy="1252728"/>
          </a:xfrm>
          <a:prstGeom prst="rect">
            <a:avLst/>
          </a:prstGeom>
          <a:noFill/>
        </p:spPr>
        <p:txBody>
          <a:bodyPr wrap="square" lIns="36576" tIns="36576" rIns="36576" bIns="36576" anchor="ctr">
            <a:spAutoFit/>
          </a:bodyPr>
          <a:lstStyle/>
          <a:p>
            <a:pPr algn="l">
              <a:spcAft>
                <a:spcPts val="300"/>
              </a:spcAft>
            </a:pPr>
            <a:r>
              <a:rPr sz="1400" b="1" i="0">
                <a:solidFill>
                  <a:srgbClr val="2B3440"/>
                </a:solidFill>
                <a:latin typeface="Calibri"/>
              </a:rPr>
              <a:t>Change size dominates every principle in both languages.</a:t>
            </a:r>
          </a:p>
        </p:txBody>
      </p:sp>
      <p:sp>
        <p:nvSpPr>
          <p:cNvPr id="73" name="Rounded Rectangle 72"/>
          <p:cNvSpPr/>
          <p:nvPr/>
        </p:nvSpPr>
        <p:spPr>
          <a:xfrm>
            <a:off x="6492240" y="2295144"/>
            <a:ext cx="5093208" cy="1252728"/>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675120" y="2295144"/>
            <a:ext cx="4727448" cy="1252728"/>
          </a:xfrm>
          <a:prstGeom prst="rect">
            <a:avLst/>
          </a:prstGeom>
          <a:noFill/>
        </p:spPr>
        <p:txBody>
          <a:bodyPr wrap="square" lIns="36576" tIns="36576" rIns="36576" bIns="36576" anchor="ctr">
            <a:spAutoFit/>
          </a:bodyPr>
          <a:lstStyle/>
          <a:p>
            <a:pPr algn="l">
              <a:spcAft>
                <a:spcPts val="300"/>
              </a:spcAft>
            </a:pPr>
            <a:r>
              <a:rPr sz="1400" b="1" i="0">
                <a:solidFill>
                  <a:srgbClr val="2B3440"/>
                </a:solidFill>
                <a:latin typeface="Calibri"/>
              </a:rPr>
              <a:t>One agent difference replicates:</a:t>
            </a:r>
            <a:r>
              <a:rPr sz="1400" b="0" i="0">
                <a:solidFill>
                  <a:srgbClr val="2B3440"/>
                </a:solidFill>
                <a:latin typeface="Calibri"/>
              </a:rPr>
              <a:t> Claude Code on Open/Closed.</a:t>
            </a:r>
          </a:p>
        </p:txBody>
      </p:sp>
      <p:sp>
        <p:nvSpPr>
          <p:cNvPr id="75" name="Rounded Rectangle 74"/>
          <p:cNvSpPr/>
          <p:nvPr/>
        </p:nvSpPr>
        <p:spPr>
          <a:xfrm>
            <a:off x="6492240" y="3675888"/>
            <a:ext cx="5093208" cy="1252728"/>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6675120" y="3675888"/>
            <a:ext cx="4727448" cy="1252728"/>
          </a:xfrm>
          <a:prstGeom prst="rect">
            <a:avLst/>
          </a:prstGeom>
          <a:noFill/>
        </p:spPr>
        <p:txBody>
          <a:bodyPr wrap="square" lIns="36576" tIns="36576" rIns="36576" bIns="36576" anchor="ctr">
            <a:spAutoFit/>
          </a:bodyPr>
          <a:lstStyle/>
          <a:p>
            <a:pPr algn="l">
              <a:spcAft>
                <a:spcPts val="300"/>
              </a:spcAft>
            </a:pPr>
            <a:r>
              <a:rPr sz="1400" b="0" i="0">
                <a:solidFill>
                  <a:srgbClr val="2B3440"/>
                </a:solidFill>
                <a:latin typeface="Calibri"/>
              </a:rPr>
              <a:t>Six agent coefficients are tested in Java and ten in Python. Java alone would not pass a Bonferroni correction; Python does, so the claim rests on the replication.</a:t>
            </a:r>
          </a:p>
        </p:txBody>
      </p:sp>
      <p:sp>
        <p:nvSpPr>
          <p:cNvPr id="77" name="Rounded Rectangle 76"/>
          <p:cNvSpPr/>
          <p:nvPr/>
        </p:nvSpPr>
        <p:spPr>
          <a:xfrm>
            <a:off x="6492240" y="5056632"/>
            <a:ext cx="5093208" cy="1252728"/>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675120" y="5056632"/>
            <a:ext cx="4727448" cy="1252728"/>
          </a:xfrm>
          <a:prstGeom prst="rect">
            <a:avLst/>
          </a:prstGeom>
          <a:noFill/>
        </p:spPr>
        <p:txBody>
          <a:bodyPr wrap="square" lIns="36576" tIns="36576" rIns="36576" bIns="36576" anchor="ctr">
            <a:spAutoFit/>
          </a:bodyPr>
          <a:lstStyle/>
          <a:p>
            <a:pPr algn="l">
              <a:spcAft>
                <a:spcPts val="300"/>
              </a:spcAft>
            </a:pPr>
            <a:r>
              <a:rPr sz="1400" b="0" i="0">
                <a:solidFill>
                  <a:srgbClr val="2B3440"/>
                </a:solidFill>
                <a:latin typeface="Calibri"/>
              </a:rPr>
              <a:t>Python’s import-cycle effect (1.88, p=0.0096) does not pass and is reported as unconfirmed.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6</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Results</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Merged against unmerged code</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44</a:t>
            </a:r>
          </a:p>
        </p:txBody>
      </p:sp>
      <p:sp>
        <p:nvSpPr>
          <p:cNvPr id="66" name="TextBox 65"/>
          <p:cNvSpPr txBox="1"/>
          <p:nvPr/>
        </p:nvSpPr>
        <p:spPr>
          <a:xfrm>
            <a:off x="612648" y="914400"/>
            <a:ext cx="5303520" cy="274320"/>
          </a:xfrm>
          <a:prstGeom prst="rect">
            <a:avLst/>
          </a:prstGeom>
          <a:noFill/>
        </p:spPr>
        <p:txBody>
          <a:bodyPr wrap="square" lIns="18288" tIns="18288" rIns="18288" bIns="18288" anchor="t">
            <a:spAutoFit/>
          </a:bodyPr>
          <a:lstStyle/>
          <a:p>
            <a:pPr algn="l">
              <a:spcAft>
                <a:spcPts val="0"/>
              </a:spcAft>
            </a:pPr>
            <a:r>
              <a:rPr sz="1200" b="1" i="0">
                <a:solidFill>
                  <a:srgbClr val="34495E"/>
                </a:solidFill>
                <a:latin typeface="Arial"/>
              </a:rPr>
              <a:t>JAVA, SAME RECOVERY METHOD</a:t>
            </a:r>
          </a:p>
        </p:txBody>
      </p:sp>
      <p:graphicFrame>
        <p:nvGraphicFramePr>
          <p:cNvPr id="67" name="Table 66"/>
          <p:cNvGraphicFramePr>
            <a:graphicFrameLocks noGrp="1"/>
          </p:cNvGraphicFramePr>
          <p:nvPr/>
        </p:nvGraphicFramePr>
        <p:xfrm>
          <a:off x="612648" y="1280160"/>
          <a:ext cx="5349240" cy="1965960"/>
        </p:xfrm>
        <a:graphic>
          <a:graphicData uri="http://schemas.openxmlformats.org/drawingml/2006/table">
            <a:tbl>
              <a:tblPr>
                <a:tableStyleId>{2D5ABB26-0587-4C30-8999-92F81FD0307C}</a:tableStyleId>
              </a:tblPr>
              <a:tblGrid>
                <a:gridCol w="210312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457200">
                <a:tc>
                  <a:txBody>
                    <a:bodyPr/>
                    <a:lstStyle/>
                    <a:p>
                      <a:pPr algn="l">
                        <a:spcAft>
                          <a:spcPts val="0"/>
                        </a:spcAft>
                      </a:pPr>
                      <a:r>
                        <a:rPr sz="1450" b="1" i="0">
                          <a:solidFill>
                            <a:srgbClr val="FFFFFF"/>
                          </a:solidFill>
                          <a:latin typeface="Calibri"/>
                        </a:rPr>
                        <a:t>Stratum</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50" b="1" i="0">
                          <a:solidFill>
                            <a:srgbClr val="FFFFFF"/>
                          </a:solidFill>
                          <a:latin typeface="Calibri"/>
                        </a:rPr>
                        <a:t>n</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50" b="1" i="0">
                          <a:solidFill>
                            <a:srgbClr val="FFFFFF"/>
                          </a:solidFill>
                          <a:latin typeface="Calibri"/>
                        </a:rPr>
                        <a:t>OCP</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50" b="1" i="0">
                          <a:solidFill>
                            <a:srgbClr val="FFFFFF"/>
                          </a:solidFill>
                          <a:latin typeface="Calibri"/>
                        </a:rPr>
                        <a:t>DIP</a:t>
                      </a:r>
                    </a:p>
                  </a:txBody>
                  <a:tcPr marL="73152" marR="73152" marT="27432" marB="27432" anchor="ctr">
                    <a:lnL w="0">
                      <a:noFill/>
                    </a:lnL>
                    <a:lnR w="0">
                      <a:noFill/>
                    </a:lnR>
                    <a:lnT w="0">
                      <a:noFill/>
                    </a:lnT>
                    <a:lnB w="6350">
                      <a:solidFill>
                        <a:srgbClr val="C9D0D8"/>
                      </a:solidFill>
                    </a:lnB>
                    <a:solidFill>
                      <a:srgbClr val="202A36"/>
                    </a:solidFill>
                  </a:tcPr>
                </a:tc>
                <a:extLst>
                  <a:ext uri="{0D108BD9-81ED-4DB2-BD59-A6C34878D82A}">
                    <a16:rowId xmlns:a16="http://schemas.microsoft.com/office/drawing/2014/main" val="10000"/>
                  </a:ext>
                </a:extLst>
              </a:tr>
              <a:tr h="502920">
                <a:tc>
                  <a:txBody>
                    <a:bodyPr/>
                    <a:lstStyle/>
                    <a:p>
                      <a:pPr algn="l">
                        <a:spcAft>
                          <a:spcPts val="0"/>
                        </a:spcAft>
                      </a:pPr>
                      <a:r>
                        <a:rPr sz="1450" b="1" i="0">
                          <a:solidFill>
                            <a:srgbClr val="202A36"/>
                          </a:solidFill>
                          <a:latin typeface="Calibri"/>
                        </a:rPr>
                        <a:t>merged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1,521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8.3%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4.6%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1"/>
                  </a:ext>
                </a:extLst>
              </a:tr>
              <a:tr h="502920">
                <a:tc>
                  <a:txBody>
                    <a:bodyPr/>
                    <a:lstStyle/>
                    <a:p>
                      <a:pPr algn="l">
                        <a:spcAft>
                          <a:spcPts val="0"/>
                        </a:spcAft>
                      </a:pPr>
                      <a:r>
                        <a:rPr sz="1450" b="1" i="0">
                          <a:solidFill>
                            <a:srgbClr val="202A36"/>
                          </a:solidFill>
                          <a:latin typeface="Calibri"/>
                        </a:rPr>
                        <a:t>unreviewed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50" b="0" i="0">
                          <a:solidFill>
                            <a:srgbClr val="2B3440"/>
                          </a:solidFill>
                          <a:latin typeface="Calibri"/>
                        </a:rPr>
                        <a:t>1,006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50" b="0" i="0">
                          <a:solidFill>
                            <a:srgbClr val="2B3440"/>
                          </a:solidFill>
                          <a:latin typeface="Calibri"/>
                        </a:rPr>
                        <a:t>7.5%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50" b="0" i="0">
                          <a:solidFill>
                            <a:srgbClr val="2B3440"/>
                          </a:solidFill>
                          <a:latin typeface="Calibri"/>
                        </a:rPr>
                        <a:t>5.6%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2"/>
                  </a:ext>
                </a:extLst>
              </a:tr>
              <a:tr h="502920">
                <a:tc>
                  <a:txBody>
                    <a:bodyPr/>
                    <a:lstStyle/>
                    <a:p>
                      <a:pPr algn="l">
                        <a:spcAft>
                          <a:spcPts val="0"/>
                        </a:spcAft>
                      </a:pPr>
                      <a:r>
                        <a:rPr sz="1450" b="1" i="0">
                          <a:solidFill>
                            <a:srgbClr val="202A36"/>
                          </a:solidFill>
                          <a:latin typeface="Calibri"/>
                        </a:rPr>
                        <a:t>reviewed, closed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135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12.6%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12.6%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3"/>
                  </a:ext>
                </a:extLst>
              </a:tr>
            </a:tbl>
          </a:graphicData>
        </a:graphic>
      </p:graphicFrame>
      <p:sp>
        <p:nvSpPr>
          <p:cNvPr id="68" name="Rounded Rectangle 67"/>
          <p:cNvSpPr/>
          <p:nvPr/>
        </p:nvSpPr>
        <p:spPr>
          <a:xfrm>
            <a:off x="612648" y="3520440"/>
            <a:ext cx="5349240" cy="1051560"/>
          </a:xfrm>
          <a:prstGeom prst="roundRect">
            <a:avLst>
              <a:gd name="adj" fmla="val 6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749808" y="3520440"/>
            <a:ext cx="5074920" cy="1051560"/>
          </a:xfrm>
          <a:prstGeom prst="rect">
            <a:avLst/>
          </a:prstGeom>
          <a:noFill/>
        </p:spPr>
        <p:txBody>
          <a:bodyPr wrap="square" lIns="45720" tIns="54864" rIns="45720" bIns="54864" anchor="ctr">
            <a:spAutoFit/>
          </a:bodyPr>
          <a:lstStyle/>
          <a:p>
            <a:pPr algn="l">
              <a:spcAft>
                <a:spcPts val="0"/>
              </a:spcAft>
            </a:pPr>
            <a:r>
              <a:rPr sz="1450" b="1" i="0">
                <a:solidFill>
                  <a:srgbClr val="2B3440"/>
                </a:solidFill>
                <a:latin typeface="Calibri"/>
              </a:rPr>
              <a:t>Merged code is indistinguishable from code closed without review.</a:t>
            </a:r>
          </a:p>
        </p:txBody>
      </p:sp>
      <p:sp>
        <p:nvSpPr>
          <p:cNvPr id="70" name="TextBox 69"/>
          <p:cNvSpPr txBox="1"/>
          <p:nvPr/>
        </p:nvSpPr>
        <p:spPr>
          <a:xfrm>
            <a:off x="6236208" y="914400"/>
            <a:ext cx="5303520" cy="274320"/>
          </a:xfrm>
          <a:prstGeom prst="rect">
            <a:avLst/>
          </a:prstGeom>
          <a:noFill/>
        </p:spPr>
        <p:txBody>
          <a:bodyPr wrap="square" lIns="18288" tIns="18288" rIns="18288" bIns="18288" anchor="t">
            <a:spAutoFit/>
          </a:bodyPr>
          <a:lstStyle/>
          <a:p>
            <a:pPr algn="l">
              <a:spcAft>
                <a:spcPts val="0"/>
              </a:spcAft>
            </a:pPr>
            <a:r>
              <a:rPr sz="1200" b="1" i="0">
                <a:solidFill>
                  <a:srgbClr val="34495E"/>
                </a:solidFill>
                <a:latin typeface="Arial"/>
              </a:rPr>
              <a:t>PYTHON, SAME RECOVERY METHOD</a:t>
            </a:r>
          </a:p>
        </p:txBody>
      </p:sp>
      <p:graphicFrame>
        <p:nvGraphicFramePr>
          <p:cNvPr id="71" name="Table 70"/>
          <p:cNvGraphicFramePr>
            <a:graphicFrameLocks noGrp="1"/>
          </p:cNvGraphicFramePr>
          <p:nvPr/>
        </p:nvGraphicFramePr>
        <p:xfrm>
          <a:off x="6236208" y="1280160"/>
          <a:ext cx="5349240" cy="1965960"/>
        </p:xfrm>
        <a:graphic>
          <a:graphicData uri="http://schemas.openxmlformats.org/drawingml/2006/table">
            <a:tbl>
              <a:tblPr>
                <a:tableStyleId>{2D5ABB26-0587-4C30-8999-92F81FD0307C}</a:tableStyleId>
              </a:tblPr>
              <a:tblGrid>
                <a:gridCol w="210312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457200">
                <a:tc>
                  <a:txBody>
                    <a:bodyPr/>
                    <a:lstStyle/>
                    <a:p>
                      <a:pPr algn="l">
                        <a:spcAft>
                          <a:spcPts val="0"/>
                        </a:spcAft>
                      </a:pPr>
                      <a:r>
                        <a:rPr sz="1450" b="1" i="0">
                          <a:solidFill>
                            <a:srgbClr val="FFFFFF"/>
                          </a:solidFill>
                          <a:latin typeface="Calibri"/>
                        </a:rPr>
                        <a:t>Stratum</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50" b="1" i="0">
                          <a:solidFill>
                            <a:srgbClr val="FFFFFF"/>
                          </a:solidFill>
                          <a:latin typeface="Calibri"/>
                        </a:rPr>
                        <a:t>n</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50" b="1" i="0">
                          <a:solidFill>
                            <a:srgbClr val="FFFFFF"/>
                          </a:solidFill>
                          <a:latin typeface="Calibri"/>
                        </a:rPr>
                        <a:t>OCP</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50" b="1" i="0">
                          <a:solidFill>
                            <a:srgbClr val="FFFFFF"/>
                          </a:solidFill>
                          <a:latin typeface="Calibri"/>
                        </a:rPr>
                        <a:t>DIP</a:t>
                      </a:r>
                    </a:p>
                  </a:txBody>
                  <a:tcPr marL="73152" marR="73152" marT="27432" marB="27432" anchor="ctr">
                    <a:lnL w="0">
                      <a:noFill/>
                    </a:lnL>
                    <a:lnR w="0">
                      <a:noFill/>
                    </a:lnR>
                    <a:lnT w="0">
                      <a:noFill/>
                    </a:lnT>
                    <a:lnB w="6350">
                      <a:solidFill>
                        <a:srgbClr val="C9D0D8"/>
                      </a:solidFill>
                    </a:lnB>
                    <a:solidFill>
                      <a:srgbClr val="202A36"/>
                    </a:solidFill>
                  </a:tcPr>
                </a:tc>
                <a:extLst>
                  <a:ext uri="{0D108BD9-81ED-4DB2-BD59-A6C34878D82A}">
                    <a16:rowId xmlns:a16="http://schemas.microsoft.com/office/drawing/2014/main" val="10000"/>
                  </a:ext>
                </a:extLst>
              </a:tr>
              <a:tr h="502920">
                <a:tc>
                  <a:txBody>
                    <a:bodyPr/>
                    <a:lstStyle/>
                    <a:p>
                      <a:pPr algn="l">
                        <a:spcAft>
                          <a:spcPts val="0"/>
                        </a:spcAft>
                      </a:pPr>
                      <a:r>
                        <a:rPr sz="1450" b="1" i="0">
                          <a:solidFill>
                            <a:srgbClr val="202A36"/>
                          </a:solidFill>
                          <a:latin typeface="Calibri"/>
                        </a:rPr>
                        <a:t>merged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1,734</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4.9%</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3.1%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1"/>
                  </a:ext>
                </a:extLst>
              </a:tr>
              <a:tr h="502920">
                <a:tc>
                  <a:txBody>
                    <a:bodyPr/>
                    <a:lstStyle/>
                    <a:p>
                      <a:pPr algn="l">
                        <a:spcAft>
                          <a:spcPts val="0"/>
                        </a:spcAft>
                      </a:pPr>
                      <a:r>
                        <a:rPr sz="1450" b="1" i="0">
                          <a:solidFill>
                            <a:srgbClr val="202A36"/>
                          </a:solidFill>
                          <a:latin typeface="Calibri"/>
                        </a:rPr>
                        <a:t>unreviewed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50" b="0" i="0">
                          <a:solidFill>
                            <a:srgbClr val="2B3440"/>
                          </a:solidFill>
                          <a:latin typeface="Calibri"/>
                        </a:rPr>
                        <a:t>1,300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50" b="0" i="0">
                          <a:solidFill>
                            <a:srgbClr val="2B3440"/>
                          </a:solidFill>
                          <a:latin typeface="Calibri"/>
                        </a:rPr>
                        <a:t>9.1%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50" b="0" i="0">
                          <a:solidFill>
                            <a:srgbClr val="2B3440"/>
                          </a:solidFill>
                          <a:latin typeface="Calibri"/>
                        </a:rPr>
                        <a:t>4.5%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2"/>
                  </a:ext>
                </a:extLst>
              </a:tr>
              <a:tr h="502920">
                <a:tc>
                  <a:txBody>
                    <a:bodyPr/>
                    <a:lstStyle/>
                    <a:p>
                      <a:pPr algn="l">
                        <a:spcAft>
                          <a:spcPts val="0"/>
                        </a:spcAft>
                      </a:pPr>
                      <a:r>
                        <a:rPr sz="1450" b="1" i="0">
                          <a:solidFill>
                            <a:srgbClr val="202A36"/>
                          </a:solidFill>
                          <a:latin typeface="Calibri"/>
                        </a:rPr>
                        <a:t>reviewed, closed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163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7.4%</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8.6%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3"/>
                  </a:ext>
                </a:extLst>
              </a:tr>
            </a:tbl>
          </a:graphicData>
        </a:graphic>
      </p:graphicFrame>
      <p:sp>
        <p:nvSpPr>
          <p:cNvPr id="72" name="Rounded Rectangle 71"/>
          <p:cNvSpPr/>
          <p:nvPr/>
        </p:nvSpPr>
        <p:spPr>
          <a:xfrm>
            <a:off x="6236208" y="3520440"/>
            <a:ext cx="5349240" cy="1051560"/>
          </a:xfrm>
          <a:prstGeom prst="roundRect">
            <a:avLst>
              <a:gd name="adj" fmla="val 6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373368" y="3520440"/>
            <a:ext cx="5074920" cy="1051560"/>
          </a:xfrm>
          <a:prstGeom prst="rect">
            <a:avLst/>
          </a:prstGeom>
          <a:noFill/>
        </p:spPr>
        <p:txBody>
          <a:bodyPr wrap="square" lIns="45720" tIns="54864" rIns="45720" bIns="54864" anchor="ctr">
            <a:spAutoFit/>
          </a:bodyPr>
          <a:lstStyle/>
          <a:p>
            <a:pPr algn="l">
              <a:spcAft>
                <a:spcPts val="0"/>
              </a:spcAft>
            </a:pPr>
            <a:r>
              <a:rPr sz="1450" b="1" i="0">
                <a:solidFill>
                  <a:srgbClr val="2B3440"/>
                </a:solidFill>
                <a:latin typeface="Calibri"/>
              </a:rPr>
              <a:t>Merged code is cleaner:</a:t>
            </a:r>
            <a:r>
              <a:rPr sz="1450" b="0" i="0">
                <a:solidFill>
                  <a:srgbClr val="2B3440"/>
                </a:solidFill>
                <a:latin typeface="Calibri"/>
              </a:rPr>
              <a:t> unmerged odds 1.57 (OCP) and 2.43 (LSP) after size and agent.</a:t>
            </a:r>
          </a:p>
        </p:txBody>
      </p:sp>
      <p:sp>
        <p:nvSpPr>
          <p:cNvPr id="74" name="Rounded Rectangle 73"/>
          <p:cNvSpPr/>
          <p:nvPr/>
        </p:nvSpPr>
        <p:spPr>
          <a:xfrm>
            <a:off x="612648" y="4937760"/>
            <a:ext cx="10972800" cy="1097280"/>
          </a:xfrm>
          <a:prstGeom prst="roundRect">
            <a:avLst>
              <a:gd name="adj" fmla="val 8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Hexagon 74"/>
          <p:cNvSpPr/>
          <p:nvPr/>
        </p:nvSpPr>
        <p:spPr>
          <a:xfrm>
            <a:off x="813816" y="5349240"/>
            <a:ext cx="316840" cy="274320"/>
          </a:xfrm>
          <a:prstGeom prst="hexagon">
            <a:avLst/>
          </a:prstGeom>
          <a:solidFill>
            <a:srgbClr val="46CE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1252728" y="4937760"/>
            <a:ext cx="10149840" cy="1097280"/>
          </a:xfrm>
          <a:prstGeom prst="rect">
            <a:avLst/>
          </a:prstGeom>
          <a:noFill/>
        </p:spPr>
        <p:txBody>
          <a:bodyPr wrap="square" lIns="45720" rIns="45720" anchor="ctr">
            <a:spAutoFit/>
          </a:bodyPr>
          <a:lstStyle/>
          <a:p>
            <a:pPr algn="l">
              <a:spcAft>
                <a:spcPts val="0"/>
              </a:spcAft>
            </a:pPr>
            <a:r>
              <a:rPr sz="1400" b="0" i="0">
                <a:solidFill>
                  <a:srgbClr val="FFFFFF"/>
                </a:solidFill>
                <a:latin typeface="Calibri"/>
              </a:rPr>
              <a:t>Only 171 of 1,177 unmerged Java requests and 196 of 1,496 Python ones were ever reviewed, so </a:t>
            </a:r>
            <a:r>
              <a:rPr sz="1400" b="1" i="0">
                <a:solidFill>
                  <a:srgbClr val="FFFFFF"/>
                </a:solidFill>
                <a:latin typeface="Calibri"/>
              </a:rPr>
              <a:t>neither result shows what reviewers select on.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6</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Results</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Where the problems live</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45</a:t>
            </a:r>
          </a:p>
        </p:txBody>
      </p:sp>
      <p:sp>
        <p:nvSpPr>
          <p:cNvPr id="66" name="Rounded Rectangle 65"/>
          <p:cNvSpPr/>
          <p:nvPr/>
        </p:nvSpPr>
        <p:spPr>
          <a:xfrm>
            <a:off x="612648" y="1371600"/>
            <a:ext cx="10972800" cy="420624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7" name="Picture 66" descr="fig_intra_inter.png"/>
          <p:cNvPicPr>
            <a:picLocks noChangeAspect="1"/>
          </p:cNvPicPr>
          <p:nvPr/>
        </p:nvPicPr>
        <p:blipFill>
          <a:blip r:embed="rId2"/>
          <a:stretch>
            <a:fillRect/>
          </a:stretch>
        </p:blipFill>
        <p:spPr>
          <a:xfrm>
            <a:off x="749808" y="1736000"/>
            <a:ext cx="10698480" cy="347744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6</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Results</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Most violations were there before the change</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46</a:t>
            </a:r>
          </a:p>
        </p:txBody>
      </p:sp>
      <p:sp>
        <p:nvSpPr>
          <p:cNvPr id="66" name="Rounded Rectangle 65"/>
          <p:cNvSpPr/>
          <p:nvPr/>
        </p:nvSpPr>
        <p:spPr>
          <a:xfrm>
            <a:off x="612648" y="914400"/>
            <a:ext cx="7772400" cy="539496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7" name="Picture 66" descr="fig_present_introduced.png"/>
          <p:cNvPicPr>
            <a:picLocks noChangeAspect="1"/>
          </p:cNvPicPr>
          <p:nvPr/>
        </p:nvPicPr>
        <p:blipFill>
          <a:blip r:embed="rId2"/>
          <a:stretch>
            <a:fillRect/>
          </a:stretch>
        </p:blipFill>
        <p:spPr>
          <a:xfrm>
            <a:off x="722376" y="1345997"/>
            <a:ext cx="7552944" cy="4531766"/>
          </a:xfrm>
          <a:prstGeom prst="rect">
            <a:avLst/>
          </a:prstGeom>
        </p:spPr>
      </p:pic>
      <p:sp>
        <p:nvSpPr>
          <p:cNvPr id="68" name="Rounded Rectangle 67"/>
          <p:cNvSpPr/>
          <p:nvPr/>
        </p:nvSpPr>
        <p:spPr>
          <a:xfrm>
            <a:off x="8549640" y="914400"/>
            <a:ext cx="3035808" cy="1600200"/>
          </a:xfrm>
          <a:prstGeom prst="roundRect">
            <a:avLst>
              <a:gd name="adj" fmla="val 6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686800" y="1005840"/>
            <a:ext cx="2761488" cy="800100"/>
          </a:xfrm>
          <a:prstGeom prst="rect">
            <a:avLst/>
          </a:prstGeom>
          <a:noFill/>
        </p:spPr>
        <p:txBody>
          <a:bodyPr wrap="square" lIns="45720" tIns="27432" rIns="45720" bIns="27432" anchor="b">
            <a:spAutoFit/>
          </a:bodyPr>
          <a:lstStyle/>
          <a:p>
            <a:pPr algn="ctr">
              <a:spcAft>
                <a:spcPts val="0"/>
              </a:spcAft>
            </a:pPr>
            <a:r>
              <a:rPr sz="3200" b="1" i="0">
                <a:solidFill>
                  <a:srgbClr val="46CEAE"/>
                </a:solidFill>
                <a:latin typeface="Arial"/>
              </a:rPr>
              <a:t>183 vs 16</a:t>
            </a:r>
          </a:p>
        </p:txBody>
      </p:sp>
      <p:sp>
        <p:nvSpPr>
          <p:cNvPr id="70" name="TextBox 69"/>
          <p:cNvSpPr txBox="1"/>
          <p:nvPr/>
        </p:nvSpPr>
        <p:spPr>
          <a:xfrm>
            <a:off x="8732520" y="1794510"/>
            <a:ext cx="2670048" cy="672084"/>
          </a:xfrm>
          <a:prstGeom prst="rect">
            <a:avLst/>
          </a:prstGeom>
          <a:noFill/>
        </p:spPr>
        <p:txBody>
          <a:bodyPr wrap="square" lIns="45720" tIns="27432" rIns="45720" bIns="27432" anchor="t">
            <a:spAutoFit/>
          </a:bodyPr>
          <a:lstStyle/>
          <a:p>
            <a:pPr algn="ctr">
              <a:spcAft>
                <a:spcPts val="0"/>
              </a:spcAft>
            </a:pPr>
            <a:r>
              <a:rPr sz="1250" b="0" i="0">
                <a:solidFill>
                  <a:srgbClr val="D5DCE4"/>
                </a:solidFill>
                <a:latin typeface="Calibri"/>
              </a:rPr>
              <a:t>refused bequest present vs introducing pull requests, Java</a:t>
            </a:r>
          </a:p>
        </p:txBody>
      </p:sp>
      <p:sp>
        <p:nvSpPr>
          <p:cNvPr id="71" name="Rounded Rectangle 70"/>
          <p:cNvSpPr/>
          <p:nvPr/>
        </p:nvSpPr>
        <p:spPr>
          <a:xfrm>
            <a:off x="8549640" y="2651760"/>
            <a:ext cx="3035808" cy="1600200"/>
          </a:xfrm>
          <a:prstGeom prst="roundRect">
            <a:avLst>
              <a:gd name="adj" fmla="val 6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8686800" y="2743200"/>
            <a:ext cx="2761488" cy="800100"/>
          </a:xfrm>
          <a:prstGeom prst="rect">
            <a:avLst/>
          </a:prstGeom>
          <a:noFill/>
        </p:spPr>
        <p:txBody>
          <a:bodyPr wrap="square" lIns="45720" tIns="27432" rIns="45720" bIns="27432" anchor="b">
            <a:spAutoFit/>
          </a:bodyPr>
          <a:lstStyle/>
          <a:p>
            <a:pPr algn="ctr">
              <a:spcAft>
                <a:spcPts val="0"/>
              </a:spcAft>
            </a:pPr>
            <a:r>
              <a:rPr sz="3200" b="1" i="0">
                <a:solidFill>
                  <a:srgbClr val="46CEAE"/>
                </a:solidFill>
                <a:latin typeface="Arial"/>
              </a:rPr>
              <a:t>176 vs 5</a:t>
            </a:r>
          </a:p>
        </p:txBody>
      </p:sp>
      <p:sp>
        <p:nvSpPr>
          <p:cNvPr id="73" name="TextBox 72"/>
          <p:cNvSpPr txBox="1"/>
          <p:nvPr/>
        </p:nvSpPr>
        <p:spPr>
          <a:xfrm>
            <a:off x="8732520" y="3531870"/>
            <a:ext cx="2670048" cy="672084"/>
          </a:xfrm>
          <a:prstGeom prst="rect">
            <a:avLst/>
          </a:prstGeom>
          <a:noFill/>
        </p:spPr>
        <p:txBody>
          <a:bodyPr wrap="square" lIns="45720" tIns="27432" rIns="45720" bIns="27432" anchor="t">
            <a:spAutoFit/>
          </a:bodyPr>
          <a:lstStyle/>
          <a:p>
            <a:pPr algn="ctr">
              <a:spcAft>
                <a:spcPts val="0"/>
              </a:spcAft>
            </a:pPr>
            <a:r>
              <a:rPr sz="1250" b="0" i="0">
                <a:solidFill>
                  <a:srgbClr val="D5DCE4"/>
                </a:solidFill>
                <a:latin typeface="Calibri"/>
              </a:rPr>
              <a:t>refused bequest present vs introducing pull requests, Python</a:t>
            </a:r>
          </a:p>
        </p:txBody>
      </p:sp>
      <p:sp>
        <p:nvSpPr>
          <p:cNvPr id="74" name="Rounded Rectangle 73"/>
          <p:cNvSpPr/>
          <p:nvPr/>
        </p:nvSpPr>
        <p:spPr>
          <a:xfrm>
            <a:off x="8549640" y="4389120"/>
            <a:ext cx="3035808" cy="1920240"/>
          </a:xfrm>
          <a:prstGeom prst="roundRect">
            <a:avLst>
              <a:gd name="adj" fmla="val 6000"/>
            </a:avLst>
          </a:prstGeom>
          <a:solidFill>
            <a:srgbClr val="EC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8686800" y="4389120"/>
            <a:ext cx="2761488" cy="1920240"/>
          </a:xfrm>
          <a:prstGeom prst="rect">
            <a:avLst/>
          </a:prstGeom>
          <a:noFill/>
        </p:spPr>
        <p:txBody>
          <a:bodyPr wrap="square" lIns="45720" tIns="54864" rIns="45720" bIns="54864" anchor="ctr">
            <a:spAutoFit/>
          </a:bodyPr>
          <a:lstStyle/>
          <a:p>
            <a:pPr algn="l">
              <a:spcAft>
                <a:spcPts val="0"/>
              </a:spcAft>
            </a:pPr>
            <a:r>
              <a:rPr sz="1450" b="0" i="0">
                <a:solidFill>
                  <a:srgbClr val="2B3440"/>
                </a:solidFill>
                <a:latin typeface="Calibri"/>
              </a:rPr>
              <a:t>After correcting for precision, </a:t>
            </a:r>
            <a:r>
              <a:rPr sz="1450" b="1" i="0">
                <a:solidFill>
                  <a:srgbClr val="2B3440"/>
                </a:solidFill>
                <a:latin typeface="Calibri"/>
              </a:rPr>
              <a:t>0.4% to 4.1%</a:t>
            </a:r>
            <a:r>
              <a:rPr sz="1450" b="0" i="0">
                <a:solidFill>
                  <a:srgbClr val="2B3440"/>
                </a:solidFill>
                <a:latin typeface="Calibri"/>
              </a:rPr>
              <a:t> of Java requests introduce a violation.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6</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Results</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600" b="1" i="0">
                <a:solidFill>
                  <a:srgbClr val="202A36"/>
                </a:solidFill>
                <a:latin typeface="Arial"/>
              </a:rPr>
              <a:t>Agent-written classes are flagged less than the code they edit</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47</a:t>
            </a:r>
          </a:p>
        </p:txBody>
      </p:sp>
      <p:sp>
        <p:nvSpPr>
          <p:cNvPr id="66" name="Rounded Rectangle 65"/>
          <p:cNvSpPr/>
          <p:nvPr/>
        </p:nvSpPr>
        <p:spPr>
          <a:xfrm>
            <a:off x="612648" y="914400"/>
            <a:ext cx="10972800" cy="416052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7" name="Picture 66" descr="fig_srp_agents.png"/>
          <p:cNvPicPr>
            <a:picLocks noChangeAspect="1"/>
          </p:cNvPicPr>
          <p:nvPr/>
        </p:nvPicPr>
        <p:blipFill>
          <a:blip r:embed="rId2"/>
          <a:stretch>
            <a:fillRect/>
          </a:stretch>
        </p:blipFill>
        <p:spPr>
          <a:xfrm>
            <a:off x="722376" y="1037388"/>
            <a:ext cx="10753344" cy="3914543"/>
          </a:xfrm>
          <a:prstGeom prst="rect">
            <a:avLst/>
          </a:prstGeom>
        </p:spPr>
      </p:pic>
      <p:sp>
        <p:nvSpPr>
          <p:cNvPr id="68" name="Rounded Rectangle 67"/>
          <p:cNvSpPr/>
          <p:nvPr/>
        </p:nvSpPr>
        <p:spPr>
          <a:xfrm>
            <a:off x="612648" y="5303520"/>
            <a:ext cx="10972800" cy="960120"/>
          </a:xfrm>
          <a:prstGeom prst="roundRect">
            <a:avLst>
              <a:gd name="adj" fmla="val 8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Hexagon 68"/>
          <p:cNvSpPr/>
          <p:nvPr/>
        </p:nvSpPr>
        <p:spPr>
          <a:xfrm>
            <a:off x="813816" y="5646420"/>
            <a:ext cx="316840" cy="274320"/>
          </a:xfrm>
          <a:prstGeom prst="hexagon">
            <a:avLst/>
          </a:prstGeom>
          <a:solidFill>
            <a:srgbClr val="46CE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1252728" y="5303520"/>
            <a:ext cx="10149840" cy="960120"/>
          </a:xfrm>
          <a:prstGeom prst="rect">
            <a:avLst/>
          </a:prstGeom>
          <a:noFill/>
        </p:spPr>
        <p:txBody>
          <a:bodyPr wrap="square" lIns="45720" rIns="45720" anchor="ctr">
            <a:spAutoFit/>
          </a:bodyPr>
          <a:lstStyle/>
          <a:p>
            <a:pPr algn="l">
              <a:spcAft>
                <a:spcPts val="0"/>
              </a:spcAft>
            </a:pPr>
            <a:r>
              <a:rPr sz="1400" b="1" i="0">
                <a:solidFill>
                  <a:srgbClr val="FFFFFF"/>
                </a:solidFill>
                <a:latin typeface="Calibri"/>
              </a:rPr>
              <a:t>Pooled:</a:t>
            </a:r>
            <a:r>
              <a:rPr sz="1400" b="0" i="0">
                <a:solidFill>
                  <a:srgbClr val="FFFFFF"/>
                </a:solidFill>
                <a:latin typeface="Calibri"/>
              </a:rPr>
              <a:t> 7.7% against 13.5% in Java, 8.9% against 12.1% in Python. New classes are also smaller and younger, so this describes the corpus; it does not rank agents against people.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6</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Results</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Do agents repair design, or damage it?</a:t>
            </a:r>
          </a:p>
        </p:txBody>
      </p:sp>
      <p:sp>
        <p:nvSpPr>
          <p:cNvPr id="65" name="TextBox 64"/>
          <p:cNvSpPr txBox="1"/>
          <p:nvPr/>
        </p:nvSpPr>
        <p:spPr>
          <a:xfrm>
            <a:off x="612648" y="548640"/>
            <a:ext cx="10972800" cy="292608"/>
          </a:xfrm>
          <a:prstGeom prst="rect">
            <a:avLst/>
          </a:prstGeom>
          <a:noFill/>
        </p:spPr>
        <p:txBody>
          <a:bodyPr wrap="square" lIns="18288" tIns="0" rIns="18288" bIns="0" anchor="ctr">
            <a:spAutoFit/>
          </a:bodyPr>
          <a:lstStyle/>
          <a:p>
            <a:pPr algn="l">
              <a:spcAft>
                <a:spcPts val="0"/>
              </a:spcAft>
            </a:pPr>
            <a:r>
              <a:rPr sz="1250" b="0" i="1">
                <a:solidFill>
                  <a:srgbClr val="5C6773"/>
                </a:solidFill>
                <a:latin typeface="Calibri"/>
              </a:rPr>
              <a:t>cycles in the touched code, before against after</a:t>
            </a:r>
          </a:p>
        </p:txBody>
      </p:sp>
      <p:sp>
        <p:nvSpPr>
          <p:cNvPr id="66" name="TextBox 65"/>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48</a:t>
            </a:r>
          </a:p>
        </p:txBody>
      </p:sp>
      <p:graphicFrame>
        <p:nvGraphicFramePr>
          <p:cNvPr id="67" name="Table 66"/>
          <p:cNvGraphicFramePr>
            <a:graphicFrameLocks noGrp="1"/>
          </p:cNvGraphicFramePr>
          <p:nvPr/>
        </p:nvGraphicFramePr>
        <p:xfrm>
          <a:off x="612648" y="1005840"/>
          <a:ext cx="7863840" cy="2798064"/>
        </p:xfrm>
        <a:graphic>
          <a:graphicData uri="http://schemas.openxmlformats.org/drawingml/2006/table">
            <a:tbl>
              <a:tblPr>
                <a:tableStyleId>{2D5ABB26-0587-4C30-8999-92F81FD0307C}</a:tableStyleId>
              </a:tblPr>
              <a:tblGrid>
                <a:gridCol w="320040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tblGrid>
              <a:tr h="457200">
                <a:tc>
                  <a:txBody>
                    <a:bodyPr/>
                    <a:lstStyle/>
                    <a:p>
                      <a:pPr algn="l">
                        <a:spcAft>
                          <a:spcPts val="0"/>
                        </a:spcAft>
                      </a:pPr>
                      <a:endParaRP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500" b="1" i="0">
                          <a:solidFill>
                            <a:srgbClr val="FFFFFF"/>
                          </a:solidFill>
                          <a:latin typeface="Calibri"/>
                        </a:rPr>
                        <a:t>Java (4,245 PRs)</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500" b="1" i="0">
                          <a:solidFill>
                            <a:srgbClr val="FFFFFF"/>
                          </a:solidFill>
                          <a:latin typeface="Calibri"/>
                        </a:rPr>
                        <a:t>Python (4,946 PRs)</a:t>
                      </a:r>
                    </a:p>
                  </a:txBody>
                  <a:tcPr marL="73152" marR="73152" marT="27432" marB="27432" anchor="ctr">
                    <a:lnL w="0">
                      <a:noFill/>
                    </a:lnL>
                    <a:lnR w="0">
                      <a:noFill/>
                    </a:lnR>
                    <a:lnT w="0">
                      <a:noFill/>
                    </a:lnT>
                    <a:lnB w="6350">
                      <a:solidFill>
                        <a:srgbClr val="C9D0D8"/>
                      </a:solidFill>
                    </a:lnB>
                    <a:solidFill>
                      <a:srgbClr val="202A36"/>
                    </a:solidFill>
                  </a:tcPr>
                </a:tc>
                <a:extLst>
                  <a:ext uri="{0D108BD9-81ED-4DB2-BD59-A6C34878D82A}">
                    <a16:rowId xmlns:a16="http://schemas.microsoft.com/office/drawing/2014/main" val="10000"/>
                  </a:ext>
                </a:extLst>
              </a:tr>
              <a:tr h="585216">
                <a:tc>
                  <a:txBody>
                    <a:bodyPr/>
                    <a:lstStyle/>
                    <a:p>
                      <a:pPr algn="l">
                        <a:spcAft>
                          <a:spcPts val="0"/>
                        </a:spcAft>
                      </a:pPr>
                      <a:r>
                        <a:rPr sz="1500" b="1" i="0">
                          <a:solidFill>
                            <a:srgbClr val="202A36"/>
                          </a:solidFill>
                          <a:latin typeface="Calibri"/>
                        </a:rPr>
                        <a:t>more cycles after</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500" b="0" i="0">
                          <a:solidFill>
                            <a:srgbClr val="2B3440"/>
                          </a:solidFill>
                          <a:latin typeface="Calibri"/>
                        </a:rPr>
                        <a:t>188 (4.4%)</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500" b="0" i="0">
                          <a:solidFill>
                            <a:srgbClr val="2B3440"/>
                          </a:solidFill>
                          <a:latin typeface="Calibri"/>
                        </a:rPr>
                        <a:t>58 (1.2%)</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1"/>
                  </a:ext>
                </a:extLst>
              </a:tr>
              <a:tr h="585216">
                <a:tc>
                  <a:txBody>
                    <a:bodyPr/>
                    <a:lstStyle/>
                    <a:p>
                      <a:pPr algn="l">
                        <a:spcAft>
                          <a:spcPts val="0"/>
                        </a:spcAft>
                      </a:pPr>
                      <a:r>
                        <a:rPr sz="1500" b="1" i="0">
                          <a:solidFill>
                            <a:srgbClr val="202A36"/>
                          </a:solidFill>
                          <a:latin typeface="Calibri"/>
                        </a:rPr>
                        <a:t>fewer cycles after</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500" b="0" i="0">
                          <a:solidFill>
                            <a:srgbClr val="2B3440"/>
                          </a:solidFill>
                          <a:latin typeface="Calibri"/>
                        </a:rPr>
                        <a:t>20 (0.5%)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500" b="0" i="0">
                          <a:solidFill>
                            <a:srgbClr val="2B3440"/>
                          </a:solidFill>
                          <a:latin typeface="Calibri"/>
                        </a:rPr>
                        <a:t>32 (0.6%)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2"/>
                  </a:ext>
                </a:extLst>
              </a:tr>
              <a:tr h="585216">
                <a:tc>
                  <a:txBody>
                    <a:bodyPr/>
                    <a:lstStyle/>
                    <a:p>
                      <a:pPr algn="l">
                        <a:spcAft>
                          <a:spcPts val="0"/>
                        </a:spcAft>
                      </a:pPr>
                      <a:r>
                        <a:rPr sz="1500" b="1" i="0">
                          <a:solidFill>
                            <a:srgbClr val="202A36"/>
                          </a:solidFill>
                          <a:latin typeface="Calibri"/>
                        </a:rPr>
                        <a:t>unchanged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500" b="0" i="0">
                          <a:solidFill>
                            <a:srgbClr val="2B3440"/>
                          </a:solidFill>
                          <a:latin typeface="Calibri"/>
                        </a:rPr>
                        <a:t>4,037 (95.1%)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500" b="0" i="0">
                          <a:solidFill>
                            <a:srgbClr val="2B3440"/>
                          </a:solidFill>
                          <a:latin typeface="Calibri"/>
                        </a:rPr>
                        <a:t>4,856 (98.2%)</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3"/>
                  </a:ext>
                </a:extLst>
              </a:tr>
              <a:tr h="585216">
                <a:tc>
                  <a:txBody>
                    <a:bodyPr/>
                    <a:lstStyle/>
                    <a:p>
                      <a:pPr algn="l">
                        <a:spcAft>
                          <a:spcPts val="0"/>
                        </a:spcAft>
                      </a:pPr>
                      <a:r>
                        <a:rPr sz="1500" b="1" i="0">
                          <a:solidFill>
                            <a:srgbClr val="202A36"/>
                          </a:solidFill>
                          <a:latin typeface="Calibri"/>
                        </a:rPr>
                        <a:t>total cycles, before → after</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500" b="0" i="0">
                          <a:solidFill>
                            <a:srgbClr val="2B3440"/>
                          </a:solidFill>
                          <a:latin typeface="Calibri"/>
                        </a:rPr>
                        <a:t>8,028 → 8,398</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500" b="0" i="0">
                          <a:solidFill>
                            <a:srgbClr val="2B3440"/>
                          </a:solidFill>
                          <a:latin typeface="Calibri"/>
                        </a:rPr>
                        <a:t>1,485 → 1,516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4"/>
                  </a:ext>
                </a:extLst>
              </a:tr>
            </a:tbl>
          </a:graphicData>
        </a:graphic>
      </p:graphicFrame>
      <p:sp>
        <p:nvSpPr>
          <p:cNvPr id="68" name="Rounded Rectangle 67"/>
          <p:cNvSpPr/>
          <p:nvPr/>
        </p:nvSpPr>
        <p:spPr>
          <a:xfrm>
            <a:off x="8686800" y="1005840"/>
            <a:ext cx="2898648" cy="2798064"/>
          </a:xfrm>
          <a:prstGeom prst="roundRect">
            <a:avLst>
              <a:gd name="adj" fmla="val 6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823960" y="1097280"/>
            <a:ext cx="2624328" cy="1399032"/>
          </a:xfrm>
          <a:prstGeom prst="rect">
            <a:avLst/>
          </a:prstGeom>
          <a:noFill/>
        </p:spPr>
        <p:txBody>
          <a:bodyPr wrap="square" lIns="45720" tIns="27432" rIns="45720" bIns="27432" anchor="b">
            <a:spAutoFit/>
          </a:bodyPr>
          <a:lstStyle/>
          <a:p>
            <a:pPr algn="ctr">
              <a:spcAft>
                <a:spcPts val="0"/>
              </a:spcAft>
            </a:pPr>
            <a:r>
              <a:rPr sz="3400" b="1" i="0">
                <a:solidFill>
                  <a:srgbClr val="46CEAE"/>
                </a:solidFill>
                <a:latin typeface="Arial"/>
              </a:rPr>
              <a:t>≈ 9 : 1</a:t>
            </a:r>
          </a:p>
        </p:txBody>
      </p:sp>
      <p:sp>
        <p:nvSpPr>
          <p:cNvPr id="70" name="TextBox 69"/>
          <p:cNvSpPr txBox="1"/>
          <p:nvPr/>
        </p:nvSpPr>
        <p:spPr>
          <a:xfrm>
            <a:off x="8869680" y="2544775"/>
            <a:ext cx="2532888" cy="1175187"/>
          </a:xfrm>
          <a:prstGeom prst="rect">
            <a:avLst/>
          </a:prstGeom>
          <a:noFill/>
        </p:spPr>
        <p:txBody>
          <a:bodyPr wrap="square" lIns="45720" tIns="27432" rIns="45720" bIns="27432" anchor="t">
            <a:spAutoFit/>
          </a:bodyPr>
          <a:lstStyle/>
          <a:p>
            <a:pPr algn="ctr">
              <a:spcAft>
                <a:spcPts val="0"/>
              </a:spcAft>
            </a:pPr>
            <a:r>
              <a:rPr sz="1300" b="0" i="0">
                <a:solidFill>
                  <a:srgbClr val="D5DCE4"/>
                </a:solidFill>
                <a:latin typeface="Calibri"/>
              </a:rPr>
              <a:t>more cycles added than removed in Java (188 against 20)</a:t>
            </a:r>
          </a:p>
        </p:txBody>
      </p:sp>
      <p:sp>
        <p:nvSpPr>
          <p:cNvPr id="71" name="Rounded Rectangle 70"/>
          <p:cNvSpPr/>
          <p:nvPr/>
        </p:nvSpPr>
        <p:spPr>
          <a:xfrm>
            <a:off x="612648" y="4123944"/>
            <a:ext cx="10972800" cy="1417320"/>
          </a:xfrm>
          <a:prstGeom prst="roundRect">
            <a:avLst>
              <a:gd name="adj" fmla="val 8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Hexagon 71"/>
          <p:cNvSpPr/>
          <p:nvPr/>
        </p:nvSpPr>
        <p:spPr>
          <a:xfrm>
            <a:off x="813816" y="4695444"/>
            <a:ext cx="316840" cy="274320"/>
          </a:xfrm>
          <a:prstGeom prst="hexagon">
            <a:avLst/>
          </a:prstGeom>
          <a:solidFill>
            <a:srgbClr val="46CE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1252728" y="4123944"/>
            <a:ext cx="10149840" cy="1417320"/>
          </a:xfrm>
          <a:prstGeom prst="rect">
            <a:avLst/>
          </a:prstGeom>
          <a:noFill/>
        </p:spPr>
        <p:txBody>
          <a:bodyPr wrap="square" lIns="45720" rIns="45720" anchor="ctr">
            <a:spAutoFit/>
          </a:bodyPr>
          <a:lstStyle/>
          <a:p>
            <a:pPr algn="l">
              <a:spcAft>
                <a:spcPts val="0"/>
              </a:spcAft>
            </a:pPr>
            <a:r>
              <a:rPr sz="1400" b="0" i="0">
                <a:solidFill>
                  <a:srgbClr val="FFFFFF"/>
                </a:solidFill>
                <a:latin typeface="Calibri"/>
              </a:rPr>
              <a:t>Agents add cycles more often than they remove them, by about nine to one in Java. The amounts are small next to the 8,028 already present, and this is the only principle where a repair can be counted, because only Dependency Inversion stores a before count.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组合 58"/>
          <p:cNvGrpSpPr/>
          <p:nvPr/>
        </p:nvGrpSpPr>
        <p:grpSpPr>
          <a:xfrm>
            <a:off x="2052459" y="1413384"/>
            <a:ext cx="2036802" cy="2036802"/>
            <a:chOff x="8125599" y="1434035"/>
            <a:chExt cx="2036802" cy="2036802"/>
          </a:xfrm>
        </p:grpSpPr>
        <p:sp>
          <p:nvSpPr>
            <p:cNvPr id="60" name="椭圆 59"/>
            <p:cNvSpPr/>
            <p:nvPr/>
          </p:nvSpPr>
          <p:spPr>
            <a:xfrm>
              <a:off x="8125599" y="1434035"/>
              <a:ext cx="2036802" cy="2036802"/>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Freeform 9"/>
            <p:cNvSpPr>
              <a:spLocks noEditPoints="1"/>
            </p:cNvSpPr>
            <p:nvPr/>
          </p:nvSpPr>
          <p:spPr bwMode="auto">
            <a:xfrm rot="19469485">
              <a:off x="8577909" y="1818269"/>
              <a:ext cx="1162163" cy="1238355"/>
            </a:xfrm>
            <a:custGeom>
              <a:avLst/>
              <a:gdLst>
                <a:gd name="T0" fmla="*/ 147 w 243"/>
                <a:gd name="T1" fmla="*/ 240 h 269"/>
                <a:gd name="T2" fmla="*/ 90 w 243"/>
                <a:gd name="T3" fmla="*/ 234 h 269"/>
                <a:gd name="T4" fmla="*/ 147 w 243"/>
                <a:gd name="T5" fmla="*/ 227 h 269"/>
                <a:gd name="T6" fmla="*/ 147 w 243"/>
                <a:gd name="T7" fmla="*/ 243 h 269"/>
                <a:gd name="T8" fmla="*/ 90 w 243"/>
                <a:gd name="T9" fmla="*/ 252 h 269"/>
                <a:gd name="T10" fmla="*/ 96 w 243"/>
                <a:gd name="T11" fmla="*/ 256 h 269"/>
                <a:gd name="T12" fmla="*/ 105 w 243"/>
                <a:gd name="T13" fmla="*/ 262 h 269"/>
                <a:gd name="T14" fmla="*/ 126 w 243"/>
                <a:gd name="T15" fmla="*/ 269 h 269"/>
                <a:gd name="T16" fmla="*/ 138 w 243"/>
                <a:gd name="T17" fmla="*/ 261 h 269"/>
                <a:gd name="T18" fmla="*/ 147 w 243"/>
                <a:gd name="T19" fmla="*/ 256 h 269"/>
                <a:gd name="T20" fmla="*/ 147 w 243"/>
                <a:gd name="T21" fmla="*/ 243 h 269"/>
                <a:gd name="T22" fmla="*/ 128 w 243"/>
                <a:gd name="T23" fmla="*/ 32 h 269"/>
                <a:gd name="T24" fmla="*/ 122 w 243"/>
                <a:gd name="T25" fmla="*/ 0 h 269"/>
                <a:gd name="T26" fmla="*/ 115 w 243"/>
                <a:gd name="T27" fmla="*/ 32 h 269"/>
                <a:gd name="T28" fmla="*/ 54 w 243"/>
                <a:gd name="T29" fmla="*/ 63 h 269"/>
                <a:gd name="T30" fmla="*/ 63 w 243"/>
                <a:gd name="T31" fmla="*/ 63 h 269"/>
                <a:gd name="T32" fmla="*/ 45 w 243"/>
                <a:gd name="T33" fmla="*/ 36 h 269"/>
                <a:gd name="T34" fmla="*/ 36 w 243"/>
                <a:gd name="T35" fmla="*/ 45 h 269"/>
                <a:gd name="T36" fmla="*/ 38 w 243"/>
                <a:gd name="T37" fmla="*/ 122 h 269"/>
                <a:gd name="T38" fmla="*/ 6 w 243"/>
                <a:gd name="T39" fmla="*/ 115 h 269"/>
                <a:gd name="T40" fmla="*/ 6 w 243"/>
                <a:gd name="T41" fmla="*/ 128 h 269"/>
                <a:gd name="T42" fmla="*/ 38 w 243"/>
                <a:gd name="T43" fmla="*/ 122 h 269"/>
                <a:gd name="T44" fmla="*/ 36 w 243"/>
                <a:gd name="T45" fmla="*/ 199 h 269"/>
                <a:gd name="T46" fmla="*/ 40 w 243"/>
                <a:gd name="T47" fmla="*/ 209 h 269"/>
                <a:gd name="T48" fmla="*/ 63 w 243"/>
                <a:gd name="T49" fmla="*/ 189 h 269"/>
                <a:gd name="T50" fmla="*/ 54 w 243"/>
                <a:gd name="T51" fmla="*/ 180 h 269"/>
                <a:gd name="T52" fmla="*/ 180 w 243"/>
                <a:gd name="T53" fmla="*/ 180 h 269"/>
                <a:gd name="T54" fmla="*/ 199 w 243"/>
                <a:gd name="T55" fmla="*/ 208 h 269"/>
                <a:gd name="T56" fmla="*/ 208 w 243"/>
                <a:gd name="T57" fmla="*/ 208 h 269"/>
                <a:gd name="T58" fmla="*/ 189 w 243"/>
                <a:gd name="T59" fmla="*/ 180 h 269"/>
                <a:gd name="T60" fmla="*/ 211 w 243"/>
                <a:gd name="T61" fmla="*/ 115 h 269"/>
                <a:gd name="T62" fmla="*/ 211 w 243"/>
                <a:gd name="T63" fmla="*/ 128 h 269"/>
                <a:gd name="T64" fmla="*/ 243 w 243"/>
                <a:gd name="T65" fmla="*/ 122 h 269"/>
                <a:gd name="T66" fmla="*/ 185 w 243"/>
                <a:gd name="T67" fmla="*/ 65 h 269"/>
                <a:gd name="T68" fmla="*/ 208 w 243"/>
                <a:gd name="T69" fmla="*/ 45 h 269"/>
                <a:gd name="T70" fmla="*/ 199 w 243"/>
                <a:gd name="T71" fmla="*/ 36 h 269"/>
                <a:gd name="T72" fmla="*/ 180 w 243"/>
                <a:gd name="T73" fmla="*/ 63 h 269"/>
                <a:gd name="T74" fmla="*/ 154 w 243"/>
                <a:gd name="T75" fmla="*/ 218 h 269"/>
                <a:gd name="T76" fmla="*/ 96 w 243"/>
                <a:gd name="T77" fmla="*/ 224 h 269"/>
                <a:gd name="T78" fmla="*/ 96 w 243"/>
                <a:gd name="T79" fmla="*/ 211 h 269"/>
                <a:gd name="T80" fmla="*/ 122 w 243"/>
                <a:gd name="T81" fmla="*/ 58 h 269"/>
                <a:gd name="T82" fmla="*/ 148 w 243"/>
                <a:gd name="T83" fmla="*/ 211 h 269"/>
                <a:gd name="T84" fmla="*/ 107 w 243"/>
                <a:gd name="T85" fmla="*/ 76 h 269"/>
                <a:gd name="T86" fmla="*/ 67 w 243"/>
                <a:gd name="T87" fmla="*/ 111 h 269"/>
                <a:gd name="T88" fmla="*/ 72 w 243"/>
                <a:gd name="T89" fmla="*/ 117 h 269"/>
                <a:gd name="T90" fmla="*/ 104 w 243"/>
                <a:gd name="T91" fmla="*/ 82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3" h="269">
                  <a:moveTo>
                    <a:pt x="154" y="234"/>
                  </a:moveTo>
                  <a:cubicBezTo>
                    <a:pt x="154" y="237"/>
                    <a:pt x="151" y="240"/>
                    <a:pt x="147" y="240"/>
                  </a:cubicBezTo>
                  <a:cubicBezTo>
                    <a:pt x="96" y="240"/>
                    <a:pt x="96" y="240"/>
                    <a:pt x="96" y="240"/>
                  </a:cubicBezTo>
                  <a:cubicBezTo>
                    <a:pt x="92" y="240"/>
                    <a:pt x="90" y="237"/>
                    <a:pt x="90" y="234"/>
                  </a:cubicBezTo>
                  <a:cubicBezTo>
                    <a:pt x="90" y="230"/>
                    <a:pt x="92" y="227"/>
                    <a:pt x="96" y="227"/>
                  </a:cubicBezTo>
                  <a:cubicBezTo>
                    <a:pt x="147" y="227"/>
                    <a:pt x="147" y="227"/>
                    <a:pt x="147" y="227"/>
                  </a:cubicBezTo>
                  <a:cubicBezTo>
                    <a:pt x="151" y="227"/>
                    <a:pt x="154" y="230"/>
                    <a:pt x="154" y="234"/>
                  </a:cubicBezTo>
                  <a:close/>
                  <a:moveTo>
                    <a:pt x="147" y="243"/>
                  </a:moveTo>
                  <a:cubicBezTo>
                    <a:pt x="96" y="243"/>
                    <a:pt x="96" y="243"/>
                    <a:pt x="96" y="243"/>
                  </a:cubicBezTo>
                  <a:cubicBezTo>
                    <a:pt x="92" y="243"/>
                    <a:pt x="89" y="247"/>
                    <a:pt x="90" y="252"/>
                  </a:cubicBezTo>
                  <a:cubicBezTo>
                    <a:pt x="91" y="254"/>
                    <a:pt x="93" y="256"/>
                    <a:pt x="96" y="256"/>
                  </a:cubicBezTo>
                  <a:cubicBezTo>
                    <a:pt x="96" y="256"/>
                    <a:pt x="96" y="256"/>
                    <a:pt x="96" y="256"/>
                  </a:cubicBezTo>
                  <a:cubicBezTo>
                    <a:pt x="100" y="256"/>
                    <a:pt x="103" y="258"/>
                    <a:pt x="105" y="261"/>
                  </a:cubicBezTo>
                  <a:cubicBezTo>
                    <a:pt x="105" y="262"/>
                    <a:pt x="105" y="262"/>
                    <a:pt x="105" y="262"/>
                  </a:cubicBezTo>
                  <a:cubicBezTo>
                    <a:pt x="107" y="266"/>
                    <a:pt x="112" y="269"/>
                    <a:pt x="117" y="269"/>
                  </a:cubicBezTo>
                  <a:cubicBezTo>
                    <a:pt x="126" y="269"/>
                    <a:pt x="126" y="269"/>
                    <a:pt x="126" y="269"/>
                  </a:cubicBezTo>
                  <a:cubicBezTo>
                    <a:pt x="131" y="269"/>
                    <a:pt x="136" y="266"/>
                    <a:pt x="138" y="262"/>
                  </a:cubicBezTo>
                  <a:cubicBezTo>
                    <a:pt x="138" y="261"/>
                    <a:pt x="138" y="261"/>
                    <a:pt x="138" y="261"/>
                  </a:cubicBezTo>
                  <a:cubicBezTo>
                    <a:pt x="140" y="258"/>
                    <a:pt x="143" y="256"/>
                    <a:pt x="147" y="256"/>
                  </a:cubicBezTo>
                  <a:cubicBezTo>
                    <a:pt x="147" y="256"/>
                    <a:pt x="147" y="256"/>
                    <a:pt x="147" y="256"/>
                  </a:cubicBezTo>
                  <a:cubicBezTo>
                    <a:pt x="150" y="256"/>
                    <a:pt x="152" y="254"/>
                    <a:pt x="153" y="252"/>
                  </a:cubicBezTo>
                  <a:cubicBezTo>
                    <a:pt x="155" y="247"/>
                    <a:pt x="151" y="243"/>
                    <a:pt x="147" y="243"/>
                  </a:cubicBezTo>
                  <a:close/>
                  <a:moveTo>
                    <a:pt x="122" y="38"/>
                  </a:moveTo>
                  <a:cubicBezTo>
                    <a:pt x="125" y="38"/>
                    <a:pt x="128" y="36"/>
                    <a:pt x="128" y="32"/>
                  </a:cubicBezTo>
                  <a:cubicBezTo>
                    <a:pt x="128" y="6"/>
                    <a:pt x="128" y="6"/>
                    <a:pt x="128" y="6"/>
                  </a:cubicBezTo>
                  <a:cubicBezTo>
                    <a:pt x="128" y="3"/>
                    <a:pt x="125" y="0"/>
                    <a:pt x="122" y="0"/>
                  </a:cubicBezTo>
                  <a:cubicBezTo>
                    <a:pt x="118" y="0"/>
                    <a:pt x="115" y="3"/>
                    <a:pt x="115" y="6"/>
                  </a:cubicBezTo>
                  <a:cubicBezTo>
                    <a:pt x="115" y="32"/>
                    <a:pt x="115" y="32"/>
                    <a:pt x="115" y="32"/>
                  </a:cubicBezTo>
                  <a:cubicBezTo>
                    <a:pt x="115" y="36"/>
                    <a:pt x="118" y="38"/>
                    <a:pt x="122" y="38"/>
                  </a:cubicBezTo>
                  <a:close/>
                  <a:moveTo>
                    <a:pt x="54" y="63"/>
                  </a:moveTo>
                  <a:cubicBezTo>
                    <a:pt x="55" y="64"/>
                    <a:pt x="57" y="65"/>
                    <a:pt x="58" y="65"/>
                  </a:cubicBezTo>
                  <a:cubicBezTo>
                    <a:pt x="60" y="65"/>
                    <a:pt x="62" y="64"/>
                    <a:pt x="63" y="63"/>
                  </a:cubicBezTo>
                  <a:cubicBezTo>
                    <a:pt x="65" y="60"/>
                    <a:pt x="65" y="56"/>
                    <a:pt x="63" y="54"/>
                  </a:cubicBezTo>
                  <a:cubicBezTo>
                    <a:pt x="45" y="36"/>
                    <a:pt x="45" y="36"/>
                    <a:pt x="45" y="36"/>
                  </a:cubicBezTo>
                  <a:cubicBezTo>
                    <a:pt x="42" y="33"/>
                    <a:pt x="38" y="33"/>
                    <a:pt x="36" y="36"/>
                  </a:cubicBezTo>
                  <a:cubicBezTo>
                    <a:pt x="33" y="38"/>
                    <a:pt x="33" y="42"/>
                    <a:pt x="36" y="45"/>
                  </a:cubicBezTo>
                  <a:lnTo>
                    <a:pt x="54" y="63"/>
                  </a:lnTo>
                  <a:close/>
                  <a:moveTo>
                    <a:pt x="38" y="122"/>
                  </a:moveTo>
                  <a:cubicBezTo>
                    <a:pt x="38" y="118"/>
                    <a:pt x="36" y="115"/>
                    <a:pt x="32" y="115"/>
                  </a:cubicBezTo>
                  <a:cubicBezTo>
                    <a:pt x="6" y="115"/>
                    <a:pt x="6" y="115"/>
                    <a:pt x="6" y="115"/>
                  </a:cubicBezTo>
                  <a:cubicBezTo>
                    <a:pt x="3" y="115"/>
                    <a:pt x="0" y="118"/>
                    <a:pt x="0" y="122"/>
                  </a:cubicBezTo>
                  <a:cubicBezTo>
                    <a:pt x="0" y="125"/>
                    <a:pt x="3" y="128"/>
                    <a:pt x="6" y="128"/>
                  </a:cubicBezTo>
                  <a:cubicBezTo>
                    <a:pt x="32" y="128"/>
                    <a:pt x="32" y="128"/>
                    <a:pt x="32" y="128"/>
                  </a:cubicBezTo>
                  <a:cubicBezTo>
                    <a:pt x="36" y="128"/>
                    <a:pt x="38" y="125"/>
                    <a:pt x="38" y="122"/>
                  </a:cubicBezTo>
                  <a:close/>
                  <a:moveTo>
                    <a:pt x="54" y="180"/>
                  </a:moveTo>
                  <a:cubicBezTo>
                    <a:pt x="36" y="199"/>
                    <a:pt x="36" y="199"/>
                    <a:pt x="36" y="199"/>
                  </a:cubicBezTo>
                  <a:cubicBezTo>
                    <a:pt x="33" y="201"/>
                    <a:pt x="33" y="205"/>
                    <a:pt x="36" y="208"/>
                  </a:cubicBezTo>
                  <a:cubicBezTo>
                    <a:pt x="37" y="209"/>
                    <a:pt x="39" y="209"/>
                    <a:pt x="40" y="209"/>
                  </a:cubicBezTo>
                  <a:cubicBezTo>
                    <a:pt x="42" y="209"/>
                    <a:pt x="43" y="209"/>
                    <a:pt x="45" y="208"/>
                  </a:cubicBezTo>
                  <a:cubicBezTo>
                    <a:pt x="63" y="189"/>
                    <a:pt x="63" y="189"/>
                    <a:pt x="63" y="189"/>
                  </a:cubicBezTo>
                  <a:cubicBezTo>
                    <a:pt x="65" y="187"/>
                    <a:pt x="65" y="183"/>
                    <a:pt x="63" y="180"/>
                  </a:cubicBezTo>
                  <a:cubicBezTo>
                    <a:pt x="60" y="178"/>
                    <a:pt x="56" y="178"/>
                    <a:pt x="54" y="180"/>
                  </a:cubicBezTo>
                  <a:close/>
                  <a:moveTo>
                    <a:pt x="189" y="180"/>
                  </a:moveTo>
                  <a:cubicBezTo>
                    <a:pt x="187" y="178"/>
                    <a:pt x="183" y="178"/>
                    <a:pt x="180" y="180"/>
                  </a:cubicBezTo>
                  <a:cubicBezTo>
                    <a:pt x="178" y="183"/>
                    <a:pt x="178" y="187"/>
                    <a:pt x="180" y="189"/>
                  </a:cubicBezTo>
                  <a:cubicBezTo>
                    <a:pt x="199" y="208"/>
                    <a:pt x="199" y="208"/>
                    <a:pt x="199" y="208"/>
                  </a:cubicBezTo>
                  <a:cubicBezTo>
                    <a:pt x="200" y="209"/>
                    <a:pt x="201" y="209"/>
                    <a:pt x="203" y="209"/>
                  </a:cubicBezTo>
                  <a:cubicBezTo>
                    <a:pt x="205" y="209"/>
                    <a:pt x="206" y="209"/>
                    <a:pt x="208" y="208"/>
                  </a:cubicBezTo>
                  <a:cubicBezTo>
                    <a:pt x="210" y="205"/>
                    <a:pt x="210" y="201"/>
                    <a:pt x="208" y="199"/>
                  </a:cubicBezTo>
                  <a:lnTo>
                    <a:pt x="189" y="180"/>
                  </a:lnTo>
                  <a:close/>
                  <a:moveTo>
                    <a:pt x="237" y="115"/>
                  </a:moveTo>
                  <a:cubicBezTo>
                    <a:pt x="211" y="115"/>
                    <a:pt x="211" y="115"/>
                    <a:pt x="211" y="115"/>
                  </a:cubicBezTo>
                  <a:cubicBezTo>
                    <a:pt x="208" y="115"/>
                    <a:pt x="205" y="118"/>
                    <a:pt x="205" y="122"/>
                  </a:cubicBezTo>
                  <a:cubicBezTo>
                    <a:pt x="205" y="125"/>
                    <a:pt x="208" y="128"/>
                    <a:pt x="211" y="128"/>
                  </a:cubicBezTo>
                  <a:cubicBezTo>
                    <a:pt x="237" y="128"/>
                    <a:pt x="237" y="128"/>
                    <a:pt x="237" y="128"/>
                  </a:cubicBezTo>
                  <a:cubicBezTo>
                    <a:pt x="240" y="128"/>
                    <a:pt x="243" y="125"/>
                    <a:pt x="243" y="122"/>
                  </a:cubicBezTo>
                  <a:cubicBezTo>
                    <a:pt x="243" y="118"/>
                    <a:pt x="240" y="115"/>
                    <a:pt x="237" y="115"/>
                  </a:cubicBezTo>
                  <a:close/>
                  <a:moveTo>
                    <a:pt x="185" y="65"/>
                  </a:moveTo>
                  <a:cubicBezTo>
                    <a:pt x="187" y="65"/>
                    <a:pt x="188" y="64"/>
                    <a:pt x="189" y="63"/>
                  </a:cubicBezTo>
                  <a:cubicBezTo>
                    <a:pt x="208" y="45"/>
                    <a:pt x="208" y="45"/>
                    <a:pt x="208" y="45"/>
                  </a:cubicBezTo>
                  <a:cubicBezTo>
                    <a:pt x="210" y="42"/>
                    <a:pt x="210" y="38"/>
                    <a:pt x="208" y="36"/>
                  </a:cubicBezTo>
                  <a:cubicBezTo>
                    <a:pt x="205" y="33"/>
                    <a:pt x="201" y="33"/>
                    <a:pt x="199" y="36"/>
                  </a:cubicBezTo>
                  <a:cubicBezTo>
                    <a:pt x="180" y="54"/>
                    <a:pt x="180" y="54"/>
                    <a:pt x="180" y="54"/>
                  </a:cubicBezTo>
                  <a:cubicBezTo>
                    <a:pt x="178" y="56"/>
                    <a:pt x="178" y="60"/>
                    <a:pt x="180" y="63"/>
                  </a:cubicBezTo>
                  <a:cubicBezTo>
                    <a:pt x="182" y="64"/>
                    <a:pt x="183" y="65"/>
                    <a:pt x="185" y="65"/>
                  </a:cubicBezTo>
                  <a:close/>
                  <a:moveTo>
                    <a:pt x="154" y="218"/>
                  </a:moveTo>
                  <a:cubicBezTo>
                    <a:pt x="154" y="221"/>
                    <a:pt x="151" y="224"/>
                    <a:pt x="147" y="224"/>
                  </a:cubicBezTo>
                  <a:cubicBezTo>
                    <a:pt x="96" y="224"/>
                    <a:pt x="96" y="224"/>
                    <a:pt x="96" y="224"/>
                  </a:cubicBezTo>
                  <a:cubicBezTo>
                    <a:pt x="92" y="224"/>
                    <a:pt x="90" y="221"/>
                    <a:pt x="90" y="218"/>
                  </a:cubicBezTo>
                  <a:cubicBezTo>
                    <a:pt x="90" y="214"/>
                    <a:pt x="92" y="211"/>
                    <a:pt x="96" y="211"/>
                  </a:cubicBezTo>
                  <a:cubicBezTo>
                    <a:pt x="92" y="175"/>
                    <a:pt x="54" y="167"/>
                    <a:pt x="54" y="125"/>
                  </a:cubicBezTo>
                  <a:cubicBezTo>
                    <a:pt x="54" y="88"/>
                    <a:pt x="84" y="58"/>
                    <a:pt x="122" y="58"/>
                  </a:cubicBezTo>
                  <a:cubicBezTo>
                    <a:pt x="159" y="58"/>
                    <a:pt x="189" y="88"/>
                    <a:pt x="189" y="125"/>
                  </a:cubicBezTo>
                  <a:cubicBezTo>
                    <a:pt x="189" y="167"/>
                    <a:pt x="152" y="175"/>
                    <a:pt x="148" y="211"/>
                  </a:cubicBezTo>
                  <a:cubicBezTo>
                    <a:pt x="151" y="211"/>
                    <a:pt x="154" y="214"/>
                    <a:pt x="154" y="218"/>
                  </a:cubicBezTo>
                  <a:close/>
                  <a:moveTo>
                    <a:pt x="107" y="76"/>
                  </a:moveTo>
                  <a:cubicBezTo>
                    <a:pt x="106" y="73"/>
                    <a:pt x="103" y="72"/>
                    <a:pt x="101" y="73"/>
                  </a:cubicBezTo>
                  <a:cubicBezTo>
                    <a:pt x="84" y="80"/>
                    <a:pt x="72" y="94"/>
                    <a:pt x="67" y="111"/>
                  </a:cubicBezTo>
                  <a:cubicBezTo>
                    <a:pt x="67" y="113"/>
                    <a:pt x="68" y="116"/>
                    <a:pt x="71" y="117"/>
                  </a:cubicBezTo>
                  <a:cubicBezTo>
                    <a:pt x="71" y="117"/>
                    <a:pt x="72" y="117"/>
                    <a:pt x="72" y="117"/>
                  </a:cubicBezTo>
                  <a:cubicBezTo>
                    <a:pt x="74" y="117"/>
                    <a:pt x="76" y="115"/>
                    <a:pt x="77" y="113"/>
                  </a:cubicBezTo>
                  <a:cubicBezTo>
                    <a:pt x="80" y="99"/>
                    <a:pt x="91" y="87"/>
                    <a:pt x="104" y="82"/>
                  </a:cubicBezTo>
                  <a:cubicBezTo>
                    <a:pt x="107" y="81"/>
                    <a:pt x="108" y="78"/>
                    <a:pt x="107" y="76"/>
                  </a:cubicBezTo>
                  <a:close/>
                </a:path>
              </a:pathLst>
            </a:custGeom>
            <a:solidFill>
              <a:schemeClr val="bg1">
                <a:lumMod val="95000"/>
              </a:schemeClr>
            </a:solidFill>
            <a:ln>
              <a:noFill/>
            </a:ln>
          </p:spPr>
          <p:txBody>
            <a:bodyPr vert="horz" wrap="square" lIns="91440" tIns="45720" rIns="91440" bIns="45720" numCol="1" anchor="t" anchorCtr="0" compatLnSpc="1"/>
            <a:lstStyle/>
            <a:p>
              <a:endParaRPr lang="zh-CN" altLang="en-US"/>
            </a:p>
          </p:txBody>
        </p:sp>
      </p:grpSp>
      <p:sp>
        <p:nvSpPr>
          <p:cNvPr id="71" name="矩形 70"/>
          <p:cNvSpPr/>
          <p:nvPr/>
        </p:nvSpPr>
        <p:spPr>
          <a:xfrm>
            <a:off x="6095999" y="0"/>
            <a:ext cx="6099175" cy="6858000"/>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TextBox 71"/>
          <p:cNvSpPr txBox="1"/>
          <p:nvPr/>
        </p:nvSpPr>
        <p:spPr>
          <a:xfrm>
            <a:off x="457200" y="3749040"/>
            <a:ext cx="5184648" cy="548640"/>
          </a:xfrm>
          <a:prstGeom prst="rect">
            <a:avLst/>
          </a:prstGeom>
          <a:noFill/>
        </p:spPr>
        <p:txBody>
          <a:bodyPr wrap="square" lIns="45720" tIns="27432" rIns="45720" bIns="27432" anchor="t">
            <a:spAutoFit/>
          </a:bodyPr>
          <a:lstStyle/>
          <a:p>
            <a:pPr algn="ctr">
              <a:spcAft>
                <a:spcPts val="0"/>
              </a:spcAft>
            </a:pPr>
            <a:r>
              <a:rPr sz="2800" b="1" i="0">
                <a:solidFill>
                  <a:srgbClr val="46CEAE"/>
                </a:solidFill>
                <a:latin typeface="Arial"/>
              </a:rPr>
              <a:t>Part 7</a:t>
            </a:r>
          </a:p>
        </p:txBody>
      </p:sp>
      <p:sp>
        <p:nvSpPr>
          <p:cNvPr id="73" name="TextBox 72"/>
          <p:cNvSpPr txBox="1"/>
          <p:nvPr/>
        </p:nvSpPr>
        <p:spPr>
          <a:xfrm>
            <a:off x="457200" y="4315968"/>
            <a:ext cx="5184648" cy="1737360"/>
          </a:xfrm>
          <a:prstGeom prst="rect">
            <a:avLst/>
          </a:prstGeom>
          <a:noFill/>
        </p:spPr>
        <p:txBody>
          <a:bodyPr wrap="square" lIns="45720" tIns="27432" rIns="45720" bIns="27432" anchor="t">
            <a:spAutoFit/>
          </a:bodyPr>
          <a:lstStyle/>
          <a:p>
            <a:pPr algn="ctr">
              <a:lnSpc>
                <a:spcPct val="95000"/>
              </a:lnSpc>
              <a:spcAft>
                <a:spcPts val="0"/>
              </a:spcAft>
            </a:pPr>
            <a:r>
              <a:rPr sz="3200" b="1" i="0">
                <a:solidFill>
                  <a:srgbClr val="202A36"/>
                </a:solidFill>
                <a:latin typeface="Arial"/>
              </a:rPr>
              <a:t>Findings and conclusions</a:t>
            </a:r>
          </a:p>
        </p:txBody>
      </p:sp>
      <p:cxnSp>
        <p:nvCxnSpPr>
          <p:cNvPr id="74" name="Connector 73"/>
          <p:cNvCxnSpPr/>
          <p:nvPr/>
        </p:nvCxnSpPr>
        <p:spPr>
          <a:xfrm>
            <a:off x="7863840" y="1088136"/>
            <a:ext cx="0" cy="4681728"/>
          </a:xfrm>
          <a:prstGeom prst="line">
            <a:avLst/>
          </a:prstGeom>
          <a:ln w="19050">
            <a:solidFill>
              <a:srgbClr val="8E98A5"/>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7790688" y="1380744"/>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8229600" y="1252728"/>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Answers to the research questions</a:t>
            </a:r>
          </a:p>
        </p:txBody>
      </p:sp>
      <p:sp>
        <p:nvSpPr>
          <p:cNvPr id="77" name="Oval 76"/>
          <p:cNvSpPr/>
          <p:nvPr/>
        </p:nvSpPr>
        <p:spPr>
          <a:xfrm>
            <a:off x="7790688" y="2039112"/>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8229600" y="1911096"/>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What holds in both languages</a:t>
            </a:r>
          </a:p>
        </p:txBody>
      </p:sp>
      <p:sp>
        <p:nvSpPr>
          <p:cNvPr id="79" name="Oval 78"/>
          <p:cNvSpPr/>
          <p:nvPr/>
        </p:nvSpPr>
        <p:spPr>
          <a:xfrm>
            <a:off x="7790688" y="2697480"/>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8229600" y="2569464"/>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Findings</a:t>
            </a:r>
          </a:p>
        </p:txBody>
      </p:sp>
      <p:sp>
        <p:nvSpPr>
          <p:cNvPr id="81" name="Oval 80"/>
          <p:cNvSpPr/>
          <p:nvPr/>
        </p:nvSpPr>
        <p:spPr>
          <a:xfrm>
            <a:off x="7790688" y="3355848"/>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8229600" y="3227832"/>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Against the state of the art</a:t>
            </a:r>
          </a:p>
        </p:txBody>
      </p:sp>
      <p:sp>
        <p:nvSpPr>
          <p:cNvPr id="83" name="Oval 82"/>
          <p:cNvSpPr/>
          <p:nvPr/>
        </p:nvSpPr>
        <p:spPr>
          <a:xfrm>
            <a:off x="7790688" y="4014216"/>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8229600" y="3886200"/>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Contributions and practical use</a:t>
            </a:r>
          </a:p>
        </p:txBody>
      </p:sp>
      <p:sp>
        <p:nvSpPr>
          <p:cNvPr id="85" name="Oval 84"/>
          <p:cNvSpPr/>
          <p:nvPr/>
        </p:nvSpPr>
        <p:spPr>
          <a:xfrm>
            <a:off x="7790688" y="4672584"/>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8229600" y="4544568"/>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Limitations</a:t>
            </a:r>
          </a:p>
        </p:txBody>
      </p:sp>
      <p:sp>
        <p:nvSpPr>
          <p:cNvPr id="87" name="Oval 86"/>
          <p:cNvSpPr/>
          <p:nvPr/>
        </p:nvSpPr>
        <p:spPr>
          <a:xfrm>
            <a:off x="7790688" y="5330952"/>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8229600" y="5202936"/>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Conclusion and future work</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7</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Findings</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Answers to the two research questions</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50</a:t>
            </a:r>
          </a:p>
        </p:txBody>
      </p:sp>
      <p:sp>
        <p:nvSpPr>
          <p:cNvPr id="66" name="Rounded Rectangle 65"/>
          <p:cNvSpPr/>
          <p:nvPr/>
        </p:nvSpPr>
        <p:spPr>
          <a:xfrm>
            <a:off x="612648" y="914400"/>
            <a:ext cx="10972800" cy="27432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66"/>
          <p:cNvSpPr/>
          <p:nvPr/>
        </p:nvSpPr>
        <p:spPr>
          <a:xfrm>
            <a:off x="795528" y="1033272"/>
            <a:ext cx="868680" cy="384048"/>
          </a:xfrm>
          <a:prstGeom prst="roundRect">
            <a:avLst>
              <a:gd name="adj" fmla="val 20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95528" y="1033272"/>
            <a:ext cx="868680" cy="384048"/>
          </a:xfrm>
          <a:prstGeom prst="rect">
            <a:avLst/>
          </a:prstGeom>
          <a:noFill/>
        </p:spPr>
        <p:txBody>
          <a:bodyPr wrap="square" lIns="0" tIns="0" rIns="0" bIns="0" anchor="ctr">
            <a:spAutoFit/>
          </a:bodyPr>
          <a:lstStyle/>
          <a:p>
            <a:pPr algn="ctr">
              <a:spcAft>
                <a:spcPts val="0"/>
              </a:spcAft>
            </a:pPr>
            <a:r>
              <a:rPr sz="1600" b="1" i="0">
                <a:solidFill>
                  <a:srgbClr val="FFFFFF"/>
                </a:solidFill>
                <a:latin typeface="Arial"/>
              </a:rPr>
              <a:t>RQ1</a:t>
            </a:r>
          </a:p>
        </p:txBody>
      </p:sp>
      <p:sp>
        <p:nvSpPr>
          <p:cNvPr id="69" name="TextBox 68"/>
          <p:cNvSpPr txBox="1"/>
          <p:nvPr/>
        </p:nvSpPr>
        <p:spPr>
          <a:xfrm>
            <a:off x="1847088" y="1005840"/>
            <a:ext cx="9418320" cy="457200"/>
          </a:xfrm>
          <a:prstGeom prst="rect">
            <a:avLst/>
          </a:prstGeom>
          <a:noFill/>
        </p:spPr>
        <p:txBody>
          <a:bodyPr wrap="square" lIns="45720" tIns="27432" rIns="45720" bIns="27432" anchor="ctr">
            <a:spAutoFit/>
          </a:bodyPr>
          <a:lstStyle/>
          <a:p>
            <a:pPr algn="l">
              <a:spcAft>
                <a:spcPts val="0"/>
              </a:spcAft>
            </a:pPr>
            <a:r>
              <a:rPr sz="1650" b="1" i="0">
                <a:solidFill>
                  <a:srgbClr val="202A36"/>
                </a:solidFill>
                <a:latin typeface="Arial"/>
              </a:rPr>
              <a:t>Agents do violate SOLID, rarely, and most problems were already there</a:t>
            </a:r>
          </a:p>
        </p:txBody>
      </p:sp>
      <p:sp>
        <p:nvSpPr>
          <p:cNvPr id="70" name="TextBox 69"/>
          <p:cNvSpPr txBox="1"/>
          <p:nvPr/>
        </p:nvSpPr>
        <p:spPr>
          <a:xfrm>
            <a:off x="795528" y="1554480"/>
            <a:ext cx="10607040" cy="2057400"/>
          </a:xfrm>
          <a:prstGeom prst="rect">
            <a:avLst/>
          </a:prstGeom>
          <a:noFill/>
        </p:spPr>
        <p:txBody>
          <a:bodyPr wrap="square" lIns="45720" tIns="27432" rIns="45720" bIns="27432" anchor="t">
            <a:spAutoFit/>
          </a:bodyPr>
          <a:lstStyle/>
          <a:p>
            <a:pPr marL="182880" indent="-182880" algn="l">
              <a:spcAft>
                <a:spcPts val="700"/>
              </a:spcAft>
              <a:buClr>
                <a:srgbClr val="1F9C82"/>
              </a:buClr>
              <a:buChar char="•"/>
            </a:pPr>
            <a:r>
              <a:rPr sz="1450" b="1" i="0">
                <a:solidFill>
                  <a:srgbClr val="2B3440"/>
                </a:solidFill>
                <a:latin typeface="Calibri"/>
              </a:rPr>
              <a:t>Low introduction rate.</a:t>
            </a:r>
            <a:r>
              <a:rPr sz="1450" b="0" i="0">
                <a:solidFill>
                  <a:srgbClr val="2B3440"/>
                </a:solidFill>
                <a:latin typeface="Calibri"/>
              </a:rPr>
              <a:t> 0.4% to 4.1% of Java and 0.3% to 3.5% of Python pull requests introduce a violation of a given principle (corrected by measured precision).</a:t>
            </a:r>
          </a:p>
          <a:p>
            <a:pPr marL="182880" indent="-182880" algn="l">
              <a:spcAft>
                <a:spcPts val="700"/>
              </a:spcAft>
              <a:buClr>
                <a:srgbClr val="1F9C82"/>
              </a:buClr>
              <a:buChar char="•"/>
            </a:pPr>
            <a:r>
              <a:rPr sz="1450" b="1" i="0">
                <a:solidFill>
                  <a:srgbClr val="2B3440"/>
                </a:solidFill>
                <a:latin typeface="Calibri"/>
              </a:rPr>
              <a:t>Present far exceeds introduced.</a:t>
            </a:r>
            <a:r>
              <a:rPr sz="1450" b="0" i="0">
                <a:solidFill>
                  <a:srgbClr val="2B3440"/>
                </a:solidFill>
                <a:latin typeface="Calibri"/>
              </a:rPr>
              <a:t> 183 refused-bequest relations against 16 introducing pull requests in Java, 176 against 5 in Python.</a:t>
            </a:r>
          </a:p>
          <a:p>
            <a:pPr marL="182880" indent="-182880" algn="l">
              <a:spcAft>
                <a:spcPts val="700"/>
              </a:spcAft>
              <a:buClr>
                <a:srgbClr val="1F9C82"/>
              </a:buClr>
              <a:buChar char="•"/>
            </a:pPr>
            <a:r>
              <a:rPr sz="1450" b="1" i="0">
                <a:solidFill>
                  <a:srgbClr val="2B3440"/>
                </a:solidFill>
                <a:latin typeface="Calibri"/>
              </a:rPr>
              <a:t>Size beats agent.</a:t>
            </a:r>
            <a:r>
              <a:rPr sz="1450" b="0" i="0">
                <a:solidFill>
                  <a:srgbClr val="2B3440"/>
                </a:solidFill>
                <a:latin typeface="Calibri"/>
              </a:rPr>
              <a:t> Each doubling of files touched multiplies the odds of a flag by 1.88–1.95 (Java) and 2.01–2.18 (Python). One agent gap replicates: Claude Code on Open/Closed (2.22 Java, 2.09 Python).</a:t>
            </a:r>
          </a:p>
          <a:p>
            <a:pPr marL="182880" indent="-182880" algn="l">
              <a:spcAft>
                <a:spcPts val="700"/>
              </a:spcAft>
              <a:buClr>
                <a:srgbClr val="1F9C82"/>
              </a:buClr>
              <a:buChar char="•"/>
            </a:pPr>
            <a:r>
              <a:rPr sz="1450" b="1" i="0">
                <a:solidFill>
                  <a:srgbClr val="2B3440"/>
                </a:solidFill>
                <a:latin typeface="Calibri"/>
              </a:rPr>
              <a:t>Outcomes.</a:t>
            </a:r>
            <a:r>
              <a:rPr sz="1450" b="0" i="0">
                <a:solidFill>
                  <a:srgbClr val="2B3440"/>
                </a:solidFill>
                <a:latin typeface="Calibri"/>
              </a:rPr>
              <a:t> Merged Java code looks like unreviewed code; merged Python code is cleaner.</a:t>
            </a:r>
          </a:p>
        </p:txBody>
      </p:sp>
      <p:sp>
        <p:nvSpPr>
          <p:cNvPr id="71" name="Rounded Rectangle 70"/>
          <p:cNvSpPr/>
          <p:nvPr/>
        </p:nvSpPr>
        <p:spPr>
          <a:xfrm>
            <a:off x="612648" y="3794760"/>
            <a:ext cx="10972800" cy="251460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ounded Rectangle 71"/>
          <p:cNvSpPr/>
          <p:nvPr/>
        </p:nvSpPr>
        <p:spPr>
          <a:xfrm>
            <a:off x="795528" y="3913632"/>
            <a:ext cx="868680" cy="384048"/>
          </a:xfrm>
          <a:prstGeom prst="roundRect">
            <a:avLst>
              <a:gd name="adj" fmla="val 20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795528" y="3913632"/>
            <a:ext cx="868680" cy="384048"/>
          </a:xfrm>
          <a:prstGeom prst="rect">
            <a:avLst/>
          </a:prstGeom>
          <a:noFill/>
        </p:spPr>
        <p:txBody>
          <a:bodyPr wrap="square" lIns="0" tIns="0" rIns="0" bIns="0" anchor="ctr">
            <a:spAutoFit/>
          </a:bodyPr>
          <a:lstStyle/>
          <a:p>
            <a:pPr algn="ctr">
              <a:spcAft>
                <a:spcPts val="0"/>
              </a:spcAft>
            </a:pPr>
            <a:r>
              <a:rPr sz="1600" b="1" i="0">
                <a:solidFill>
                  <a:srgbClr val="FFFFFF"/>
                </a:solidFill>
                <a:latin typeface="Arial"/>
              </a:rPr>
              <a:t>RQ2</a:t>
            </a:r>
          </a:p>
        </p:txBody>
      </p:sp>
      <p:sp>
        <p:nvSpPr>
          <p:cNvPr id="74" name="TextBox 73"/>
          <p:cNvSpPr txBox="1"/>
          <p:nvPr/>
        </p:nvSpPr>
        <p:spPr>
          <a:xfrm>
            <a:off x="1847088" y="3886200"/>
            <a:ext cx="9418320" cy="457200"/>
          </a:xfrm>
          <a:prstGeom prst="rect">
            <a:avLst/>
          </a:prstGeom>
          <a:noFill/>
        </p:spPr>
        <p:txBody>
          <a:bodyPr wrap="square" lIns="45720" tIns="27432" rIns="45720" bIns="27432" anchor="ctr">
            <a:spAutoFit/>
          </a:bodyPr>
          <a:lstStyle/>
          <a:p>
            <a:pPr algn="l">
              <a:spcAft>
                <a:spcPts val="0"/>
              </a:spcAft>
            </a:pPr>
            <a:r>
              <a:rPr sz="1650" b="1" i="0">
                <a:solidFill>
                  <a:srgbClr val="202A36"/>
                </a:solidFill>
                <a:latin typeface="Arial"/>
              </a:rPr>
              <a:t>Partly, and the answer differs by principle</a:t>
            </a:r>
          </a:p>
        </p:txBody>
      </p:sp>
      <p:sp>
        <p:nvSpPr>
          <p:cNvPr id="75" name="TextBox 74"/>
          <p:cNvSpPr txBox="1"/>
          <p:nvPr/>
        </p:nvSpPr>
        <p:spPr>
          <a:xfrm>
            <a:off x="795528" y="4434840"/>
            <a:ext cx="10607040" cy="1828800"/>
          </a:xfrm>
          <a:prstGeom prst="rect">
            <a:avLst/>
          </a:prstGeom>
          <a:noFill/>
        </p:spPr>
        <p:txBody>
          <a:bodyPr wrap="square" lIns="45720" tIns="27432" rIns="45720" bIns="27432" anchor="t">
            <a:spAutoFit/>
          </a:bodyPr>
          <a:lstStyle/>
          <a:p>
            <a:pPr marL="182880" indent="-182880" algn="l">
              <a:spcAft>
                <a:spcPts val="700"/>
              </a:spcAft>
              <a:buClr>
                <a:srgbClr val="1F9C82"/>
              </a:buClr>
              <a:buChar char="•"/>
            </a:pPr>
            <a:r>
              <a:rPr sz="1450" b="1" i="0">
                <a:solidFill>
                  <a:srgbClr val="2B3440"/>
                </a:solidFill>
                <a:latin typeface="Calibri"/>
              </a:rPr>
              <a:t>Two principles agree with the judge.</a:t>
            </a:r>
            <a:r>
              <a:rPr sz="1450" b="0" i="0">
                <a:solidFill>
                  <a:srgbClr val="2B3440"/>
                </a:solidFill>
                <a:latin typeface="Calibri"/>
              </a:rPr>
              <a:t> Dependency Inversion: precision 0.892 Java, 1.000 Python. Liskov restricted to refused bequest: 1.000 on 64 Java flags, 0.857 in Python.</a:t>
            </a:r>
          </a:p>
          <a:p>
            <a:pPr marL="182880" indent="-182880" algn="l">
              <a:spcAft>
                <a:spcPts val="700"/>
              </a:spcAft>
              <a:buClr>
                <a:srgbClr val="1F9C82"/>
              </a:buClr>
              <a:buChar char="•"/>
            </a:pPr>
            <a:r>
              <a:rPr sz="1450" b="1" i="0">
                <a:solidFill>
                  <a:srgbClr val="2B3440"/>
                </a:solidFill>
                <a:latin typeface="Calibri"/>
              </a:rPr>
              <a:t>Three are screens.</a:t>
            </a:r>
            <a:r>
              <a:rPr sz="1450" b="0" i="0">
                <a:solidFill>
                  <a:srgbClr val="2B3440"/>
                </a:solidFill>
                <a:latin typeface="Calibri"/>
              </a:rPr>
              <a:t> SRP, OCP and ISP have precision 0.110 to 0.425: their flags locate code worth reading, not violations.</a:t>
            </a:r>
          </a:p>
          <a:p>
            <a:pPr marL="182880" indent="-182880" algn="l">
              <a:spcAft>
                <a:spcPts val="700"/>
              </a:spcAft>
              <a:buClr>
                <a:srgbClr val="1F9C82"/>
              </a:buClr>
              <a:buChar char="•"/>
            </a:pPr>
            <a:r>
              <a:rPr sz="1450" b="1" i="0">
                <a:solidFill>
                  <a:srgbClr val="2B3440"/>
                </a:solidFill>
                <a:latin typeface="Calibri"/>
              </a:rPr>
              <a:t>Published analysers.</a:t>
            </a:r>
            <a:r>
              <a:rPr sz="1450" b="0" i="0">
                <a:solidFill>
                  <a:srgbClr val="2B3440"/>
                </a:solidFill>
                <a:latin typeface="Calibri"/>
              </a:rPr>
              <a:t> The SRP rubric agrees with PMD (κ 0.574) and DesigniteJava (0.531) more than they agree with each other (0.384); no tool corroborates OCP (0.122).</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7</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Findings</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RQ1: what holds in both languages</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51</a:t>
            </a:r>
          </a:p>
        </p:txBody>
      </p:sp>
      <p:graphicFrame>
        <p:nvGraphicFramePr>
          <p:cNvPr id="66" name="Table 65"/>
          <p:cNvGraphicFramePr>
            <a:graphicFrameLocks noGrp="1"/>
          </p:cNvGraphicFramePr>
          <p:nvPr/>
        </p:nvGraphicFramePr>
        <p:xfrm>
          <a:off x="612648" y="914400"/>
          <a:ext cx="10972800" cy="4846320"/>
        </p:xfrm>
        <a:graphic>
          <a:graphicData uri="http://schemas.openxmlformats.org/drawingml/2006/table">
            <a:tbl>
              <a:tblPr>
                <a:tableStyleId>{2D5ABB26-0587-4C30-8999-92F81FD0307C}</a:tableStyleId>
              </a:tblPr>
              <a:tblGrid>
                <a:gridCol w="47548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457200">
                <a:tc>
                  <a:txBody>
                    <a:bodyPr/>
                    <a:lstStyle/>
                    <a:p>
                      <a:pPr algn="l">
                        <a:spcAft>
                          <a:spcPts val="0"/>
                        </a:spcAft>
                      </a:pPr>
                      <a:r>
                        <a:rPr sz="1500" b="1" i="0">
                          <a:solidFill>
                            <a:srgbClr val="FFFFFF"/>
                          </a:solidFill>
                          <a:latin typeface="Calibri"/>
                        </a:rPr>
                        <a:t>Result</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l">
                        <a:spcAft>
                          <a:spcPts val="0"/>
                        </a:spcAft>
                      </a:pPr>
                      <a:r>
                        <a:rPr sz="1500" b="1" i="0">
                          <a:solidFill>
                            <a:srgbClr val="FFFFFF"/>
                          </a:solidFill>
                          <a:latin typeface="Calibri"/>
                        </a:rPr>
                        <a:t>Java</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l">
                        <a:spcAft>
                          <a:spcPts val="0"/>
                        </a:spcAft>
                      </a:pPr>
                      <a:r>
                        <a:rPr sz="1500" b="1" i="0">
                          <a:solidFill>
                            <a:srgbClr val="FFFFFF"/>
                          </a:solidFill>
                          <a:latin typeface="Calibri"/>
                        </a:rPr>
                        <a:t>Python</a:t>
                      </a:r>
                    </a:p>
                  </a:txBody>
                  <a:tcPr marL="73152" marR="73152" marT="27432" marB="27432" anchor="ctr">
                    <a:lnL w="0">
                      <a:noFill/>
                    </a:lnL>
                    <a:lnR w="0">
                      <a:noFill/>
                    </a:lnR>
                    <a:lnT w="0">
                      <a:noFill/>
                    </a:lnT>
                    <a:lnB w="6350">
                      <a:solidFill>
                        <a:srgbClr val="C9D0D8"/>
                      </a:solidFill>
                    </a:lnB>
                    <a:solidFill>
                      <a:srgbClr val="202A36"/>
                    </a:solidFill>
                  </a:tcPr>
                </a:tc>
                <a:extLst>
                  <a:ext uri="{0D108BD9-81ED-4DB2-BD59-A6C34878D82A}">
                    <a16:rowId xmlns:a16="http://schemas.microsoft.com/office/drawing/2014/main" val="10000"/>
                  </a:ext>
                </a:extLst>
              </a:tr>
              <a:tr h="548640">
                <a:tc>
                  <a:txBody>
                    <a:bodyPr/>
                    <a:lstStyle/>
                    <a:p>
                      <a:pPr algn="l">
                        <a:spcAft>
                          <a:spcPts val="0"/>
                        </a:spcAft>
                      </a:pPr>
                      <a:r>
                        <a:rPr sz="1500" b="1" i="0">
                          <a:solidFill>
                            <a:srgbClr val="202A36"/>
                          </a:solidFill>
                          <a:latin typeface="Calibri"/>
                        </a:rPr>
                        <a:t>Change size dominates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500" b="0" i="0">
                          <a:solidFill>
                            <a:srgbClr val="2B3440"/>
                          </a:solidFill>
                          <a:latin typeface="Calibri"/>
                        </a:rPr>
                        <a:t>OR 1.88–1.95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500" b="1" i="0">
                          <a:solidFill>
                            <a:srgbClr val="1B7F68"/>
                          </a:solidFill>
                          <a:latin typeface="Calibri"/>
                        </a:rPr>
                        <a:t>holds</a:t>
                      </a:r>
                      <a:r>
                        <a:rPr sz="1500" b="0" i="0">
                          <a:solidFill>
                            <a:srgbClr val="2B3440"/>
                          </a:solidFill>
                          <a:latin typeface="Calibri"/>
                        </a:rPr>
                        <a:t> 2.01–2.18</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1"/>
                  </a:ext>
                </a:extLst>
              </a:tr>
              <a:tr h="548640">
                <a:tc>
                  <a:txBody>
                    <a:bodyPr/>
                    <a:lstStyle/>
                    <a:p>
                      <a:pPr algn="l">
                        <a:spcAft>
                          <a:spcPts val="0"/>
                        </a:spcAft>
                      </a:pPr>
                      <a:r>
                        <a:rPr sz="1500" b="1" i="0">
                          <a:solidFill>
                            <a:srgbClr val="202A36"/>
                          </a:solidFill>
                          <a:latin typeface="Calibri"/>
                        </a:rPr>
                        <a:t>Claude Code on Open/Closed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500" b="0" i="0">
                          <a:solidFill>
                            <a:srgbClr val="2B3440"/>
                          </a:solidFill>
                          <a:latin typeface="Calibri"/>
                        </a:rPr>
                        <a:t>2.22 (1.21–4.07)</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500" b="1" i="0">
                          <a:solidFill>
                            <a:srgbClr val="1B7F68"/>
                          </a:solidFill>
                          <a:latin typeface="Calibri"/>
                        </a:rPr>
                        <a:t>holds</a:t>
                      </a:r>
                      <a:r>
                        <a:rPr sz="1500" b="0" i="0">
                          <a:solidFill>
                            <a:srgbClr val="2B3440"/>
                          </a:solidFill>
                          <a:latin typeface="Calibri"/>
                        </a:rPr>
                        <a:t> 2.09 (1.44–3.04)</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2"/>
                  </a:ext>
                </a:extLst>
              </a:tr>
              <a:tr h="548640">
                <a:tc>
                  <a:txBody>
                    <a:bodyPr/>
                    <a:lstStyle/>
                    <a:p>
                      <a:pPr algn="l">
                        <a:spcAft>
                          <a:spcPts val="0"/>
                        </a:spcAft>
                      </a:pPr>
                      <a:r>
                        <a:rPr sz="1500" b="1" i="0">
                          <a:solidFill>
                            <a:srgbClr val="202A36"/>
                          </a:solidFill>
                          <a:latin typeface="Calibri"/>
                        </a:rPr>
                        <a:t>Present far exceeds introduced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500" b="0" i="0">
                          <a:solidFill>
                            <a:srgbClr val="2B3440"/>
                          </a:solidFill>
                          <a:latin typeface="Calibri"/>
                        </a:rPr>
                        <a:t>183 vs 16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500" b="1" i="0">
                          <a:solidFill>
                            <a:srgbClr val="1B7F68"/>
                          </a:solidFill>
                          <a:latin typeface="Calibri"/>
                        </a:rPr>
                        <a:t>holds</a:t>
                      </a:r>
                      <a:r>
                        <a:rPr sz="1500" b="0" i="0">
                          <a:solidFill>
                            <a:srgbClr val="2B3440"/>
                          </a:solidFill>
                          <a:latin typeface="Calibri"/>
                        </a:rPr>
                        <a:t> 176 vs 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3"/>
                  </a:ext>
                </a:extLst>
              </a:tr>
              <a:tr h="548640">
                <a:tc>
                  <a:txBody>
                    <a:bodyPr/>
                    <a:lstStyle/>
                    <a:p>
                      <a:pPr algn="l">
                        <a:spcAft>
                          <a:spcPts val="0"/>
                        </a:spcAft>
                      </a:pPr>
                      <a:r>
                        <a:rPr sz="1500" b="1" i="0">
                          <a:solidFill>
                            <a:srgbClr val="202A36"/>
                          </a:solidFill>
                          <a:latin typeface="Calibri"/>
                        </a:rPr>
                        <a:t>Authored flagged less than edited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500" b="0" i="0">
                          <a:solidFill>
                            <a:srgbClr val="2B3440"/>
                          </a:solidFill>
                          <a:latin typeface="Calibri"/>
                        </a:rPr>
                        <a:t>7.7% vs 13.5%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500" b="1" i="0">
                          <a:solidFill>
                            <a:srgbClr val="1B7F68"/>
                          </a:solidFill>
                          <a:latin typeface="Calibri"/>
                        </a:rPr>
                        <a:t>holds</a:t>
                      </a:r>
                      <a:r>
                        <a:rPr sz="1500" b="0" i="0">
                          <a:solidFill>
                            <a:srgbClr val="2B3440"/>
                          </a:solidFill>
                          <a:latin typeface="Calibri"/>
                        </a:rPr>
                        <a:t> 8.9% vs 12.1%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4"/>
                  </a:ext>
                </a:extLst>
              </a:tr>
              <a:tr h="548640">
                <a:tc>
                  <a:txBody>
                    <a:bodyPr/>
                    <a:lstStyle/>
                    <a:p>
                      <a:pPr algn="l">
                        <a:spcAft>
                          <a:spcPts val="0"/>
                        </a:spcAft>
                      </a:pPr>
                      <a:r>
                        <a:rPr sz="1500" b="1" i="0">
                          <a:solidFill>
                            <a:srgbClr val="202A36"/>
                          </a:solidFill>
                          <a:latin typeface="Calibri"/>
                        </a:rPr>
                        <a:t>Shape rule transfers, number does not</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500" b="0" i="0">
                          <a:solidFill>
                            <a:srgbClr val="2B3440"/>
                          </a:solidFill>
                          <a:latin typeface="Calibri"/>
                        </a:rPr>
                        <a:t>1.000 vs 0.704</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500" b="1" i="0">
                          <a:solidFill>
                            <a:srgbClr val="1B7F68"/>
                          </a:solidFill>
                          <a:latin typeface="Calibri"/>
                        </a:rPr>
                        <a:t>holds</a:t>
                      </a:r>
                      <a:r>
                        <a:rPr sz="1500" b="0" i="0">
                          <a:solidFill>
                            <a:srgbClr val="2B3440"/>
                          </a:solidFill>
                          <a:latin typeface="Calibri"/>
                        </a:rPr>
                        <a:t> 0.857 vs 0.200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5"/>
                  </a:ext>
                </a:extLst>
              </a:tr>
              <a:tr h="548640">
                <a:tc>
                  <a:txBody>
                    <a:bodyPr/>
                    <a:lstStyle/>
                    <a:p>
                      <a:pPr algn="l">
                        <a:spcAft>
                          <a:spcPts val="0"/>
                        </a:spcAft>
                      </a:pPr>
                      <a:r>
                        <a:rPr sz="1500" b="1" i="0">
                          <a:solidFill>
                            <a:srgbClr val="202A36"/>
                          </a:solidFill>
                          <a:latin typeface="Calibri"/>
                        </a:rPr>
                        <a:t>Compiler removes a family of LSP faults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500" b="0" i="0">
                          <a:solidFill>
                            <a:srgbClr val="2B3440"/>
                          </a:solidFill>
                          <a:latin typeface="Calibri"/>
                        </a:rPr>
                        <a:t>inferred from Java</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500" b="1" i="0">
                          <a:solidFill>
                            <a:srgbClr val="1B7F68"/>
                          </a:solidFill>
                          <a:latin typeface="Calibri"/>
                        </a:rPr>
                        <a:t>confirmed</a:t>
                      </a:r>
                      <a:r>
                        <a:rPr sz="1500" b="0" i="0">
                          <a:solidFill>
                            <a:srgbClr val="2B3440"/>
                          </a:solidFill>
                          <a:latin typeface="Calibri"/>
                        </a:rPr>
                        <a:t> 46 of 51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6"/>
                  </a:ext>
                </a:extLst>
              </a:tr>
              <a:tr h="548640">
                <a:tc>
                  <a:txBody>
                    <a:bodyPr/>
                    <a:lstStyle/>
                    <a:p>
                      <a:pPr algn="l">
                        <a:spcAft>
                          <a:spcPts val="0"/>
                        </a:spcAft>
                      </a:pPr>
                      <a:r>
                        <a:rPr sz="1500" b="1" i="0">
                          <a:solidFill>
                            <a:srgbClr val="202A36"/>
                          </a:solidFill>
                          <a:latin typeface="Calibri"/>
                        </a:rPr>
                        <a:t>Merged equals unreviewed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500" b="0" i="0">
                          <a:solidFill>
                            <a:srgbClr val="2B3440"/>
                          </a:solidFill>
                          <a:latin typeface="Calibri"/>
                        </a:rPr>
                        <a:t>yes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500" b="1" i="0">
                          <a:solidFill>
                            <a:srgbClr val="B03A36"/>
                          </a:solidFill>
                          <a:latin typeface="Calibri"/>
                        </a:rPr>
                        <a:t>does not hold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7"/>
                  </a:ext>
                </a:extLst>
              </a:tr>
              <a:tr h="548640">
                <a:tc>
                  <a:txBody>
                    <a:bodyPr/>
                    <a:lstStyle/>
                    <a:p>
                      <a:pPr algn="l">
                        <a:spcAft>
                          <a:spcPts val="0"/>
                        </a:spcAft>
                      </a:pPr>
                      <a:r>
                        <a:rPr sz="1500" b="1" i="0">
                          <a:solidFill>
                            <a:srgbClr val="202A36"/>
                          </a:solidFill>
                          <a:latin typeface="Calibri"/>
                        </a:rPr>
                        <a:t>SRP screen precision</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500" b="0" i="0">
                          <a:solidFill>
                            <a:srgbClr val="2B3440"/>
                          </a:solidFill>
                          <a:latin typeface="Calibri"/>
                        </a:rPr>
                        <a:t>0.350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500" b="1" i="0">
                          <a:solidFill>
                            <a:srgbClr val="B03A36"/>
                          </a:solidFill>
                          <a:latin typeface="Calibri"/>
                        </a:rPr>
                        <a:t>drops to 0.110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7</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Findings</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Findings</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52</a:t>
            </a:r>
          </a:p>
        </p:txBody>
      </p:sp>
      <p:sp>
        <p:nvSpPr>
          <p:cNvPr id="66" name="Rounded Rectangle 65"/>
          <p:cNvSpPr/>
          <p:nvPr/>
        </p:nvSpPr>
        <p:spPr>
          <a:xfrm>
            <a:off x="612648" y="914400"/>
            <a:ext cx="3547872" cy="260604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Hexagon 66"/>
          <p:cNvSpPr/>
          <p:nvPr/>
        </p:nvSpPr>
        <p:spPr>
          <a:xfrm>
            <a:off x="813816" y="1115568"/>
            <a:ext cx="633679" cy="54864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Arial"/>
              </a:rPr>
              <a:t>1</a:t>
            </a:r>
          </a:p>
        </p:txBody>
      </p:sp>
      <p:sp>
        <p:nvSpPr>
          <p:cNvPr id="68" name="TextBox 67"/>
          <p:cNvSpPr txBox="1"/>
          <p:nvPr/>
        </p:nvSpPr>
        <p:spPr>
          <a:xfrm>
            <a:off x="795528" y="1828800"/>
            <a:ext cx="3182112" cy="1645920"/>
          </a:xfrm>
          <a:prstGeom prst="rect">
            <a:avLst/>
          </a:prstGeom>
          <a:noFill/>
        </p:spPr>
        <p:txBody>
          <a:bodyPr wrap="square" lIns="45720" tIns="27432" rIns="45720" bIns="27432" anchor="t">
            <a:spAutoFit/>
          </a:bodyPr>
          <a:lstStyle/>
          <a:p>
            <a:pPr algn="l">
              <a:spcAft>
                <a:spcPts val="0"/>
              </a:spcAft>
            </a:pPr>
            <a:r>
              <a:rPr sz="1650" b="1" i="0">
                <a:solidFill>
                  <a:srgbClr val="2B3440"/>
                </a:solidFill>
                <a:latin typeface="Calibri"/>
              </a:rPr>
              <a:t>What a compiler enforces decides which violations can exist:</a:t>
            </a:r>
            <a:r>
              <a:rPr sz="1650" b="0" i="0">
                <a:solidFill>
                  <a:srgbClr val="2B3440"/>
                </a:solidFill>
                <a:latin typeface="Calibri"/>
              </a:rPr>
              <a:t> 46 of 51 confirmed Python Liskov violations are faults javac rejects.</a:t>
            </a:r>
          </a:p>
        </p:txBody>
      </p:sp>
      <p:sp>
        <p:nvSpPr>
          <p:cNvPr id="69" name="Rounded Rectangle 68"/>
          <p:cNvSpPr/>
          <p:nvPr/>
        </p:nvSpPr>
        <p:spPr>
          <a:xfrm>
            <a:off x="4325112" y="914400"/>
            <a:ext cx="3547872" cy="260604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Hexagon 69"/>
          <p:cNvSpPr/>
          <p:nvPr/>
        </p:nvSpPr>
        <p:spPr>
          <a:xfrm>
            <a:off x="4526280" y="1115568"/>
            <a:ext cx="633679" cy="54864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Arial"/>
              </a:rPr>
              <a:t>2</a:t>
            </a:r>
          </a:p>
        </p:txBody>
      </p:sp>
      <p:sp>
        <p:nvSpPr>
          <p:cNvPr id="71" name="TextBox 70"/>
          <p:cNvSpPr txBox="1"/>
          <p:nvPr/>
        </p:nvSpPr>
        <p:spPr>
          <a:xfrm>
            <a:off x="4507992" y="1828800"/>
            <a:ext cx="3182112" cy="1645920"/>
          </a:xfrm>
          <a:prstGeom prst="rect">
            <a:avLst/>
          </a:prstGeom>
          <a:noFill/>
        </p:spPr>
        <p:txBody>
          <a:bodyPr wrap="square" lIns="45720" tIns="27432" rIns="45720" bIns="27432" anchor="t">
            <a:spAutoFit/>
          </a:bodyPr>
          <a:lstStyle/>
          <a:p>
            <a:pPr algn="l">
              <a:spcAft>
                <a:spcPts val="0"/>
              </a:spcAft>
            </a:pPr>
            <a:r>
              <a:rPr sz="1650" b="1" i="0">
                <a:solidFill>
                  <a:srgbClr val="2B3440"/>
                </a:solidFill>
                <a:latin typeface="Calibri"/>
              </a:rPr>
              <a:t>Width predicts Interface Segregation violations and not Open/Closed ones,</a:t>
            </a:r>
            <a:r>
              <a:rPr sz="1650" b="0" i="0">
                <a:solidFill>
                  <a:srgbClr val="2B3440"/>
                </a:solidFill>
                <a:latin typeface="Calibri"/>
              </a:rPr>
              <a:t> because one principle is about size and the other about whether a set can grow.</a:t>
            </a:r>
          </a:p>
        </p:txBody>
      </p:sp>
      <p:sp>
        <p:nvSpPr>
          <p:cNvPr id="72" name="Rounded Rectangle 71"/>
          <p:cNvSpPr/>
          <p:nvPr/>
        </p:nvSpPr>
        <p:spPr>
          <a:xfrm>
            <a:off x="8037576" y="914400"/>
            <a:ext cx="3547872" cy="260604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Hexagon 72"/>
          <p:cNvSpPr/>
          <p:nvPr/>
        </p:nvSpPr>
        <p:spPr>
          <a:xfrm>
            <a:off x="8238744" y="1115568"/>
            <a:ext cx="633679" cy="54864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Arial"/>
              </a:rPr>
              <a:t>3</a:t>
            </a:r>
          </a:p>
        </p:txBody>
      </p:sp>
      <p:sp>
        <p:nvSpPr>
          <p:cNvPr id="74" name="TextBox 73"/>
          <p:cNvSpPr txBox="1"/>
          <p:nvPr/>
        </p:nvSpPr>
        <p:spPr>
          <a:xfrm>
            <a:off x="8220456" y="1828800"/>
            <a:ext cx="3182112" cy="1645920"/>
          </a:xfrm>
          <a:prstGeom prst="rect">
            <a:avLst/>
          </a:prstGeom>
          <a:noFill/>
        </p:spPr>
        <p:txBody>
          <a:bodyPr wrap="square" lIns="45720" tIns="27432" rIns="45720" bIns="27432" anchor="t">
            <a:spAutoFit/>
          </a:bodyPr>
          <a:lstStyle/>
          <a:p>
            <a:pPr algn="l">
              <a:spcAft>
                <a:spcPts val="0"/>
              </a:spcAft>
            </a:pPr>
            <a:r>
              <a:rPr sz="1650" b="1" i="0">
                <a:solidFill>
                  <a:srgbClr val="2B3440"/>
                </a:solidFill>
                <a:latin typeface="Calibri"/>
              </a:rPr>
              <a:t>The closed sets that matter are fixed by specifications,</a:t>
            </a:r>
            <a:r>
              <a:rPr sz="1650" b="0" i="0">
                <a:solidFill>
                  <a:srgbClr val="2B3440"/>
                </a:solidFill>
                <a:latin typeface="Calibri"/>
              </a:rPr>
              <a:t> not by the language.</a:t>
            </a:r>
          </a:p>
        </p:txBody>
      </p:sp>
      <p:sp>
        <p:nvSpPr>
          <p:cNvPr id="75" name="Rounded Rectangle 74"/>
          <p:cNvSpPr/>
          <p:nvPr/>
        </p:nvSpPr>
        <p:spPr>
          <a:xfrm>
            <a:off x="612648" y="3703320"/>
            <a:ext cx="3547872" cy="260604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Hexagon 75"/>
          <p:cNvSpPr/>
          <p:nvPr/>
        </p:nvSpPr>
        <p:spPr>
          <a:xfrm>
            <a:off x="813816" y="3904488"/>
            <a:ext cx="633679" cy="54864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Arial"/>
              </a:rPr>
              <a:t>4</a:t>
            </a:r>
          </a:p>
        </p:txBody>
      </p:sp>
      <p:sp>
        <p:nvSpPr>
          <p:cNvPr id="77" name="TextBox 76"/>
          <p:cNvSpPr txBox="1"/>
          <p:nvPr/>
        </p:nvSpPr>
        <p:spPr>
          <a:xfrm>
            <a:off x="795528" y="4617720"/>
            <a:ext cx="3182112" cy="1645920"/>
          </a:xfrm>
          <a:prstGeom prst="rect">
            <a:avLst/>
          </a:prstGeom>
          <a:noFill/>
        </p:spPr>
        <p:txBody>
          <a:bodyPr wrap="square" lIns="45720" tIns="27432" rIns="45720" bIns="27432" anchor="t">
            <a:spAutoFit/>
          </a:bodyPr>
          <a:lstStyle/>
          <a:p>
            <a:pPr algn="l">
              <a:spcAft>
                <a:spcPts val="0"/>
              </a:spcAft>
            </a:pPr>
            <a:r>
              <a:rPr sz="1650" b="1" i="0">
                <a:solidFill>
                  <a:srgbClr val="2B3440"/>
                </a:solidFill>
                <a:latin typeface="Calibri"/>
              </a:rPr>
              <a:t>Most flagged problems in the touched code predate the change.</a:t>
            </a:r>
          </a:p>
        </p:txBody>
      </p:sp>
      <p:sp>
        <p:nvSpPr>
          <p:cNvPr id="78" name="Rounded Rectangle 77"/>
          <p:cNvSpPr/>
          <p:nvPr/>
        </p:nvSpPr>
        <p:spPr>
          <a:xfrm>
            <a:off x="4325112" y="3703320"/>
            <a:ext cx="3547872" cy="260604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Hexagon 78"/>
          <p:cNvSpPr/>
          <p:nvPr/>
        </p:nvSpPr>
        <p:spPr>
          <a:xfrm>
            <a:off x="4526280" y="3904488"/>
            <a:ext cx="633679" cy="54864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Arial"/>
              </a:rPr>
              <a:t>5</a:t>
            </a:r>
          </a:p>
        </p:txBody>
      </p:sp>
      <p:sp>
        <p:nvSpPr>
          <p:cNvPr id="80" name="TextBox 79"/>
          <p:cNvSpPr txBox="1"/>
          <p:nvPr/>
        </p:nvSpPr>
        <p:spPr>
          <a:xfrm>
            <a:off x="4507992" y="4617720"/>
            <a:ext cx="3182112" cy="1645920"/>
          </a:xfrm>
          <a:prstGeom prst="rect">
            <a:avLst/>
          </a:prstGeom>
          <a:noFill/>
        </p:spPr>
        <p:txBody>
          <a:bodyPr wrap="square" lIns="45720" tIns="27432" rIns="45720" bIns="27432" anchor="t">
            <a:spAutoFit/>
          </a:bodyPr>
          <a:lstStyle/>
          <a:p>
            <a:pPr algn="l">
              <a:spcAft>
                <a:spcPts val="0"/>
              </a:spcAft>
            </a:pPr>
            <a:r>
              <a:rPr sz="1650" b="1" i="0">
                <a:solidFill>
                  <a:srgbClr val="2B3440"/>
                </a:solidFill>
                <a:latin typeface="Calibri"/>
              </a:rPr>
              <a:t>Classes the agents wrote are flagged less often</a:t>
            </a:r>
            <a:r>
              <a:rPr sz="1650" b="0" i="0">
                <a:solidFill>
                  <a:srgbClr val="2B3440"/>
                </a:solidFill>
                <a:latin typeface="Calibri"/>
              </a:rPr>
              <a:t> than the classes they edit.</a:t>
            </a:r>
          </a:p>
        </p:txBody>
      </p:sp>
      <p:sp>
        <p:nvSpPr>
          <p:cNvPr id="81" name="Rounded Rectangle 80"/>
          <p:cNvSpPr/>
          <p:nvPr/>
        </p:nvSpPr>
        <p:spPr>
          <a:xfrm>
            <a:off x="8037576" y="3703320"/>
            <a:ext cx="3547872" cy="260604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Hexagon 81"/>
          <p:cNvSpPr/>
          <p:nvPr/>
        </p:nvSpPr>
        <p:spPr>
          <a:xfrm>
            <a:off x="8238744" y="3904488"/>
            <a:ext cx="633679" cy="54864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800" b="1" i="0">
                <a:solidFill>
                  <a:srgbClr val="FFFFFF"/>
                </a:solidFill>
                <a:latin typeface="Arial"/>
              </a:rPr>
              <a:t>6</a:t>
            </a:r>
          </a:p>
        </p:txBody>
      </p:sp>
      <p:sp>
        <p:nvSpPr>
          <p:cNvPr id="83" name="TextBox 82"/>
          <p:cNvSpPr txBox="1"/>
          <p:nvPr/>
        </p:nvSpPr>
        <p:spPr>
          <a:xfrm>
            <a:off x="8220456" y="4617720"/>
            <a:ext cx="3182112" cy="1645920"/>
          </a:xfrm>
          <a:prstGeom prst="rect">
            <a:avLst/>
          </a:prstGeom>
          <a:noFill/>
        </p:spPr>
        <p:txBody>
          <a:bodyPr wrap="square" lIns="45720" tIns="27432" rIns="45720" bIns="27432" anchor="t">
            <a:spAutoFit/>
          </a:bodyPr>
          <a:lstStyle/>
          <a:p>
            <a:pPr algn="l">
              <a:spcAft>
                <a:spcPts val="0"/>
              </a:spcAft>
            </a:pPr>
            <a:r>
              <a:rPr sz="1650" b="1" i="0">
                <a:solidFill>
                  <a:srgbClr val="2B3440"/>
                </a:solidFill>
                <a:latin typeface="Calibri"/>
              </a:rPr>
              <a:t>Merged code is not a biased sample of unreviewed agent code in Java,</a:t>
            </a:r>
            <a:r>
              <a:rPr sz="1650" b="0" i="0">
                <a:solidFill>
                  <a:srgbClr val="2B3440"/>
                </a:solidFill>
                <a:latin typeface="Calibri"/>
              </a:rPr>
              <a:t> but it is cleaner than abandoned code in Python.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7</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Findings</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Against the state of the art: what we confirm</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53</a:t>
            </a:r>
          </a:p>
        </p:txBody>
      </p:sp>
      <p:graphicFrame>
        <p:nvGraphicFramePr>
          <p:cNvPr id="66" name="Table 65"/>
          <p:cNvGraphicFramePr>
            <a:graphicFrameLocks noGrp="1"/>
          </p:cNvGraphicFramePr>
          <p:nvPr/>
        </p:nvGraphicFramePr>
        <p:xfrm>
          <a:off x="612648" y="914400"/>
          <a:ext cx="10972800" cy="4480560"/>
        </p:xfrm>
        <a:graphic>
          <a:graphicData uri="http://schemas.openxmlformats.org/drawingml/2006/table">
            <a:tbl>
              <a:tblPr>
                <a:tableStyleId>{2D5ABB26-0587-4C30-8999-92F81FD0307C}</a:tableStyleId>
              </a:tblPr>
              <a:tblGrid>
                <a:gridCol w="320040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457200">
                <a:tc>
                  <a:txBody>
                    <a:bodyPr/>
                    <a:lstStyle/>
                    <a:p>
                      <a:pPr algn="l">
                        <a:spcAft>
                          <a:spcPts val="0"/>
                        </a:spcAft>
                      </a:pPr>
                      <a:r>
                        <a:rPr sz="1350" b="1" i="0">
                          <a:solidFill>
                            <a:srgbClr val="FFFFFF"/>
                          </a:solidFill>
                          <a:latin typeface="Calibri"/>
                        </a:rPr>
                        <a:t>Earlier finding</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l">
                        <a:spcAft>
                          <a:spcPts val="0"/>
                        </a:spcAft>
                      </a:pPr>
                      <a:r>
                        <a:rPr sz="1350" b="1" i="0">
                          <a:solidFill>
                            <a:srgbClr val="FFFFFF"/>
                          </a:solidFill>
                          <a:latin typeface="Calibri"/>
                        </a:rPr>
                        <a:t>What we measured</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l">
                        <a:spcAft>
                          <a:spcPts val="0"/>
                        </a:spcAft>
                      </a:pPr>
                      <a:r>
                        <a:rPr sz="1350" b="1" i="0">
                          <a:solidFill>
                            <a:srgbClr val="FFFFFF"/>
                          </a:solidFill>
                          <a:latin typeface="Calibri"/>
                        </a:rPr>
                        <a:t>Outcome</a:t>
                      </a:r>
                    </a:p>
                  </a:txBody>
                  <a:tcPr marL="73152" marR="73152" marT="27432" marB="27432" anchor="ctr">
                    <a:lnL w="0">
                      <a:noFill/>
                    </a:lnL>
                    <a:lnR w="0">
                      <a:noFill/>
                    </a:lnR>
                    <a:lnT w="0">
                      <a:noFill/>
                    </a:lnT>
                    <a:lnB w="6350">
                      <a:solidFill>
                        <a:srgbClr val="C9D0D8"/>
                      </a:solidFill>
                    </a:lnB>
                    <a:solidFill>
                      <a:srgbClr val="202A36"/>
                    </a:solidFill>
                  </a:tcPr>
                </a:tc>
                <a:extLst>
                  <a:ext uri="{0D108BD9-81ED-4DB2-BD59-A6C34878D82A}">
                    <a16:rowId xmlns:a16="http://schemas.microsoft.com/office/drawing/2014/main" val="10000"/>
                  </a:ext>
                </a:extLst>
              </a:tr>
              <a:tr h="1005840">
                <a:tc>
                  <a:txBody>
                    <a:bodyPr/>
                    <a:lstStyle/>
                    <a:p>
                      <a:pPr algn="l">
                        <a:spcAft>
                          <a:spcPts val="0"/>
                        </a:spcAft>
                      </a:pPr>
                      <a:r>
                        <a:rPr sz="1350" b="1" i="0">
                          <a:solidFill>
                            <a:srgbClr val="202A36"/>
                          </a:solidFill>
                          <a:latin typeface="Calibri"/>
                        </a:rPr>
                        <a:t>Volume-Quality Inverse Law (Zhu, Yuecai)</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350" b="0" i="0">
                          <a:solidFill>
                            <a:srgbClr val="2B3440"/>
                          </a:solidFill>
                          <a:latin typeface="Calibri"/>
                        </a:rPr>
                        <a:t>Each doubling of files touched multiplies the odds of a flag by 1.88–1.95 (Java) and 2.01–2.18 (Python), on every modelled principle</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350" b="1" i="0">
                          <a:solidFill>
                            <a:srgbClr val="1B7F68"/>
                          </a:solidFill>
                          <a:latin typeface="Calibri"/>
                        </a:rPr>
                        <a:t>Confirmed.</a:t>
                      </a:r>
                      <a:r>
                        <a:rPr sz="1350" b="0" i="0">
                          <a:solidFill>
                            <a:srgbClr val="2B3440"/>
                          </a:solidFill>
                          <a:latin typeface="Calibri"/>
                        </a:rPr>
                        <a:t> Our strongest result, in both languages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1"/>
                  </a:ext>
                </a:extLst>
              </a:tr>
              <a:tr h="1005840">
                <a:tc>
                  <a:txBody>
                    <a:bodyPr/>
                    <a:lstStyle/>
                    <a:p>
                      <a:pPr algn="l">
                        <a:spcAft>
                          <a:spcPts val="0"/>
                        </a:spcAft>
                      </a:pPr>
                      <a:r>
                        <a:rPr sz="1350" b="1" i="0">
                          <a:solidFill>
                            <a:srgbClr val="202A36"/>
                          </a:solidFill>
                          <a:latin typeface="Calibri"/>
                        </a:rPr>
                        <a:t>Agent differences vanish after churn normalisation (Cynthia et al.)</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350" b="0" i="0">
                          <a:solidFill>
                            <a:srgbClr val="2B3440"/>
                          </a:solidFill>
                          <a:latin typeface="Calibri"/>
                        </a:rPr>
                        <a:t>After adjusting for files, repository and time, only Claude Code on Open/Closed survives: 2.22 Java, 2.09 Python</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350" b="1" i="0">
                          <a:solidFill>
                            <a:srgbClr val="1B7F68"/>
                          </a:solidFill>
                          <a:latin typeface="Calibri"/>
                        </a:rPr>
                        <a:t>Confirmed,</a:t>
                      </a:r>
                      <a:r>
                        <a:rPr sz="1350" b="0" i="0">
                          <a:solidFill>
                            <a:srgbClr val="2B3440"/>
                          </a:solidFill>
                          <a:latin typeface="Calibri"/>
                        </a:rPr>
                        <a:t> with one exception that replicates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2"/>
                  </a:ext>
                </a:extLst>
              </a:tr>
              <a:tr h="1005840">
                <a:tc>
                  <a:txBody>
                    <a:bodyPr/>
                    <a:lstStyle/>
                    <a:p>
                      <a:pPr algn="l">
                        <a:spcAft>
                          <a:spcPts val="0"/>
                        </a:spcAft>
                      </a:pPr>
                      <a:r>
                        <a:rPr sz="1350" b="1" i="0">
                          <a:solidFill>
                            <a:srgbClr val="202A36"/>
                          </a:solidFill>
                          <a:latin typeface="Calibri"/>
                        </a:rPr>
                        <a:t>Passing tests ≠ a change a maintainer accepts (Whitfill et al.)</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350" b="0" i="0">
                          <a:solidFill>
                            <a:srgbClr val="2B3440"/>
                          </a:solidFill>
                          <a:latin typeface="Calibri"/>
                        </a:rPr>
                        <a:t>Merged Java pull requests are structurally indistinguishable from those closed without review</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350" b="1" i="0">
                          <a:solidFill>
                            <a:srgbClr val="1B7F68"/>
                          </a:solidFill>
                          <a:latin typeface="Calibri"/>
                        </a:rPr>
                        <a:t>Consistent.</a:t>
                      </a:r>
                      <a:r>
                        <a:rPr sz="1350" b="0" i="0">
                          <a:solidFill>
                            <a:srgbClr val="2B3440"/>
                          </a:solidFill>
                          <a:latin typeface="Calibri"/>
                        </a:rPr>
                        <a:t> Merge status carries little structural information</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3"/>
                  </a:ext>
                </a:extLst>
              </a:tr>
              <a:tr h="1005840">
                <a:tc>
                  <a:txBody>
                    <a:bodyPr/>
                    <a:lstStyle/>
                    <a:p>
                      <a:pPr algn="l">
                        <a:spcAft>
                          <a:spcPts val="0"/>
                        </a:spcAft>
                      </a:pPr>
                      <a:r>
                        <a:rPr sz="1350" b="1" i="0">
                          <a:solidFill>
                            <a:srgbClr val="202A36"/>
                          </a:solidFill>
                          <a:latin typeface="Calibri"/>
                        </a:rPr>
                        <a:t>91% correct, yet thousands of design issues (Kashif et al.)</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350" b="0" i="0">
                          <a:solidFill>
                            <a:srgbClr val="2B3440"/>
                          </a:solidFill>
                          <a:latin typeface="Calibri"/>
                        </a:rPr>
                        <a:t>Violations already present outnumber those introduced by about 11:1 (Java) and 35:1 (Python) for refused bequest</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350" b="1" i="0">
                          <a:solidFill>
                            <a:srgbClr val="1B7F68"/>
                          </a:solidFill>
                          <a:latin typeface="Calibri"/>
                        </a:rPr>
                        <a:t>Consistent,</a:t>
                      </a:r>
                      <a:r>
                        <a:rPr sz="1350" b="0" i="0">
                          <a:solidFill>
                            <a:srgbClr val="2B3440"/>
                          </a:solidFill>
                          <a:latin typeface="Calibri"/>
                        </a:rPr>
                        <a:t> though they build new projects and we edit existing ones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7</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Findings</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Against the state of the art: where we differ</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54</a:t>
            </a:r>
          </a:p>
        </p:txBody>
      </p:sp>
      <p:graphicFrame>
        <p:nvGraphicFramePr>
          <p:cNvPr id="66" name="Table 65"/>
          <p:cNvGraphicFramePr>
            <a:graphicFrameLocks noGrp="1"/>
          </p:cNvGraphicFramePr>
          <p:nvPr/>
        </p:nvGraphicFramePr>
        <p:xfrm>
          <a:off x="612648" y="914400"/>
          <a:ext cx="10972800" cy="3611880"/>
        </p:xfrm>
        <a:graphic>
          <a:graphicData uri="http://schemas.openxmlformats.org/drawingml/2006/table">
            <a:tbl>
              <a:tblPr>
                <a:tableStyleId>{2D5ABB26-0587-4C30-8999-92F81FD0307C}</a:tableStyleId>
              </a:tblPr>
              <a:tblGrid>
                <a:gridCol w="320040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457200">
                <a:tc>
                  <a:txBody>
                    <a:bodyPr/>
                    <a:lstStyle/>
                    <a:p>
                      <a:pPr algn="l">
                        <a:spcAft>
                          <a:spcPts val="0"/>
                        </a:spcAft>
                      </a:pPr>
                      <a:r>
                        <a:rPr sz="1350" b="1" i="0">
                          <a:solidFill>
                            <a:srgbClr val="FFFFFF"/>
                          </a:solidFill>
                          <a:latin typeface="Calibri"/>
                        </a:rPr>
                        <a:t>Earlier finding</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l">
                        <a:spcAft>
                          <a:spcPts val="0"/>
                        </a:spcAft>
                      </a:pPr>
                      <a:r>
                        <a:rPr sz="1350" b="1" i="0">
                          <a:solidFill>
                            <a:srgbClr val="FFFFFF"/>
                          </a:solidFill>
                          <a:latin typeface="Calibri"/>
                        </a:rPr>
                        <a:t>What we measured</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l">
                        <a:spcAft>
                          <a:spcPts val="0"/>
                        </a:spcAft>
                      </a:pPr>
                      <a:r>
                        <a:rPr sz="1350" b="1" i="0">
                          <a:solidFill>
                            <a:srgbClr val="FFFFFF"/>
                          </a:solidFill>
                          <a:latin typeface="Calibri"/>
                        </a:rPr>
                        <a:t>Outcome</a:t>
                      </a:r>
                    </a:p>
                  </a:txBody>
                  <a:tcPr marL="73152" marR="73152" marT="27432" marB="27432" anchor="ctr">
                    <a:lnL w="0">
                      <a:noFill/>
                    </a:lnL>
                    <a:lnR w="0">
                      <a:noFill/>
                    </a:lnR>
                    <a:lnT w="0">
                      <a:noFill/>
                    </a:lnT>
                    <a:lnB w="6350">
                      <a:solidFill>
                        <a:srgbClr val="C9D0D8"/>
                      </a:solidFill>
                    </a:lnB>
                    <a:solidFill>
                      <a:srgbClr val="202A36"/>
                    </a:solidFill>
                  </a:tcPr>
                </a:tc>
                <a:extLst>
                  <a:ext uri="{0D108BD9-81ED-4DB2-BD59-A6C34878D82A}">
                    <a16:rowId xmlns:a16="http://schemas.microsoft.com/office/drawing/2014/main" val="10000"/>
                  </a:ext>
                </a:extLst>
              </a:tr>
              <a:tr h="1051560">
                <a:tc>
                  <a:txBody>
                    <a:bodyPr/>
                    <a:lstStyle/>
                    <a:p>
                      <a:pPr algn="l">
                        <a:spcAft>
                          <a:spcPts val="0"/>
                        </a:spcAft>
                      </a:pPr>
                      <a:r>
                        <a:rPr sz="1350" b="1" i="0">
                          <a:solidFill>
                            <a:srgbClr val="202A36"/>
                          </a:solidFill>
                          <a:latin typeface="Calibri"/>
                        </a:rPr>
                        <a:t>SRP easiest to detect, DIP hardest (Pehlivan et al.)</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350" b="0" i="0">
                          <a:solidFill>
                            <a:srgbClr val="2B3440"/>
                          </a:solidFill>
                          <a:latin typeface="Calibri"/>
                        </a:rPr>
                        <a:t>For structural detectors the order reverses: DIP is the most precise (0.892 Java, 1.000 Python), SRP the least (0.350, 0.110)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350" b="1" i="0">
                          <a:solidFill>
                            <a:srgbClr val="2B3440"/>
                          </a:solidFill>
                          <a:latin typeface="Calibri"/>
                        </a:rPr>
                        <a:t>Reversed,</a:t>
                      </a:r>
                      <a:r>
                        <a:rPr sz="1350" b="0" i="0">
                          <a:solidFill>
                            <a:srgbClr val="2B3440"/>
                          </a:solidFill>
                          <a:latin typeface="Calibri"/>
                        </a:rPr>
                        <a:t> because a model reads examples while a static rule computes a whole-repository graph</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1"/>
                  </a:ext>
                </a:extLst>
              </a:tr>
              <a:tr h="1051560">
                <a:tc>
                  <a:txBody>
                    <a:bodyPr/>
                    <a:lstStyle/>
                    <a:p>
                      <a:pPr algn="l">
                        <a:spcAft>
                          <a:spcPts val="0"/>
                        </a:spcAft>
                      </a:pPr>
                      <a:r>
                        <a:rPr sz="1350" b="1" i="0">
                          <a:solidFill>
                            <a:srgbClr val="202A36"/>
                          </a:solidFill>
                          <a:latin typeface="Calibri"/>
                        </a:rPr>
                        <a:t>Agents succeed at only 4.3% of dependency-control tasks, in C++ (Zhu, Haichao, NITR)</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350" b="0" i="0">
                          <a:solidFill>
                            <a:srgbClr val="2B3440"/>
                          </a:solidFill>
                          <a:latin typeface="Calibri"/>
                        </a:rPr>
                        <a:t>Agents seldom introduce dependency or responsibility violations into existing Java and Python repositories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350" b="1" i="0">
                          <a:solidFill>
                            <a:srgbClr val="2B3440"/>
                          </a:solidFill>
                          <a:latin typeface="Calibri"/>
                        </a:rPr>
                        <a:t>Different question:</a:t>
                      </a:r>
                      <a:r>
                        <a:rPr sz="1350" b="0" i="0">
                          <a:solidFill>
                            <a:srgbClr val="2B3440"/>
                          </a:solidFill>
                          <a:latin typeface="Calibri"/>
                        </a:rPr>
                        <a:t> that benchmark asks agents to repair structure, we ask whether they damage it</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extLst>
                  <a:ext uri="{0D108BD9-81ED-4DB2-BD59-A6C34878D82A}">
                    <a16:rowId xmlns:a16="http://schemas.microsoft.com/office/drawing/2014/main" val="10002"/>
                  </a:ext>
                </a:extLst>
              </a:tr>
              <a:tr h="1051560">
                <a:tc>
                  <a:txBody>
                    <a:bodyPr/>
                    <a:lstStyle/>
                    <a:p>
                      <a:pPr algn="l">
                        <a:spcAft>
                          <a:spcPts val="0"/>
                        </a:spcAft>
                      </a:pPr>
                      <a:r>
                        <a:rPr sz="1350" b="1" i="0">
                          <a:solidFill>
                            <a:srgbClr val="202A36"/>
                          </a:solidFill>
                          <a:latin typeface="Calibri"/>
                        </a:rPr>
                        <a:t>Erosion grows across 77% of long-horizon trajectories (SlopCodeBench)</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350" b="0" i="0">
                          <a:solidFill>
                            <a:srgbClr val="2B3440"/>
                          </a:solidFill>
                          <a:latin typeface="Calibri"/>
                        </a:rPr>
                        <a:t>The time coefficient is inert for every delta principle, in both languages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350" b="1" i="0">
                          <a:solidFill>
                            <a:srgbClr val="2B3440"/>
                          </a:solidFill>
                          <a:latin typeface="Calibri"/>
                        </a:rPr>
                        <a:t>Not tested:</a:t>
                      </a:r>
                      <a:r>
                        <a:rPr sz="1350" b="0" i="0">
                          <a:solidFill>
                            <a:srgbClr val="2B3440"/>
                          </a:solidFill>
                          <a:latin typeface="Calibri"/>
                        </a:rPr>
                        <a:t> our unit is one pull request, not a trajectory of successive edits</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extLst>
                  <a:ext uri="{0D108BD9-81ED-4DB2-BD59-A6C34878D82A}">
                    <a16:rowId xmlns:a16="http://schemas.microsoft.com/office/drawing/2014/main" val="10003"/>
                  </a:ext>
                </a:extLst>
              </a:tr>
            </a:tbl>
          </a:graphicData>
        </a:graphic>
      </p:graphicFrame>
      <p:sp>
        <p:nvSpPr>
          <p:cNvPr id="67" name="Rounded Rectangle 66"/>
          <p:cNvSpPr/>
          <p:nvPr/>
        </p:nvSpPr>
        <p:spPr>
          <a:xfrm>
            <a:off x="612648" y="4800600"/>
            <a:ext cx="10972800" cy="914400"/>
          </a:xfrm>
          <a:prstGeom prst="roundRect">
            <a:avLst>
              <a:gd name="adj" fmla="val 8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Hexagon 67"/>
          <p:cNvSpPr/>
          <p:nvPr/>
        </p:nvSpPr>
        <p:spPr>
          <a:xfrm>
            <a:off x="813816" y="5120640"/>
            <a:ext cx="316840" cy="274320"/>
          </a:xfrm>
          <a:prstGeom prst="hexagon">
            <a:avLst/>
          </a:prstGeom>
          <a:solidFill>
            <a:srgbClr val="46CE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252728" y="4800600"/>
            <a:ext cx="10149840" cy="914400"/>
          </a:xfrm>
          <a:prstGeom prst="rect">
            <a:avLst/>
          </a:prstGeom>
          <a:noFill/>
        </p:spPr>
        <p:txBody>
          <a:bodyPr wrap="square" lIns="45720" rIns="45720" anchor="ctr">
            <a:spAutoFit/>
          </a:bodyPr>
          <a:lstStyle/>
          <a:p>
            <a:pPr algn="l">
              <a:spcAft>
                <a:spcPts val="0"/>
              </a:spcAft>
            </a:pPr>
            <a:r>
              <a:rPr sz="1400" b="1" i="0">
                <a:solidFill>
                  <a:srgbClr val="FFFFFF"/>
                </a:solidFill>
                <a:latin typeface="Calibri"/>
              </a:rPr>
              <a:t>Taken together with Pehlivan:</a:t>
            </a:r>
            <a:r>
              <a:rPr sz="1400" b="0" i="0">
                <a:solidFill>
                  <a:srgbClr val="FFFFFF"/>
                </a:solidFill>
                <a:latin typeface="Calibri"/>
              </a:rPr>
              <a:t> a graph-based detector and a reading model fail on opposite principles, so combining them beats choosing one.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7</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Findings</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Contributions and practical use</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55</a:t>
            </a:r>
          </a:p>
        </p:txBody>
      </p:sp>
      <p:sp>
        <p:nvSpPr>
          <p:cNvPr id="66" name="Rounded Rectangle 65"/>
          <p:cNvSpPr/>
          <p:nvPr/>
        </p:nvSpPr>
        <p:spPr>
          <a:xfrm>
            <a:off x="612648" y="914400"/>
            <a:ext cx="5394960" cy="457200"/>
          </a:xfrm>
          <a:prstGeom prst="roundRect">
            <a:avLst>
              <a:gd name="adj" fmla="val 15000"/>
            </a:avLst>
          </a:prstGeom>
          <a:solidFill>
            <a:srgbClr val="3449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95528" y="914400"/>
            <a:ext cx="5029200" cy="457200"/>
          </a:xfrm>
          <a:prstGeom prst="rect">
            <a:avLst/>
          </a:prstGeom>
          <a:noFill/>
        </p:spPr>
        <p:txBody>
          <a:bodyPr wrap="square" lIns="45720" tIns="27432" rIns="45720" bIns="27432" anchor="ctr">
            <a:spAutoFit/>
          </a:bodyPr>
          <a:lstStyle/>
          <a:p>
            <a:pPr algn="l">
              <a:spcAft>
                <a:spcPts val="0"/>
              </a:spcAft>
            </a:pPr>
            <a:r>
              <a:rPr sz="1600" b="1" i="0">
                <a:solidFill>
                  <a:srgbClr val="FFFFFF"/>
                </a:solidFill>
                <a:latin typeface="Arial"/>
              </a:rPr>
              <a:t>Contributions</a:t>
            </a:r>
          </a:p>
        </p:txBody>
      </p:sp>
      <p:sp>
        <p:nvSpPr>
          <p:cNvPr id="68" name="Rounded Rectangle 67"/>
          <p:cNvSpPr/>
          <p:nvPr/>
        </p:nvSpPr>
        <p:spPr>
          <a:xfrm>
            <a:off x="612648" y="1508760"/>
            <a:ext cx="5394960" cy="850392"/>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Hexagon 68"/>
          <p:cNvSpPr/>
          <p:nvPr/>
        </p:nvSpPr>
        <p:spPr>
          <a:xfrm>
            <a:off x="795528" y="1705356"/>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1</a:t>
            </a:r>
          </a:p>
        </p:txBody>
      </p:sp>
      <p:sp>
        <p:nvSpPr>
          <p:cNvPr id="70" name="TextBox 69"/>
          <p:cNvSpPr txBox="1"/>
          <p:nvPr/>
        </p:nvSpPr>
        <p:spPr>
          <a:xfrm>
            <a:off x="1481328" y="1508760"/>
            <a:ext cx="4343400" cy="850392"/>
          </a:xfrm>
          <a:prstGeom prst="rect">
            <a:avLst/>
          </a:prstGeom>
          <a:noFill/>
        </p:spPr>
        <p:txBody>
          <a:bodyPr wrap="square" lIns="36576" tIns="36576" rIns="36576" bIns="36576" anchor="ctr">
            <a:spAutoFit/>
          </a:bodyPr>
          <a:lstStyle/>
          <a:p>
            <a:pPr algn="l">
              <a:spcAft>
                <a:spcPts val="300"/>
              </a:spcAft>
            </a:pPr>
            <a:r>
              <a:rPr sz="1500" b="0" i="0">
                <a:solidFill>
                  <a:srgbClr val="2B3440"/>
                </a:solidFill>
                <a:latin typeface="Calibri"/>
              </a:rPr>
              <a:t>A validated SOLID instrument over real agent pull requests, all five principles</a:t>
            </a:r>
          </a:p>
        </p:txBody>
      </p:sp>
      <p:sp>
        <p:nvSpPr>
          <p:cNvPr id="71" name="Rounded Rectangle 70"/>
          <p:cNvSpPr/>
          <p:nvPr/>
        </p:nvSpPr>
        <p:spPr>
          <a:xfrm>
            <a:off x="612648" y="2450592"/>
            <a:ext cx="5394960" cy="850392"/>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Hexagon 71"/>
          <p:cNvSpPr/>
          <p:nvPr/>
        </p:nvSpPr>
        <p:spPr>
          <a:xfrm>
            <a:off x="795528" y="2647188"/>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2</a:t>
            </a:r>
          </a:p>
        </p:txBody>
      </p:sp>
      <p:sp>
        <p:nvSpPr>
          <p:cNvPr id="73" name="TextBox 72"/>
          <p:cNvSpPr txBox="1"/>
          <p:nvPr/>
        </p:nvSpPr>
        <p:spPr>
          <a:xfrm>
            <a:off x="1481328" y="2450592"/>
            <a:ext cx="4343400" cy="850392"/>
          </a:xfrm>
          <a:prstGeom prst="rect">
            <a:avLst/>
          </a:prstGeom>
          <a:noFill/>
        </p:spPr>
        <p:txBody>
          <a:bodyPr wrap="square" lIns="36576" tIns="36576" rIns="36576" bIns="36576" anchor="ctr">
            <a:spAutoFit/>
          </a:bodyPr>
          <a:lstStyle/>
          <a:p>
            <a:pPr algn="l">
              <a:spcAft>
                <a:spcPts val="300"/>
              </a:spcAft>
            </a:pPr>
            <a:r>
              <a:rPr sz="1500" b="0" i="0">
                <a:solidFill>
                  <a:srgbClr val="2B3440"/>
                </a:solidFill>
                <a:latin typeface="Calibri"/>
              </a:rPr>
              <a:t>A corpus with merged, rejected and open requests</a:t>
            </a:r>
          </a:p>
        </p:txBody>
      </p:sp>
      <p:sp>
        <p:nvSpPr>
          <p:cNvPr id="74" name="Rounded Rectangle 73"/>
          <p:cNvSpPr/>
          <p:nvPr/>
        </p:nvSpPr>
        <p:spPr>
          <a:xfrm>
            <a:off x="612648" y="3392424"/>
            <a:ext cx="5394960" cy="850392"/>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Hexagon 74"/>
          <p:cNvSpPr/>
          <p:nvPr/>
        </p:nvSpPr>
        <p:spPr>
          <a:xfrm>
            <a:off x="795528" y="3589020"/>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3</a:t>
            </a:r>
          </a:p>
        </p:txBody>
      </p:sp>
      <p:sp>
        <p:nvSpPr>
          <p:cNvPr id="76" name="TextBox 75"/>
          <p:cNvSpPr txBox="1"/>
          <p:nvPr/>
        </p:nvSpPr>
        <p:spPr>
          <a:xfrm>
            <a:off x="1481328" y="3392424"/>
            <a:ext cx="4343400" cy="850392"/>
          </a:xfrm>
          <a:prstGeom prst="rect">
            <a:avLst/>
          </a:prstGeom>
          <a:noFill/>
        </p:spPr>
        <p:txBody>
          <a:bodyPr wrap="square" lIns="36576" tIns="36576" rIns="36576" bIns="36576" anchor="ctr">
            <a:spAutoFit/>
          </a:bodyPr>
          <a:lstStyle/>
          <a:p>
            <a:pPr algn="l">
              <a:spcAft>
                <a:spcPts val="300"/>
              </a:spcAft>
            </a:pPr>
            <a:r>
              <a:rPr sz="1500" b="0" i="0">
                <a:solidFill>
                  <a:srgbClr val="2B3440"/>
                </a:solidFill>
                <a:latin typeface="Calibri"/>
              </a:rPr>
              <a:t>A map of which principles a rule measures and which it only screens</a:t>
            </a:r>
          </a:p>
        </p:txBody>
      </p:sp>
      <p:sp>
        <p:nvSpPr>
          <p:cNvPr id="77" name="Rounded Rectangle 76"/>
          <p:cNvSpPr/>
          <p:nvPr/>
        </p:nvSpPr>
        <p:spPr>
          <a:xfrm>
            <a:off x="612648" y="4334256"/>
            <a:ext cx="5394960" cy="850392"/>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Hexagon 77"/>
          <p:cNvSpPr/>
          <p:nvPr/>
        </p:nvSpPr>
        <p:spPr>
          <a:xfrm>
            <a:off x="795528" y="4530852"/>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4</a:t>
            </a:r>
          </a:p>
        </p:txBody>
      </p:sp>
      <p:sp>
        <p:nvSpPr>
          <p:cNvPr id="79" name="TextBox 78"/>
          <p:cNvSpPr txBox="1"/>
          <p:nvPr/>
        </p:nvSpPr>
        <p:spPr>
          <a:xfrm>
            <a:off x="1481328" y="4334256"/>
            <a:ext cx="4343400" cy="850392"/>
          </a:xfrm>
          <a:prstGeom prst="rect">
            <a:avLst/>
          </a:prstGeom>
          <a:noFill/>
        </p:spPr>
        <p:txBody>
          <a:bodyPr wrap="square" lIns="36576" tIns="36576" rIns="36576" bIns="36576" anchor="ctr">
            <a:spAutoFit/>
          </a:bodyPr>
          <a:lstStyle/>
          <a:p>
            <a:pPr algn="l">
              <a:spcAft>
                <a:spcPts val="300"/>
              </a:spcAft>
            </a:pPr>
            <a:r>
              <a:rPr sz="1500" b="0" i="0">
                <a:solidFill>
                  <a:srgbClr val="2B3440"/>
                </a:solidFill>
                <a:latin typeface="Calibri"/>
              </a:rPr>
              <a:t>Evidence in two languages on where design risk sits</a:t>
            </a:r>
          </a:p>
        </p:txBody>
      </p:sp>
      <p:sp>
        <p:nvSpPr>
          <p:cNvPr id="80" name="Rounded Rectangle 79"/>
          <p:cNvSpPr/>
          <p:nvPr/>
        </p:nvSpPr>
        <p:spPr>
          <a:xfrm>
            <a:off x="612648" y="5276088"/>
            <a:ext cx="5394960" cy="850392"/>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Hexagon 80"/>
          <p:cNvSpPr/>
          <p:nvPr/>
        </p:nvSpPr>
        <p:spPr>
          <a:xfrm>
            <a:off x="795528" y="5472684"/>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5</a:t>
            </a:r>
          </a:p>
        </p:txBody>
      </p:sp>
      <p:sp>
        <p:nvSpPr>
          <p:cNvPr id="82" name="TextBox 81"/>
          <p:cNvSpPr txBox="1"/>
          <p:nvPr/>
        </p:nvSpPr>
        <p:spPr>
          <a:xfrm>
            <a:off x="1481328" y="5276088"/>
            <a:ext cx="4343400" cy="850392"/>
          </a:xfrm>
          <a:prstGeom prst="rect">
            <a:avLst/>
          </a:prstGeom>
          <a:noFill/>
        </p:spPr>
        <p:txBody>
          <a:bodyPr wrap="square" lIns="36576" tIns="36576" rIns="36576" bIns="36576" anchor="ctr">
            <a:spAutoFit/>
          </a:bodyPr>
          <a:lstStyle/>
          <a:p>
            <a:pPr algn="l">
              <a:spcAft>
                <a:spcPts val="300"/>
              </a:spcAft>
            </a:pPr>
            <a:r>
              <a:rPr sz="1500" b="0" i="0">
                <a:solidFill>
                  <a:srgbClr val="2B3440"/>
                </a:solidFill>
                <a:latin typeface="Calibri"/>
              </a:rPr>
              <a:t>A replication with the same agents in a second language</a:t>
            </a:r>
          </a:p>
        </p:txBody>
      </p:sp>
      <p:sp>
        <p:nvSpPr>
          <p:cNvPr id="83" name="Rounded Rectangle 82"/>
          <p:cNvSpPr/>
          <p:nvPr/>
        </p:nvSpPr>
        <p:spPr>
          <a:xfrm>
            <a:off x="6190488" y="914400"/>
            <a:ext cx="5394960" cy="457200"/>
          </a:xfrm>
          <a:prstGeom prst="roundRect">
            <a:avLst>
              <a:gd name="adj" fmla="val 15000"/>
            </a:avLst>
          </a:prstGeom>
          <a:solidFill>
            <a:srgbClr val="3449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6373368" y="914400"/>
            <a:ext cx="5029200" cy="457200"/>
          </a:xfrm>
          <a:prstGeom prst="rect">
            <a:avLst/>
          </a:prstGeom>
          <a:noFill/>
        </p:spPr>
        <p:txBody>
          <a:bodyPr wrap="square" lIns="45720" tIns="27432" rIns="45720" bIns="27432" anchor="ctr">
            <a:spAutoFit/>
          </a:bodyPr>
          <a:lstStyle/>
          <a:p>
            <a:pPr algn="l">
              <a:spcAft>
                <a:spcPts val="0"/>
              </a:spcAft>
            </a:pPr>
            <a:r>
              <a:rPr sz="1600" b="1" i="0">
                <a:solidFill>
                  <a:srgbClr val="FFFFFF"/>
                </a:solidFill>
                <a:latin typeface="Arial"/>
              </a:rPr>
              <a:t>For a review check</a:t>
            </a:r>
          </a:p>
        </p:txBody>
      </p:sp>
      <p:sp>
        <p:nvSpPr>
          <p:cNvPr id="85" name="Rounded Rectangle 84"/>
          <p:cNvSpPr/>
          <p:nvPr/>
        </p:nvSpPr>
        <p:spPr>
          <a:xfrm>
            <a:off x="6190488" y="1508760"/>
            <a:ext cx="5394960" cy="850392"/>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Hexagon 85"/>
          <p:cNvSpPr/>
          <p:nvPr/>
        </p:nvSpPr>
        <p:spPr>
          <a:xfrm>
            <a:off x="6373368" y="1705356"/>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1</a:t>
            </a:r>
          </a:p>
        </p:txBody>
      </p:sp>
      <p:sp>
        <p:nvSpPr>
          <p:cNvPr id="87" name="TextBox 86"/>
          <p:cNvSpPr txBox="1"/>
          <p:nvPr/>
        </p:nvSpPr>
        <p:spPr>
          <a:xfrm>
            <a:off x="7059168" y="1508760"/>
            <a:ext cx="4343400" cy="850392"/>
          </a:xfrm>
          <a:prstGeom prst="rect">
            <a:avLst/>
          </a:prstGeom>
          <a:noFill/>
        </p:spPr>
        <p:txBody>
          <a:bodyPr wrap="square" lIns="36576" tIns="36576" rIns="36576" bIns="36576" anchor="ctr">
            <a:spAutoFit/>
          </a:bodyPr>
          <a:lstStyle/>
          <a:p>
            <a:pPr algn="l">
              <a:spcAft>
                <a:spcPts val="300"/>
              </a:spcAft>
            </a:pPr>
            <a:r>
              <a:rPr sz="1500" b="0" i="0">
                <a:solidFill>
                  <a:srgbClr val="2B3440"/>
                </a:solidFill>
                <a:latin typeface="Calibri"/>
              </a:rPr>
              <a:t>Add refused bequest: 64/64 in Java, 6/7 in Python</a:t>
            </a:r>
          </a:p>
        </p:txBody>
      </p:sp>
      <p:sp>
        <p:nvSpPr>
          <p:cNvPr id="88" name="Rounded Rectangle 87"/>
          <p:cNvSpPr/>
          <p:nvPr/>
        </p:nvSpPr>
        <p:spPr>
          <a:xfrm>
            <a:off x="6190488" y="2450592"/>
            <a:ext cx="5394960" cy="850392"/>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Hexagon 88"/>
          <p:cNvSpPr/>
          <p:nvPr/>
        </p:nvSpPr>
        <p:spPr>
          <a:xfrm>
            <a:off x="6373368" y="2647188"/>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2</a:t>
            </a:r>
          </a:p>
        </p:txBody>
      </p:sp>
      <p:sp>
        <p:nvSpPr>
          <p:cNvPr id="90" name="TextBox 89"/>
          <p:cNvSpPr txBox="1"/>
          <p:nvPr/>
        </p:nvSpPr>
        <p:spPr>
          <a:xfrm>
            <a:off x="7059168" y="2450592"/>
            <a:ext cx="4343400" cy="850392"/>
          </a:xfrm>
          <a:prstGeom prst="rect">
            <a:avLst/>
          </a:prstGeom>
          <a:noFill/>
        </p:spPr>
        <p:txBody>
          <a:bodyPr wrap="square" lIns="36576" tIns="36576" rIns="36576" bIns="36576" anchor="ctr">
            <a:spAutoFit/>
          </a:bodyPr>
          <a:lstStyle/>
          <a:p>
            <a:pPr algn="l">
              <a:spcAft>
                <a:spcPts val="300"/>
              </a:spcAft>
            </a:pPr>
            <a:r>
              <a:rPr sz="1500" b="0" i="0">
                <a:solidFill>
                  <a:srgbClr val="2B3440"/>
                </a:solidFill>
                <a:latin typeface="Calibri"/>
              </a:rPr>
              <a:t>In dynamic languages, also check that an override still accepts the base’s calls</a:t>
            </a:r>
          </a:p>
        </p:txBody>
      </p:sp>
      <p:sp>
        <p:nvSpPr>
          <p:cNvPr id="91" name="Rounded Rectangle 90"/>
          <p:cNvSpPr/>
          <p:nvPr/>
        </p:nvSpPr>
        <p:spPr>
          <a:xfrm>
            <a:off x="6190488" y="3392424"/>
            <a:ext cx="5394960" cy="850392"/>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Hexagon 91"/>
          <p:cNvSpPr/>
          <p:nvPr/>
        </p:nvSpPr>
        <p:spPr>
          <a:xfrm>
            <a:off x="6373368" y="3589020"/>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3</a:t>
            </a:r>
          </a:p>
        </p:txBody>
      </p:sp>
      <p:sp>
        <p:nvSpPr>
          <p:cNvPr id="93" name="TextBox 92"/>
          <p:cNvSpPr txBox="1"/>
          <p:nvPr/>
        </p:nvSpPr>
        <p:spPr>
          <a:xfrm>
            <a:off x="7059168" y="3392424"/>
            <a:ext cx="4343400" cy="850392"/>
          </a:xfrm>
          <a:prstGeom prst="rect">
            <a:avLst/>
          </a:prstGeom>
          <a:noFill/>
        </p:spPr>
        <p:txBody>
          <a:bodyPr wrap="square" lIns="36576" tIns="36576" rIns="36576" bIns="36576" anchor="ctr">
            <a:spAutoFit/>
          </a:bodyPr>
          <a:lstStyle/>
          <a:p>
            <a:pPr algn="l">
              <a:spcAft>
                <a:spcPts val="300"/>
              </a:spcAft>
            </a:pPr>
            <a:r>
              <a:rPr sz="1500" b="0" i="0">
                <a:solidFill>
                  <a:srgbClr val="2B3440"/>
                </a:solidFill>
                <a:latin typeface="Calibri"/>
              </a:rPr>
              <a:t>Do not rely on interface-width thresholds</a:t>
            </a:r>
          </a:p>
        </p:txBody>
      </p:sp>
      <p:sp>
        <p:nvSpPr>
          <p:cNvPr id="94" name="Rounded Rectangle 93"/>
          <p:cNvSpPr/>
          <p:nvPr/>
        </p:nvSpPr>
        <p:spPr>
          <a:xfrm>
            <a:off x="6190488" y="4334256"/>
            <a:ext cx="5394960" cy="850392"/>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Hexagon 94"/>
          <p:cNvSpPr/>
          <p:nvPr/>
        </p:nvSpPr>
        <p:spPr>
          <a:xfrm>
            <a:off x="6373368" y="4530852"/>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4</a:t>
            </a:r>
          </a:p>
        </p:txBody>
      </p:sp>
      <p:sp>
        <p:nvSpPr>
          <p:cNvPr id="96" name="TextBox 95"/>
          <p:cNvSpPr txBox="1"/>
          <p:nvPr/>
        </p:nvSpPr>
        <p:spPr>
          <a:xfrm>
            <a:off x="7059168" y="4334256"/>
            <a:ext cx="4343400" cy="850392"/>
          </a:xfrm>
          <a:prstGeom prst="rect">
            <a:avLst/>
          </a:prstGeom>
          <a:noFill/>
        </p:spPr>
        <p:txBody>
          <a:bodyPr wrap="square" lIns="36576" tIns="36576" rIns="36576" bIns="36576" anchor="ctr">
            <a:spAutoFit/>
          </a:bodyPr>
          <a:lstStyle/>
          <a:p>
            <a:pPr algn="l">
              <a:spcAft>
                <a:spcPts val="300"/>
              </a:spcAft>
            </a:pPr>
            <a:r>
              <a:rPr sz="1500" b="0" i="0">
                <a:solidFill>
                  <a:srgbClr val="2B3440"/>
                </a:solidFill>
                <a:latin typeface="Calibri"/>
              </a:rPr>
              <a:t>Treat SRP and OCP flags as prompts for discussion, not as blockers</a:t>
            </a:r>
          </a:p>
        </p:txBody>
      </p:sp>
      <p:sp>
        <p:nvSpPr>
          <p:cNvPr id="97" name="Rounded Rectangle 96"/>
          <p:cNvSpPr/>
          <p:nvPr/>
        </p:nvSpPr>
        <p:spPr>
          <a:xfrm>
            <a:off x="6190488" y="5276088"/>
            <a:ext cx="5394960" cy="850392"/>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Hexagon 97"/>
          <p:cNvSpPr/>
          <p:nvPr/>
        </p:nvSpPr>
        <p:spPr>
          <a:xfrm>
            <a:off x="6373368" y="5472684"/>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5</a:t>
            </a:r>
          </a:p>
        </p:txBody>
      </p:sp>
      <p:sp>
        <p:nvSpPr>
          <p:cNvPr id="99" name="TextBox 98"/>
          <p:cNvSpPr txBox="1"/>
          <p:nvPr/>
        </p:nvSpPr>
        <p:spPr>
          <a:xfrm>
            <a:off x="7059168" y="5276088"/>
            <a:ext cx="4343400" cy="850392"/>
          </a:xfrm>
          <a:prstGeom prst="rect">
            <a:avLst/>
          </a:prstGeom>
          <a:noFill/>
        </p:spPr>
        <p:txBody>
          <a:bodyPr wrap="square" lIns="36576" tIns="36576" rIns="36576" bIns="36576" anchor="ctr">
            <a:spAutoFit/>
          </a:bodyPr>
          <a:lstStyle/>
          <a:p>
            <a:pPr algn="l">
              <a:spcAft>
                <a:spcPts val="300"/>
              </a:spcAft>
            </a:pPr>
            <a:r>
              <a:rPr sz="1500" b="0" i="0">
                <a:solidFill>
                  <a:srgbClr val="2B3440"/>
                </a:solidFill>
                <a:latin typeface="Calibri"/>
              </a:rPr>
              <a:t>Structural checks cannot see relation-level damage: that needs repository history</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7</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Findings</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Limitations</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56</a:t>
            </a:r>
          </a:p>
        </p:txBody>
      </p:sp>
      <p:sp>
        <p:nvSpPr>
          <p:cNvPr id="66" name="Rounded Rectangle 65"/>
          <p:cNvSpPr/>
          <p:nvPr/>
        </p:nvSpPr>
        <p:spPr>
          <a:xfrm>
            <a:off x="612648" y="914400"/>
            <a:ext cx="5394960" cy="1266444"/>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Hexagon 66"/>
          <p:cNvSpPr/>
          <p:nvPr/>
        </p:nvSpPr>
        <p:spPr>
          <a:xfrm>
            <a:off x="795528" y="1319022"/>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1</a:t>
            </a:r>
          </a:p>
        </p:txBody>
      </p:sp>
      <p:sp>
        <p:nvSpPr>
          <p:cNvPr id="68" name="TextBox 67"/>
          <p:cNvSpPr txBox="1"/>
          <p:nvPr/>
        </p:nvSpPr>
        <p:spPr>
          <a:xfrm>
            <a:off x="1481328" y="914400"/>
            <a:ext cx="4343400" cy="1266444"/>
          </a:xfrm>
          <a:prstGeom prst="rect">
            <a:avLst/>
          </a:prstGeom>
          <a:noFill/>
        </p:spPr>
        <p:txBody>
          <a:bodyPr wrap="square" lIns="36576" tIns="36576" rIns="36576" bIns="36576" anchor="ctr">
            <a:spAutoFit/>
          </a:bodyPr>
          <a:lstStyle/>
          <a:p>
            <a:pPr algn="l">
              <a:spcAft>
                <a:spcPts val="300"/>
              </a:spcAft>
            </a:pPr>
            <a:r>
              <a:rPr sz="1550" b="0" i="0">
                <a:solidFill>
                  <a:srgbClr val="2B3440"/>
                </a:solidFill>
                <a:latin typeface="Calibri"/>
              </a:rPr>
              <a:t>SOLID adherence is not measured design quality or cost; nothing here observes an outcome</a:t>
            </a:r>
          </a:p>
        </p:txBody>
      </p:sp>
      <p:sp>
        <p:nvSpPr>
          <p:cNvPr id="69" name="Rounded Rectangle 68"/>
          <p:cNvSpPr/>
          <p:nvPr/>
        </p:nvSpPr>
        <p:spPr>
          <a:xfrm>
            <a:off x="612648" y="2290572"/>
            <a:ext cx="5394960" cy="1266444"/>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Hexagon 69"/>
          <p:cNvSpPr/>
          <p:nvPr/>
        </p:nvSpPr>
        <p:spPr>
          <a:xfrm>
            <a:off x="795528" y="2695194"/>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2</a:t>
            </a:r>
          </a:p>
        </p:txBody>
      </p:sp>
      <p:sp>
        <p:nvSpPr>
          <p:cNvPr id="71" name="TextBox 70"/>
          <p:cNvSpPr txBox="1"/>
          <p:nvPr/>
        </p:nvSpPr>
        <p:spPr>
          <a:xfrm>
            <a:off x="1481328" y="2290572"/>
            <a:ext cx="4343400" cy="1266444"/>
          </a:xfrm>
          <a:prstGeom prst="rect">
            <a:avLst/>
          </a:prstGeom>
          <a:noFill/>
        </p:spPr>
        <p:txBody>
          <a:bodyPr wrap="square" lIns="36576" tIns="36576" rIns="36576" bIns="36576" anchor="ctr">
            <a:spAutoFit/>
          </a:bodyPr>
          <a:lstStyle/>
          <a:p>
            <a:pPr algn="l">
              <a:spcAft>
                <a:spcPts val="300"/>
              </a:spcAft>
            </a:pPr>
            <a:r>
              <a:rPr sz="1550" b="0" i="0">
                <a:solidFill>
                  <a:srgbClr val="2B3440"/>
                </a:solidFill>
                <a:latin typeface="Calibri"/>
              </a:rPr>
              <a:t>Labels come from an LLM judge of the same family as one agent; 89.7% self-agreement bounds every figure</a:t>
            </a:r>
          </a:p>
        </p:txBody>
      </p:sp>
      <p:sp>
        <p:nvSpPr>
          <p:cNvPr id="72" name="Rounded Rectangle 71"/>
          <p:cNvSpPr/>
          <p:nvPr/>
        </p:nvSpPr>
        <p:spPr>
          <a:xfrm>
            <a:off x="612648" y="3666744"/>
            <a:ext cx="5394960" cy="1266444"/>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Hexagon 72"/>
          <p:cNvSpPr/>
          <p:nvPr/>
        </p:nvSpPr>
        <p:spPr>
          <a:xfrm>
            <a:off x="795528" y="4071366"/>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3</a:t>
            </a:r>
          </a:p>
        </p:txBody>
      </p:sp>
      <p:sp>
        <p:nvSpPr>
          <p:cNvPr id="74" name="TextBox 73"/>
          <p:cNvSpPr txBox="1"/>
          <p:nvPr/>
        </p:nvSpPr>
        <p:spPr>
          <a:xfrm>
            <a:off x="1481328" y="3666744"/>
            <a:ext cx="4343400" cy="1266444"/>
          </a:xfrm>
          <a:prstGeom prst="rect">
            <a:avLst/>
          </a:prstGeom>
          <a:noFill/>
        </p:spPr>
        <p:txBody>
          <a:bodyPr wrap="square" lIns="36576" tIns="36576" rIns="36576" bIns="36576" anchor="ctr">
            <a:spAutoFit/>
          </a:bodyPr>
          <a:lstStyle/>
          <a:p>
            <a:pPr algn="l">
              <a:spcAft>
                <a:spcPts val="300"/>
              </a:spcAft>
            </a:pPr>
            <a:r>
              <a:rPr sz="1550" b="0" i="0">
                <a:solidFill>
                  <a:srgbClr val="2B3440"/>
                </a:solidFill>
                <a:latin typeface="Calibri"/>
              </a:rPr>
              <a:t>No tool corroborates OCP (κ 0.122); none exists for ISP or Python</a:t>
            </a:r>
          </a:p>
        </p:txBody>
      </p:sp>
      <p:sp>
        <p:nvSpPr>
          <p:cNvPr id="75" name="Rounded Rectangle 74"/>
          <p:cNvSpPr/>
          <p:nvPr/>
        </p:nvSpPr>
        <p:spPr>
          <a:xfrm>
            <a:off x="612648" y="5042916"/>
            <a:ext cx="5394960" cy="1266444"/>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Hexagon 75"/>
          <p:cNvSpPr/>
          <p:nvPr/>
        </p:nvSpPr>
        <p:spPr>
          <a:xfrm>
            <a:off x="795528" y="5447538"/>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4</a:t>
            </a:r>
          </a:p>
        </p:txBody>
      </p:sp>
      <p:sp>
        <p:nvSpPr>
          <p:cNvPr id="77" name="TextBox 76"/>
          <p:cNvSpPr txBox="1"/>
          <p:nvPr/>
        </p:nvSpPr>
        <p:spPr>
          <a:xfrm>
            <a:off x="1481328" y="5042916"/>
            <a:ext cx="4343400" cy="1266444"/>
          </a:xfrm>
          <a:prstGeom prst="rect">
            <a:avLst/>
          </a:prstGeom>
          <a:noFill/>
        </p:spPr>
        <p:txBody>
          <a:bodyPr wrap="square" lIns="36576" tIns="36576" rIns="36576" bIns="36576" anchor="ctr">
            <a:spAutoFit/>
          </a:bodyPr>
          <a:lstStyle/>
          <a:p>
            <a:pPr algn="l">
              <a:spcAft>
                <a:spcPts val="300"/>
              </a:spcAft>
            </a:pPr>
            <a:r>
              <a:rPr sz="1550" b="0" i="0">
                <a:solidFill>
                  <a:srgbClr val="2B3440"/>
                </a:solidFill>
                <a:latin typeface="Calibri"/>
              </a:rPr>
              <a:t>Agents chose their own tasks: these are associations, not causes</a:t>
            </a:r>
          </a:p>
        </p:txBody>
      </p:sp>
      <p:sp>
        <p:nvSpPr>
          <p:cNvPr id="78" name="Rounded Rectangle 77"/>
          <p:cNvSpPr/>
          <p:nvPr/>
        </p:nvSpPr>
        <p:spPr>
          <a:xfrm>
            <a:off x="6190488" y="914400"/>
            <a:ext cx="5394960" cy="99121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Hexagon 78"/>
          <p:cNvSpPr/>
          <p:nvPr/>
        </p:nvSpPr>
        <p:spPr>
          <a:xfrm>
            <a:off x="6373368" y="1181405"/>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5</a:t>
            </a:r>
          </a:p>
        </p:txBody>
      </p:sp>
      <p:sp>
        <p:nvSpPr>
          <p:cNvPr id="80" name="TextBox 79"/>
          <p:cNvSpPr txBox="1"/>
          <p:nvPr/>
        </p:nvSpPr>
        <p:spPr>
          <a:xfrm>
            <a:off x="7059168" y="914400"/>
            <a:ext cx="4343400" cy="991210"/>
          </a:xfrm>
          <a:prstGeom prst="rect">
            <a:avLst/>
          </a:prstGeom>
          <a:noFill/>
        </p:spPr>
        <p:txBody>
          <a:bodyPr wrap="square" lIns="36576" tIns="36576" rIns="36576" bIns="36576" anchor="ctr">
            <a:spAutoFit/>
          </a:bodyPr>
          <a:lstStyle/>
          <a:p>
            <a:pPr algn="l">
              <a:spcAft>
                <a:spcPts val="300"/>
              </a:spcAft>
            </a:pPr>
            <a:r>
              <a:rPr sz="1500" b="0" i="0">
                <a:solidFill>
                  <a:srgbClr val="2B3440"/>
                </a:solidFill>
                <a:latin typeface="Calibri"/>
              </a:rPr>
              <a:t>Few reviewed rejections (171 Java, 196 Python)</a:t>
            </a:r>
          </a:p>
        </p:txBody>
      </p:sp>
      <p:sp>
        <p:nvSpPr>
          <p:cNvPr id="81" name="Rounded Rectangle 80"/>
          <p:cNvSpPr/>
          <p:nvPr/>
        </p:nvSpPr>
        <p:spPr>
          <a:xfrm>
            <a:off x="6190488" y="2015338"/>
            <a:ext cx="5394960" cy="99121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Hexagon 81"/>
          <p:cNvSpPr/>
          <p:nvPr/>
        </p:nvSpPr>
        <p:spPr>
          <a:xfrm>
            <a:off x="6373368" y="2282342"/>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6</a:t>
            </a:r>
          </a:p>
        </p:txBody>
      </p:sp>
      <p:sp>
        <p:nvSpPr>
          <p:cNvPr id="83" name="TextBox 82"/>
          <p:cNvSpPr txBox="1"/>
          <p:nvPr/>
        </p:nvSpPr>
        <p:spPr>
          <a:xfrm>
            <a:off x="7059168" y="2015338"/>
            <a:ext cx="4343400" cy="991210"/>
          </a:xfrm>
          <a:prstGeom prst="rect">
            <a:avLst/>
          </a:prstGeom>
          <a:noFill/>
        </p:spPr>
        <p:txBody>
          <a:bodyPr wrap="square" lIns="36576" tIns="36576" rIns="36576" bIns="36576" anchor="ctr">
            <a:spAutoFit/>
          </a:bodyPr>
          <a:lstStyle/>
          <a:p>
            <a:pPr algn="l">
              <a:spcAft>
                <a:spcPts val="300"/>
              </a:spcAft>
            </a:pPr>
            <a:r>
              <a:rPr sz="1500" b="0" i="0">
                <a:solidFill>
                  <a:srgbClr val="2B3440"/>
                </a:solidFill>
                <a:latin typeface="Calibri"/>
              </a:rPr>
              <a:t>One snapshot per pull request: slow erosion is invisible</a:t>
            </a:r>
          </a:p>
        </p:txBody>
      </p:sp>
      <p:sp>
        <p:nvSpPr>
          <p:cNvPr id="84" name="Rounded Rectangle 83"/>
          <p:cNvSpPr/>
          <p:nvPr/>
        </p:nvSpPr>
        <p:spPr>
          <a:xfrm>
            <a:off x="6190488" y="3116275"/>
            <a:ext cx="5394960" cy="99121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Hexagon 84"/>
          <p:cNvSpPr/>
          <p:nvPr/>
        </p:nvSpPr>
        <p:spPr>
          <a:xfrm>
            <a:off x="6373368" y="3383280"/>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7</a:t>
            </a:r>
          </a:p>
        </p:txBody>
      </p:sp>
      <p:sp>
        <p:nvSpPr>
          <p:cNvPr id="86" name="TextBox 85"/>
          <p:cNvSpPr txBox="1"/>
          <p:nvPr/>
        </p:nvSpPr>
        <p:spPr>
          <a:xfrm>
            <a:off x="7059168" y="3116275"/>
            <a:ext cx="4343400" cy="991210"/>
          </a:xfrm>
          <a:prstGeom prst="rect">
            <a:avLst/>
          </a:prstGeom>
          <a:noFill/>
        </p:spPr>
        <p:txBody>
          <a:bodyPr wrap="square" lIns="36576" tIns="36576" rIns="36576" bIns="36576" anchor="ctr">
            <a:spAutoFit/>
          </a:bodyPr>
          <a:lstStyle/>
          <a:p>
            <a:pPr algn="l">
              <a:spcAft>
                <a:spcPts val="300"/>
              </a:spcAft>
            </a:pPr>
            <a:r>
              <a:rPr sz="1500" b="0" i="0">
                <a:solidFill>
                  <a:srgbClr val="2B3440"/>
                </a:solidFill>
                <a:latin typeface="Calibri"/>
              </a:rPr>
              <a:t>Both corpora come from one dataset; 7.0% of Python source is gone</a:t>
            </a:r>
          </a:p>
        </p:txBody>
      </p:sp>
      <p:sp>
        <p:nvSpPr>
          <p:cNvPr id="87" name="Rounded Rectangle 86"/>
          <p:cNvSpPr/>
          <p:nvPr/>
        </p:nvSpPr>
        <p:spPr>
          <a:xfrm>
            <a:off x="6190488" y="4217213"/>
            <a:ext cx="5394960" cy="99121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Hexagon 87"/>
          <p:cNvSpPr/>
          <p:nvPr/>
        </p:nvSpPr>
        <p:spPr>
          <a:xfrm>
            <a:off x="6373368" y="4484218"/>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8</a:t>
            </a:r>
          </a:p>
        </p:txBody>
      </p:sp>
      <p:sp>
        <p:nvSpPr>
          <p:cNvPr id="89" name="TextBox 88"/>
          <p:cNvSpPr txBox="1"/>
          <p:nvPr/>
        </p:nvSpPr>
        <p:spPr>
          <a:xfrm>
            <a:off x="7059168" y="4217213"/>
            <a:ext cx="4343400" cy="991210"/>
          </a:xfrm>
          <a:prstGeom prst="rect">
            <a:avLst/>
          </a:prstGeom>
          <a:noFill/>
        </p:spPr>
        <p:txBody>
          <a:bodyPr wrap="square" lIns="36576" tIns="36576" rIns="36576" bIns="36576" anchor="ctr">
            <a:spAutoFit/>
          </a:bodyPr>
          <a:lstStyle/>
          <a:p>
            <a:pPr algn="l">
              <a:spcAft>
                <a:spcPts val="300"/>
              </a:spcAft>
            </a:pPr>
            <a:r>
              <a:rPr sz="1500" b="0" i="0">
                <a:solidFill>
                  <a:srgbClr val="2B3440"/>
                </a:solidFill>
                <a:latin typeface="Calibri"/>
              </a:rPr>
              <a:t>Small counts for the relation-level principles, so their intervals are wide</a:t>
            </a:r>
          </a:p>
        </p:txBody>
      </p:sp>
      <p:sp>
        <p:nvSpPr>
          <p:cNvPr id="90" name="Rounded Rectangle 89"/>
          <p:cNvSpPr/>
          <p:nvPr/>
        </p:nvSpPr>
        <p:spPr>
          <a:xfrm>
            <a:off x="6190488" y="5318150"/>
            <a:ext cx="5394960" cy="99121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Hexagon 90"/>
          <p:cNvSpPr/>
          <p:nvPr/>
        </p:nvSpPr>
        <p:spPr>
          <a:xfrm>
            <a:off x="6373368" y="5585155"/>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9</a:t>
            </a:r>
          </a:p>
        </p:txBody>
      </p:sp>
      <p:sp>
        <p:nvSpPr>
          <p:cNvPr id="92" name="TextBox 91"/>
          <p:cNvSpPr txBox="1"/>
          <p:nvPr/>
        </p:nvSpPr>
        <p:spPr>
          <a:xfrm>
            <a:off x="7059168" y="5318150"/>
            <a:ext cx="4343400" cy="991210"/>
          </a:xfrm>
          <a:prstGeom prst="rect">
            <a:avLst/>
          </a:prstGeom>
          <a:noFill/>
        </p:spPr>
        <p:txBody>
          <a:bodyPr wrap="square" lIns="36576" tIns="36576" rIns="36576" bIns="36576" anchor="ctr">
            <a:spAutoFit/>
          </a:bodyPr>
          <a:lstStyle/>
          <a:p>
            <a:pPr algn="l">
              <a:spcAft>
                <a:spcPts val="300"/>
              </a:spcAft>
            </a:pPr>
            <a:r>
              <a:rPr sz="1500" b="0" i="0">
                <a:solidFill>
                  <a:srgbClr val="2B3440"/>
                </a:solidFill>
                <a:latin typeface="Calibri"/>
              </a:rPr>
              <a:t>Python Interface Segregation is defined differently, so raw rates are not comparable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Part 7</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Findings</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Conclusion and future work</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57</a:t>
            </a:r>
          </a:p>
        </p:txBody>
      </p:sp>
      <p:sp>
        <p:nvSpPr>
          <p:cNvPr id="66" name="Rounded Rectangle 65"/>
          <p:cNvSpPr/>
          <p:nvPr/>
        </p:nvSpPr>
        <p:spPr>
          <a:xfrm>
            <a:off x="612648" y="914400"/>
            <a:ext cx="10972800" cy="1280160"/>
          </a:xfrm>
          <a:prstGeom prst="roundRect">
            <a:avLst>
              <a:gd name="adj" fmla="val 8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Hexagon 66"/>
          <p:cNvSpPr/>
          <p:nvPr/>
        </p:nvSpPr>
        <p:spPr>
          <a:xfrm>
            <a:off x="813816" y="1417320"/>
            <a:ext cx="316840" cy="274320"/>
          </a:xfrm>
          <a:prstGeom prst="hexagon">
            <a:avLst/>
          </a:prstGeom>
          <a:solidFill>
            <a:srgbClr val="46CE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1252728" y="914400"/>
            <a:ext cx="10149840" cy="1280160"/>
          </a:xfrm>
          <a:prstGeom prst="rect">
            <a:avLst/>
          </a:prstGeom>
          <a:noFill/>
        </p:spPr>
        <p:txBody>
          <a:bodyPr wrap="square" lIns="45720" rIns="45720" anchor="ctr">
            <a:spAutoFit/>
          </a:bodyPr>
          <a:lstStyle/>
          <a:p>
            <a:pPr algn="l">
              <a:spcAft>
                <a:spcPts val="0"/>
              </a:spcAft>
            </a:pPr>
            <a:r>
              <a:rPr sz="1550" b="1" i="0">
                <a:solidFill>
                  <a:srgbClr val="FFFFFF"/>
                </a:solidFill>
                <a:latin typeface="Calibri"/>
              </a:rPr>
              <a:t>Most design problems in the code these agents touch were there before them, and how much an agent changes matters more than which agent it is.</a:t>
            </a:r>
            <a:r>
              <a:rPr sz="1550" b="0" i="0">
                <a:solidFill>
                  <a:srgbClr val="FFFFFF"/>
                </a:solidFill>
                <a:latin typeface="Calibri"/>
              </a:rPr>
              <a:t> Both results hold in Java and in Python.</a:t>
            </a:r>
          </a:p>
        </p:txBody>
      </p:sp>
      <p:sp>
        <p:nvSpPr>
          <p:cNvPr id="69" name="TextBox 68"/>
          <p:cNvSpPr txBox="1"/>
          <p:nvPr/>
        </p:nvSpPr>
        <p:spPr>
          <a:xfrm>
            <a:off x="612648" y="2395728"/>
            <a:ext cx="10972800" cy="274320"/>
          </a:xfrm>
          <a:prstGeom prst="rect">
            <a:avLst/>
          </a:prstGeom>
          <a:noFill/>
        </p:spPr>
        <p:txBody>
          <a:bodyPr wrap="square" lIns="18288" tIns="18288" rIns="18288" bIns="18288" anchor="t">
            <a:spAutoFit/>
          </a:bodyPr>
          <a:lstStyle/>
          <a:p>
            <a:pPr algn="l">
              <a:spcAft>
                <a:spcPts val="0"/>
              </a:spcAft>
            </a:pPr>
            <a:r>
              <a:rPr sz="1200" b="1" i="0">
                <a:solidFill>
                  <a:srgbClr val="34495E"/>
                </a:solidFill>
                <a:latin typeface="Arial"/>
              </a:rPr>
              <a:t>NEXT STEPS</a:t>
            </a:r>
          </a:p>
        </p:txBody>
      </p:sp>
      <p:sp>
        <p:nvSpPr>
          <p:cNvPr id="70" name="Rounded Rectangle 69"/>
          <p:cNvSpPr/>
          <p:nvPr/>
        </p:nvSpPr>
        <p:spPr>
          <a:xfrm>
            <a:off x="612648" y="2743200"/>
            <a:ext cx="5394960" cy="100584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Hexagon 70"/>
          <p:cNvSpPr/>
          <p:nvPr/>
        </p:nvSpPr>
        <p:spPr>
          <a:xfrm>
            <a:off x="795528" y="3017520"/>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1</a:t>
            </a:r>
          </a:p>
        </p:txBody>
      </p:sp>
      <p:sp>
        <p:nvSpPr>
          <p:cNvPr id="72" name="TextBox 71"/>
          <p:cNvSpPr txBox="1"/>
          <p:nvPr/>
        </p:nvSpPr>
        <p:spPr>
          <a:xfrm>
            <a:off x="1481328" y="2743200"/>
            <a:ext cx="4343400" cy="1005840"/>
          </a:xfrm>
          <a:prstGeom prst="rect">
            <a:avLst/>
          </a:prstGeom>
          <a:noFill/>
        </p:spPr>
        <p:txBody>
          <a:bodyPr wrap="square" lIns="36576" tIns="36576" rIns="36576" bIns="36576" anchor="ctr">
            <a:spAutoFit/>
          </a:bodyPr>
          <a:lstStyle/>
          <a:p>
            <a:pPr algn="l">
              <a:spcAft>
                <a:spcPts val="300"/>
              </a:spcAft>
            </a:pPr>
            <a:r>
              <a:rPr sz="1500" b="0" i="0">
                <a:solidFill>
                  <a:srgbClr val="2B3440"/>
                </a:solidFill>
                <a:latin typeface="Calibri"/>
              </a:rPr>
              <a:t>Recognise specification-fixed sets for Open/Closed, and a churn signal for what is not closed</a:t>
            </a:r>
          </a:p>
        </p:txBody>
      </p:sp>
      <p:sp>
        <p:nvSpPr>
          <p:cNvPr id="73" name="Rounded Rectangle 72"/>
          <p:cNvSpPr/>
          <p:nvPr/>
        </p:nvSpPr>
        <p:spPr>
          <a:xfrm>
            <a:off x="612648" y="3840480"/>
            <a:ext cx="5394960" cy="100584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Hexagon 73"/>
          <p:cNvSpPr/>
          <p:nvPr/>
        </p:nvSpPr>
        <p:spPr>
          <a:xfrm>
            <a:off x="795528" y="4114800"/>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2</a:t>
            </a:r>
          </a:p>
        </p:txBody>
      </p:sp>
      <p:sp>
        <p:nvSpPr>
          <p:cNvPr id="75" name="TextBox 74"/>
          <p:cNvSpPr txBox="1"/>
          <p:nvPr/>
        </p:nvSpPr>
        <p:spPr>
          <a:xfrm>
            <a:off x="1481328" y="3840480"/>
            <a:ext cx="4343400" cy="1005840"/>
          </a:xfrm>
          <a:prstGeom prst="rect">
            <a:avLst/>
          </a:prstGeom>
          <a:noFill/>
        </p:spPr>
        <p:txBody>
          <a:bodyPr wrap="square" lIns="36576" tIns="36576" rIns="36576" bIns="36576" anchor="ctr">
            <a:spAutoFit/>
          </a:bodyPr>
          <a:lstStyle/>
          <a:p>
            <a:pPr algn="l">
              <a:spcAft>
                <a:spcPts val="300"/>
              </a:spcAft>
            </a:pPr>
            <a:r>
              <a:rPr sz="1500" b="0" i="0">
                <a:solidFill>
                  <a:srgbClr val="2B3440"/>
                </a:solidFill>
                <a:latin typeface="Calibri"/>
              </a:rPr>
              <a:t>An Open/Closed proxy that agrees with published smells (κ=0.122 today)</a:t>
            </a:r>
          </a:p>
        </p:txBody>
      </p:sp>
      <p:sp>
        <p:nvSpPr>
          <p:cNvPr id="76" name="Rounded Rectangle 75"/>
          <p:cNvSpPr/>
          <p:nvPr/>
        </p:nvSpPr>
        <p:spPr>
          <a:xfrm>
            <a:off x="612648" y="4937760"/>
            <a:ext cx="5394960" cy="100584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Hexagon 76"/>
          <p:cNvSpPr/>
          <p:nvPr/>
        </p:nvSpPr>
        <p:spPr>
          <a:xfrm>
            <a:off x="795528" y="5212080"/>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3</a:t>
            </a:r>
          </a:p>
        </p:txBody>
      </p:sp>
      <p:sp>
        <p:nvSpPr>
          <p:cNvPr id="78" name="TextBox 77"/>
          <p:cNvSpPr txBox="1"/>
          <p:nvPr/>
        </p:nvSpPr>
        <p:spPr>
          <a:xfrm>
            <a:off x="1481328" y="4937760"/>
            <a:ext cx="4343400" cy="1005840"/>
          </a:xfrm>
          <a:prstGeom prst="rect">
            <a:avLst/>
          </a:prstGeom>
          <a:noFill/>
        </p:spPr>
        <p:txBody>
          <a:bodyPr wrap="square" lIns="36576" tIns="36576" rIns="36576" bIns="36576" anchor="ctr">
            <a:spAutoFit/>
          </a:bodyPr>
          <a:lstStyle/>
          <a:p>
            <a:pPr algn="l">
              <a:spcAft>
                <a:spcPts val="300"/>
              </a:spcAft>
            </a:pPr>
            <a:r>
              <a:rPr sz="1500" b="0" i="0">
                <a:solidFill>
                  <a:srgbClr val="2B3440"/>
                </a:solidFill>
                <a:latin typeface="Calibri"/>
              </a:rPr>
              <a:t>A framework-aware responsibility screen for Python</a:t>
            </a:r>
          </a:p>
        </p:txBody>
      </p:sp>
      <p:sp>
        <p:nvSpPr>
          <p:cNvPr id="79" name="Rounded Rectangle 78"/>
          <p:cNvSpPr/>
          <p:nvPr/>
        </p:nvSpPr>
        <p:spPr>
          <a:xfrm>
            <a:off x="6190488" y="2743200"/>
            <a:ext cx="5394960" cy="73152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Hexagon 79"/>
          <p:cNvSpPr/>
          <p:nvPr/>
        </p:nvSpPr>
        <p:spPr>
          <a:xfrm>
            <a:off x="6373368" y="2880360"/>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4</a:t>
            </a:r>
          </a:p>
        </p:txBody>
      </p:sp>
      <p:sp>
        <p:nvSpPr>
          <p:cNvPr id="81" name="TextBox 80"/>
          <p:cNvSpPr txBox="1"/>
          <p:nvPr/>
        </p:nvSpPr>
        <p:spPr>
          <a:xfrm>
            <a:off x="7059168" y="2743200"/>
            <a:ext cx="4343400" cy="731520"/>
          </a:xfrm>
          <a:prstGeom prst="rect">
            <a:avLst/>
          </a:prstGeom>
          <a:noFill/>
        </p:spPr>
        <p:txBody>
          <a:bodyPr wrap="square" lIns="36576" tIns="36576" rIns="36576" bIns="36576" anchor="ctr">
            <a:spAutoFit/>
          </a:bodyPr>
          <a:lstStyle/>
          <a:p>
            <a:pPr algn="l">
              <a:spcAft>
                <a:spcPts val="300"/>
              </a:spcAft>
            </a:pPr>
            <a:r>
              <a:rPr sz="1450" b="0" i="0">
                <a:solidFill>
                  <a:srgbClr val="2B3440"/>
                </a:solidFill>
                <a:latin typeface="Calibri"/>
              </a:rPr>
              <a:t>Narrow recall by sampling unflagged entities</a:t>
            </a:r>
          </a:p>
        </p:txBody>
      </p:sp>
      <p:sp>
        <p:nvSpPr>
          <p:cNvPr id="82" name="Rounded Rectangle 81"/>
          <p:cNvSpPr/>
          <p:nvPr/>
        </p:nvSpPr>
        <p:spPr>
          <a:xfrm>
            <a:off x="6190488" y="3566160"/>
            <a:ext cx="5394960" cy="73152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Hexagon 82"/>
          <p:cNvSpPr/>
          <p:nvPr/>
        </p:nvSpPr>
        <p:spPr>
          <a:xfrm>
            <a:off x="6373368" y="3703320"/>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5</a:t>
            </a:r>
          </a:p>
        </p:txBody>
      </p:sp>
      <p:sp>
        <p:nvSpPr>
          <p:cNvPr id="84" name="TextBox 83"/>
          <p:cNvSpPr txBox="1"/>
          <p:nvPr/>
        </p:nvSpPr>
        <p:spPr>
          <a:xfrm>
            <a:off x="7059168" y="3566160"/>
            <a:ext cx="4343400" cy="731520"/>
          </a:xfrm>
          <a:prstGeom prst="rect">
            <a:avLst/>
          </a:prstGeom>
          <a:noFill/>
        </p:spPr>
        <p:txBody>
          <a:bodyPr wrap="square" lIns="36576" tIns="36576" rIns="36576" bIns="36576" anchor="ctr">
            <a:spAutoFit/>
          </a:bodyPr>
          <a:lstStyle/>
          <a:p>
            <a:pPr algn="l">
              <a:spcAft>
                <a:spcPts val="300"/>
              </a:spcAft>
            </a:pPr>
            <a:r>
              <a:rPr sz="1450" b="0" i="0">
                <a:solidFill>
                  <a:srgbClr val="2B3440"/>
                </a:solidFill>
                <a:latin typeface="Calibri"/>
              </a:rPr>
              <a:t>Re-judge Python samples, and add a judge from another model family</a:t>
            </a:r>
          </a:p>
        </p:txBody>
      </p:sp>
      <p:sp>
        <p:nvSpPr>
          <p:cNvPr id="85" name="Rounded Rectangle 84"/>
          <p:cNvSpPr/>
          <p:nvPr/>
        </p:nvSpPr>
        <p:spPr>
          <a:xfrm>
            <a:off x="6190488" y="4389120"/>
            <a:ext cx="5394960" cy="73152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Hexagon 85"/>
          <p:cNvSpPr/>
          <p:nvPr/>
        </p:nvSpPr>
        <p:spPr>
          <a:xfrm>
            <a:off x="6373368" y="4526280"/>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6</a:t>
            </a:r>
          </a:p>
        </p:txBody>
      </p:sp>
      <p:sp>
        <p:nvSpPr>
          <p:cNvPr id="87" name="TextBox 86"/>
          <p:cNvSpPr txBox="1"/>
          <p:nvPr/>
        </p:nvSpPr>
        <p:spPr>
          <a:xfrm>
            <a:off x="7059168" y="4389120"/>
            <a:ext cx="4343400" cy="731520"/>
          </a:xfrm>
          <a:prstGeom prst="rect">
            <a:avLst/>
          </a:prstGeom>
          <a:noFill/>
        </p:spPr>
        <p:txBody>
          <a:bodyPr wrap="square" lIns="36576" tIns="36576" rIns="36576" bIns="36576" anchor="ctr">
            <a:spAutoFit/>
          </a:bodyPr>
          <a:lstStyle/>
          <a:p>
            <a:pPr algn="l">
              <a:spcAft>
                <a:spcPts val="300"/>
              </a:spcAft>
            </a:pPr>
            <a:r>
              <a:rPr sz="1450" b="0" i="0">
                <a:solidFill>
                  <a:srgbClr val="2B3440"/>
                </a:solidFill>
                <a:latin typeface="Calibri"/>
              </a:rPr>
              <a:t>A corpus with many reviewed rejections</a:t>
            </a:r>
          </a:p>
        </p:txBody>
      </p:sp>
      <p:sp>
        <p:nvSpPr>
          <p:cNvPr id="88" name="Rounded Rectangle 87"/>
          <p:cNvSpPr/>
          <p:nvPr/>
        </p:nvSpPr>
        <p:spPr>
          <a:xfrm>
            <a:off x="6190488" y="5212080"/>
            <a:ext cx="5394960" cy="73152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Hexagon 88"/>
          <p:cNvSpPr/>
          <p:nvPr/>
        </p:nvSpPr>
        <p:spPr>
          <a:xfrm>
            <a:off x="6373368" y="5349240"/>
            <a:ext cx="528066" cy="457200"/>
          </a:xfrm>
          <a:prstGeom prst="hexagon">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Arial"/>
              </a:rPr>
              <a:t>7</a:t>
            </a:r>
          </a:p>
        </p:txBody>
      </p:sp>
      <p:sp>
        <p:nvSpPr>
          <p:cNvPr id="90" name="TextBox 89"/>
          <p:cNvSpPr txBox="1"/>
          <p:nvPr/>
        </p:nvSpPr>
        <p:spPr>
          <a:xfrm>
            <a:off x="7059168" y="5212080"/>
            <a:ext cx="4343400" cy="731520"/>
          </a:xfrm>
          <a:prstGeom prst="rect">
            <a:avLst/>
          </a:prstGeom>
          <a:noFill/>
        </p:spPr>
        <p:txBody>
          <a:bodyPr wrap="square" lIns="36576" tIns="36576" rIns="36576" bIns="36576" anchor="ctr">
            <a:spAutoFit/>
          </a:bodyPr>
          <a:lstStyle/>
          <a:p>
            <a:pPr algn="l">
              <a:spcAft>
                <a:spcPts val="300"/>
              </a:spcAft>
            </a:pPr>
            <a:r>
              <a:rPr sz="1450" b="0" i="0">
                <a:solidFill>
                  <a:srgbClr val="2B3440"/>
                </a:solidFill>
                <a:latin typeface="Calibri"/>
              </a:rPr>
              <a:t>Repository history as the unit of analysis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23093" y="1917661"/>
            <a:ext cx="12241360" cy="312366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 y="2061677"/>
            <a:ext cx="12218266" cy="280831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23092" y="1700808"/>
            <a:ext cx="12241359" cy="3601229"/>
          </a:xfrm>
          <a:prstGeom prst="rect">
            <a:avLst/>
          </a:prstGeom>
          <a:solidFill>
            <a:srgbClr val="202A36">
              <a:alpha val="1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0" y="6741368"/>
            <a:ext cx="12195175" cy="116632"/>
          </a:xfrm>
          <a:prstGeom prst="rect">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19"/>
          <p:cNvSpPr txBox="1"/>
          <p:nvPr/>
        </p:nvSpPr>
        <p:spPr>
          <a:xfrm>
            <a:off x="1374711" y="2586804"/>
            <a:ext cx="9445752" cy="978729"/>
          </a:xfrm>
          <a:prstGeom prst="rect">
            <a:avLst/>
          </a:prstGeom>
          <a:noFill/>
        </p:spPr>
        <p:txBody>
          <a:bodyPr wrap="square" lIns="45720" tIns="27432" rIns="45720" bIns="27432" anchor="ctr">
            <a:spAutoFit/>
          </a:bodyPr>
          <a:lstStyle/>
          <a:p>
            <a:pPr algn="ctr">
              <a:spcAft>
                <a:spcPts val="0"/>
              </a:spcAft>
            </a:pPr>
            <a:r>
              <a:rPr lang="pl-PL" sz="6000" b="1" dirty="0">
                <a:solidFill>
                  <a:srgbClr val="202A36"/>
                </a:solidFill>
                <a:latin typeface="Arial"/>
              </a:rPr>
              <a:t>Dziękuję</a:t>
            </a:r>
            <a:endParaRPr sz="6000" b="1" i="0" dirty="0">
              <a:solidFill>
                <a:srgbClr val="202A36"/>
              </a:solidFill>
              <a:latin typeface="Arial"/>
            </a:endParaRPr>
          </a:p>
        </p:txBody>
      </p:sp>
      <p:sp>
        <p:nvSpPr>
          <p:cNvPr id="3" name="TextBox 2">
            <a:extLst>
              <a:ext uri="{FF2B5EF4-FFF2-40B4-BE49-F238E27FC236}">
                <a16:creationId xmlns:a16="http://schemas.microsoft.com/office/drawing/2014/main" id="{7C32676C-7F5C-8B9D-4582-34928EBB6C30}"/>
              </a:ext>
            </a:extLst>
          </p:cNvPr>
          <p:cNvSpPr txBox="1"/>
          <p:nvPr/>
        </p:nvSpPr>
        <p:spPr>
          <a:xfrm>
            <a:off x="1386258" y="3608363"/>
            <a:ext cx="9445752" cy="609398"/>
          </a:xfrm>
          <a:prstGeom prst="rect">
            <a:avLst/>
          </a:prstGeom>
          <a:noFill/>
        </p:spPr>
        <p:txBody>
          <a:bodyPr wrap="square" lIns="45720" tIns="27432" rIns="45720" bIns="27432" anchor="ctr">
            <a:spAutoFit/>
          </a:bodyPr>
          <a:lstStyle/>
          <a:p>
            <a:pPr algn="ctr">
              <a:spcAft>
                <a:spcPts val="0"/>
              </a:spcAft>
            </a:pPr>
            <a:r>
              <a:rPr lang="fr-TN" sz="3600" b="1" dirty="0" err="1">
                <a:solidFill>
                  <a:srgbClr val="202A36"/>
                </a:solidFill>
                <a:latin typeface="Arial"/>
              </a:rPr>
              <a:t>Thank</a:t>
            </a:r>
            <a:r>
              <a:rPr lang="fr-TN" sz="3600" b="1" dirty="0">
                <a:solidFill>
                  <a:srgbClr val="202A36"/>
                </a:solidFill>
                <a:latin typeface="Arial"/>
              </a:rPr>
              <a:t> </a:t>
            </a:r>
            <a:r>
              <a:rPr lang="fr-TN" sz="3600" b="1" dirty="0" err="1">
                <a:solidFill>
                  <a:srgbClr val="202A36"/>
                </a:solidFill>
                <a:latin typeface="Arial"/>
              </a:rPr>
              <a:t>you</a:t>
            </a:r>
            <a:endParaRPr sz="6000" b="1" i="0" dirty="0">
              <a:solidFill>
                <a:srgbClr val="202A36"/>
              </a:solidFill>
              <a:latin typeface="Arial"/>
            </a:endParaRPr>
          </a:p>
        </p:txBody>
      </p:sp>
      <p:sp>
        <p:nvSpPr>
          <p:cNvPr id="5" name="TextBox 4">
            <a:extLst>
              <a:ext uri="{FF2B5EF4-FFF2-40B4-BE49-F238E27FC236}">
                <a16:creationId xmlns:a16="http://schemas.microsoft.com/office/drawing/2014/main" id="{6FB4F9EE-AF0B-D9EE-E7FD-D071457F6739}"/>
              </a:ext>
            </a:extLst>
          </p:cNvPr>
          <p:cNvSpPr txBox="1"/>
          <p:nvPr/>
        </p:nvSpPr>
        <p:spPr>
          <a:xfrm>
            <a:off x="4648808" y="5764447"/>
            <a:ext cx="2897557" cy="369332"/>
          </a:xfrm>
          <a:prstGeom prst="rect">
            <a:avLst/>
          </a:prstGeom>
          <a:noFill/>
        </p:spPr>
        <p:txBody>
          <a:bodyPr wrap="square">
            <a:spAutoFit/>
          </a:bodyPr>
          <a:lstStyle/>
          <a:p>
            <a:pPr algn="ctr"/>
            <a:r>
              <a:rPr lang="en-US" dirty="0"/>
              <a:t>https://kiraieee.github.io/</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 name="组合 54"/>
          <p:cNvGrpSpPr/>
          <p:nvPr/>
        </p:nvGrpSpPr>
        <p:grpSpPr>
          <a:xfrm>
            <a:off x="2052459" y="1419448"/>
            <a:ext cx="2036802" cy="2036802"/>
            <a:chOff x="8125599" y="1434035"/>
            <a:chExt cx="2036802" cy="2036802"/>
          </a:xfrm>
        </p:grpSpPr>
        <p:sp>
          <p:nvSpPr>
            <p:cNvPr id="56" name="椭圆 55"/>
            <p:cNvSpPr/>
            <p:nvPr/>
          </p:nvSpPr>
          <p:spPr>
            <a:xfrm>
              <a:off x="8125599" y="1434035"/>
              <a:ext cx="2036802" cy="2036802"/>
            </a:xfrm>
            <a:prstGeom prst="ellipse">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Freeform 206"/>
            <p:cNvSpPr>
              <a:spLocks noChangeAspect="1" noEditPoints="1"/>
            </p:cNvSpPr>
            <p:nvPr/>
          </p:nvSpPr>
          <p:spPr bwMode="auto">
            <a:xfrm>
              <a:off x="8691164" y="1871942"/>
              <a:ext cx="935653" cy="1131009"/>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chemeClr val="bg1">
                <a:lumMod val="95000"/>
              </a:schemeClr>
            </a:solidFill>
            <a:ln>
              <a:noFill/>
            </a:ln>
          </p:spPr>
          <p:txBody>
            <a:bodyPr vert="horz" wrap="square" lIns="91440" tIns="45720" rIns="91440" bIns="45720" numCol="1" anchor="t" anchorCtr="0" compatLnSpc="1"/>
            <a:lstStyle/>
            <a:p>
              <a:endParaRPr lang="zh-CN" altLang="en-US">
                <a:latin typeface="Arial" panose="020B0604020202020204" pitchFamily="34" charset="0"/>
                <a:cs typeface="Arial" panose="020B0604020202020204" pitchFamily="34" charset="0"/>
              </a:endParaRPr>
            </a:p>
          </p:txBody>
        </p:sp>
      </p:grpSp>
      <p:sp>
        <p:nvSpPr>
          <p:cNvPr id="61" name="矩形 60"/>
          <p:cNvSpPr/>
          <p:nvPr/>
        </p:nvSpPr>
        <p:spPr>
          <a:xfrm>
            <a:off x="6095999" y="0"/>
            <a:ext cx="6099175" cy="6858000"/>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TextBox 61"/>
          <p:cNvSpPr txBox="1"/>
          <p:nvPr/>
        </p:nvSpPr>
        <p:spPr>
          <a:xfrm>
            <a:off x="457200" y="3749040"/>
            <a:ext cx="5184648" cy="548640"/>
          </a:xfrm>
          <a:prstGeom prst="rect">
            <a:avLst/>
          </a:prstGeom>
          <a:noFill/>
        </p:spPr>
        <p:txBody>
          <a:bodyPr wrap="square" lIns="45720" tIns="27432" rIns="45720" bIns="27432" anchor="t">
            <a:spAutoFit/>
          </a:bodyPr>
          <a:lstStyle/>
          <a:p>
            <a:pPr algn="ctr">
              <a:spcAft>
                <a:spcPts val="0"/>
              </a:spcAft>
            </a:pPr>
            <a:r>
              <a:rPr sz="2800" b="1" i="0">
                <a:solidFill>
                  <a:srgbClr val="46CEAE"/>
                </a:solidFill>
                <a:latin typeface="Arial"/>
              </a:rPr>
              <a:t>Backup</a:t>
            </a:r>
          </a:p>
        </p:txBody>
      </p:sp>
      <p:sp>
        <p:nvSpPr>
          <p:cNvPr id="63" name="TextBox 62"/>
          <p:cNvSpPr txBox="1"/>
          <p:nvPr/>
        </p:nvSpPr>
        <p:spPr>
          <a:xfrm>
            <a:off x="457200" y="4315968"/>
            <a:ext cx="5184648" cy="1737360"/>
          </a:xfrm>
          <a:prstGeom prst="rect">
            <a:avLst/>
          </a:prstGeom>
          <a:noFill/>
        </p:spPr>
        <p:txBody>
          <a:bodyPr wrap="square" lIns="45720" tIns="27432" rIns="45720" bIns="27432" anchor="t">
            <a:spAutoFit/>
          </a:bodyPr>
          <a:lstStyle/>
          <a:p>
            <a:pPr algn="ctr">
              <a:lnSpc>
                <a:spcPct val="95000"/>
              </a:lnSpc>
              <a:spcAft>
                <a:spcPts val="0"/>
              </a:spcAft>
            </a:pPr>
            <a:r>
              <a:rPr sz="3200" b="1" i="0">
                <a:solidFill>
                  <a:srgbClr val="202A36"/>
                </a:solidFill>
                <a:latin typeface="Arial"/>
              </a:rPr>
              <a:t>Additional material</a:t>
            </a:r>
          </a:p>
        </p:txBody>
      </p:sp>
      <p:cxnSp>
        <p:nvCxnSpPr>
          <p:cNvPr id="64" name="Connector 63"/>
          <p:cNvCxnSpPr/>
          <p:nvPr/>
        </p:nvCxnSpPr>
        <p:spPr>
          <a:xfrm>
            <a:off x="7863840" y="2404872"/>
            <a:ext cx="0" cy="2048256"/>
          </a:xfrm>
          <a:prstGeom prst="line">
            <a:avLst/>
          </a:prstGeom>
          <a:ln w="19050">
            <a:solidFill>
              <a:srgbClr val="8E98A5"/>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7790688" y="2697480"/>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8229600" y="2569464"/>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Why recall must be weighted</a:t>
            </a:r>
          </a:p>
        </p:txBody>
      </p:sp>
      <p:sp>
        <p:nvSpPr>
          <p:cNvPr id="67" name="Oval 66"/>
          <p:cNvSpPr/>
          <p:nvPr/>
        </p:nvSpPr>
        <p:spPr>
          <a:xfrm>
            <a:off x="7790688" y="3355848"/>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229600" y="3227832"/>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Package zones</a:t>
            </a:r>
          </a:p>
        </p:txBody>
      </p:sp>
      <p:sp>
        <p:nvSpPr>
          <p:cNvPr id="69" name="Oval 68"/>
          <p:cNvSpPr/>
          <p:nvPr/>
        </p:nvSpPr>
        <p:spPr>
          <a:xfrm>
            <a:off x="7790688" y="4014216"/>
            <a:ext cx="146304" cy="146304"/>
          </a:xfrm>
          <a:prstGeom prst="ellipse">
            <a:avLst/>
          </a:prstGeom>
          <a:solidFill>
            <a:srgbClr val="D9D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229600" y="3886200"/>
            <a:ext cx="3931920" cy="402336"/>
          </a:xfrm>
          <a:prstGeom prst="rect">
            <a:avLst/>
          </a:prstGeom>
          <a:noFill/>
        </p:spPr>
        <p:txBody>
          <a:bodyPr wrap="square" lIns="45720" tIns="27432" rIns="45720" bIns="27432" anchor="ctr">
            <a:spAutoFit/>
          </a:bodyPr>
          <a:lstStyle/>
          <a:p>
            <a:pPr algn="l">
              <a:spcAft>
                <a:spcPts val="0"/>
              </a:spcAft>
            </a:pPr>
            <a:r>
              <a:rPr sz="1600" b="0" i="0">
                <a:solidFill>
                  <a:srgbClr val="F2F4F7"/>
                </a:solidFill>
                <a:latin typeface="Arial"/>
              </a:rPr>
              <a:t>Corrected rates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Backup</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Additional</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Backup: why recall must be weighted</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60</a:t>
            </a:r>
          </a:p>
        </p:txBody>
      </p:sp>
      <p:sp>
        <p:nvSpPr>
          <p:cNvPr id="66" name="Rounded Rectangle 65"/>
          <p:cNvSpPr/>
          <p:nvPr/>
        </p:nvSpPr>
        <p:spPr>
          <a:xfrm>
            <a:off x="612648" y="914400"/>
            <a:ext cx="6309360" cy="539496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95528" y="1097280"/>
            <a:ext cx="5943600" cy="1188720"/>
          </a:xfrm>
          <a:prstGeom prst="rect">
            <a:avLst/>
          </a:prstGeom>
          <a:noFill/>
        </p:spPr>
        <p:txBody>
          <a:bodyPr wrap="square" lIns="45720" tIns="27432" rIns="45720" bIns="27432" anchor="t">
            <a:spAutoFit/>
          </a:bodyPr>
          <a:lstStyle/>
          <a:p>
            <a:pPr algn="l">
              <a:spcAft>
                <a:spcPts val="0"/>
              </a:spcAft>
            </a:pPr>
            <a:r>
              <a:rPr sz="1450" b="0" i="0">
                <a:solidFill>
                  <a:srgbClr val="2B3440"/>
                </a:solidFill>
                <a:latin typeface="Calibri"/>
              </a:rPr>
              <a:t>Each sample is half flagged, the population is not. For Java Liskov it holds </a:t>
            </a:r>
            <a:r>
              <a:rPr sz="1450" b="1" i="0">
                <a:solidFill>
                  <a:srgbClr val="2B3440"/>
                </a:solidFill>
                <a:latin typeface="Calibri"/>
              </a:rPr>
              <a:t>574 flagged</a:t>
            </a:r>
            <a:r>
              <a:rPr sz="1450" b="0" i="0">
                <a:solidFill>
                  <a:srgbClr val="2B3440"/>
                </a:solidFill>
                <a:latin typeface="Calibri"/>
              </a:rPr>
              <a:t> override pairs and </a:t>
            </a:r>
            <a:r>
              <a:rPr sz="1450" b="1" i="0">
                <a:solidFill>
                  <a:srgbClr val="2B3440"/>
                </a:solidFill>
                <a:latin typeface="Calibri"/>
              </a:rPr>
              <a:t>25,594 unflagged</a:t>
            </a:r>
            <a:r>
              <a:rPr sz="1450" b="0" i="0">
                <a:solidFill>
                  <a:srgbClr val="2B3440"/>
                </a:solidFill>
                <a:latin typeface="Calibri"/>
              </a:rPr>
              <a:t> ones.</a:t>
            </a:r>
          </a:p>
        </p:txBody>
      </p:sp>
      <p:pic>
        <p:nvPicPr>
          <p:cNvPr id="68" name="Picture 67" descr="eq_13.png"/>
          <p:cNvPicPr>
            <a:picLocks noChangeAspect="1"/>
          </p:cNvPicPr>
          <p:nvPr/>
        </p:nvPicPr>
        <p:blipFill>
          <a:blip r:embed="rId2"/>
          <a:stretch>
            <a:fillRect/>
          </a:stretch>
        </p:blipFill>
        <p:spPr>
          <a:xfrm>
            <a:off x="1069848" y="2377440"/>
            <a:ext cx="4469587" cy="914400"/>
          </a:xfrm>
          <a:prstGeom prst="rect">
            <a:avLst/>
          </a:prstGeom>
        </p:spPr>
      </p:pic>
      <p:sp>
        <p:nvSpPr>
          <p:cNvPr id="69" name="TextBox 68"/>
          <p:cNvSpPr txBox="1"/>
          <p:nvPr/>
        </p:nvSpPr>
        <p:spPr>
          <a:xfrm>
            <a:off x="795528" y="3657600"/>
            <a:ext cx="5943600" cy="2468880"/>
          </a:xfrm>
          <a:prstGeom prst="rect">
            <a:avLst/>
          </a:prstGeom>
          <a:noFill/>
        </p:spPr>
        <p:txBody>
          <a:bodyPr wrap="square" lIns="45720" tIns="27432" rIns="45720" bIns="27432" anchor="t">
            <a:spAutoFit/>
          </a:bodyPr>
          <a:lstStyle/>
          <a:p>
            <a:pPr algn="l">
              <a:spcAft>
                <a:spcPts val="0"/>
              </a:spcAft>
            </a:pPr>
            <a:r>
              <a:rPr sz="1450" b="0" i="0">
                <a:solidFill>
                  <a:srgbClr val="2B3440"/>
                </a:solidFill>
                <a:latin typeface="Calibri"/>
              </a:rPr>
              <a:t>Counting the strata as equally common gives </a:t>
            </a:r>
            <a:r>
              <a:rPr sz="1450" b="1" i="0">
                <a:solidFill>
                  <a:srgbClr val="2B3440"/>
                </a:solidFill>
                <a:latin typeface="Calibri"/>
              </a:rPr>
              <a:t>0.966</a:t>
            </a:r>
            <a:r>
              <a:rPr sz="1450" b="0" i="0">
                <a:solidFill>
                  <a:srgbClr val="2B3440"/>
                </a:solidFill>
                <a:latin typeface="Calibri"/>
              </a:rPr>
              <a:t>. Weighting gives </a:t>
            </a:r>
            <a:r>
              <a:rPr sz="1450" b="1" i="0">
                <a:solidFill>
                  <a:srgbClr val="2B3440"/>
                </a:solidFill>
                <a:latin typeface="Calibri"/>
              </a:rPr>
              <a:t>0.386</a:t>
            </a:r>
            <a:r>
              <a:rPr sz="1450" b="0" i="0">
                <a:solidFill>
                  <a:srgbClr val="2B3440"/>
                </a:solidFill>
                <a:latin typeface="Calibri"/>
              </a:rPr>
              <a:t>. The population is the one the sample was drawn from: production entities, counted once each.</a:t>
            </a:r>
          </a:p>
        </p:txBody>
      </p:sp>
      <p:sp>
        <p:nvSpPr>
          <p:cNvPr id="70" name="Rounded Rectangle 69"/>
          <p:cNvSpPr/>
          <p:nvPr/>
        </p:nvSpPr>
        <p:spPr>
          <a:xfrm>
            <a:off x="7132320" y="914400"/>
            <a:ext cx="4453128" cy="1737360"/>
          </a:xfrm>
          <a:prstGeom prst="roundRect">
            <a:avLst>
              <a:gd name="adj" fmla="val 6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269480" y="1005840"/>
            <a:ext cx="4178808" cy="868680"/>
          </a:xfrm>
          <a:prstGeom prst="rect">
            <a:avLst/>
          </a:prstGeom>
          <a:noFill/>
        </p:spPr>
        <p:txBody>
          <a:bodyPr wrap="square" lIns="45720" tIns="27432" rIns="45720" bIns="27432" anchor="b">
            <a:spAutoFit/>
          </a:bodyPr>
          <a:lstStyle/>
          <a:p>
            <a:pPr algn="ctr">
              <a:spcAft>
                <a:spcPts val="0"/>
              </a:spcAft>
            </a:pPr>
            <a:r>
              <a:rPr sz="3000" b="1" i="0">
                <a:solidFill>
                  <a:srgbClr val="46CEAE"/>
                </a:solidFill>
                <a:latin typeface="Arial"/>
              </a:rPr>
              <a:t>0.966 → 0.386</a:t>
            </a:r>
          </a:p>
        </p:txBody>
      </p:sp>
      <p:sp>
        <p:nvSpPr>
          <p:cNvPr id="72" name="TextBox 71"/>
          <p:cNvSpPr txBox="1"/>
          <p:nvPr/>
        </p:nvSpPr>
        <p:spPr>
          <a:xfrm>
            <a:off x="7315200" y="1869948"/>
            <a:ext cx="4087368" cy="729691"/>
          </a:xfrm>
          <a:prstGeom prst="rect">
            <a:avLst/>
          </a:prstGeom>
          <a:noFill/>
        </p:spPr>
        <p:txBody>
          <a:bodyPr wrap="square" lIns="45720" tIns="27432" rIns="45720" bIns="27432" anchor="t">
            <a:spAutoFit/>
          </a:bodyPr>
          <a:lstStyle/>
          <a:p>
            <a:pPr algn="ctr">
              <a:spcAft>
                <a:spcPts val="0"/>
              </a:spcAft>
            </a:pPr>
            <a:r>
              <a:rPr sz="1300" b="0" i="0">
                <a:solidFill>
                  <a:srgbClr val="D5DCE4"/>
                </a:solidFill>
                <a:latin typeface="Calibri"/>
              </a:rPr>
              <a:t>unweighted vs weighted recall, Java Liskov</a:t>
            </a:r>
          </a:p>
        </p:txBody>
      </p:sp>
      <p:sp>
        <p:nvSpPr>
          <p:cNvPr id="73" name="Rounded Rectangle 72"/>
          <p:cNvSpPr/>
          <p:nvPr/>
        </p:nvSpPr>
        <p:spPr>
          <a:xfrm>
            <a:off x="7132320" y="2834640"/>
            <a:ext cx="4453128" cy="210312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7315200" y="2834640"/>
            <a:ext cx="4087368" cy="2103120"/>
          </a:xfrm>
          <a:prstGeom prst="rect">
            <a:avLst/>
          </a:prstGeom>
          <a:noFill/>
        </p:spPr>
        <p:txBody>
          <a:bodyPr wrap="square" lIns="36576" tIns="36576" rIns="36576" bIns="36576" anchor="ctr">
            <a:spAutoFit/>
          </a:bodyPr>
          <a:lstStyle/>
          <a:p>
            <a:pPr algn="l">
              <a:spcAft>
                <a:spcPts val="300"/>
              </a:spcAft>
            </a:pPr>
            <a:r>
              <a:rPr sz="1400" b="0" i="0">
                <a:solidFill>
                  <a:srgbClr val="2B3440"/>
                </a:solidFill>
                <a:latin typeface="Calibri"/>
              </a:rPr>
              <a:t>The intervals are wide because a weighted recall rests on the few violations found in the unflagged stratum (three for Liskov, in 200 rows).</a:t>
            </a:r>
          </a:p>
        </p:txBody>
      </p:sp>
      <p:sp>
        <p:nvSpPr>
          <p:cNvPr id="75" name="Rounded Rectangle 74"/>
          <p:cNvSpPr/>
          <p:nvPr/>
        </p:nvSpPr>
        <p:spPr>
          <a:xfrm>
            <a:off x="7132320" y="5120640"/>
            <a:ext cx="4453128" cy="118872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7315200" y="5120640"/>
            <a:ext cx="4087368" cy="1188720"/>
          </a:xfrm>
          <a:prstGeom prst="rect">
            <a:avLst/>
          </a:prstGeom>
          <a:noFill/>
        </p:spPr>
        <p:txBody>
          <a:bodyPr wrap="square" lIns="36576" tIns="36576" rIns="36576" bIns="36576" anchor="ctr">
            <a:spAutoFit/>
          </a:bodyPr>
          <a:lstStyle/>
          <a:p>
            <a:pPr algn="l">
              <a:spcAft>
                <a:spcPts val="300"/>
              </a:spcAft>
            </a:pPr>
            <a:r>
              <a:rPr sz="1400" b="0" i="0">
                <a:solidFill>
                  <a:srgbClr val="2B3440"/>
                </a:solidFill>
                <a:latin typeface="Calibri"/>
              </a:rPr>
              <a:t>This is why more labelling would help recall, not precision.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Backup</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Additional</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800" b="1" i="0">
                <a:solidFill>
                  <a:srgbClr val="202A36"/>
                </a:solidFill>
                <a:latin typeface="Arial"/>
              </a:rPr>
              <a:t>Backup: package zones (descriptive only)</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61</a:t>
            </a:r>
          </a:p>
        </p:txBody>
      </p:sp>
      <p:sp>
        <p:nvSpPr>
          <p:cNvPr id="66" name="Rounded Rectangle 65"/>
          <p:cNvSpPr/>
          <p:nvPr/>
        </p:nvSpPr>
        <p:spPr>
          <a:xfrm>
            <a:off x="612648" y="914400"/>
            <a:ext cx="10972800" cy="4480560"/>
          </a:xfrm>
          <a:prstGeom prst="roundRect">
            <a:avLst>
              <a:gd name="adj" fmla="val 3500"/>
            </a:avLst>
          </a:prstGeom>
          <a:solidFill>
            <a:srgbClr val="FFFFFF"/>
          </a:solidFill>
          <a:ln w="9525">
            <a:solidFill>
              <a:srgbClr val="C9D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7" name="Picture 66" descr="fig_martin_plane.png"/>
          <p:cNvPicPr>
            <a:picLocks noChangeAspect="1"/>
          </p:cNvPicPr>
          <p:nvPr/>
        </p:nvPicPr>
        <p:blipFill>
          <a:blip r:embed="rId2"/>
          <a:stretch>
            <a:fillRect/>
          </a:stretch>
        </p:blipFill>
        <p:spPr>
          <a:xfrm>
            <a:off x="1365041" y="1024128"/>
            <a:ext cx="9468014" cy="4261104"/>
          </a:xfrm>
          <a:prstGeom prst="rect">
            <a:avLst/>
          </a:prstGeom>
        </p:spPr>
      </p:pic>
      <p:sp>
        <p:nvSpPr>
          <p:cNvPr id="68" name="Rounded Rectangle 67"/>
          <p:cNvSpPr/>
          <p:nvPr/>
        </p:nvSpPr>
        <p:spPr>
          <a:xfrm>
            <a:off x="612648" y="5532120"/>
            <a:ext cx="10972800" cy="777240"/>
          </a:xfrm>
          <a:prstGeom prst="roundRect">
            <a:avLst>
              <a:gd name="adj" fmla="val 8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Hexagon 68"/>
          <p:cNvSpPr/>
          <p:nvPr/>
        </p:nvSpPr>
        <p:spPr>
          <a:xfrm>
            <a:off x="813816" y="5783580"/>
            <a:ext cx="316840" cy="274320"/>
          </a:xfrm>
          <a:prstGeom prst="hexagon">
            <a:avLst/>
          </a:prstGeom>
          <a:solidFill>
            <a:srgbClr val="46CE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1252728" y="5532120"/>
            <a:ext cx="10149840" cy="777240"/>
          </a:xfrm>
          <a:prstGeom prst="rect">
            <a:avLst/>
          </a:prstGeom>
          <a:noFill/>
        </p:spPr>
        <p:txBody>
          <a:bodyPr wrap="square" lIns="45720" rIns="45720" anchor="ctr">
            <a:spAutoFit/>
          </a:bodyPr>
          <a:lstStyle/>
          <a:p>
            <a:pPr algn="l">
              <a:spcAft>
                <a:spcPts val="0"/>
              </a:spcAft>
            </a:pPr>
            <a:r>
              <a:rPr sz="1400" b="0" i="0">
                <a:solidFill>
                  <a:srgbClr val="FFFFFF"/>
                </a:solidFill>
                <a:latin typeface="Calibri"/>
              </a:rPr>
              <a:t>Distance from the main sequence was tested as a change signal and confirmed </a:t>
            </a:r>
            <a:r>
              <a:rPr sz="1400" b="1" i="0">
                <a:solidFill>
                  <a:srgbClr val="FFFFFF"/>
                </a:solidFill>
                <a:latin typeface="Calibri"/>
              </a:rPr>
              <a:t>none of 17 flags</a:t>
            </a:r>
            <a:r>
              <a:rPr sz="1400" b="0" i="0">
                <a:solidFill>
                  <a:srgbClr val="FFFFFF"/>
                </a:solidFill>
                <a:latin typeface="Calibri"/>
              </a:rPr>
              <a:t>, so packages are described by position and never flagged.</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六边形 54"/>
          <p:cNvSpPr/>
          <p:nvPr/>
        </p:nvSpPr>
        <p:spPr>
          <a:xfrm>
            <a:off x="241896" y="125398"/>
            <a:ext cx="481345" cy="414953"/>
          </a:xfrm>
          <a:prstGeom prst="hexagon">
            <a:avLst/>
          </a:prstGeom>
          <a:solidFill>
            <a:srgbClr val="202A36"/>
          </a:solidFill>
          <a:ln>
            <a:solidFill>
              <a:srgbClr val="202A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841003" y="505764"/>
            <a:ext cx="8571840"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9412843" y="188639"/>
            <a:ext cx="933216" cy="334417"/>
          </a:xfrm>
          <a:prstGeom prst="rect">
            <a:avLst/>
          </a:prstGeom>
          <a:solidFill>
            <a:srgbClr val="202A3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Backup</a:t>
            </a:r>
            <a:endParaRPr lang="zh-CN" altLang="en-US" sz="1400"/>
          </a:p>
        </p:txBody>
      </p:sp>
      <p:sp>
        <p:nvSpPr>
          <p:cNvPr id="58" name="矩形 57"/>
          <p:cNvSpPr/>
          <p:nvPr/>
        </p:nvSpPr>
        <p:spPr>
          <a:xfrm>
            <a:off x="10347503" y="187549"/>
            <a:ext cx="1582732" cy="334417"/>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 tIns="18288" rIns="18288" bIns="18288" rtlCol="0" anchor="ctr"/>
          <a:lstStyle/>
          <a:p>
            <a:pPr algn="ctr">
              <a:spcAft>
                <a:spcPts val="0"/>
              </a:spcAft>
            </a:pPr>
            <a:r>
              <a:rPr sz="1200" b="1" i="0">
                <a:solidFill>
                  <a:srgbClr val="FFFFFF"/>
                </a:solidFill>
                <a:latin typeface="Arial"/>
              </a:rPr>
              <a:t>Additional</a:t>
            </a:r>
            <a:endParaRPr lang="zh-CN" altLang="en-US" sz="1600"/>
          </a:p>
        </p:txBody>
      </p:sp>
      <p:sp>
        <p:nvSpPr>
          <p:cNvPr id="60" name="六边形 59"/>
          <p:cNvSpPr/>
          <p:nvPr/>
        </p:nvSpPr>
        <p:spPr>
          <a:xfrm>
            <a:off x="624979" y="392472"/>
            <a:ext cx="261790" cy="225682"/>
          </a:xfrm>
          <a:prstGeom prst="hexagon">
            <a:avLst/>
          </a:prstGeom>
          <a:solidFill>
            <a:srgbClr val="202A36"/>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Freeform 126"/>
          <p:cNvSpPr>
            <a:spLocks noChangeAspect="1" noEditPoints="1"/>
          </p:cNvSpPr>
          <p:nvPr/>
        </p:nvSpPr>
        <p:spPr bwMode="auto">
          <a:xfrm>
            <a:off x="366158" y="217753"/>
            <a:ext cx="232819" cy="291328"/>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chemeClr val="bg1"/>
          </a:solidFill>
          <a:ln>
            <a:noFill/>
          </a:ln>
        </p:spPr>
        <p:txBody>
          <a:bodyPr vert="horz" wrap="square" lIns="91440" tIns="45720" rIns="91440" bIns="45720" numCol="1" anchor="t" anchorCtr="0" compatLnSpc="1"/>
          <a:lstStyle/>
          <a:p>
            <a:endParaRPr lang="zh-CN" altLang="en-US">
              <a:solidFill>
                <a:schemeClr val="tx1">
                  <a:lumMod val="65000"/>
                  <a:lumOff val="35000"/>
                </a:schemeClr>
              </a:solidFill>
              <a:latin typeface="Arial" panose="020B0604020202020204" pitchFamily="34" charset="0"/>
              <a:cs typeface="Arial" panose="020B0604020202020204" pitchFamily="34" charset="0"/>
            </a:endParaRPr>
          </a:p>
        </p:txBody>
      </p:sp>
      <p:sp>
        <p:nvSpPr>
          <p:cNvPr id="64" name="TextBox 63"/>
          <p:cNvSpPr txBox="1"/>
          <p:nvPr/>
        </p:nvSpPr>
        <p:spPr>
          <a:xfrm>
            <a:off x="987552" y="109728"/>
            <a:ext cx="8412480" cy="384048"/>
          </a:xfrm>
          <a:prstGeom prst="rect">
            <a:avLst/>
          </a:prstGeom>
          <a:noFill/>
        </p:spPr>
        <p:txBody>
          <a:bodyPr wrap="square" lIns="18288" tIns="0" rIns="18288" bIns="0" anchor="b">
            <a:spAutoFit/>
          </a:bodyPr>
          <a:lstStyle/>
          <a:p>
            <a:pPr algn="l">
              <a:spcAft>
                <a:spcPts val="0"/>
              </a:spcAft>
            </a:pPr>
            <a:r>
              <a:rPr sz="1600" b="1" i="0">
                <a:solidFill>
                  <a:srgbClr val="202A36"/>
                </a:solidFill>
                <a:latin typeface="Arial"/>
              </a:rPr>
              <a:t>Backup: corrected rates, with SRP split by authorship</a:t>
            </a:r>
          </a:p>
        </p:txBody>
      </p:sp>
      <p:sp>
        <p:nvSpPr>
          <p:cNvPr id="65" name="TextBox 64"/>
          <p:cNvSpPr txBox="1"/>
          <p:nvPr/>
        </p:nvSpPr>
        <p:spPr>
          <a:xfrm>
            <a:off x="11018520" y="6473952"/>
            <a:ext cx="594360" cy="256032"/>
          </a:xfrm>
          <a:prstGeom prst="rect">
            <a:avLst/>
          </a:prstGeom>
          <a:noFill/>
        </p:spPr>
        <p:txBody>
          <a:bodyPr wrap="square" lIns="45720" tIns="27432" rIns="45720" bIns="27432" anchor="ctr">
            <a:spAutoFit/>
          </a:bodyPr>
          <a:lstStyle/>
          <a:p>
            <a:pPr algn="r">
              <a:spcAft>
                <a:spcPts val="0"/>
              </a:spcAft>
            </a:pPr>
            <a:r>
              <a:rPr sz="1100" b="0" i="0">
                <a:solidFill>
                  <a:srgbClr val="5C6773"/>
                </a:solidFill>
                <a:latin typeface="Arial"/>
              </a:rPr>
              <a:t>62</a:t>
            </a:r>
          </a:p>
        </p:txBody>
      </p:sp>
      <p:graphicFrame>
        <p:nvGraphicFramePr>
          <p:cNvPr id="66" name="Table 65"/>
          <p:cNvGraphicFramePr>
            <a:graphicFrameLocks noGrp="1"/>
          </p:cNvGraphicFramePr>
          <p:nvPr/>
        </p:nvGraphicFramePr>
        <p:xfrm>
          <a:off x="612648" y="914400"/>
          <a:ext cx="10972800" cy="3931920"/>
        </p:xfrm>
        <a:graphic>
          <a:graphicData uri="http://schemas.openxmlformats.org/drawingml/2006/table">
            <a:tbl>
              <a:tblPr>
                <a:tableStyleId>{2D5ABB26-0587-4C30-8999-92F81FD0307C}</a:tableStyleId>
              </a:tblPr>
              <a:tblGrid>
                <a:gridCol w="14630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gridCol w="1783080">
                  <a:extLst>
                    <a:ext uri="{9D8B030D-6E8A-4147-A177-3AD203B41FA5}">
                      <a16:colId xmlns:a16="http://schemas.microsoft.com/office/drawing/2014/main" val="20005"/>
                    </a:ext>
                  </a:extLst>
                </a:gridCol>
              </a:tblGrid>
              <a:tr h="457200">
                <a:tc>
                  <a:txBody>
                    <a:bodyPr/>
                    <a:lstStyle/>
                    <a:p>
                      <a:pPr algn="l">
                        <a:spcAft>
                          <a:spcPts val="0"/>
                        </a:spcAft>
                      </a:pPr>
                      <a:r>
                        <a:rPr sz="1450" b="1" i="0">
                          <a:solidFill>
                            <a:srgbClr val="FFFFFF"/>
                          </a:solidFill>
                          <a:latin typeface="Calibri"/>
                        </a:rPr>
                        <a:t>Principle</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l">
                        <a:spcAft>
                          <a:spcPts val="0"/>
                        </a:spcAft>
                      </a:pPr>
                      <a:r>
                        <a:rPr sz="1450" b="1" i="0">
                          <a:solidFill>
                            <a:srgbClr val="FFFFFF"/>
                          </a:solidFill>
                          <a:latin typeface="Calibri"/>
                        </a:rPr>
                        <a:t>Unit</a:t>
                      </a:r>
                    </a:p>
                  </a:txBody>
                  <a:tcPr marL="73152" marR="73152" marT="27432" marB="27432" anchor="ctr">
                    <a:lnL w="0">
                      <a:noFill/>
                    </a:lnL>
                    <a:lnR w="0">
                      <a:noFill/>
                    </a:lnR>
                    <a:lnT w="0">
                      <a:noFill/>
                    </a:lnT>
                    <a:lnB w="6350">
                      <a:solidFill>
                        <a:srgbClr val="C9D0D8"/>
                      </a:solidFill>
                    </a:lnB>
                    <a:solidFill>
                      <a:srgbClr val="202A36"/>
                    </a:solidFill>
                  </a:tcPr>
                </a:tc>
                <a:tc gridSpan="2">
                  <a:txBody>
                    <a:bodyPr/>
                    <a:lstStyle/>
                    <a:p>
                      <a:pPr algn="ctr">
                        <a:spcAft>
                          <a:spcPts val="0"/>
                        </a:spcAft>
                      </a:pPr>
                      <a:r>
                        <a:rPr sz="1450" b="1" i="0">
                          <a:solidFill>
                            <a:srgbClr val="FFFFFF"/>
                          </a:solidFill>
                          <a:latin typeface="Calibri"/>
                        </a:rPr>
                        <a:t>Java</a:t>
                      </a:r>
                    </a:p>
                  </a:txBody>
                  <a:tcPr marL="73152" marR="73152" marT="27432" marB="27432" anchor="ctr">
                    <a:lnL w="0">
                      <a:noFill/>
                    </a:lnL>
                    <a:lnR w="0">
                      <a:noFill/>
                    </a:lnR>
                    <a:lnT w="0">
                      <a:noFill/>
                    </a:lnT>
                    <a:lnB w="6350">
                      <a:solidFill>
                        <a:srgbClr val="C9D0D8"/>
                      </a:solidFill>
                    </a:lnB>
                    <a:solidFill>
                      <a:srgbClr val="202A36"/>
                    </a:solidFill>
                  </a:tcPr>
                </a:tc>
                <a:tc hMerge="1">
                  <a:txBody>
                    <a:bodyPr/>
                    <a:lstStyle/>
                    <a:p>
                      <a:endParaRPr/>
                    </a:p>
                  </a:txBody>
                  <a:tcPr/>
                </a:tc>
                <a:tc gridSpan="2">
                  <a:txBody>
                    <a:bodyPr/>
                    <a:lstStyle/>
                    <a:p>
                      <a:pPr algn="ctr">
                        <a:spcAft>
                          <a:spcPts val="0"/>
                        </a:spcAft>
                      </a:pPr>
                      <a:r>
                        <a:rPr sz="1450" b="1" i="0">
                          <a:solidFill>
                            <a:srgbClr val="FFFFFF"/>
                          </a:solidFill>
                          <a:latin typeface="Calibri"/>
                        </a:rPr>
                        <a:t>Python</a:t>
                      </a:r>
                    </a:p>
                  </a:txBody>
                  <a:tcPr marL="73152" marR="73152" marT="27432" marB="27432" anchor="ctr">
                    <a:lnL w="0">
                      <a:noFill/>
                    </a:lnL>
                    <a:lnR w="0">
                      <a:noFill/>
                    </a:lnR>
                    <a:lnT w="0">
                      <a:noFill/>
                    </a:lnT>
                    <a:lnB w="6350">
                      <a:solidFill>
                        <a:srgbClr val="C9D0D8"/>
                      </a:solidFill>
                    </a:lnB>
                    <a:solidFill>
                      <a:srgbClr val="202A36"/>
                    </a:solidFill>
                  </a:tcPr>
                </a:tc>
                <a:tc hMerge="1">
                  <a:txBody>
                    <a:bodyPr/>
                    <a:lstStyle/>
                    <a:p>
                      <a:endParaRPr/>
                    </a:p>
                  </a:txBody>
                  <a:tcPr/>
                </a:tc>
                <a:extLst>
                  <a:ext uri="{0D108BD9-81ED-4DB2-BD59-A6C34878D82A}">
                    <a16:rowId xmlns:a16="http://schemas.microsoft.com/office/drawing/2014/main" val="10000"/>
                  </a:ext>
                </a:extLst>
              </a:tr>
              <a:tr h="457200">
                <a:tc>
                  <a:txBody>
                    <a:bodyPr/>
                    <a:lstStyle/>
                    <a:p>
                      <a:pPr algn="l">
                        <a:spcAft>
                          <a:spcPts val="0"/>
                        </a:spcAft>
                      </a:pPr>
                      <a:endParaRP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202A36"/>
                    </a:solidFill>
                  </a:tcPr>
                </a:tc>
                <a:tc>
                  <a:txBody>
                    <a:bodyPr/>
                    <a:lstStyle/>
                    <a:p>
                      <a:pPr algn="l">
                        <a:spcAft>
                          <a:spcPts val="0"/>
                        </a:spcAft>
                      </a:pPr>
                      <a:endParaRP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202A36"/>
                    </a:solidFill>
                  </a:tcPr>
                </a:tc>
                <a:tc>
                  <a:txBody>
                    <a:bodyPr/>
                    <a:lstStyle/>
                    <a:p>
                      <a:pPr algn="ctr">
                        <a:spcAft>
                          <a:spcPts val="0"/>
                        </a:spcAft>
                      </a:pPr>
                      <a:r>
                        <a:rPr sz="1450" b="1" i="0">
                          <a:solidFill>
                            <a:srgbClr val="FFFFFF"/>
                          </a:solidFill>
                          <a:latin typeface="Calibri"/>
                        </a:rPr>
                        <a:t>flagged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202A36"/>
                    </a:solidFill>
                  </a:tcPr>
                </a:tc>
                <a:tc>
                  <a:txBody>
                    <a:bodyPr/>
                    <a:lstStyle/>
                    <a:p>
                      <a:pPr algn="ctr">
                        <a:spcAft>
                          <a:spcPts val="0"/>
                        </a:spcAft>
                      </a:pPr>
                      <a:r>
                        <a:rPr sz="1450" b="1" i="0">
                          <a:solidFill>
                            <a:srgbClr val="FFFFFF"/>
                          </a:solidFill>
                          <a:latin typeface="Calibri"/>
                        </a:rPr>
                        <a:t>corrected</a:t>
                      </a:r>
                    </a:p>
                  </a:txBody>
                  <a:tcPr marL="73152" marR="73152" marT="27432" marB="27432" anchor="ctr">
                    <a:lnL w="0">
                      <a:noFill/>
                    </a:lnL>
                    <a:lnR w="0">
                      <a:noFill/>
                    </a:lnR>
                    <a:lnT w="0">
                      <a:noFill/>
                    </a:lnT>
                    <a:lnB w="6350">
                      <a:solidFill>
                        <a:srgbClr val="C9D0D8"/>
                      </a:solidFill>
                    </a:lnB>
                    <a:solidFill>
                      <a:srgbClr val="202A36"/>
                    </a:solidFill>
                  </a:tcPr>
                </a:tc>
                <a:tc>
                  <a:txBody>
                    <a:bodyPr/>
                    <a:lstStyle/>
                    <a:p>
                      <a:pPr algn="ctr">
                        <a:spcAft>
                          <a:spcPts val="0"/>
                        </a:spcAft>
                      </a:pPr>
                      <a:r>
                        <a:rPr sz="1450" b="1" i="0">
                          <a:solidFill>
                            <a:srgbClr val="FFFFFF"/>
                          </a:solidFill>
                          <a:latin typeface="Calibri"/>
                        </a:rPr>
                        <a:t>flagged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202A36"/>
                    </a:solidFill>
                  </a:tcPr>
                </a:tc>
                <a:tc>
                  <a:txBody>
                    <a:bodyPr/>
                    <a:lstStyle/>
                    <a:p>
                      <a:pPr algn="ctr">
                        <a:spcAft>
                          <a:spcPts val="0"/>
                        </a:spcAft>
                      </a:pPr>
                      <a:r>
                        <a:rPr sz="1450" b="1" i="0">
                          <a:solidFill>
                            <a:srgbClr val="FFFFFF"/>
                          </a:solidFill>
                          <a:latin typeface="Calibri"/>
                        </a:rPr>
                        <a:t>corrected</a:t>
                      </a:r>
                    </a:p>
                  </a:txBody>
                  <a:tcPr marL="73152" marR="73152" marT="27432" marB="27432" anchor="ctr">
                    <a:lnL w="0">
                      <a:noFill/>
                    </a:lnL>
                    <a:lnR w="0">
                      <a:noFill/>
                    </a:lnR>
                    <a:lnT w="0">
                      <a:noFill/>
                    </a:lnT>
                    <a:lnB w="6350">
                      <a:solidFill>
                        <a:srgbClr val="C9D0D8"/>
                      </a:solidFill>
                    </a:lnB>
                    <a:solidFill>
                      <a:srgbClr val="202A36"/>
                    </a:solidFill>
                  </a:tcPr>
                </a:tc>
                <a:extLst>
                  <a:ext uri="{0D108BD9-81ED-4DB2-BD59-A6C34878D82A}">
                    <a16:rowId xmlns:a16="http://schemas.microsoft.com/office/drawing/2014/main" val="10001"/>
                  </a:ext>
                </a:extLst>
              </a:tr>
              <a:tr h="502920">
                <a:tc>
                  <a:txBody>
                    <a:bodyPr/>
                    <a:lstStyle/>
                    <a:p>
                      <a:pPr algn="l">
                        <a:spcAft>
                          <a:spcPts val="0"/>
                        </a:spcAft>
                      </a:pPr>
                      <a:r>
                        <a:rPr sz="1450" b="1" i="0">
                          <a:solidFill>
                            <a:srgbClr val="202A36"/>
                          </a:solidFill>
                          <a:latin typeface="Calibri"/>
                        </a:rPr>
                        <a:t>SRP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450" b="0" i="0">
                          <a:solidFill>
                            <a:srgbClr val="2B3440"/>
                          </a:solidFill>
                          <a:latin typeface="Calibri"/>
                        </a:rPr>
                        <a:t>class, authored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7.7%</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1" i="0">
                          <a:solidFill>
                            <a:srgbClr val="2B3440"/>
                          </a:solidFill>
                          <a:latin typeface="Calibri"/>
                        </a:rPr>
                        <a:t>2.7%</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DF4EE"/>
                    </a:solidFill>
                  </a:tcPr>
                </a:tc>
                <a:tc>
                  <a:txBody>
                    <a:bodyPr/>
                    <a:lstStyle/>
                    <a:p>
                      <a:pPr algn="ctr">
                        <a:spcAft>
                          <a:spcPts val="0"/>
                        </a:spcAft>
                      </a:pPr>
                      <a:r>
                        <a:rPr sz="1450" b="0" i="0">
                          <a:solidFill>
                            <a:srgbClr val="2B3440"/>
                          </a:solidFill>
                          <a:latin typeface="Calibri"/>
                        </a:rPr>
                        <a:t>8.9%</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1" i="0">
                          <a:solidFill>
                            <a:srgbClr val="2B3440"/>
                          </a:solidFill>
                          <a:latin typeface="Calibri"/>
                        </a:rPr>
                        <a:t>1.0%</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DF4EE"/>
                    </a:solidFill>
                  </a:tcPr>
                </a:tc>
                <a:extLst>
                  <a:ext uri="{0D108BD9-81ED-4DB2-BD59-A6C34878D82A}">
                    <a16:rowId xmlns:a16="http://schemas.microsoft.com/office/drawing/2014/main" val="10002"/>
                  </a:ext>
                </a:extLst>
              </a:tr>
              <a:tr h="502920">
                <a:tc>
                  <a:txBody>
                    <a:bodyPr/>
                    <a:lstStyle/>
                    <a:p>
                      <a:pPr algn="l">
                        <a:spcAft>
                          <a:spcPts val="0"/>
                        </a:spcAft>
                      </a:pPr>
                      <a:r>
                        <a:rPr sz="1450" b="1" i="0">
                          <a:solidFill>
                            <a:srgbClr val="202A36"/>
                          </a:solidFill>
                          <a:latin typeface="Calibri"/>
                        </a:rPr>
                        <a:t>SRP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450" b="0" i="0">
                          <a:solidFill>
                            <a:srgbClr val="2B3440"/>
                          </a:solidFill>
                          <a:latin typeface="Calibri"/>
                        </a:rPr>
                        <a:t>class, all touched</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50" b="0" i="0">
                          <a:solidFill>
                            <a:srgbClr val="2B3440"/>
                          </a:solidFill>
                          <a:latin typeface="Calibri"/>
                        </a:rPr>
                        <a:t>12.2%</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50" b="1" i="0">
                          <a:solidFill>
                            <a:srgbClr val="2B3440"/>
                          </a:solidFill>
                          <a:latin typeface="Calibri"/>
                        </a:rPr>
                        <a:t>4.3%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DF4EE"/>
                    </a:solidFill>
                  </a:tcPr>
                </a:tc>
                <a:tc>
                  <a:txBody>
                    <a:bodyPr/>
                    <a:lstStyle/>
                    <a:p>
                      <a:pPr algn="ctr">
                        <a:spcAft>
                          <a:spcPts val="0"/>
                        </a:spcAft>
                      </a:pPr>
                      <a:r>
                        <a:rPr sz="1450" b="0" i="0">
                          <a:solidFill>
                            <a:srgbClr val="2B3440"/>
                          </a:solidFill>
                          <a:latin typeface="Calibri"/>
                        </a:rPr>
                        <a:t>11.6%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50" b="1" i="0">
                          <a:solidFill>
                            <a:srgbClr val="2B3440"/>
                          </a:solidFill>
                          <a:latin typeface="Calibri"/>
                        </a:rPr>
                        <a:t>1.3%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DF4EE"/>
                    </a:solidFill>
                  </a:tcPr>
                </a:tc>
                <a:extLst>
                  <a:ext uri="{0D108BD9-81ED-4DB2-BD59-A6C34878D82A}">
                    <a16:rowId xmlns:a16="http://schemas.microsoft.com/office/drawing/2014/main" val="10003"/>
                  </a:ext>
                </a:extLst>
              </a:tr>
              <a:tr h="502920">
                <a:tc>
                  <a:txBody>
                    <a:bodyPr/>
                    <a:lstStyle/>
                    <a:p>
                      <a:pPr algn="l">
                        <a:spcAft>
                          <a:spcPts val="0"/>
                        </a:spcAft>
                      </a:pPr>
                      <a:r>
                        <a:rPr sz="1450" b="1" i="0">
                          <a:solidFill>
                            <a:srgbClr val="202A36"/>
                          </a:solidFill>
                          <a:latin typeface="Calibri"/>
                        </a:rPr>
                        <a:t>OCP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450" b="0" i="0">
                          <a:solidFill>
                            <a:srgbClr val="2B3440"/>
                          </a:solidFill>
                          <a:latin typeface="Calibri"/>
                        </a:rPr>
                        <a:t>pull request</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6.7%</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1" i="0">
                          <a:solidFill>
                            <a:srgbClr val="2B3440"/>
                          </a:solidFill>
                          <a:latin typeface="Calibri"/>
                        </a:rPr>
                        <a:t>2.2%</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DF4EE"/>
                    </a:solidFill>
                  </a:tcPr>
                </a:tc>
                <a:tc>
                  <a:txBody>
                    <a:bodyPr/>
                    <a:lstStyle/>
                    <a:p>
                      <a:pPr algn="ctr">
                        <a:spcAft>
                          <a:spcPts val="0"/>
                        </a:spcAft>
                      </a:pPr>
                      <a:r>
                        <a:rPr sz="1450" b="0" i="0">
                          <a:solidFill>
                            <a:srgbClr val="2B3440"/>
                          </a:solidFill>
                          <a:latin typeface="Calibri"/>
                        </a:rPr>
                        <a:t>6.4%</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1" i="0">
                          <a:solidFill>
                            <a:srgbClr val="2B3440"/>
                          </a:solidFill>
                          <a:latin typeface="Calibri"/>
                        </a:rPr>
                        <a:t>2.5%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DF4EE"/>
                    </a:solidFill>
                  </a:tcPr>
                </a:tc>
                <a:extLst>
                  <a:ext uri="{0D108BD9-81ED-4DB2-BD59-A6C34878D82A}">
                    <a16:rowId xmlns:a16="http://schemas.microsoft.com/office/drawing/2014/main" val="10004"/>
                  </a:ext>
                </a:extLst>
              </a:tr>
              <a:tr h="502920">
                <a:tc>
                  <a:txBody>
                    <a:bodyPr/>
                    <a:lstStyle/>
                    <a:p>
                      <a:pPr algn="l">
                        <a:spcAft>
                          <a:spcPts val="0"/>
                        </a:spcAft>
                      </a:pPr>
                      <a:r>
                        <a:rPr sz="1450" b="1" i="0">
                          <a:solidFill>
                            <a:srgbClr val="202A36"/>
                          </a:solidFill>
                          <a:latin typeface="Calibri"/>
                        </a:rPr>
                        <a:t>LSP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450" b="0" i="0">
                          <a:solidFill>
                            <a:srgbClr val="2B3440"/>
                          </a:solidFill>
                          <a:latin typeface="Calibri"/>
                        </a:rPr>
                        <a:t>pull request</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50" b="0" i="0">
                          <a:solidFill>
                            <a:srgbClr val="2B3440"/>
                          </a:solidFill>
                          <a:latin typeface="Calibri"/>
                        </a:rPr>
                        <a:t>0.4%</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50" b="1" i="0">
                          <a:solidFill>
                            <a:srgbClr val="2B3440"/>
                          </a:solidFill>
                          <a:latin typeface="Calibri"/>
                        </a:rPr>
                        <a:t>0.4%</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DF4EE"/>
                    </a:solidFill>
                  </a:tcPr>
                </a:tc>
                <a:tc>
                  <a:txBody>
                    <a:bodyPr/>
                    <a:lstStyle/>
                    <a:p>
                      <a:pPr algn="ctr">
                        <a:spcAft>
                          <a:spcPts val="0"/>
                        </a:spcAft>
                      </a:pPr>
                      <a:r>
                        <a:rPr sz="1450" b="0" i="0">
                          <a:solidFill>
                            <a:srgbClr val="2B3440"/>
                          </a:solidFill>
                          <a:latin typeface="Calibri"/>
                        </a:rPr>
                        <a:t>0.9%</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50" b="1" i="0">
                          <a:solidFill>
                            <a:srgbClr val="2B3440"/>
                          </a:solidFill>
                          <a:latin typeface="Calibri"/>
                        </a:rPr>
                        <a:t>0.5%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DF4EE"/>
                    </a:solidFill>
                  </a:tcPr>
                </a:tc>
                <a:extLst>
                  <a:ext uri="{0D108BD9-81ED-4DB2-BD59-A6C34878D82A}">
                    <a16:rowId xmlns:a16="http://schemas.microsoft.com/office/drawing/2014/main" val="10005"/>
                  </a:ext>
                </a:extLst>
              </a:tr>
              <a:tr h="502920">
                <a:tc>
                  <a:txBody>
                    <a:bodyPr/>
                    <a:lstStyle/>
                    <a:p>
                      <a:pPr algn="l">
                        <a:spcAft>
                          <a:spcPts val="0"/>
                        </a:spcAft>
                      </a:pPr>
                      <a:r>
                        <a:rPr sz="1450" b="1" i="0">
                          <a:solidFill>
                            <a:srgbClr val="202A36"/>
                          </a:solidFill>
                          <a:latin typeface="Calibri"/>
                        </a:rPr>
                        <a:t>ISP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l">
                        <a:spcAft>
                          <a:spcPts val="0"/>
                        </a:spcAft>
                      </a:pPr>
                      <a:r>
                        <a:rPr sz="1450" b="0" i="0">
                          <a:solidFill>
                            <a:srgbClr val="2B3440"/>
                          </a:solidFill>
                          <a:latin typeface="Calibri"/>
                        </a:rPr>
                        <a:t>pull request</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0" i="0">
                          <a:solidFill>
                            <a:srgbClr val="2B3440"/>
                          </a:solidFill>
                          <a:latin typeface="Calibri"/>
                        </a:rPr>
                        <a:t>6.5%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1" i="0">
                          <a:solidFill>
                            <a:srgbClr val="2B3440"/>
                          </a:solidFill>
                          <a:latin typeface="Calibri"/>
                        </a:rPr>
                        <a:t>2.2%</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DF4EE"/>
                    </a:solidFill>
                  </a:tcPr>
                </a:tc>
                <a:tc>
                  <a:txBody>
                    <a:bodyPr/>
                    <a:lstStyle/>
                    <a:p>
                      <a:pPr algn="ctr">
                        <a:spcAft>
                          <a:spcPts val="0"/>
                        </a:spcAft>
                      </a:pPr>
                      <a:r>
                        <a:rPr sz="1450" b="0" i="0">
                          <a:solidFill>
                            <a:srgbClr val="2B3440"/>
                          </a:solidFill>
                          <a:latin typeface="Calibri"/>
                        </a:rPr>
                        <a:t>0.6%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FFFFFF"/>
                    </a:solidFill>
                  </a:tcPr>
                </a:tc>
                <a:tc>
                  <a:txBody>
                    <a:bodyPr/>
                    <a:lstStyle/>
                    <a:p>
                      <a:pPr algn="ctr">
                        <a:spcAft>
                          <a:spcPts val="0"/>
                        </a:spcAft>
                      </a:pPr>
                      <a:r>
                        <a:rPr sz="1450" b="1" i="0">
                          <a:solidFill>
                            <a:srgbClr val="2B3440"/>
                          </a:solidFill>
                          <a:latin typeface="Calibri"/>
                        </a:rPr>
                        <a:t>0.3%</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DF4EE"/>
                    </a:solidFill>
                  </a:tcPr>
                </a:tc>
                <a:extLst>
                  <a:ext uri="{0D108BD9-81ED-4DB2-BD59-A6C34878D82A}">
                    <a16:rowId xmlns:a16="http://schemas.microsoft.com/office/drawing/2014/main" val="10006"/>
                  </a:ext>
                </a:extLst>
              </a:tr>
              <a:tr h="502920">
                <a:tc>
                  <a:txBody>
                    <a:bodyPr/>
                    <a:lstStyle/>
                    <a:p>
                      <a:pPr algn="l">
                        <a:spcAft>
                          <a:spcPts val="0"/>
                        </a:spcAft>
                      </a:pPr>
                      <a:r>
                        <a:rPr sz="1450" b="1" i="0">
                          <a:solidFill>
                            <a:srgbClr val="202A36"/>
                          </a:solidFill>
                          <a:latin typeface="Calibri"/>
                        </a:rPr>
                        <a:t>DIP</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l">
                        <a:spcAft>
                          <a:spcPts val="0"/>
                        </a:spcAft>
                      </a:pPr>
                      <a:r>
                        <a:rPr sz="1450" b="0" i="0">
                          <a:solidFill>
                            <a:srgbClr val="2B3440"/>
                          </a:solidFill>
                          <a:latin typeface="Calibri"/>
                        </a:rPr>
                        <a:t>pull request</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50" b="0" i="0">
                          <a:solidFill>
                            <a:srgbClr val="2B3440"/>
                          </a:solidFill>
                          <a:latin typeface="Calibri"/>
                        </a:rPr>
                        <a:t>4.6%</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50" b="1" i="0">
                          <a:solidFill>
                            <a:srgbClr val="2B3440"/>
                          </a:solidFill>
                          <a:latin typeface="Calibri"/>
                        </a:rPr>
                        <a:t>4.1%</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DF4EE"/>
                    </a:solidFill>
                  </a:tcPr>
                </a:tc>
                <a:tc>
                  <a:txBody>
                    <a:bodyPr/>
                    <a:lstStyle/>
                    <a:p>
                      <a:pPr algn="ctr">
                        <a:spcAft>
                          <a:spcPts val="0"/>
                        </a:spcAft>
                      </a:pPr>
                      <a:r>
                        <a:rPr sz="1450" b="0" i="0">
                          <a:solidFill>
                            <a:srgbClr val="2B3440"/>
                          </a:solidFill>
                          <a:latin typeface="Calibri"/>
                        </a:rPr>
                        <a:t>3.5%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ECEFF3"/>
                    </a:solidFill>
                  </a:tcPr>
                </a:tc>
                <a:tc>
                  <a:txBody>
                    <a:bodyPr/>
                    <a:lstStyle/>
                    <a:p>
                      <a:pPr algn="ctr">
                        <a:spcAft>
                          <a:spcPts val="0"/>
                        </a:spcAft>
                      </a:pPr>
                      <a:r>
                        <a:rPr sz="1450" b="1" i="0">
                          <a:solidFill>
                            <a:srgbClr val="2B3440"/>
                          </a:solidFill>
                          <a:latin typeface="Calibri"/>
                        </a:rPr>
                        <a:t>3.5%</a:t>
                      </a:r>
                    </a:p>
                  </a:txBody>
                  <a:tcPr marL="73152" marR="73152"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solidFill>
                      <a:srgbClr val="DDF4EE"/>
                    </a:solidFill>
                  </a:tcPr>
                </a:tc>
                <a:extLst>
                  <a:ext uri="{0D108BD9-81ED-4DB2-BD59-A6C34878D82A}">
                    <a16:rowId xmlns:a16="http://schemas.microsoft.com/office/drawing/2014/main" val="10007"/>
                  </a:ext>
                </a:extLst>
              </a:tr>
            </a:tbl>
          </a:graphicData>
        </a:graphic>
      </p:graphicFrame>
      <p:sp>
        <p:nvSpPr>
          <p:cNvPr id="67" name="Rounded Rectangle 66"/>
          <p:cNvSpPr/>
          <p:nvPr/>
        </p:nvSpPr>
        <p:spPr>
          <a:xfrm>
            <a:off x="612648" y="5166360"/>
            <a:ext cx="10972800" cy="914400"/>
          </a:xfrm>
          <a:prstGeom prst="roundRect">
            <a:avLst>
              <a:gd name="adj" fmla="val 8000"/>
            </a:avLst>
          </a:prstGeom>
          <a:solidFill>
            <a:srgbClr val="20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Hexagon 67"/>
          <p:cNvSpPr/>
          <p:nvPr/>
        </p:nvSpPr>
        <p:spPr>
          <a:xfrm>
            <a:off x="813816" y="5486400"/>
            <a:ext cx="316840" cy="274320"/>
          </a:xfrm>
          <a:prstGeom prst="hexagon">
            <a:avLst/>
          </a:prstGeom>
          <a:solidFill>
            <a:srgbClr val="46CE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252728" y="5166360"/>
            <a:ext cx="10149840" cy="914400"/>
          </a:xfrm>
          <a:prstGeom prst="rect">
            <a:avLst/>
          </a:prstGeom>
          <a:noFill/>
        </p:spPr>
        <p:txBody>
          <a:bodyPr wrap="square" lIns="45720" rIns="45720" anchor="ctr">
            <a:spAutoFit/>
          </a:bodyPr>
          <a:lstStyle/>
          <a:p>
            <a:pPr algn="l">
              <a:spcAft>
                <a:spcPts val="0"/>
              </a:spcAft>
            </a:pPr>
            <a:r>
              <a:rPr sz="1400" b="1" i="0">
                <a:solidFill>
                  <a:srgbClr val="FFFFFF"/>
                </a:solidFill>
                <a:latin typeface="Calibri"/>
              </a:rPr>
              <a:t>Corrected = flag rate multiplied by measured precision.</a:t>
            </a:r>
            <a:r>
              <a:rPr sz="1400" b="0" i="0">
                <a:solidFill>
                  <a:srgbClr val="FFFFFF"/>
                </a:solidFill>
                <a:latin typeface="Calibri"/>
              </a:rPr>
              <a:t> The Java Liskov row is the shipped flag, refused bequest only, whose precision is 1.000.</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GMzZjQ0YzYwNDg3MmQwNTgyOTg3MjJiNGQwYmE5NjcifQ=="/>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7141</Words>
  <Application>Microsoft Office PowerPoint</Application>
  <PresentationFormat>Custom</PresentationFormat>
  <Paragraphs>1253</Paragraphs>
  <Slides>62</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62</vt:i4>
      </vt:variant>
    </vt:vector>
  </HeadingPairs>
  <TitlesOfParts>
    <vt:vector size="68" baseType="lpstr">
      <vt:lpstr>微软雅黑</vt:lpstr>
      <vt:lpstr>Arial</vt:lpstr>
      <vt:lpstr>Calibri</vt:lpstr>
      <vt:lpstr>Lucida Calligraphy</vt:lpstr>
      <vt:lpstr>第一PPT，www.1ppt.com</vt:lpstr>
      <vt:lpstr>自定义设计方案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Coding Agent Quality</dc:title>
  <dc:subject>Application to Software Design Principles</dc:subject>
  <dc:creator>Akram Ben Fekih</dc:creator>
  <cp:keywords>www.1ppt.com</cp:keywords>
  <dc:description>www.1ppt.com</dc:description>
  <cp:lastModifiedBy>Akram Ben Fekih</cp:lastModifiedBy>
  <cp:revision>16</cp:revision>
  <dcterms:created xsi:type="dcterms:W3CDTF">2015-12-03T10:50:00Z</dcterms:created>
  <dcterms:modified xsi:type="dcterms:W3CDTF">2026-10-23T11:50:31Z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CDD0B6879E0342AF9946724ED9B1C392</vt:lpwstr>
  </property>
  <property fmtid="{D5CDD505-2E9C-101B-9397-08002B2CF9AE}" pid="3" name="KSOProductBuildVer">
    <vt:lpwstr>2052-11.1.0.11636</vt:lpwstr>
  </property>
</Properties>
</file>