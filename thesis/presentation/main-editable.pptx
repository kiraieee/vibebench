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f92af7a-6102-b6f1-20de-7eb5b0bf235a}">
          <p14:sldIdLst>
            <p14:sldId id="256"/>
            <p14:sldId id="257"/>
          </p14:sldIdLst>
        </p14:section>
        <p14:section name="Part 1. Problem, state of the art and research questions" id="{799822da-b518-81b1-4a11-330ef6ec73a9}">
          <p14:sldIdLst>
            <p14:sldId id="258"/>
            <p14:sldId id="259"/>
            <p14:sldId id="260"/>
            <p14:sldId id="261"/>
            <p14:sldId id="262"/>
            <p14:sldId id="263"/>
          </p14:sldIdLst>
        </p14:section>
        <p14:section name="Part 2. The five principles as measurable proxies" id="{dbc306e5-4bbd-50c0-be2b-fa96c88a20e5}">
          <p14:sldIdLst>
            <p14:sldId id="264"/>
            <p14:sldId id="265"/>
            <p14:sldId id="266"/>
            <p14:sldId id="267"/>
            <p14:sldId id="268"/>
            <p14:sldId id="269"/>
            <p14:sldId id="270"/>
            <p14:sldId id="271"/>
          </p14:sldIdLst>
        </p14:section>
        <p14:section name="Part 3. The before/after delta" id="{5f94091c-88cc-f4b4-2b1f-09eb2cf26778}">
          <p14:sldIdLst>
            <p14:sldId id="272"/>
            <p14:sldId id="273"/>
            <p14:sldId id="274"/>
          </p14:sldIdLst>
        </p14:section>
        <p14:section name="Part 4. Corpus, pipeline and algorithms" id="{9ea8d7a3-171c-9023-032f-b68fa84f3414}">
          <p14:sldIdLst>
            <p14:sldId id="275"/>
            <p14:sldId id="276"/>
            <p14:sldId id="277"/>
            <p14:sldId id="278"/>
            <p14:sldId id="279"/>
            <p14:sldId id="280"/>
          </p14:sldIdLst>
        </p14:section>
        <p14:section name="Part 5. Validation" id="{4fd4f1fb-9346-05ce-4b16-f9a6168abe49}">
          <p14:sldIdLst>
            <p14:sldId id="281"/>
            <p14:sldId id="282"/>
            <p14:sldId id="283"/>
            <p14:sldId id="284"/>
            <p14:sldId id="285"/>
            <p14:sldId id="286"/>
            <p14:sldId id="287"/>
          </p14:sldIdLst>
        </p14:section>
        <p14:section name="Part 6. Results" id="{6b723001-272f-d0f2-f49b-68d15746f21a}">
          <p14:sldIdLst>
            <p14:sldId id="288"/>
            <p14:sldId id="289"/>
            <p14:sldId id="290"/>
            <p14:sldId id="291"/>
            <p14:sldId id="292"/>
            <p14:sldId id="293"/>
            <p14:sldId id="294"/>
            <p14:sldId id="295"/>
            <p14:sldId id="296"/>
            <p14:sldId id="297"/>
            <p14:sldId id="298"/>
          </p14:sldIdLst>
        </p14:section>
        <p14:section name="Part 7. Findings and conclusions" id="{23303749-6d14-5441-cf3e-d90b09f112d5}">
          <p14:sldIdLst>
            <p14:sldId id="299"/>
            <p14:sldId id="300"/>
            <p14:sldId id="301"/>
            <p14:sldId id="302"/>
            <p14:sldId id="303"/>
            <p14:sldId id="304"/>
            <p14:sldId id="305"/>
            <p14:sldId id="306"/>
            <p14:sldId id="307"/>
          </p14:sldIdLst>
        </p14:section>
        <p14:section name="Backup. Additional material" id="{a70781ea-97ab-f1a6-1b04-cb85d56a7474}">
          <p14:sldIdLst>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1/56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3/56  Part 1: Problem, state of the art and research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  Coding agents now submit real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5/56  State of the art: what agents do 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6/56  State of the art: measurement and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  The gap, and what this thesis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8/56  Research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9/56  Part 2: The five principles as measurable proxies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10/56  From principle to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11/56  SRP: God Class rubric with a cohesion suppressor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12/56  OCP: dispatch width with a closed-set suppressor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13/56  LSP: override compared with its nearest ancestor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14/56  ISP: contract width and implementer stubs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15/56  DIP: new cycles in the import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16/56  Calibration: same rules, two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17/56  Part 3: The before/after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18/56  What is charged to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19/56  The delta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  Part 4: Corpus, pipeline and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21/56  Corpus: two languages, three agents, three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22/56  Attrition and how the two trees were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23/56  Full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24/56  Algorithms: from the dataset to the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25/56  Algorithms: detectors and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26/56  Part 5: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27/56  How a detector is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28/56  Validation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29/56  What the judge's disagreements are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30/56  Two refinements, and the test that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31/56  “Three of your detectors are weak. Can you fix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32/56  Second check: three published analysers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33/56  Part 6: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34/56  How often agents actually violate each principle — raw flag rate, corrected by the measured precision of its own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35/56  Flag rate by agent, both languages — pooled, with the average over repositories in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36/56  Is the instrument fair to each agent? — precision by agent: true positives over flags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37/56  Change size explains most of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38/56  The joint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39/56  Merged against unmerged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40/56  Where the problems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41/56  Most violations were there before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42/56  Agent-written classes are flagged less than the code they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43/56  Do agents repair design, or damage it? — cycles in the touched code, before against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  Part 7: Findings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45/56  RQ4: what holds in both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46/56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47/56  Against the state of the art: what we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48/56  Against the state of the art: where we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49/56  Contributions and practical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  Conclusion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  Backup: Additional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  Backup: why recall must be weighted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  Backup: package zones (descriptive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56/56  Backup: corrected rates, with SRP split by authorship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510528"/>
            <a:ext cx="4572000" cy="228600"/>
          </a:xfrm>
          <a:prstGeom prst="rect">
            <a:avLst/>
          </a:prstGeom>
          <a:noFill/>
          <a:ln/>
        </p:spPr>
        <p:txBody>
          <a:bodyPr wrap="square" lIns="0" tIns="0" rIns="0" bIns="0" rtlCol="0" anchor="ctr"/>
          <a:lstStyle/>
          <a:p>
            <a:pPr indent="0" marL="0">
              <a:buNone/>
            </a:pPr>
            <a:r>
              <a:rPr lang="en-US" sz="900" dirty="0">
                <a:solidFill>
                  <a:srgbClr val="5A5A5A"/>
                </a:solidFill>
              </a:rPr>
              <a:t> </a:t>
            </a:r>
            <a:endParaRPr lang="en-US" sz="900" dirty="0"/>
          </a:p>
        </p:txBody>
      </p:sp>
      <p:sp>
        <p:nvSpPr>
          <p:cNvPr id="3" name="Shape 1"/>
          <p:cNvSpPr/>
          <p:nvPr/>
        </p:nvSpPr>
        <p:spPr>
          <a:xfrm>
            <a:off x="457200" y="914400"/>
            <a:ext cx="11277600" cy="0"/>
          </a:xfrm>
          <a:prstGeom prst="line">
            <a:avLst/>
          </a:prstGeom>
          <a:noFill/>
          <a:ln w="15875">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510528"/>
            <a:ext cx="4572000" cy="228600"/>
          </a:xfrm>
          <a:prstGeom prst="rect">
            <a:avLst/>
          </a:prstGeom>
          <a:noFill/>
          <a:ln/>
        </p:spPr>
        <p:txBody>
          <a:bodyPr wrap="square" lIns="0" tIns="0" rIns="0" bIns="0" rtlCol="0" anchor="ctr"/>
          <a:lstStyle/>
          <a:p>
            <a:pPr indent="0" marL="0">
              <a:buNone/>
            </a:pPr>
            <a:r>
              <a:rPr lang="en-US" sz="900" dirty="0">
                <a:solidFill>
                  <a:srgbClr val="5A5A5A"/>
                </a:solidFill>
              </a:rPr>
              <a:t> </a:t>
            </a:r>
            <a:endParaRPr lang="en-US" sz="90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1691640"/>
            <a:ext cx="10363200" cy="274320"/>
          </a:xfrm>
          <a:prstGeom prst="rect">
            <a:avLst/>
          </a:prstGeom>
          <a:noFill/>
          <a:ln/>
        </p:spPr>
        <p:txBody>
          <a:bodyPr wrap="square" rtlCol="0" anchor="ctr"/>
          <a:lstStyle/>
          <a:p>
            <a:pPr algn="ctr" indent="0" marL="0">
              <a:buNone/>
            </a:pPr>
            <a:r>
              <a:rPr lang="en-US" sz="1200" dirty="0">
                <a:solidFill>
                  <a:srgbClr val="5A5A5A"/>
                </a:solidFill>
              </a:rPr>
              <a:t>Research Master's in Computer Science, Intelligent Pervasive Systems</a:t>
            </a:r>
            <a:endParaRPr lang="en-US" sz="1200" dirty="0"/>
          </a:p>
        </p:txBody>
      </p:sp>
      <p:sp>
        <p:nvSpPr>
          <p:cNvPr id="3" name="Text 1"/>
          <p:cNvSpPr txBox="1"/>
          <p:nvPr/>
        </p:nvSpPr>
        <p:spPr>
          <a:xfrm>
            <a:off x="914400" y="2057400"/>
            <a:ext cx="10363200" cy="594360"/>
          </a:xfrm>
          <a:prstGeom prst="rect">
            <a:avLst/>
          </a:prstGeom>
          <a:noFill/>
          <a:ln/>
        </p:spPr>
        <p:txBody>
          <a:bodyPr wrap="square" rtlCol="0" anchor="ctr"/>
          <a:lstStyle/>
          <a:p>
            <a:pPr algn="ctr" indent="0" marL="0">
              <a:buNone/>
            </a:pPr>
            <a:r>
              <a:rPr lang="en-US" sz="3600" b="1" dirty="0">
                <a:solidFill>
                  <a:srgbClr val="072D5A"/>
                </a:solidFill>
              </a:rPr>
              <a:t>Evaluating Coding Agent Quality</a:t>
            </a:r>
            <a:endParaRPr lang="en-US" sz="3600" dirty="0"/>
          </a:p>
        </p:txBody>
      </p:sp>
      <p:sp>
        <p:nvSpPr>
          <p:cNvPr id="4" name="Text 2"/>
          <p:cNvSpPr txBox="1"/>
          <p:nvPr/>
        </p:nvSpPr>
        <p:spPr>
          <a:xfrm>
            <a:off x="914400" y="2670048"/>
            <a:ext cx="10363200" cy="365760"/>
          </a:xfrm>
          <a:prstGeom prst="rect">
            <a:avLst/>
          </a:prstGeom>
          <a:noFill/>
          <a:ln/>
        </p:spPr>
        <p:txBody>
          <a:bodyPr wrap="square" rtlCol="0" anchor="ctr"/>
          <a:lstStyle/>
          <a:p>
            <a:pPr algn="ctr" indent="0" marL="0">
              <a:buNone/>
            </a:pPr>
            <a:r>
              <a:rPr lang="en-US" sz="1800" dirty="0">
                <a:solidFill>
                  <a:srgbClr val="5A5A5A"/>
                </a:solidFill>
              </a:rPr>
              <a:t>Application to Software Design Principles</a:t>
            </a:r>
            <a:endParaRPr lang="en-US" sz="1800" dirty="0"/>
          </a:p>
        </p:txBody>
      </p:sp>
      <p:sp>
        <p:nvSpPr>
          <p:cNvPr id="5" name="Shape 3"/>
          <p:cNvSpPr/>
          <p:nvPr/>
        </p:nvSpPr>
        <p:spPr>
          <a:xfrm>
            <a:off x="4632960" y="3154680"/>
            <a:ext cx="2926080" cy="0"/>
          </a:xfrm>
          <a:prstGeom prst="line">
            <a:avLst/>
          </a:prstGeom>
          <a:noFill/>
          <a:ln w="19050">
            <a:solidFill>
              <a:srgbClr val="B08D3C"/>
            </a:solidFill>
            <a:prstDash val="solid"/>
          </a:ln>
        </p:spPr>
      </p:sp>
      <p:sp>
        <p:nvSpPr>
          <p:cNvPr id="6" name="Text 4"/>
          <p:cNvSpPr txBox="1"/>
          <p:nvPr/>
        </p:nvSpPr>
        <p:spPr>
          <a:xfrm>
            <a:off x="914400" y="3310128"/>
            <a:ext cx="10363200" cy="320040"/>
          </a:xfrm>
          <a:prstGeom prst="rect">
            <a:avLst/>
          </a:prstGeom>
          <a:noFill/>
          <a:ln/>
        </p:spPr>
        <p:txBody>
          <a:bodyPr wrap="square" rtlCol="0" anchor="ctr"/>
          <a:lstStyle/>
          <a:p>
            <a:pPr algn="ctr" indent="0" marL="0">
              <a:buNone/>
            </a:pPr>
            <a:r>
              <a:rPr lang="en-US" sz="1700" dirty="0">
                <a:solidFill>
                  <a:srgbClr val="262628"/>
                </a:solidFill>
              </a:rPr>
              <a:t>Akram Ben Fekih</a:t>
            </a:r>
            <a:endParaRPr lang="en-US" sz="1700" dirty="0"/>
          </a:p>
        </p:txBody>
      </p:sp>
      <p:sp>
        <p:nvSpPr>
          <p:cNvPr id="7" name="Text 5"/>
          <p:cNvSpPr txBox="1"/>
          <p:nvPr/>
        </p:nvSpPr>
        <p:spPr>
          <a:xfrm>
            <a:off x="914400" y="3639312"/>
            <a:ext cx="10363200" cy="274320"/>
          </a:xfrm>
          <a:prstGeom prst="rect">
            <a:avLst/>
          </a:prstGeom>
          <a:noFill/>
          <a:ln/>
        </p:spPr>
        <p:txBody>
          <a:bodyPr wrap="square" rtlCol="0" anchor="ctr"/>
          <a:lstStyle/>
          <a:p>
            <a:pPr algn="ctr" indent="0" marL="0">
              <a:buNone/>
            </a:pPr>
            <a:r>
              <a:rPr lang="en-US" sz="1200" dirty="0">
                <a:solidFill>
                  <a:srgbClr val="262628"/>
                </a:solidFill>
              </a:rPr>
              <a:t>Supervised by Mrs. Maha Khemaja</a:t>
            </a:r>
            <a:endParaRPr lang="en-US" sz="1200" dirty="0"/>
          </a:p>
        </p:txBody>
      </p:sp>
      <p:sp>
        <p:nvSpPr>
          <p:cNvPr id="8" name="Text 6"/>
          <p:cNvSpPr txBox="1"/>
          <p:nvPr/>
        </p:nvSpPr>
        <p:spPr>
          <a:xfrm>
            <a:off x="914400" y="3931920"/>
            <a:ext cx="10363200" cy="274320"/>
          </a:xfrm>
          <a:prstGeom prst="rect">
            <a:avLst/>
          </a:prstGeom>
          <a:noFill/>
          <a:ln/>
        </p:spPr>
        <p:txBody>
          <a:bodyPr wrap="square" rtlCol="0" anchor="ctr"/>
          <a:lstStyle/>
          <a:p>
            <a:pPr algn="ctr" indent="0" marL="0">
              <a:buNone/>
            </a:pPr>
            <a:r>
              <a:rPr lang="en-US" sz="1100" dirty="0">
                <a:solidFill>
                  <a:srgbClr val="5A5A5A"/>
                </a:solidFill>
              </a:rPr>
              <a:t>ISSAT Sousse, University of Sousse  ·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Outline</a:t>
            </a:r>
            <a:endParaRPr lang="en-US" sz="2200" dirty="0"/>
          </a:p>
        </p:txBody>
      </p:sp>
      <p:sp>
        <p:nvSpPr>
          <p:cNvPr id="4" name="Text 1"/>
          <p:cNvSpPr txBox="1"/>
          <p:nvPr/>
        </p:nvSpPr>
        <p:spPr>
          <a:xfrm>
            <a:off x="457200" y="1024128"/>
            <a:ext cx="5501640" cy="1276858"/>
          </a:xfrm>
          <a:prstGeom prst="rect">
            <a:avLst/>
          </a:prstGeom>
          <a:noFill/>
          <a:ln/>
        </p:spPr>
        <p:txBody>
          <a:bodyPr wrap="square" lIns="0" tIns="0" rIns="0" bIns="0" rtlCol="0" anchor="t"/>
          <a:lstStyle/>
          <a:p>
            <a:pPr marL="228600" indent="-228600">
              <a:spcAft>
                <a:spcPts val="400"/>
              </a:spcAft>
              <a:buSzPct val="100000"/>
              <a:buFont typeface="+mj-lt"/>
              <a:buAutoNum type="arabicPeriod" startAt="1"/>
            </a:pPr>
            <a:r>
              <a:rPr lang="en-US" sz="1550" dirty="0">
                <a:solidFill>
                  <a:srgbClr val="262628"/>
                </a:solidFill>
              </a:rPr>
              <a:t> Problem, state of the art and research questions </a:t>
            </a:r>
            <a:endParaRPr lang="en-US" sz="1550" dirty="0"/>
          </a:p>
          <a:p>
            <a:pPr marL="228600" indent="-228600">
              <a:spcAft>
                <a:spcPts val="400"/>
              </a:spcAft>
              <a:buSzPct val="100000"/>
              <a:buFont typeface="+mj-lt"/>
              <a:buAutoNum type="arabicPeriod" startAt="2"/>
            </a:pPr>
            <a:r>
              <a:rPr lang="en-US" sz="1550" dirty="0">
                <a:solidFill>
                  <a:srgbClr val="262628"/>
                </a:solidFill>
              </a:rPr>
              <a:t> The five principles as measurable proxies </a:t>
            </a:r>
            <a:endParaRPr lang="en-US" sz="1550" dirty="0"/>
          </a:p>
          <a:p>
            <a:pPr marL="228600" indent="-228600">
              <a:spcAft>
                <a:spcPts val="400"/>
              </a:spcAft>
              <a:buSzPct val="100000"/>
              <a:buFont typeface="+mj-lt"/>
              <a:buAutoNum type="arabicPeriod" startAt="3"/>
            </a:pPr>
            <a:r>
              <a:rPr lang="en-US" sz="1550" dirty="0">
                <a:solidFill>
                  <a:srgbClr val="262628"/>
                </a:solidFill>
              </a:rPr>
              <a:t> The before/after delta </a:t>
            </a:r>
            <a:endParaRPr lang="en-US" sz="1550" dirty="0"/>
          </a:p>
          <a:p>
            <a:pPr marL="228600" indent="-228600">
              <a:spcAft>
                <a:spcPts val="400"/>
              </a:spcAft>
              <a:buSzPct val="100000"/>
              <a:buFont typeface="+mj-lt"/>
              <a:buAutoNum type="arabicPeriod" startAt="4"/>
            </a:pPr>
            <a:r>
              <a:rPr lang="en-US" sz="1550" dirty="0">
                <a:solidFill>
                  <a:srgbClr val="262628"/>
                </a:solidFill>
              </a:rPr>
              <a:t> Corpus: two languages, three agents </a:t>
            </a:r>
            <a:endParaRPr lang="en-US" sz="1550" dirty="0"/>
          </a:p>
        </p:txBody>
      </p:sp>
      <p:sp>
        <p:nvSpPr>
          <p:cNvPr id="5" name="Text 2"/>
          <p:cNvSpPr txBox="1"/>
          <p:nvPr/>
        </p:nvSpPr>
        <p:spPr>
          <a:xfrm>
            <a:off x="6233160" y="1024128"/>
            <a:ext cx="5501640" cy="1276858"/>
          </a:xfrm>
          <a:prstGeom prst="rect">
            <a:avLst/>
          </a:prstGeom>
          <a:noFill/>
          <a:ln/>
        </p:spPr>
        <p:txBody>
          <a:bodyPr wrap="square" lIns="0" tIns="0" rIns="0" bIns="0" rtlCol="0" anchor="t"/>
          <a:lstStyle/>
          <a:p>
            <a:pPr marL="228600" indent="-228600">
              <a:spcAft>
                <a:spcPts val="400"/>
              </a:spcAft>
              <a:buSzPct val="100000"/>
              <a:buFont typeface="+mj-lt"/>
              <a:buAutoNum type="arabicPeriod" startAt="5"/>
            </a:pPr>
            <a:r>
              <a:rPr lang="en-US" sz="1550" dirty="0">
                <a:solidFill>
                  <a:srgbClr val="262628"/>
                </a:solidFill>
              </a:rPr>
              <a:t> Pipeline and algorithms </a:t>
            </a:r>
            <a:endParaRPr lang="en-US" sz="1550" dirty="0"/>
          </a:p>
          <a:p>
            <a:pPr marL="228600" indent="-228600">
              <a:spcAft>
                <a:spcPts val="400"/>
              </a:spcAft>
              <a:buSzPct val="100000"/>
              <a:buFont typeface="+mj-lt"/>
              <a:buAutoNum type="arabicPeriod" startAt="6"/>
            </a:pPr>
            <a:r>
              <a:rPr lang="en-US" sz="1550" dirty="0">
                <a:solidFill>
                  <a:srgbClr val="262628"/>
                </a:solidFill>
              </a:rPr>
              <a:t> Validation </a:t>
            </a:r>
            <a:endParaRPr lang="en-US" sz="1550" dirty="0"/>
          </a:p>
          <a:p>
            <a:pPr marL="228600" indent="-228600">
              <a:spcAft>
                <a:spcPts val="400"/>
              </a:spcAft>
              <a:buSzPct val="100000"/>
              <a:buFont typeface="+mj-lt"/>
              <a:buAutoNum type="arabicPeriod" startAt="7"/>
            </a:pPr>
            <a:r>
              <a:rPr lang="en-US" sz="1550" dirty="0">
                <a:solidFill>
                  <a:srgbClr val="262628"/>
                </a:solidFill>
              </a:rPr>
              <a:t> Results per agent and per language </a:t>
            </a:r>
            <a:endParaRPr lang="en-US" sz="1550" dirty="0"/>
          </a:p>
          <a:p>
            <a:pPr marL="228600" indent="-228600">
              <a:spcAft>
                <a:spcPts val="400"/>
              </a:spcAft>
              <a:buSzPct val="100000"/>
              <a:buFont typeface="+mj-lt"/>
              <a:buAutoNum type="arabicPeriod" startAt="8"/>
            </a:pPr>
            <a:r>
              <a:rPr lang="en-US" sz="1550" dirty="0">
                <a:solidFill>
                  <a:srgbClr val="262628"/>
                </a:solidFill>
              </a:rPr>
              <a:t> Findings, conclusions, limitations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1</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Problem, state of the art and research questions</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Coding agents now submit real changes</a:t>
            </a:r>
            <a:endParaRPr lang="en-US" sz="2200" dirty="0"/>
          </a:p>
        </p:txBody>
      </p:sp>
      <p:sp>
        <p:nvSpPr>
          <p:cNvPr id="4" name="Text 1"/>
          <p:cNvSpPr txBox="1"/>
          <p:nvPr/>
        </p:nvSpPr>
        <p:spPr>
          <a:xfrm>
            <a:off x="457200" y="1024128"/>
            <a:ext cx="6418580" cy="2261108"/>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Claude Code, GitHub Copilot and OpenAI Codex take a task and open a pull request. </a:t>
            </a:r>
            <a:endParaRPr lang="en-US" sz="1550" dirty="0"/>
          </a:p>
          <a:p>
            <a:pPr marL="177800" indent="-177800">
              <a:buSzPct val="100000"/>
              <a:buChar char="•"/>
            </a:pPr>
            <a:r>
              <a:rPr lang="en-US" sz="1550" dirty="0">
                <a:solidFill>
                  <a:srgbClr val="262628"/>
                </a:solidFill>
              </a:rPr>
              <a:t> The AIDev dataset records </a:t>
            </a:r>
            <a:pPr indent="0" marL="0">
              <a:buNone/>
            </a:pPr>
            <a:r>
              <a:rPr lang="en-US" sz="1550" b="1" dirty="0">
                <a:solidFill>
                  <a:srgbClr val="262628"/>
                </a:solidFill>
              </a:rPr>
              <a:t>7.69 million</a:t>
            </a:r>
            <a:pPr indent="0" marL="0">
              <a:spcAft>
                <a:spcPts val="400"/>
              </a:spcAft>
              <a:buNone/>
            </a:pPr>
            <a:r>
              <a:rPr lang="en-US" sz="1550" dirty="0">
                <a:solidFill>
                  <a:srgbClr val="262628"/>
                </a:solidFill>
              </a:rPr>
              <a:t> agent pull requests in 957k repositories. </a:t>
            </a:r>
            <a:endParaRPr lang="en-US" sz="1550" dirty="0"/>
          </a:p>
          <a:p>
            <a:pPr marL="177800" indent="-177800">
              <a:spcAft>
                <a:spcPts val="400"/>
              </a:spcAft>
              <a:buSzPct val="100000"/>
              <a:buChar char="•"/>
            </a:pPr>
            <a:r>
              <a:rPr lang="en-US" sz="1550" dirty="0">
                <a:solidFill>
                  <a:srgbClr val="262628"/>
                </a:solidFill>
              </a:rPr>
              <a:t> They are evaluated mainly on whether tests pass (HumanEval, SWE-bench). </a:t>
            </a:r>
            <a:endParaRPr lang="en-US" sz="1550" dirty="0"/>
          </a:p>
          <a:p>
            <a:pPr marL="177800" indent="-177800">
              <a:buSzPct val="100000"/>
              <a:buChar char="•"/>
            </a:pPr>
            <a:r>
              <a:rPr lang="en-US" sz="1550" dirty="0">
                <a:solidFill>
                  <a:srgbClr val="262628"/>
                </a:solidFill>
              </a:rPr>
              <a:t> Passing tests says nothing about </a:t>
            </a:r>
            <a:pPr indent="0" marL="0">
              <a:buNone/>
            </a:pPr>
            <a:r>
              <a:rPr lang="en-US" sz="1550" b="1" dirty="0">
                <a:solidFill>
                  <a:srgbClr val="262628"/>
                </a:solidFill>
              </a:rPr>
              <a:t>design</a:t>
            </a:r>
            <a:pPr indent="0" marL="0">
              <a:spcAft>
                <a:spcPts val="400"/>
              </a:spcAft>
              <a:buNone/>
            </a:pPr>
            <a:r>
              <a:rPr lang="en-US" sz="1550" dirty="0">
                <a:solidFill>
                  <a:srgbClr val="262628"/>
                </a:solidFill>
              </a:rPr>
              <a:t>: whether the next developer can change the code. </a:t>
            </a:r>
            <a:endParaRPr lang="en-US" sz="1550" dirty="0"/>
          </a:p>
        </p:txBody>
      </p:sp>
      <p:sp>
        <p:nvSpPr>
          <p:cNvPr id="5" name="Shape 2"/>
          <p:cNvSpPr/>
          <p:nvPr/>
        </p:nvSpPr>
        <p:spPr>
          <a:xfrm>
            <a:off x="7150100" y="1024128"/>
            <a:ext cx="3200400" cy="1070801"/>
          </a:xfrm>
          <a:prstGeom prst="roundRect">
            <a:avLst>
              <a:gd name="adj" fmla="val 5124"/>
            </a:avLst>
          </a:prstGeom>
          <a:solidFill>
            <a:srgbClr val="DFE8F2"/>
          </a:solidFill>
          <a:ln w="12700">
            <a:solidFill>
              <a:srgbClr val="072D5A"/>
            </a:solidFill>
            <a:prstDash val="solid"/>
          </a:ln>
        </p:spPr>
      </p:sp>
      <p:sp>
        <p:nvSpPr>
          <p:cNvPr id="6" name="Text 3"/>
          <p:cNvSpPr txBox="1"/>
          <p:nvPr/>
        </p:nvSpPr>
        <p:spPr>
          <a:xfrm>
            <a:off x="7214108" y="1069848"/>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about half</a:t>
            </a:r>
            <a:endParaRPr lang="en-US" sz="1850" dirty="0"/>
          </a:p>
        </p:txBody>
      </p:sp>
      <p:sp>
        <p:nvSpPr>
          <p:cNvPr id="7" name="Text 4"/>
          <p:cNvSpPr txBox="1"/>
          <p:nvPr/>
        </p:nvSpPr>
        <p:spPr>
          <a:xfrm>
            <a:off x="7214108" y="1371600"/>
            <a:ext cx="3072384" cy="668465"/>
          </a:xfrm>
          <a:prstGeom prst="rect">
            <a:avLst/>
          </a:prstGeom>
          <a:noFill/>
          <a:ln/>
        </p:spPr>
        <p:txBody>
          <a:bodyPr wrap="square" lIns="0" tIns="0" rIns="0" bIns="0" rtlCol="0" anchor="t"/>
          <a:lstStyle/>
          <a:p>
            <a:pPr algn="ctr" indent="0" marL="0">
              <a:buNone/>
            </a:pPr>
            <a:r>
              <a:rPr lang="en-US" sz="1250" dirty="0">
                <a:solidFill>
                  <a:srgbClr val="5A5A5A"/>
                </a:solidFill>
              </a:rPr>
              <a:t>of SWE-bench Verified patches that pass the tests would not be merged by maintainers (METR, 2026)</a:t>
            </a:r>
            <a:endParaRPr lang="en-US" sz="1250" dirty="0"/>
          </a:p>
        </p:txBody>
      </p:sp>
      <p:sp>
        <p:nvSpPr>
          <p:cNvPr id="8" name="Shape 5"/>
          <p:cNvSpPr/>
          <p:nvPr/>
        </p:nvSpPr>
        <p:spPr>
          <a:xfrm>
            <a:off x="7150100" y="2158937"/>
            <a:ext cx="3200400" cy="1070801"/>
          </a:xfrm>
          <a:prstGeom prst="roundRect">
            <a:avLst>
              <a:gd name="adj" fmla="val 5124"/>
            </a:avLst>
          </a:prstGeom>
          <a:solidFill>
            <a:srgbClr val="DFE8F2"/>
          </a:solidFill>
          <a:ln w="12700">
            <a:solidFill>
              <a:srgbClr val="072D5A"/>
            </a:solidFill>
            <a:prstDash val="solid"/>
          </a:ln>
        </p:spPr>
      </p:sp>
      <p:sp>
        <p:nvSpPr>
          <p:cNvPr id="9" name="Text 6"/>
          <p:cNvSpPr txBox="1"/>
          <p:nvPr/>
        </p:nvSpPr>
        <p:spPr>
          <a:xfrm>
            <a:off x="7214108" y="2204657"/>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77%</a:t>
            </a:r>
            <a:endParaRPr lang="en-US" sz="1850" dirty="0"/>
          </a:p>
        </p:txBody>
      </p:sp>
      <p:sp>
        <p:nvSpPr>
          <p:cNvPr id="10" name="Text 7"/>
          <p:cNvSpPr txBox="1"/>
          <p:nvPr/>
        </p:nvSpPr>
        <p:spPr>
          <a:xfrm>
            <a:off x="7214108" y="2506409"/>
            <a:ext cx="3072384" cy="668465"/>
          </a:xfrm>
          <a:prstGeom prst="rect">
            <a:avLst/>
          </a:prstGeom>
          <a:noFill/>
          <a:ln/>
        </p:spPr>
        <p:txBody>
          <a:bodyPr wrap="square" lIns="0" tIns="0" rIns="0" bIns="0" rtlCol="0" anchor="t"/>
          <a:lstStyle/>
          <a:p>
            <a:pPr algn="ctr" indent="0" marL="0">
              <a:buNone/>
            </a:pPr>
            <a:r>
              <a:rPr lang="en-US" sz="1250" dirty="0">
                <a:solidFill>
                  <a:srgbClr val="5A5A5A"/>
                </a:solidFill>
              </a:rPr>
              <a:t>of long-horizon agent trajectories show growing structural erosion (SlopCodeBench, 2026)</a:t>
            </a:r>
            <a:endParaRPr lang="en-US" sz="12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State of the art: what agents do to code</a:t>
            </a:r>
            <a:endParaRPr lang="en-US" sz="2200" dirty="0"/>
          </a:p>
        </p:txBody>
      </p:sp>
      <p:sp>
        <p:nvSpPr>
          <p:cNvPr id="4" name="Text 1"/>
          <p:cNvSpPr txBox="1"/>
          <p:nvPr/>
        </p:nvSpPr>
        <p:spPr>
          <a:xfrm>
            <a:off x="457200" y="1024128"/>
            <a:ext cx="11277600" cy="2817241"/>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a:t>
            </a:r>
            <a:pPr indent="0" marL="0">
              <a:buNone/>
            </a:pPr>
            <a:r>
              <a:rPr lang="en-US" sz="1550" dirty="0">
                <a:solidFill>
                  <a:srgbClr val="262628"/>
                </a:solidFill>
              </a:rPr>
              <a:t>Passing the tests is not the same as being accepted: about </a:t>
            </a:r>
            <a:pPr indent="0" marL="0">
              <a:buNone/>
            </a:pPr>
            <a:r>
              <a:rPr lang="en-US" sz="1550" b="1" dirty="0">
                <a:solidFill>
                  <a:srgbClr val="262628"/>
                </a:solidFill>
              </a:rPr>
              <a:t>half</a:t>
            </a:r>
            <a:pPr indent="0" marL="0">
              <a:buNone/>
            </a:pPr>
            <a:r>
              <a:rPr lang="en-US" sz="1550" dirty="0">
                <a:solidFill>
                  <a:srgbClr val="262628"/>
                </a:solidFill>
              </a:rPr>
              <a:t> of passing SWE-bench Verified patches would not be merged, </a:t>
            </a:r>
            <a:pPr indent="0" marL="0">
              <a:buNone/>
            </a:pPr>
            <a:r>
              <a:rPr lang="en-US" sz="1550" b="1" dirty="0">
                <a:solidFill>
                  <a:srgbClr val="262628"/>
                </a:solidFill>
              </a:rPr>
              <a:t>24 points</a:t>
            </a:r>
            <a:pPr indent="0" marL="0">
              <a:buNone/>
            </a:pPr>
            <a:r>
              <a:rPr lang="en-US" sz="1550" dirty="0">
                <a:solidFill>
                  <a:srgbClr val="262628"/>
                </a:solidFill>
              </a:rPr>
              <a:t> below the automated score.</a:t>
            </a:r>
            <a:pPr indent="0" marL="0">
              <a:buNone/>
            </a:pPr>
            <a:r>
              <a:rPr lang="en-US" sz="1550" dirty="0">
                <a:solidFill>
                  <a:srgbClr val="262628"/>
                </a:solidFill>
              </a:rPr>
              <a:t> </a:t>
            </a:r>
            <a:pPr indent="0" marL="0">
              <a:buNone/>
            </a:pPr>
            <a:r>
              <a:rPr lang="en-US" sz="1250" dirty="0">
                <a:solidFill>
                  <a:srgbClr val="5A5A5A"/>
                </a:solidFill>
              </a:rPr>
              <a:t>Whitfill et al., METR,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Functional correctness hides structural debt: Cursor projects of </a:t>
            </a:r>
            <a:pPr indent="0" marL="0">
              <a:buNone/>
            </a:pPr>
            <a:r>
              <a:rPr lang="en-US" sz="1550" b="1" dirty="0">
                <a:solidFill>
                  <a:srgbClr val="262628"/>
                </a:solidFill>
              </a:rPr>
              <a:t>16,965</a:t>
            </a:r>
            <a:pPr indent="0" marL="0">
              <a:buNone/>
            </a:pPr>
            <a:r>
              <a:rPr lang="en-US" sz="1550" dirty="0">
                <a:solidFill>
                  <a:srgbClr val="262628"/>
                </a:solidFill>
              </a:rPr>
              <a:t> lines reach </a:t>
            </a:r>
            <a:pPr indent="0" marL="0">
              <a:buNone/>
            </a:pPr>
            <a:r>
              <a:rPr lang="en-US" sz="1550" b="1" dirty="0">
                <a:solidFill>
                  <a:srgbClr val="262628"/>
                </a:solidFill>
              </a:rPr>
              <a:t>91%</a:t>
            </a:r>
            <a:pPr indent="0" marL="0">
              <a:buNone/>
            </a:pPr>
            <a:r>
              <a:rPr lang="en-US" sz="1550" dirty="0">
                <a:solidFill>
                  <a:srgbClr val="262628"/>
                </a:solidFill>
              </a:rPr>
              <a:t> correctness, yet carry </a:t>
            </a:r>
            <a:pPr indent="0" marL="0">
              <a:buNone/>
            </a:pPr>
            <a:r>
              <a:rPr lang="en-US" sz="1550" b="1" dirty="0">
                <a:solidFill>
                  <a:srgbClr val="262628"/>
                </a:solidFill>
              </a:rPr>
              <a:t>1,305</a:t>
            </a:r>
            <a:pPr indent="0" marL="0">
              <a:buNone/>
            </a:pPr>
            <a:r>
              <a:rPr lang="en-US" sz="1550" dirty="0">
                <a:solidFill>
                  <a:srgbClr val="262628"/>
                </a:solidFill>
              </a:rPr>
              <a:t> CodeScene and </a:t>
            </a:r>
            <a:pPr indent="0" marL="0">
              <a:buNone/>
            </a:pPr>
            <a:r>
              <a:rPr lang="en-US" sz="1550" b="1" dirty="0">
                <a:solidFill>
                  <a:srgbClr val="262628"/>
                </a:solidFill>
              </a:rPr>
              <a:t>3,193</a:t>
            </a:r>
            <a:pPr indent="0" marL="0">
              <a:buNone/>
            </a:pPr>
            <a:r>
              <a:rPr lang="en-US" sz="1550" dirty="0">
                <a:solidFill>
                  <a:srgbClr val="262628"/>
                </a:solidFill>
              </a:rPr>
              <a:t> SonarQube design issues.</a:t>
            </a:r>
            <a:pPr indent="0" marL="0">
              <a:buNone/>
            </a:pPr>
            <a:r>
              <a:rPr lang="en-US" sz="1550" dirty="0">
                <a:solidFill>
                  <a:srgbClr val="262628"/>
                </a:solidFill>
              </a:rPr>
              <a:t> </a:t>
            </a:r>
            <a:pPr indent="0" marL="0">
              <a:buNone/>
            </a:pPr>
            <a:r>
              <a:rPr lang="en-US" sz="1250" dirty="0">
                <a:solidFill>
                  <a:srgbClr val="5A5A5A"/>
                </a:solidFill>
              </a:rPr>
              <a:t>Kashif et al.,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Structure decays over long horizons: erosion grows in </a:t>
            </a:r>
            <a:pPr indent="0" marL="0">
              <a:buNone/>
            </a:pPr>
            <a:r>
              <a:rPr lang="en-US" sz="1550" b="1" dirty="0">
                <a:solidFill>
                  <a:srgbClr val="262628"/>
                </a:solidFill>
              </a:rPr>
              <a:t>77%</a:t>
            </a:r>
            <a:pPr indent="0" marL="0">
              <a:buNone/>
            </a:pPr>
            <a:r>
              <a:rPr lang="en-US" sz="1550" dirty="0">
                <a:solidFill>
                  <a:srgbClr val="262628"/>
                </a:solidFill>
              </a:rPr>
              <a:t> of trajectories, and agent code is </a:t>
            </a:r>
            <a:pPr indent="0" marL="0">
              <a:buNone/>
            </a:pPr>
            <a:r>
              <a:rPr lang="en-US" sz="1550" b="1" dirty="0">
                <a:solidFill>
                  <a:srgbClr val="262628"/>
                </a:solidFill>
              </a:rPr>
              <a:t>2.3×</a:t>
            </a:r>
            <a:pPr indent="0" marL="0">
              <a:buNone/>
            </a:pPr>
            <a:r>
              <a:rPr lang="en-US" sz="1550" dirty="0">
                <a:solidFill>
                  <a:srgbClr val="262628"/>
                </a:solidFill>
              </a:rPr>
              <a:t> more verbose than human open-source Python.</a:t>
            </a:r>
            <a:pPr indent="0" marL="0">
              <a:buNone/>
            </a:pPr>
            <a:r>
              <a:rPr lang="en-US" sz="1550" dirty="0">
                <a:solidFill>
                  <a:srgbClr val="262628"/>
                </a:solidFill>
              </a:rPr>
              <a:t> </a:t>
            </a:r>
            <a:pPr indent="0" marL="0">
              <a:buNone/>
            </a:pPr>
            <a:r>
              <a:rPr lang="en-US" sz="1250" dirty="0">
                <a:solidFill>
                  <a:srgbClr val="5A5A5A"/>
                </a:solidFill>
              </a:rPr>
              <a:t>SlopCodeBench, Orlanski et al.,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AI defects have a shape, broken abstractions, duplication, over-engineering, and a </a:t>
            </a:r>
            <a:pPr indent="0" marL="0">
              <a:buNone/>
            </a:pPr>
            <a:r>
              <a:rPr lang="en-US" sz="1550" b="1" dirty="0">
                <a:solidFill>
                  <a:srgbClr val="262628"/>
                </a:solidFill>
              </a:rPr>
              <a:t>Volume-Quality Inverse Law</a:t>
            </a:r>
            <a:pPr indent="0" marL="0">
              <a:buNone/>
            </a:pPr>
            <a:r>
              <a:rPr lang="en-US" sz="1550" dirty="0">
                <a:solidFill>
                  <a:srgbClr val="262628"/>
                </a:solidFill>
              </a:rPr>
              <a:t>: more code generated, more structure decayed.</a:t>
            </a:r>
            <a:pPr indent="0" marL="0">
              <a:buNone/>
            </a:pPr>
            <a:r>
              <a:rPr lang="en-US" sz="1550" dirty="0">
                <a:solidFill>
                  <a:srgbClr val="262628"/>
                </a:solidFill>
              </a:rPr>
              <a:t> </a:t>
            </a:r>
            <a:pPr indent="0" marL="0">
              <a:buNone/>
            </a:pPr>
            <a:r>
              <a:rPr lang="en-US" sz="1250" dirty="0">
                <a:solidFill>
                  <a:srgbClr val="5A5A5A"/>
                </a:solidFill>
              </a:rPr>
              <a:t>Zhu, Yuecai et al.,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Agents are poor at </a:t>
            </a:r>
            <a:pPr indent="0" marL="0">
              <a:buNone/>
            </a:pPr>
            <a:r>
              <a:rPr lang="en-US" sz="1550" i="1" dirty="0">
                <a:solidFill>
                  <a:srgbClr val="262628"/>
                </a:solidFill>
              </a:rPr>
              <a:t>repairing</a:t>
            </a:r>
            <a:pPr indent="0" marL="0">
              <a:buNone/>
            </a:pPr>
            <a:r>
              <a:rPr lang="en-US" sz="1550" dirty="0">
                <a:solidFill>
                  <a:srgbClr val="262628"/>
                </a:solidFill>
              </a:rPr>
              <a:t> structure: </a:t>
            </a:r>
            <a:pPr indent="0" marL="0">
              <a:buNone/>
            </a:pPr>
            <a:r>
              <a:rPr lang="en-US" sz="1550" b="1" dirty="0">
                <a:solidFill>
                  <a:srgbClr val="262628"/>
                </a:solidFill>
              </a:rPr>
              <a:t>4.3%</a:t>
            </a:r>
            <a:pPr indent="0" marL="0">
              <a:buNone/>
            </a:pPr>
            <a:r>
              <a:rPr lang="en-US" sz="1550" dirty="0">
                <a:solidFill>
                  <a:srgbClr val="262628"/>
                </a:solidFill>
              </a:rPr>
              <a:t> success on dependency control, </a:t>
            </a:r>
            <a:pPr indent="0" marL="0">
              <a:buNone/>
            </a:pPr>
            <a:r>
              <a:rPr lang="en-US" sz="1550" b="1" dirty="0">
                <a:solidFill>
                  <a:srgbClr val="262628"/>
                </a:solidFill>
              </a:rPr>
              <a:t>15.2%</a:t>
            </a:r>
            <a:pPr indent="0" marL="0">
              <a:buNone/>
            </a:pPr>
            <a:r>
              <a:rPr lang="en-US" sz="1550" dirty="0">
                <a:solidFill>
                  <a:srgbClr val="262628"/>
                </a:solidFill>
              </a:rPr>
              <a:t> on responsibility decomposition, over 21 C</a:t>
            </a:r>
            <a:pPr indent="0" marL="0">
              <a:buNone/>
            </a:pPr>
            <a:r>
              <a:rPr lang="en-US" sz="1550" dirty="0">
                <a:solidFill>
                  <a:srgbClr val="262628"/>
                </a:solidFill>
                <a:latin typeface="Consolas" pitchFamily="34" charset="0"/>
                <a:ea typeface="Consolas" pitchFamily="34" charset="-122"/>
                <a:cs typeface="Consolas" pitchFamily="34" charset="-120"/>
              </a:rPr>
              <a:t>++</a:t>
            </a:r>
            <a:pPr indent="0" marL="0">
              <a:buNone/>
            </a:pPr>
            <a:r>
              <a:rPr lang="en-US" sz="1550" dirty="0">
                <a:solidFill>
                  <a:srgbClr val="262628"/>
                </a:solidFill>
              </a:rPr>
              <a:t> probes.</a:t>
            </a:r>
            <a:pPr indent="0" marL="0">
              <a:buNone/>
            </a:pPr>
            <a:r>
              <a:rPr lang="en-US" sz="1550" dirty="0">
                <a:solidFill>
                  <a:srgbClr val="262628"/>
                </a:solidFill>
              </a:rPr>
              <a:t> </a:t>
            </a:r>
            <a:pPr indent="0" marL="0">
              <a:buNone/>
            </a:pPr>
            <a:r>
              <a:rPr lang="en-US" sz="1250" dirty="0">
                <a:solidFill>
                  <a:srgbClr val="5A5A5A"/>
                </a:solidFill>
              </a:rPr>
              <a:t>Zhu, Haichao et al., NITR, 2026</a:t>
            </a:r>
            <a:pPr indent="0" marL="0">
              <a:spcAft>
                <a:spcPts val="400"/>
              </a:spcAft>
              <a:buNone/>
            </a:pPr>
            <a:r>
              <a:rPr lang="en-US" sz="1550" dirty="0">
                <a:solidFill>
                  <a:srgbClr val="262628"/>
                </a:solidFill>
              </a:rPr>
              <a:t>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State of the art: measurement and attribution</a:t>
            </a:r>
            <a:endParaRPr lang="en-US" sz="2200" dirty="0"/>
          </a:p>
        </p:txBody>
      </p:sp>
      <p:sp>
        <p:nvSpPr>
          <p:cNvPr id="4" name="Text 1"/>
          <p:cNvSpPr txBox="1"/>
          <p:nvPr/>
        </p:nvSpPr>
        <p:spPr>
          <a:xfrm>
            <a:off x="457200" y="1024128"/>
            <a:ext cx="11277600" cy="2817241"/>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a:t>
            </a:r>
            <a:pPr indent="0" marL="0">
              <a:buNone/>
            </a:pPr>
            <a:r>
              <a:rPr lang="en-US" sz="1550" dirty="0">
                <a:solidFill>
                  <a:srgbClr val="262628"/>
                </a:solidFill>
              </a:rPr>
              <a:t>A language model can detect SOLID violations. </a:t>
            </a:r>
            <a:pPr indent="0" marL="0">
              <a:buNone/>
            </a:pPr>
            <a:r>
              <a:rPr lang="en-US" sz="1550" b="1" dirty="0">
                <a:solidFill>
                  <a:srgbClr val="262628"/>
                </a:solidFill>
              </a:rPr>
              <a:t>SRP is easiest, DIP hardest</a:t>
            </a:r>
            <a:pPr indent="0" marL="0">
              <a:buNone/>
            </a:pPr>
            <a:r>
              <a:rPr lang="en-US" sz="1550" dirty="0">
                <a:solidFill>
                  <a:srgbClr val="262628"/>
                </a:solidFill>
              </a:rPr>
              <a:t>, and accuracy falls as complexity rises. This is the technique our judge uses.</a:t>
            </a:r>
            <a:pPr indent="0" marL="0">
              <a:buNone/>
            </a:pPr>
            <a:r>
              <a:rPr lang="en-US" sz="1550" dirty="0">
                <a:solidFill>
                  <a:srgbClr val="262628"/>
                </a:solidFill>
              </a:rPr>
              <a:t> </a:t>
            </a:r>
            <a:pPr indent="0" marL="0">
              <a:buNone/>
            </a:pPr>
            <a:r>
              <a:rPr lang="en-US" sz="1250" dirty="0">
                <a:solidFill>
                  <a:srgbClr val="5A5A5A"/>
                </a:solidFill>
              </a:rPr>
              <a:t>Pehlivan et al., 2025</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Differences between agents </a:t>
            </a:r>
            <a:pPr indent="0" marL="0">
              <a:buNone/>
            </a:pPr>
            <a:r>
              <a:rPr lang="en-US" sz="1550" b="1" dirty="0">
                <a:solidFill>
                  <a:srgbClr val="262628"/>
                </a:solidFill>
              </a:rPr>
              <a:t>largely vanish once normalised for churn</a:t>
            </a:r>
            <a:pPr indent="0" marL="0">
              <a:buNone/>
            </a:pPr>
            <a:r>
              <a:rPr lang="en-US" sz="1550" dirty="0">
                <a:solidFill>
                  <a:srgbClr val="262628"/>
                </a:solidFill>
              </a:rPr>
              <a:t>, and a merge does not guarantee structural quality.</a:t>
            </a:r>
            <a:pPr indent="0" marL="0">
              <a:buNone/>
            </a:pPr>
            <a:r>
              <a:rPr lang="en-US" sz="1550" dirty="0">
                <a:solidFill>
                  <a:srgbClr val="262628"/>
                </a:solidFill>
              </a:rPr>
              <a:t> </a:t>
            </a:r>
            <a:pPr indent="0" marL="0">
              <a:buNone/>
            </a:pPr>
            <a:r>
              <a:rPr lang="en-US" sz="1250" dirty="0">
                <a:solidFill>
                  <a:srgbClr val="5A5A5A"/>
                </a:solidFill>
              </a:rPr>
              <a:t>Cynthia et al.,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After a merge, </a:t>
            </a:r>
            <a:pPr indent="0" marL="0">
              <a:buNone/>
            </a:pPr>
            <a:r>
              <a:rPr lang="en-US" sz="1550" b="1" dirty="0">
                <a:solidFill>
                  <a:srgbClr val="262628"/>
                </a:solidFill>
              </a:rPr>
              <a:t>humans do almost all the maintenance</a:t>
            </a:r>
            <a:pPr indent="0" marL="0">
              <a:buNone/>
            </a:pPr>
            <a:r>
              <a:rPr lang="en-US" sz="1550" dirty="0">
                <a:solidFill>
                  <a:srgbClr val="262628"/>
                </a:solidFill>
              </a:rPr>
              <a:t> on agent-written files, so maintainability is a human cost.</a:t>
            </a:r>
            <a:pPr indent="0" marL="0">
              <a:buNone/>
            </a:pPr>
            <a:r>
              <a:rPr lang="en-US" sz="1550" dirty="0">
                <a:solidFill>
                  <a:srgbClr val="262628"/>
                </a:solidFill>
              </a:rPr>
              <a:t> </a:t>
            </a:r>
            <a:pPr indent="0" marL="0">
              <a:buNone/>
            </a:pPr>
            <a:r>
              <a:rPr lang="en-US" sz="1250" dirty="0">
                <a:solidFill>
                  <a:srgbClr val="5A5A5A"/>
                </a:solidFill>
              </a:rPr>
              <a:t>Sawada et al.,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The </a:t>
            </a:r>
            <a:pPr indent="0" marL="0">
              <a:buNone/>
            </a:pPr>
            <a:r>
              <a:rPr lang="en-US" sz="1550" b="1" dirty="0">
                <a:solidFill>
                  <a:srgbClr val="262628"/>
                </a:solidFill>
              </a:rPr>
              <a:t>harness</a:t>
            </a:r>
            <a:pPr indent="0" marL="0">
              <a:buNone/>
            </a:pPr>
            <a:r>
              <a:rPr lang="en-US" sz="1550" dirty="0">
                <a:solidFill>
                  <a:srgbClr val="262628"/>
                </a:solidFill>
              </a:rPr>
              <a:t> around the model, its tools and context management, affects quality independently of the LLM.</a:t>
            </a:r>
            <a:pPr indent="0" marL="0">
              <a:buNone/>
            </a:pPr>
            <a:r>
              <a:rPr lang="en-US" sz="1550" dirty="0">
                <a:solidFill>
                  <a:srgbClr val="262628"/>
                </a:solidFill>
              </a:rPr>
              <a:t> </a:t>
            </a:r>
            <a:pPr indent="0" marL="0">
              <a:buNone/>
            </a:pPr>
            <a:r>
              <a:rPr lang="en-US" sz="1250" dirty="0">
                <a:solidFill>
                  <a:srgbClr val="5A5A5A"/>
                </a:solidFill>
              </a:rPr>
              <a:t>Ben Sghaier et al., 2026</a:t>
            </a:r>
            <a:pPr indent="0" marL="0">
              <a:spcAft>
                <a:spcPts val="400"/>
              </a:spcAft>
              <a:buNone/>
            </a:pPr>
            <a:r>
              <a:rPr lang="en-US" sz="1550" dirty="0">
                <a:solidFill>
                  <a:srgbClr val="262628"/>
                </a:solidFill>
              </a:rPr>
              <a:t> </a:t>
            </a:r>
            <a:endParaRPr lang="en-US" sz="1550" dirty="0"/>
          </a:p>
          <a:p>
            <a:pPr marL="177800" indent="-177800">
              <a:buSzPct val="100000"/>
              <a:buChar char="•"/>
            </a:pPr>
            <a:r>
              <a:rPr lang="en-US" sz="1550" dirty="0">
                <a:solidFill>
                  <a:srgbClr val="262628"/>
                </a:solidFill>
              </a:rPr>
              <a:t> </a:t>
            </a:r>
            <a:pPr indent="0" marL="0">
              <a:buNone/>
            </a:pPr>
            <a:r>
              <a:rPr lang="en-US" sz="1550" dirty="0">
                <a:solidFill>
                  <a:srgbClr val="262628"/>
                </a:solidFill>
              </a:rPr>
              <a:t>“Vibe architecting”: agents make implicit architectural choices from prompt nuance, giving </a:t>
            </a:r>
            <a:pPr indent="0" marL="0">
              <a:buNone/>
            </a:pPr>
            <a:r>
              <a:rPr lang="en-US" sz="1550" b="1" dirty="0">
                <a:solidFill>
                  <a:srgbClr val="262628"/>
                </a:solidFill>
              </a:rPr>
              <a:t>141 to 827 lines</a:t>
            </a:r>
            <a:pPr indent="0" marL="0">
              <a:buNone/>
            </a:pPr>
            <a:r>
              <a:rPr lang="en-US" sz="1550" dirty="0">
                <a:solidFill>
                  <a:srgbClr val="262628"/>
                </a:solidFill>
              </a:rPr>
              <a:t> for one and the same task.</a:t>
            </a:r>
            <a:pPr indent="0" marL="0">
              <a:buNone/>
            </a:pPr>
            <a:r>
              <a:rPr lang="en-US" sz="1550" dirty="0">
                <a:solidFill>
                  <a:srgbClr val="262628"/>
                </a:solidFill>
              </a:rPr>
              <a:t> </a:t>
            </a:r>
            <a:pPr indent="0" marL="0">
              <a:buNone/>
            </a:pPr>
            <a:r>
              <a:rPr lang="en-US" sz="1250" dirty="0">
                <a:solidFill>
                  <a:srgbClr val="5A5A5A"/>
                </a:solidFill>
              </a:rPr>
              <a:t>Konrad et al., 2026</a:t>
            </a:r>
            <a:pPr indent="0" marL="0">
              <a:spcAft>
                <a:spcPts val="400"/>
              </a:spcAft>
              <a:buNone/>
            </a:pPr>
            <a:r>
              <a:rPr lang="en-US" sz="1550" dirty="0">
                <a:solidFill>
                  <a:srgbClr val="262628"/>
                </a:solidFill>
              </a:rPr>
              <a:t>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The gap, and what this thesis does</a:t>
            </a:r>
            <a:endParaRPr lang="en-US" sz="2200" dirty="0"/>
          </a:p>
        </p:txBody>
      </p:sp>
      <p:sp>
        <p:nvSpPr>
          <p:cNvPr id="4" name="Text 1"/>
          <p:cNvSpPr txBox="1"/>
          <p:nvPr/>
        </p:nvSpPr>
        <p:spPr>
          <a:xfrm>
            <a:off x="457200" y="1024128"/>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What existing work does</a:t>
            </a:r>
            <a:pPr indent="0" marL="0">
              <a:lnSpc>
                <a:spcPct val="100000"/>
              </a:lnSpc>
              <a:buNone/>
            </a:pPr>
            <a:r>
              <a:rPr lang="en-US" sz="1550" dirty="0">
                <a:solidFill>
                  <a:srgbClr val="262628"/>
                </a:solidFill>
              </a:rPr>
              <a:t> </a:t>
            </a:r>
            <a:endParaRPr lang="en-US" sz="1550" dirty="0"/>
          </a:p>
        </p:txBody>
      </p:sp>
      <p:sp>
        <p:nvSpPr>
          <p:cNvPr id="5" name="Text 2"/>
          <p:cNvSpPr txBox="1"/>
          <p:nvPr/>
        </p:nvSpPr>
        <p:spPr>
          <a:xfrm>
            <a:off x="457200" y="1389063"/>
            <a:ext cx="5501640" cy="1276858"/>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Benchmarks on functions or small task sets </a:t>
            </a:r>
            <a:endParaRPr lang="en-US" sz="1550" dirty="0"/>
          </a:p>
          <a:p>
            <a:pPr marL="177800" indent="-177800">
              <a:spcAft>
                <a:spcPts val="400"/>
              </a:spcAft>
              <a:buSzPct val="100000"/>
              <a:buChar char="•"/>
            </a:pPr>
            <a:r>
              <a:rPr lang="en-US" sz="1550" dirty="0">
                <a:solidFill>
                  <a:srgbClr val="262628"/>
                </a:solidFill>
              </a:rPr>
              <a:t> LLMs detecting SOLID violations in examples </a:t>
            </a:r>
            <a:endParaRPr lang="en-US" sz="1550" dirty="0"/>
          </a:p>
          <a:p>
            <a:pPr marL="177800" indent="-177800">
              <a:spcAft>
                <a:spcPts val="400"/>
              </a:spcAft>
              <a:buSzPct val="100000"/>
              <a:buChar char="•"/>
            </a:pPr>
            <a:r>
              <a:rPr lang="en-US" sz="1550" dirty="0">
                <a:solidFill>
                  <a:srgbClr val="262628"/>
                </a:solidFill>
              </a:rPr>
              <a:t> Smell counts on merged code only </a:t>
            </a:r>
            <a:endParaRPr lang="en-US" sz="1550" dirty="0"/>
          </a:p>
          <a:p>
            <a:pPr marL="177800" indent="-177800">
              <a:spcAft>
                <a:spcPts val="400"/>
              </a:spcAft>
              <a:buSzPct val="100000"/>
              <a:buChar char="•"/>
            </a:pPr>
            <a:r>
              <a:rPr lang="en-US" sz="1550" dirty="0">
                <a:solidFill>
                  <a:srgbClr val="262628"/>
                </a:solidFill>
              </a:rPr>
              <a:t> Metrics assumed to capture a principle </a:t>
            </a:r>
            <a:endParaRPr lang="en-US" sz="1550" dirty="0"/>
          </a:p>
        </p:txBody>
      </p:sp>
      <p:sp>
        <p:nvSpPr>
          <p:cNvPr id="6" name="Text 3"/>
          <p:cNvSpPr txBox="1"/>
          <p:nvPr/>
        </p:nvSpPr>
        <p:spPr>
          <a:xfrm>
            <a:off x="6233160" y="1024128"/>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What this thesis does</a:t>
            </a:r>
            <a:pPr indent="0" marL="0">
              <a:lnSpc>
                <a:spcPct val="100000"/>
              </a:lnSpc>
              <a:buNone/>
            </a:pPr>
            <a:r>
              <a:rPr lang="en-US" sz="1550" dirty="0">
                <a:solidFill>
                  <a:srgbClr val="262628"/>
                </a:solidFill>
              </a:rPr>
              <a:t> </a:t>
            </a:r>
            <a:endParaRPr lang="en-US" sz="1550" dirty="0"/>
          </a:p>
        </p:txBody>
      </p:sp>
      <p:sp>
        <p:nvSpPr>
          <p:cNvPr id="7" name="Text 4"/>
          <p:cNvSpPr txBox="1"/>
          <p:nvPr/>
        </p:nvSpPr>
        <p:spPr>
          <a:xfrm>
            <a:off x="6233160" y="1389063"/>
            <a:ext cx="5501640" cy="1586929"/>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Real pull requests from three agents </a:t>
            </a:r>
            <a:endParaRPr lang="en-US" sz="1550" dirty="0"/>
          </a:p>
          <a:p>
            <a:pPr marL="177800" indent="-177800">
              <a:spcAft>
                <a:spcPts val="400"/>
              </a:spcAft>
              <a:buSzPct val="100000"/>
              <a:buChar char="•"/>
            </a:pPr>
            <a:r>
              <a:rPr lang="en-US" sz="1550" dirty="0">
                <a:solidFill>
                  <a:srgbClr val="262628"/>
                </a:solidFill>
              </a:rPr>
              <a:t> All five SOLID principles, one detector each </a:t>
            </a:r>
            <a:endParaRPr lang="en-US" sz="1550" dirty="0"/>
          </a:p>
          <a:p>
            <a:pPr marL="177800" indent="-177800">
              <a:buSzPct val="100000"/>
              <a:buChar char="•"/>
            </a:pPr>
            <a:r>
              <a:rPr lang="en-US" sz="1550" dirty="0">
                <a:solidFill>
                  <a:srgbClr val="262628"/>
                </a:solidFill>
              </a:rPr>
              <a:t> Merged, rejected </a:t>
            </a:r>
            <a:pPr indent="0" marL="0">
              <a:buNone/>
            </a:pPr>
            <a:r>
              <a:rPr lang="en-US" sz="1550" i="1" dirty="0">
                <a:solidFill>
                  <a:srgbClr val="262628"/>
                </a:solidFill>
              </a:rPr>
              <a:t>and</a:t>
            </a:r>
            <a:pPr indent="0" marL="0">
              <a:spcAft>
                <a:spcPts val="400"/>
              </a:spcAft>
              <a:buNone/>
            </a:pPr>
            <a:r>
              <a:rPr lang="en-US" sz="1550" dirty="0">
                <a:solidFill>
                  <a:srgbClr val="262628"/>
                </a:solidFill>
              </a:rPr>
              <a:t> open requests </a:t>
            </a:r>
            <a:endParaRPr lang="en-US" sz="1550" dirty="0"/>
          </a:p>
          <a:p>
            <a:pPr marL="177800" indent="-177800">
              <a:spcAft>
                <a:spcPts val="400"/>
              </a:spcAft>
              <a:buSzPct val="100000"/>
              <a:buChar char="•"/>
            </a:pPr>
            <a:r>
              <a:rPr lang="en-US" sz="1550" dirty="0">
                <a:solidFill>
                  <a:srgbClr val="262628"/>
                </a:solidFill>
              </a:rPr>
              <a:t> Every detector's precision and recall measured </a:t>
            </a:r>
            <a:endParaRPr lang="en-US" sz="1550" dirty="0"/>
          </a:p>
          <a:p>
            <a:pPr marL="177800" indent="-177800">
              <a:spcAft>
                <a:spcPts val="400"/>
              </a:spcAft>
              <a:buSzPct val="100000"/>
              <a:buChar char="•"/>
            </a:pPr>
            <a:r>
              <a:rPr lang="en-US" sz="1550" dirty="0">
                <a:solidFill>
                  <a:srgbClr val="262628"/>
                </a:solidFill>
              </a:rPr>
              <a:t> The whole study repeated in a second language </a:t>
            </a:r>
            <a:endParaRPr lang="en-US" sz="1550" dirty="0"/>
          </a:p>
        </p:txBody>
      </p:sp>
      <p:sp>
        <p:nvSpPr>
          <p:cNvPr id="8" name="Shape 5"/>
          <p:cNvSpPr/>
          <p:nvPr/>
        </p:nvSpPr>
        <p:spPr>
          <a:xfrm>
            <a:off x="457200" y="3039999"/>
            <a:ext cx="11277600" cy="766445"/>
          </a:xfrm>
          <a:prstGeom prst="roundRect">
            <a:avLst>
              <a:gd name="adj" fmla="val 5965"/>
            </a:avLst>
          </a:prstGeom>
          <a:solidFill>
            <a:srgbClr val="F7F0DE"/>
          </a:solidFill>
          <a:ln w="12700">
            <a:solidFill>
              <a:srgbClr val="B08D3C"/>
            </a:solidFill>
            <a:prstDash val="solid"/>
          </a:ln>
        </p:spPr>
      </p:sp>
      <p:sp>
        <p:nvSpPr>
          <p:cNvPr id="9" name="Text 6"/>
          <p:cNvSpPr txBox="1"/>
          <p:nvPr/>
        </p:nvSpPr>
        <p:spPr>
          <a:xfrm>
            <a:off x="566928" y="3113151"/>
            <a:ext cx="11058144" cy="620141"/>
          </a:xfrm>
          <a:prstGeom prst="rect">
            <a:avLst/>
          </a:prstGeom>
          <a:noFill/>
          <a:ln/>
        </p:spPr>
        <p:txBody>
          <a:bodyPr wrap="square" lIns="0" tIns="0" rIns="0" bIns="0" rtlCol="0" anchor="t"/>
          <a:lstStyle/>
          <a:p>
            <a:pPr indent="0" marL="0">
              <a:buNone/>
            </a:pPr>
            <a:r>
              <a:rPr lang="en-US" sz="1550" dirty="0">
                <a:solidFill>
                  <a:srgbClr val="262628"/>
                </a:solidFill>
              </a:rPr>
              <a:t>Unit of analysis: one pull request. Object of measurement: what that pull request did to the design of the code it touched.</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Research questions</a:t>
            </a:r>
            <a:endParaRPr lang="en-US" sz="2200" dirty="0"/>
          </a:p>
        </p:txBody>
      </p:sp>
      <p:pic>
        <p:nvPicPr>
          <p:cNvPr id="4" name="tikz_01" descr="tikz 01">    </p:cNvPr>
          <p:cNvPicPr>
            <a:picLocks noChangeAspect="1"/>
          </p:cNvPicPr>
          <p:nvPr/>
        </p:nvPicPr>
        <p:blipFill>
          <a:blip r:embed="rId1"/>
          <a:stretch>
            <a:fillRect/>
          </a:stretch>
        </p:blipFill>
        <p:spPr>
          <a:xfrm>
            <a:off x="2174748" y="1024128"/>
            <a:ext cx="7842504" cy="2725979"/>
          </a:xfrm>
          <a:prstGeom prst="rect">
            <a:avLst/>
          </a:prstGeom>
        </p:spPr>
      </p:pic>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2</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The five principles as measurable proxies</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From principle to detector</a:t>
            </a:r>
            <a:endParaRPr lang="en-US" sz="2200" dirty="0"/>
          </a:p>
        </p:txBody>
      </p:sp>
      <p:pic>
        <p:nvPicPr>
          <p:cNvPr id="4" name="fig_solid_wheel" descr="fig solid wheel">    </p:cNvPr>
          <p:cNvPicPr>
            <a:picLocks noChangeAspect="1"/>
          </p:cNvPicPr>
          <p:nvPr/>
        </p:nvPicPr>
        <p:blipFill>
          <a:blip r:embed="rId1"/>
          <a:stretch>
            <a:fillRect/>
          </a:stretch>
        </p:blipFill>
        <p:spPr>
          <a:xfrm>
            <a:off x="457200" y="1024128"/>
            <a:ext cx="11277600" cy="3901929"/>
          </a:xfrm>
          <a:prstGeom prst="rect">
            <a:avLst/>
          </a:prstGeom>
        </p:spPr>
      </p:pic>
      <p:sp>
        <p:nvSpPr>
          <p:cNvPr id="5" name="Text 1"/>
          <p:cNvSpPr txBox="1"/>
          <p:nvPr/>
        </p:nvSpPr>
        <p:spPr>
          <a:xfrm>
            <a:off x="457200" y="5081505"/>
            <a:ext cx="1127760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Each principle is a statement about intent. A detector can only see the structure that a violation usually leaves behind, so every result is first a statement about the detector.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SRP: God Class rubric with a cohesion suppressor</a:t>
            </a:r>
            <a:endParaRPr lang="en-US" sz="2200" dirty="0"/>
          </a:p>
        </p:txBody>
      </p:sp>
      <p:sp>
        <p:nvSpPr>
          <p:cNvPr id="4" name="Text 1"/>
          <p:cNvSpPr txBox="1"/>
          <p:nvPr/>
        </p:nvSpPr>
        <p:spPr>
          <a:xfrm>
            <a:off x="457200" y="1024128"/>
            <a:ext cx="641858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Six size and complexity metrics; one </a:t>
            </a:r>
            <a:pPr indent="0" marL="0">
              <a:lnSpc>
                <a:spcPct val="100000"/>
              </a:lnSpc>
              <a:buNone/>
            </a:pPr>
            <a:r>
              <a:rPr lang="en-US" sz="1550" i="1" dirty="0">
                <a:solidFill>
                  <a:srgbClr val="262628"/>
                </a:solidFill>
              </a:rPr>
              <a:t>hit</a:t>
            </a:r>
            <a:pPr indent="0" marL="0">
              <a:lnSpc>
                <a:spcPct val="100000"/>
              </a:lnSpc>
              <a:buNone/>
            </a:pPr>
            <a:r>
              <a:rPr lang="en-US" sz="1550" dirty="0">
                <a:solidFill>
                  <a:srgbClr val="262628"/>
                </a:solidFill>
              </a:rPr>
              <a:t> per threshold reached: </a:t>
            </a:r>
            <a:endParaRPr lang="en-US" sz="1550" dirty="0"/>
          </a:p>
        </p:txBody>
      </p:sp>
      <p:pic>
        <p:nvPicPr>
          <p:cNvPr id="5" name="eq_02" descr="eq 02">    </p:cNvPr>
          <p:cNvPicPr>
            <a:picLocks noChangeAspect="1"/>
          </p:cNvPicPr>
          <p:nvPr/>
        </p:nvPicPr>
        <p:blipFill>
          <a:blip r:embed="rId1"/>
          <a:stretch>
            <a:fillRect/>
          </a:stretch>
        </p:blipFill>
        <p:spPr>
          <a:xfrm>
            <a:off x="2442870" y="1389063"/>
            <a:ext cx="2447239" cy="316535"/>
          </a:xfrm>
          <a:prstGeom prst="rect">
            <a:avLst/>
          </a:prstGeom>
        </p:spPr>
      </p:pic>
      <p:sp>
        <p:nvSpPr>
          <p:cNvPr id="6" name="Text 2"/>
          <p:cNvSpPr txBox="1"/>
          <p:nvPr/>
        </p:nvSpPr>
        <p:spPr>
          <a:xfrm>
            <a:off x="457200" y="1861045"/>
            <a:ext cx="641858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Cohesion, LCOM4 over the method graph (edge = shared field or a call), constructors excluded: </a:t>
            </a:r>
            <a:endParaRPr lang="en-US" sz="1550" dirty="0"/>
          </a:p>
        </p:txBody>
      </p:sp>
      <p:pic>
        <p:nvPicPr>
          <p:cNvPr id="7" name="eq_03" descr="eq 03">    </p:cNvPr>
          <p:cNvPicPr>
            <a:picLocks noChangeAspect="1"/>
          </p:cNvPicPr>
          <p:nvPr/>
        </p:nvPicPr>
        <p:blipFill>
          <a:blip r:embed="rId2"/>
          <a:stretch>
            <a:fillRect/>
          </a:stretch>
        </p:blipFill>
        <p:spPr>
          <a:xfrm>
            <a:off x="2927121" y="2472042"/>
            <a:ext cx="1478737" cy="529133"/>
          </a:xfrm>
          <a:prstGeom prst="rect">
            <a:avLst/>
          </a:prstGeom>
        </p:spPr>
      </p:pic>
      <p:sp>
        <p:nvSpPr>
          <p:cNvPr id="8" name="Text 3"/>
          <p:cNvSpPr txBox="1"/>
          <p:nvPr/>
        </p:nvSpPr>
        <p:spPr>
          <a:xfrm>
            <a:off x="457200" y="3156623"/>
            <a:ext cx="641858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Conceptual cohesion over TF-IDF vectors of method token bags: </a:t>
            </a:r>
            <a:endParaRPr lang="en-US" sz="1550" dirty="0"/>
          </a:p>
        </p:txBody>
      </p:sp>
      <p:pic>
        <p:nvPicPr>
          <p:cNvPr id="9" name="eq_04" descr="eq 04">    </p:cNvPr>
          <p:cNvPicPr>
            <a:picLocks noChangeAspect="1"/>
          </p:cNvPicPr>
          <p:nvPr/>
        </p:nvPicPr>
        <p:blipFill>
          <a:blip r:embed="rId3"/>
          <a:stretch>
            <a:fillRect/>
          </a:stretch>
        </p:blipFill>
        <p:spPr>
          <a:xfrm>
            <a:off x="2683815" y="3521558"/>
            <a:ext cx="1965350" cy="439369"/>
          </a:xfrm>
          <a:prstGeom prst="rect">
            <a:avLst/>
          </a:prstGeom>
        </p:spPr>
      </p:pic>
      <p:pic>
        <p:nvPicPr>
          <p:cNvPr id="10" name="eq_05" descr="eq 05">    </p:cNvPr>
          <p:cNvPicPr>
            <a:picLocks noChangeAspect="1"/>
          </p:cNvPicPr>
          <p:nvPr/>
        </p:nvPicPr>
        <p:blipFill>
          <a:blip r:embed="rId4"/>
          <a:stretch>
            <a:fillRect/>
          </a:stretch>
        </p:blipFill>
        <p:spPr>
          <a:xfrm>
            <a:off x="1951533" y="4116375"/>
            <a:ext cx="3429914" cy="316535"/>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150100" y="1024128"/>
          <a:ext cx="4584700" cy="914400"/>
        </p:xfrm>
        <a:graphic>
          <a:graphicData uri="http://schemas.openxmlformats.org/drawingml/2006/table">
            <a:tbl>
              <a:tblPr/>
              <a:tblGrid>
                <a:gridCol w="2037644"/>
                <a:gridCol w="1273528"/>
                <a:gridCol w="1273528"/>
              </a:tblGrid>
              <a:tr h="0">
                <a:tc>
                  <a:txBody>
                    <a:bodyPr/>
                    <a:lstStyle/>
                    <a:p>
                      <a:pPr algn="l" indent="0" marL="0">
                        <a:buNone/>
                      </a:pPr>
                      <a:r>
                        <a:rPr lang="en-US" sz="1550" b="1" dirty="0">
                          <a:solidFill>
                            <a:srgbClr val="072D5A"/>
                          </a:solidFill>
                        </a:rPr>
                        <a:t>Threshold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class lines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362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250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weighted methods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methods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method complexity</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parameters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LCOM</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0.86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12" name="Text 4"/>
          <p:cNvSpPr txBox="1"/>
          <p:nvPr/>
        </p:nvSpPr>
        <p:spPr>
          <a:xfrm>
            <a:off x="7150100" y="3496374"/>
            <a:ext cx="458470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Each value is the 90th percentile of that corpus, fixed before any label existed.  </a:t>
            </a:r>
            <a:endParaRPr lang="en-US" sz="1550" dirty="0"/>
          </a:p>
        </p:txBody>
      </p:sp>
      <p:sp>
        <p:nvSpPr>
          <p:cNvPr id="13" name="Shape 5"/>
          <p:cNvSpPr/>
          <p:nvPr/>
        </p:nvSpPr>
        <p:spPr>
          <a:xfrm>
            <a:off x="7150100" y="4107371"/>
            <a:ext cx="3200400" cy="673926"/>
          </a:xfrm>
          <a:prstGeom prst="roundRect">
            <a:avLst>
              <a:gd name="adj" fmla="val 8141"/>
            </a:avLst>
          </a:prstGeom>
          <a:solidFill>
            <a:srgbClr val="DFE8F2"/>
          </a:solidFill>
          <a:ln w="12700">
            <a:solidFill>
              <a:srgbClr val="072D5A"/>
            </a:solidFill>
            <a:prstDash val="solid"/>
          </a:ln>
        </p:spPr>
      </p:sp>
      <p:sp>
        <p:nvSpPr>
          <p:cNvPr id="14" name="Text 6"/>
          <p:cNvSpPr txBox="1"/>
          <p:nvPr/>
        </p:nvSpPr>
        <p:spPr>
          <a:xfrm>
            <a:off x="7214108" y="4153091"/>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0.350 / 0.110</a:t>
            </a:r>
            <a:endParaRPr lang="en-US" sz="1850" dirty="0"/>
          </a:p>
        </p:txBody>
      </p:sp>
      <p:sp>
        <p:nvSpPr>
          <p:cNvPr id="15" name="Text 7"/>
          <p:cNvSpPr txBox="1"/>
          <p:nvPr/>
        </p:nvSpPr>
        <p:spPr>
          <a:xfrm>
            <a:off x="7214108" y="4454843"/>
            <a:ext cx="3072384" cy="271590"/>
          </a:xfrm>
          <a:prstGeom prst="rect">
            <a:avLst/>
          </a:prstGeom>
          <a:noFill/>
          <a:ln/>
        </p:spPr>
        <p:txBody>
          <a:bodyPr wrap="square" lIns="0" tIns="0" rIns="0" bIns="0" rtlCol="0" anchor="t"/>
          <a:lstStyle/>
          <a:p>
            <a:pPr algn="ctr" indent="0" marL="0">
              <a:buNone/>
            </a:pPr>
            <a:r>
              <a:rPr lang="en-US" sz="1250" dirty="0">
                <a:solidFill>
                  <a:srgbClr val="5A5A5A"/>
                </a:solidFill>
              </a:rPr>
              <a:t>precision, Java / Python</a:t>
            </a:r>
            <a:endParaRPr lang="en-US" sz="12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OCP: dispatch width with a closed-set suppressor</a:t>
            </a:r>
            <a:endParaRPr lang="en-US" sz="2200" dirty="0"/>
          </a:p>
        </p:txBody>
      </p:sp>
      <p:sp>
        <p:nvSpPr>
          <p:cNvPr id="4" name="Text 1"/>
          <p:cNvSpPr txBox="1"/>
          <p:nvPr/>
        </p:nvSpPr>
        <p:spPr>
          <a:xfrm>
            <a:off x="457200" y="1024128"/>
            <a:ext cx="641858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 dispatch chain is an </a:t>
            </a:r>
            <a:pPr indent="0" marL="0">
              <a:lnSpc>
                <a:spcPct val="100000"/>
              </a:lnSpc>
              <a:buNone/>
            </a:pPr>
            <a:r>
              <a:rPr lang="en-US" sz="1550" dirty="0">
                <a:solidFill>
                  <a:srgbClr val="262628"/>
                </a:solidFill>
                <a:latin typeface="Consolas" pitchFamily="34" charset="0"/>
                <a:ea typeface="Consolas" pitchFamily="34" charset="-122"/>
                <a:cs typeface="Consolas" pitchFamily="34" charset="-120"/>
              </a:rPr>
              <a:t>if</a:t>
            </a:r>
            <a:pPr indent="0" marL="0">
              <a:lnSpc>
                <a:spcPct val="100000"/>
              </a:lnSpc>
              <a:buNone/>
            </a:pPr>
            <a:r>
              <a:rPr lang="en-US" sz="1550" dirty="0">
                <a:solidFill>
                  <a:srgbClr val="262628"/>
                </a:solidFill>
              </a:rPr>
              <a:t>/</a:t>
            </a:r>
            <a:pPr indent="0" marL="0">
              <a:lnSpc>
                <a:spcPct val="100000"/>
              </a:lnSpc>
              <a:buNone/>
            </a:pPr>
            <a:r>
              <a:rPr lang="en-US" sz="1550" dirty="0">
                <a:solidFill>
                  <a:srgbClr val="262628"/>
                </a:solidFill>
                <a:latin typeface="Consolas" pitchFamily="34" charset="0"/>
                <a:ea typeface="Consolas" pitchFamily="34" charset="-122"/>
                <a:cs typeface="Consolas" pitchFamily="34" charset="-120"/>
              </a:rPr>
              <a:t>else if</a:t>
            </a:r>
            <a:pPr indent="0" marL="0">
              <a:lnSpc>
                <a:spcPct val="100000"/>
              </a:lnSpc>
              <a:buNone/>
            </a:pPr>
            <a:r>
              <a:rPr lang="en-US" sz="1550" dirty="0">
                <a:solidFill>
                  <a:srgbClr val="262628"/>
                </a:solidFill>
              </a:rPr>
              <a:t> ladder or a </a:t>
            </a:r>
            <a:pPr indent="0" marL="0">
              <a:lnSpc>
                <a:spcPct val="100000"/>
              </a:lnSpc>
              <a:buNone/>
            </a:pPr>
            <a:r>
              <a:rPr lang="en-US" sz="1550" dirty="0">
                <a:solidFill>
                  <a:srgbClr val="262628"/>
                </a:solidFill>
                <a:latin typeface="Consolas" pitchFamily="34" charset="0"/>
                <a:ea typeface="Consolas" pitchFamily="34" charset="-122"/>
                <a:cs typeface="Consolas" pitchFamily="34" charset="-120"/>
              </a:rPr>
              <a:t>switch</a:t>
            </a:r>
            <a:pPr indent="0" marL="0">
              <a:lnSpc>
                <a:spcPct val="100000"/>
              </a:lnSpc>
              <a:buNone/>
            </a:pPr>
            <a:r>
              <a:rPr lang="en-US" sz="1550" dirty="0">
                <a:solidFill>
                  <a:srgbClr val="262628"/>
                </a:solidFill>
              </a:rPr>
              <a:t> branching on one subject. With b branches: </a:t>
            </a:r>
            <a:endParaRPr lang="en-US" sz="1550" dirty="0"/>
          </a:p>
        </p:txBody>
      </p:sp>
      <p:pic>
        <p:nvPicPr>
          <p:cNvPr id="5" name="eq_06" descr="eq 06">    </p:cNvPr>
          <p:cNvPicPr>
            <a:picLocks noChangeAspect="1"/>
          </p:cNvPicPr>
          <p:nvPr/>
        </p:nvPicPr>
        <p:blipFill>
          <a:blip r:embed="rId1"/>
          <a:stretch>
            <a:fillRect/>
          </a:stretch>
        </p:blipFill>
        <p:spPr>
          <a:xfrm>
            <a:off x="2060194" y="1635125"/>
            <a:ext cx="3212592" cy="316535"/>
          </a:xfrm>
          <a:prstGeom prst="rect">
            <a:avLst/>
          </a:prstGeom>
        </p:spPr>
      </p:pic>
      <p:sp>
        <p:nvSpPr>
          <p:cNvPr id="6" name="Text 2"/>
          <p:cNvSpPr txBox="1"/>
          <p:nvPr/>
        </p:nvSpPr>
        <p:spPr>
          <a:xfrm>
            <a:off x="457200" y="2107108"/>
            <a:ext cx="6418580" cy="793051"/>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closed holds when the subject's resolved type is an enumeration: a client cannot add a value.  A pull request is flagged when it </a:t>
            </a:r>
            <a:pPr indent="0" marL="0">
              <a:lnSpc>
                <a:spcPct val="100000"/>
              </a:lnSpc>
              <a:buNone/>
            </a:pPr>
            <a:r>
              <a:rPr lang="en-US" sz="1550" b="1" dirty="0">
                <a:solidFill>
                  <a:srgbClr val="262628"/>
                </a:solidFill>
              </a:rPr>
              <a:t>creates</a:t>
            </a:r>
            <a:pPr indent="0" marL="0">
              <a:lnSpc>
                <a:spcPct val="100000"/>
              </a:lnSpc>
              <a:buNone/>
            </a:pPr>
            <a:r>
              <a:rPr lang="en-US" sz="1550" dirty="0">
                <a:solidFill>
                  <a:srgbClr val="262628"/>
                </a:solidFill>
              </a:rPr>
              <a:t> or </a:t>
            </a:r>
            <a:pPr indent="0" marL="0">
              <a:lnSpc>
                <a:spcPct val="100000"/>
              </a:lnSpc>
              <a:buNone/>
            </a:pPr>
            <a:r>
              <a:rPr lang="en-US" sz="1550" b="1" dirty="0">
                <a:solidFill>
                  <a:srgbClr val="262628"/>
                </a:solidFill>
              </a:rPr>
              <a:t>widens</a:t>
            </a:r>
            <a:pPr indent="0" marL="0">
              <a:lnSpc>
                <a:spcPct val="100000"/>
              </a:lnSpc>
              <a:buNone/>
            </a:pPr>
            <a:r>
              <a:rPr lang="en-US" sz="1550" dirty="0">
                <a:solidFill>
                  <a:srgbClr val="262628"/>
                </a:solidFill>
              </a:rPr>
              <a:t> such a chain. </a:t>
            </a:r>
            <a:endParaRPr lang="en-US" sz="15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150100" y="1024128"/>
          <a:ext cx="4584700" cy="914400"/>
        </p:xfrm>
        <a:graphic>
          <a:graphicData uri="http://schemas.openxmlformats.org/drawingml/2006/table">
            <a:tbl>
              <a:tblPr/>
              <a:tblGrid>
                <a:gridCol w="2037644"/>
                <a:gridCol w="1273528"/>
                <a:gridCol w="1273528"/>
              </a:tblGrid>
              <a:tr h="0">
                <a:tc>
                  <a:txBody>
                    <a:bodyPr/>
                    <a:lstStyle/>
                    <a:p>
                      <a:pPr algn="l" indent="0" marL="0">
                        <a:buNone/>
                      </a:pPr>
                      <a:r>
                        <a:rPr lang="en-US" sz="1550" b="1" dirty="0">
                          <a:solidFill>
                            <a:srgbClr val="072D5A"/>
                          </a:solidFill>
                        </a:rPr>
                        <a:t>τ</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type chains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tag / value chains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8" name="Shape 3"/>
          <p:cNvSpPr/>
          <p:nvPr/>
        </p:nvSpPr>
        <p:spPr>
          <a:xfrm>
            <a:off x="7150100" y="2182940"/>
            <a:ext cx="3200400" cy="673926"/>
          </a:xfrm>
          <a:prstGeom prst="roundRect">
            <a:avLst>
              <a:gd name="adj" fmla="val 8141"/>
            </a:avLst>
          </a:prstGeom>
          <a:solidFill>
            <a:srgbClr val="DFE8F2"/>
          </a:solidFill>
          <a:ln w="12700">
            <a:solidFill>
              <a:srgbClr val="072D5A"/>
            </a:solidFill>
            <a:prstDash val="solid"/>
          </a:ln>
        </p:spPr>
      </p:sp>
      <p:sp>
        <p:nvSpPr>
          <p:cNvPr id="9" name="Text 4"/>
          <p:cNvSpPr txBox="1"/>
          <p:nvPr/>
        </p:nvSpPr>
        <p:spPr>
          <a:xfrm>
            <a:off x="7214108" y="2228660"/>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0.330 / 0.390</a:t>
            </a:r>
            <a:endParaRPr lang="en-US" sz="1850" dirty="0"/>
          </a:p>
        </p:txBody>
      </p:sp>
      <p:sp>
        <p:nvSpPr>
          <p:cNvPr id="10" name="Text 5"/>
          <p:cNvSpPr txBox="1"/>
          <p:nvPr/>
        </p:nvSpPr>
        <p:spPr>
          <a:xfrm>
            <a:off x="7214108" y="2530412"/>
            <a:ext cx="3072384" cy="271590"/>
          </a:xfrm>
          <a:prstGeom prst="rect">
            <a:avLst/>
          </a:prstGeom>
          <a:noFill/>
          <a:ln/>
        </p:spPr>
        <p:txBody>
          <a:bodyPr wrap="square" lIns="0" tIns="0" rIns="0" bIns="0" rtlCol="0" anchor="t"/>
          <a:lstStyle/>
          <a:p>
            <a:pPr algn="ctr" indent="0" marL="0">
              <a:buNone/>
            </a:pPr>
            <a:r>
              <a:rPr lang="en-US" sz="1250" dirty="0">
                <a:solidFill>
                  <a:srgbClr val="5A5A5A"/>
                </a:solidFill>
              </a:rPr>
              <a:t>precision, Java / Python</a:t>
            </a:r>
            <a:endParaRPr lang="en-US" sz="1250" dirty="0"/>
          </a:p>
        </p:txBody>
      </p:sp>
      <p:sp>
        <p:nvSpPr>
          <p:cNvPr id="11" name="Text 6"/>
          <p:cNvSpPr txBox="1"/>
          <p:nvPr/>
        </p:nvSpPr>
        <p:spPr>
          <a:xfrm>
            <a:off x="7150100" y="2920873"/>
            <a:ext cx="4584700" cy="1039114"/>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Width does not predict truth: precision stays between 0.270 and 0.400 across every band. The sets that are closed in practice are fixed by specifications, not by the language.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LSP: override compared with its nearest ancestor</a:t>
            </a:r>
            <a:endParaRPr lang="en-US" sz="2200" dirty="0"/>
          </a:p>
        </p:txBody>
      </p:sp>
      <p:sp>
        <p:nvSpPr>
          <p:cNvPr id="4" name="Text 1"/>
          <p:cNvSpPr txBox="1"/>
          <p:nvPr/>
        </p:nvSpPr>
        <p:spPr>
          <a:xfrm>
            <a:off x="457200" y="1024128"/>
            <a:ext cx="6189345"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For each pair (subclass method, nearest ancestor method with the same signature and a real body): </a:t>
            </a:r>
            <a:endParaRPr lang="en-US" sz="1550" dirty="0"/>
          </a:p>
        </p:txBody>
      </p:sp>
      <p:pic>
        <p:nvPicPr>
          <p:cNvPr id="5" name="eq_07" descr="eq 07">    </p:cNvPr>
          <p:cNvPicPr>
            <a:picLocks noChangeAspect="1"/>
          </p:cNvPicPr>
          <p:nvPr/>
        </p:nvPicPr>
        <p:blipFill>
          <a:blip r:embed="rId1"/>
          <a:stretch>
            <a:fillRect/>
          </a:stretch>
        </p:blipFill>
        <p:spPr>
          <a:xfrm>
            <a:off x="1862900" y="1635125"/>
            <a:ext cx="3377946" cy="316535"/>
          </a:xfrm>
          <a:prstGeom prst="rect">
            <a:avLst/>
          </a:prstGeom>
        </p:spPr>
      </p:pic>
      <p:sp>
        <p:nvSpPr>
          <p:cNvPr id="6" name="Text 2"/>
          <p:cNvSpPr txBox="1"/>
          <p:nvPr/>
        </p:nvSpPr>
        <p:spPr>
          <a:xfrm>
            <a:off x="457200" y="2107108"/>
            <a:ext cx="6189345" cy="1039114"/>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Java</a:t>
            </a:r>
            <a:pPr indent="0" marL="0">
              <a:lnSpc>
                <a:spcPct val="100000"/>
              </a:lnSpc>
              <a:buNone/>
            </a:pPr>
            <a:r>
              <a:rPr lang="en-US" sz="1550" dirty="0">
                <a:solidFill>
                  <a:srgbClr val="262628"/>
                </a:solidFill>
              </a:rPr>
              <a:t> S = refused bequest, strengthened precondition, weakened postcondition.  </a:t>
            </a:r>
            <a:pPr indent="0" marL="0">
              <a:lnSpc>
                <a:spcPct val="100000"/>
              </a:lnSpc>
              <a:buNone/>
            </a:pPr>
            <a:r>
              <a:rPr lang="en-US" sz="1550" b="1" dirty="0">
                <a:solidFill>
                  <a:srgbClr val="262628"/>
                </a:solidFill>
              </a:rPr>
              <a:t>Python</a:t>
            </a:r>
            <a:pPr indent="0" marL="0">
              <a:lnSpc>
                <a:spcPct val="100000"/>
              </a:lnSpc>
              <a:buNone/>
            </a:pPr>
            <a:r>
              <a:rPr lang="en-US" sz="1550" dirty="0">
                <a:solidFill>
                  <a:srgbClr val="262628"/>
                </a:solidFill>
              </a:rPr>
              <a:t> S adds what no compiler checks: parameter removed, required parameter added, parameter type narrowed, return type widened. </a:t>
            </a:r>
            <a:endParaRPr lang="en-US" sz="15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20865" y="1024128"/>
          <a:ext cx="4813935" cy="914400"/>
        </p:xfrm>
        <a:graphic>
          <a:graphicData uri="http://schemas.openxmlformats.org/drawingml/2006/table">
            <a:tbl>
              <a:tblPr/>
              <a:tblGrid>
                <a:gridCol w="2962422"/>
                <a:gridCol w="1851513"/>
              </a:tblGrid>
              <a:tr h="0">
                <a:tc>
                  <a:txBody>
                    <a:bodyPr/>
                    <a:lstStyle/>
                    <a:p>
                      <a:pPr algn="l" indent="0" marL="0">
                        <a:buNone/>
                      </a:pPr>
                      <a:r>
                        <a:rPr lang="en-US" sz="1550" b="1" dirty="0">
                          <a:solidFill>
                            <a:srgbClr val="072D5A"/>
                          </a:solidFill>
                        </a:rPr>
                        <a:t>Java signal</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precision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refused bequest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31/31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weakened postcondition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6/36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strengthened precondition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3/33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8" name="Text 3"/>
          <p:cNvSpPr txBox="1"/>
          <p:nvPr/>
        </p:nvSpPr>
        <p:spPr>
          <a:xfrm>
            <a:off x="6920865" y="2511298"/>
            <a:ext cx="4813935"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The shipped Java flag keeps refused bequest only: 64 of 64 across two samples.  </a:t>
            </a:r>
            <a:endParaRPr lang="en-US" sz="1550" dirty="0"/>
          </a:p>
        </p:txBody>
      </p:sp>
      <p:sp>
        <p:nvSpPr>
          <p:cNvPr id="9" name="Shape 4"/>
          <p:cNvSpPr/>
          <p:nvPr/>
        </p:nvSpPr>
        <p:spPr>
          <a:xfrm>
            <a:off x="6920865" y="3122295"/>
            <a:ext cx="3200400" cy="872363"/>
          </a:xfrm>
          <a:prstGeom prst="roundRect">
            <a:avLst>
              <a:gd name="adj" fmla="val 6289"/>
            </a:avLst>
          </a:prstGeom>
          <a:solidFill>
            <a:srgbClr val="DFE8F2"/>
          </a:solidFill>
          <a:ln w="12700">
            <a:solidFill>
              <a:srgbClr val="072D5A"/>
            </a:solidFill>
            <a:prstDash val="solid"/>
          </a:ln>
        </p:spPr>
      </p:sp>
      <p:sp>
        <p:nvSpPr>
          <p:cNvPr id="10" name="Text 5"/>
          <p:cNvSpPr txBox="1"/>
          <p:nvPr/>
        </p:nvSpPr>
        <p:spPr>
          <a:xfrm>
            <a:off x="6984873" y="3168015"/>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0.420 / 0.510</a:t>
            </a:r>
            <a:endParaRPr lang="en-US" sz="1850" dirty="0"/>
          </a:p>
        </p:txBody>
      </p:sp>
      <p:sp>
        <p:nvSpPr>
          <p:cNvPr id="11" name="Text 6"/>
          <p:cNvSpPr txBox="1"/>
          <p:nvPr/>
        </p:nvSpPr>
        <p:spPr>
          <a:xfrm>
            <a:off x="6984873" y="3469767"/>
            <a:ext cx="3072384" cy="470027"/>
          </a:xfrm>
          <a:prstGeom prst="rect">
            <a:avLst/>
          </a:prstGeom>
          <a:noFill/>
          <a:ln/>
        </p:spPr>
        <p:txBody>
          <a:bodyPr wrap="square" lIns="0" tIns="0" rIns="0" bIns="0" rtlCol="0" anchor="t"/>
          <a:lstStyle/>
          <a:p>
            <a:pPr algn="ctr" indent="0" marL="0">
              <a:buNone/>
            </a:pPr>
            <a:r>
              <a:rPr lang="en-US" sz="1250" dirty="0">
                <a:solidFill>
                  <a:srgbClr val="5A5A5A"/>
                </a:solidFill>
              </a:rPr>
              <a:t>precision of the full signal set, Java / Python</a:t>
            </a:r>
            <a:endParaRPr lang="en-US" sz="12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ISP: contract width and implementer stubs</a:t>
            </a:r>
            <a:endParaRPr lang="en-US" sz="2200" dirty="0"/>
          </a:p>
        </p:txBody>
      </p:sp>
      <p:sp>
        <p:nvSpPr>
          <p:cNvPr id="4" name="Text 1"/>
          <p:cNvSpPr txBox="1"/>
          <p:nvPr/>
        </p:nvSpPr>
        <p:spPr>
          <a:xfrm>
            <a:off x="457200" y="1024128"/>
            <a:ext cx="6418580" cy="793051"/>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 contract is an interface or abstract class with at least one abstract member and at least one implementer inside the repository. Width w = abstract members; for each implementer, </a:t>
            </a:r>
            <a:endParaRPr lang="en-US" sz="1550" dirty="0"/>
          </a:p>
        </p:txBody>
      </p:sp>
      <p:pic>
        <p:nvPicPr>
          <p:cNvPr id="5" name="eq_08" descr="eq 08">    </p:cNvPr>
          <p:cNvPicPr>
            <a:picLocks noChangeAspect="1"/>
          </p:cNvPicPr>
          <p:nvPr/>
        </p:nvPicPr>
        <p:blipFill>
          <a:blip r:embed="rId1"/>
          <a:stretch>
            <a:fillRect/>
          </a:stretch>
        </p:blipFill>
        <p:spPr>
          <a:xfrm>
            <a:off x="2457044" y="1881188"/>
            <a:ext cx="2418893" cy="562204"/>
          </a:xfrm>
          <a:prstGeom prst="rect">
            <a:avLst/>
          </a:prstGeom>
        </p:spPr>
      </p:pic>
      <p:sp>
        <p:nvSpPr>
          <p:cNvPr id="6" name="Text 2"/>
          <p:cNvSpPr txBox="1"/>
          <p:nvPr/>
        </p:nvSpPr>
        <p:spPr>
          <a:xfrm>
            <a:off x="457200" y="2598839"/>
            <a:ext cx="6418580" cy="128517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Java:</a:t>
            </a:r>
            <a:pPr indent="0" marL="0">
              <a:lnSpc>
                <a:spcPct val="100000"/>
              </a:lnSpc>
              <a:buNone/>
            </a:pPr>
            <a:r>
              <a:rPr lang="en-US" sz="1550" dirty="0">
                <a:solidFill>
                  <a:srgbClr val="262628"/>
                </a:solidFill>
              </a:rPr>
              <a:t> contract fat if w≥ 13; forced stub if stubs ≥ 2 and s≥ 0.5. Flag if the request creates a fat contract, widens one, or leaves a forced stub.  </a:t>
            </a:r>
            <a:pPr indent="0" marL="0">
              <a:lnSpc>
                <a:spcPct val="100000"/>
              </a:lnSpc>
              <a:buNone/>
            </a:pPr>
            <a:r>
              <a:rPr lang="en-US" sz="1550" b="1" dirty="0">
                <a:solidFill>
                  <a:srgbClr val="262628"/>
                </a:solidFill>
              </a:rPr>
              <a:t>Python:</a:t>
            </a:r>
            <a:pPr indent="0" marL="0">
              <a:lnSpc>
                <a:spcPct val="100000"/>
              </a:lnSpc>
              <a:buNone/>
            </a:pPr>
            <a:r>
              <a:rPr lang="en-US" sz="1550" dirty="0">
                <a:solidFill>
                  <a:srgbClr val="262628"/>
                </a:solidFill>
              </a:rPr>
              <a:t> flag if at least </a:t>
            </a:r>
            <a:pPr indent="0" marL="0">
              <a:lnSpc>
                <a:spcPct val="100000"/>
              </a:lnSpc>
              <a:buNone/>
            </a:pPr>
            <a:r>
              <a:rPr lang="en-US" sz="1550" b="1" dirty="0">
                <a:solidFill>
                  <a:srgbClr val="262628"/>
                </a:solidFill>
              </a:rPr>
              <a:t>two</a:t>
            </a:r>
            <a:pPr indent="0" marL="0">
              <a:lnSpc>
                <a:spcPct val="100000"/>
              </a:lnSpc>
              <a:buNone/>
            </a:pPr>
            <a:r>
              <a:rPr lang="en-US" sz="1550" dirty="0">
                <a:solidFill>
                  <a:srgbClr val="262628"/>
                </a:solidFill>
              </a:rPr>
              <a:t> of: w&gt;7; mean implementer coverage &lt;0.75 over ≥2 implementers; an implementer with forced stubs. </a:t>
            </a:r>
            <a:endParaRPr lang="en-US" sz="15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150100" y="1024128"/>
          <a:ext cx="4584700" cy="914400"/>
        </p:xfrm>
        <a:graphic>
          <a:graphicData uri="http://schemas.openxmlformats.org/drawingml/2006/table">
            <a:tbl>
              <a:tblPr/>
              <a:tblGrid>
                <a:gridCol w="2037644"/>
                <a:gridCol w="1273528"/>
                <a:gridCol w="1273528"/>
              </a:tblGrid>
              <a:tr h="0">
                <a:tc>
                  <a:txBody>
                    <a:bodyPr/>
                    <a:lstStyle/>
                    <a:p>
                      <a:pPr algn="l" indent="0" marL="0">
                        <a:buNone/>
                      </a:pPr>
                      <a:r>
                        <a:rPr lang="en-US" sz="1550" b="1" dirty="0">
                          <a:solidFill>
                            <a:srgbClr val="072D5A"/>
                          </a:solidFill>
                        </a:rPr>
                        <a:t>Members</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judged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precision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0–17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0.116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18–29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0.071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30–49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0.786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50–99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0.900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≥100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1.000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8" name="Text 3"/>
          <p:cNvSpPr txBox="1"/>
          <p:nvPr/>
        </p:nvSpPr>
        <p:spPr>
          <a:xfrm>
            <a:off x="7150100" y="3168015"/>
            <a:ext cx="458470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Width does separate violations here, which is why 13 was too low a bar.  </a:t>
            </a:r>
            <a:endParaRPr lang="en-US" sz="1550" dirty="0"/>
          </a:p>
        </p:txBody>
      </p:sp>
      <p:sp>
        <p:nvSpPr>
          <p:cNvPr id="9" name="Shape 4"/>
          <p:cNvSpPr/>
          <p:nvPr/>
        </p:nvSpPr>
        <p:spPr>
          <a:xfrm>
            <a:off x="7150100" y="3779012"/>
            <a:ext cx="3200400" cy="673926"/>
          </a:xfrm>
          <a:prstGeom prst="roundRect">
            <a:avLst>
              <a:gd name="adj" fmla="val 8141"/>
            </a:avLst>
          </a:prstGeom>
          <a:solidFill>
            <a:srgbClr val="DFE8F2"/>
          </a:solidFill>
          <a:ln w="12700">
            <a:solidFill>
              <a:srgbClr val="072D5A"/>
            </a:solidFill>
            <a:prstDash val="solid"/>
          </a:ln>
        </p:spPr>
      </p:sp>
      <p:sp>
        <p:nvSpPr>
          <p:cNvPr id="10" name="Text 5"/>
          <p:cNvSpPr txBox="1"/>
          <p:nvPr/>
        </p:nvSpPr>
        <p:spPr>
          <a:xfrm>
            <a:off x="7214108" y="3824732"/>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0.335 / 0.425</a:t>
            </a:r>
            <a:endParaRPr lang="en-US" sz="1850" dirty="0"/>
          </a:p>
        </p:txBody>
      </p:sp>
      <p:sp>
        <p:nvSpPr>
          <p:cNvPr id="11" name="Text 6"/>
          <p:cNvSpPr txBox="1"/>
          <p:nvPr/>
        </p:nvSpPr>
        <p:spPr>
          <a:xfrm>
            <a:off x="7214108" y="4126484"/>
            <a:ext cx="3072384" cy="271590"/>
          </a:xfrm>
          <a:prstGeom prst="rect">
            <a:avLst/>
          </a:prstGeom>
          <a:noFill/>
          <a:ln/>
        </p:spPr>
        <p:txBody>
          <a:bodyPr wrap="square" lIns="0" tIns="0" rIns="0" bIns="0" rtlCol="0" anchor="t"/>
          <a:lstStyle/>
          <a:p>
            <a:pPr algn="ctr" indent="0" marL="0">
              <a:buNone/>
            </a:pPr>
            <a:r>
              <a:rPr lang="en-US" sz="1250" dirty="0">
                <a:solidFill>
                  <a:srgbClr val="5A5A5A"/>
                </a:solidFill>
              </a:rPr>
              <a:t>precision, Java / Python</a:t>
            </a:r>
            <a:endParaRPr lang="en-US" sz="12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DIP: new cycles in the import graph</a:t>
            </a:r>
            <a:endParaRPr lang="en-US" sz="2200" dirty="0"/>
          </a:p>
        </p:txBody>
      </p:sp>
      <p:sp>
        <p:nvSpPr>
          <p:cNvPr id="4" name="Text 1"/>
          <p:cNvSpPr txBox="1"/>
          <p:nvPr/>
        </p:nvSpPr>
        <p:spPr>
          <a:xfrm>
            <a:off x="457200" y="1024128"/>
            <a:ext cx="6418580" cy="793051"/>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Build the internal import graph before and after the change and take strongly connected components with Tarjan's algorithm. With P(G) the set of module pairs inside one component: </a:t>
            </a:r>
            <a:endParaRPr lang="en-US" sz="1550" dirty="0"/>
          </a:p>
        </p:txBody>
      </p:sp>
      <p:pic>
        <p:nvPicPr>
          <p:cNvPr id="5" name="eq_09" descr="eq 09">    </p:cNvPr>
          <p:cNvPicPr>
            <a:picLocks noChangeAspect="1"/>
          </p:cNvPicPr>
          <p:nvPr/>
        </p:nvPicPr>
        <p:blipFill>
          <a:blip r:embed="rId1"/>
          <a:stretch>
            <a:fillRect/>
          </a:stretch>
        </p:blipFill>
        <p:spPr>
          <a:xfrm>
            <a:off x="2376729" y="1881188"/>
            <a:ext cx="2579522" cy="316535"/>
          </a:xfrm>
          <a:prstGeom prst="rect">
            <a:avLst/>
          </a:prstGeom>
        </p:spPr>
      </p:pic>
      <p:pic>
        <p:nvPicPr>
          <p:cNvPr id="6" name="eq_10" descr="eq 10">    </p:cNvPr>
          <p:cNvPicPr>
            <a:picLocks noChangeAspect="1"/>
          </p:cNvPicPr>
          <p:nvPr/>
        </p:nvPicPr>
        <p:blipFill>
          <a:blip r:embed="rId2"/>
          <a:stretch>
            <a:fillRect/>
          </a:stretch>
        </p:blipFill>
        <p:spPr>
          <a:xfrm>
            <a:off x="1812163" y="2353170"/>
            <a:ext cx="3708654" cy="316535"/>
          </a:xfrm>
          <a:prstGeom prst="rect">
            <a:avLst/>
          </a:prstGeom>
        </p:spPr>
      </p:pic>
      <p:sp>
        <p:nvSpPr>
          <p:cNvPr id="7" name="Text 2"/>
          <p:cNvSpPr txBox="1"/>
          <p:nvPr/>
        </p:nvSpPr>
        <p:spPr>
          <a:xfrm>
            <a:off x="457200" y="2825153"/>
            <a:ext cx="641858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Also computed, as description only: I=C_e/C_a+C_e, A=N_a/N_c, D=|A+I-1|. </a:t>
            </a:r>
            <a:endParaRPr lang="en-US" sz="1550" dirty="0"/>
          </a:p>
        </p:txBody>
      </p:sp>
      <p:sp>
        <p:nvSpPr>
          <p:cNvPr id="8" name="Shape 3"/>
          <p:cNvSpPr/>
          <p:nvPr/>
        </p:nvSpPr>
        <p:spPr>
          <a:xfrm>
            <a:off x="7150100" y="1024128"/>
            <a:ext cx="3200400" cy="673926"/>
          </a:xfrm>
          <a:prstGeom prst="roundRect">
            <a:avLst>
              <a:gd name="adj" fmla="val 8141"/>
            </a:avLst>
          </a:prstGeom>
          <a:solidFill>
            <a:srgbClr val="DFE8F2"/>
          </a:solidFill>
          <a:ln w="12700">
            <a:solidFill>
              <a:srgbClr val="072D5A"/>
            </a:solidFill>
            <a:prstDash val="solid"/>
          </a:ln>
        </p:spPr>
      </p:sp>
      <p:sp>
        <p:nvSpPr>
          <p:cNvPr id="9" name="Text 4"/>
          <p:cNvSpPr txBox="1"/>
          <p:nvPr/>
        </p:nvSpPr>
        <p:spPr>
          <a:xfrm>
            <a:off x="7214108" y="1069848"/>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0.892 / 1.000</a:t>
            </a:r>
            <a:endParaRPr lang="en-US" sz="1850" dirty="0"/>
          </a:p>
        </p:txBody>
      </p:sp>
      <p:sp>
        <p:nvSpPr>
          <p:cNvPr id="10" name="Text 5"/>
          <p:cNvSpPr txBox="1"/>
          <p:nvPr/>
        </p:nvSpPr>
        <p:spPr>
          <a:xfrm>
            <a:off x="7214108" y="1371600"/>
            <a:ext cx="3072384" cy="271590"/>
          </a:xfrm>
          <a:prstGeom prst="rect">
            <a:avLst/>
          </a:prstGeom>
          <a:noFill/>
          <a:ln/>
        </p:spPr>
        <p:txBody>
          <a:bodyPr wrap="square" lIns="0" tIns="0" rIns="0" bIns="0" rtlCol="0" anchor="t"/>
          <a:lstStyle/>
          <a:p>
            <a:pPr algn="ctr" indent="0" marL="0">
              <a:buNone/>
            </a:pPr>
            <a:r>
              <a:rPr lang="en-US" sz="1250" dirty="0">
                <a:solidFill>
                  <a:srgbClr val="5A5A5A"/>
                </a:solidFill>
              </a:rPr>
              <a:t>precision, Java / Python</a:t>
            </a:r>
            <a:endParaRPr lang="en-US" sz="1250" dirty="0"/>
          </a:p>
        </p:txBody>
      </p:sp>
      <p:sp>
        <p:nvSpPr>
          <p:cNvPr id="11" name="Text 6"/>
          <p:cNvSpPr txBox="1"/>
          <p:nvPr/>
        </p:nvSpPr>
        <p:spPr>
          <a:xfrm>
            <a:off x="7150100" y="1762062"/>
            <a:ext cx="4584700" cy="153123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Java precision is exact: all 195 flagged pull requests were judged. In Python, 100 of 173 were judged and all were correct.  The distance D was tested as a change signal and confirmed </a:t>
            </a:r>
            <a:pPr indent="0" marL="0">
              <a:lnSpc>
                <a:spcPct val="100000"/>
              </a:lnSpc>
              <a:buNone/>
            </a:pPr>
            <a:r>
              <a:rPr lang="en-US" sz="1550" b="1" dirty="0">
                <a:solidFill>
                  <a:srgbClr val="262628"/>
                </a:solidFill>
              </a:rPr>
              <a:t>none</a:t>
            </a:r>
            <a:pPr indent="0" marL="0">
              <a:lnSpc>
                <a:spcPct val="100000"/>
              </a:lnSpc>
              <a:buNone/>
            </a:pPr>
            <a:r>
              <a:rPr lang="en-US" sz="1550" dirty="0">
                <a:solidFill>
                  <a:srgbClr val="262628"/>
                </a:solidFill>
              </a:rPr>
              <a:t> of 17 flags, so it describes packages and never raises a flag.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Calibration: same rules, two languages</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550" b="1" dirty="0">
                          <a:solidFill>
                            <a:srgbClr val="072D5A"/>
                          </a:solidFill>
                        </a:rPr>
                        <a:t>Principle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SRP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six metrics, ≥2 hits; 362 / 45 / 20 / 11 / 5 / 0.86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same rubric; 250 / 36 / 10 / 12 / 7 / 0.8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type ≥3, tag ≥8 branches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type ≥3, value ≥5 branches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three behavioural signals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five signals, adding what a compiler would reject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ISP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contract ≥13 members, or a forced stub</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at least two of three signals, width alone never flags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DIP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new cyclic pairs through a touched file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new cyclic pairs through a touched module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Shape 1"/>
          <p:cNvSpPr/>
          <p:nvPr/>
        </p:nvSpPr>
        <p:spPr>
          <a:xfrm>
            <a:off x="457200" y="4152265"/>
            <a:ext cx="11277600" cy="766445"/>
          </a:xfrm>
          <a:prstGeom prst="roundRect">
            <a:avLst>
              <a:gd name="adj" fmla="val 5965"/>
            </a:avLst>
          </a:prstGeom>
          <a:solidFill>
            <a:srgbClr val="F7F0DE"/>
          </a:solidFill>
          <a:ln w="12700">
            <a:solidFill>
              <a:srgbClr val="B08D3C"/>
            </a:solidFill>
            <a:prstDash val="solid"/>
          </a:ln>
        </p:spPr>
      </p:sp>
      <p:sp>
        <p:nvSpPr>
          <p:cNvPr id="6" name="Text 2"/>
          <p:cNvSpPr txBox="1"/>
          <p:nvPr/>
        </p:nvSpPr>
        <p:spPr>
          <a:xfrm>
            <a:off x="566928" y="4225417"/>
            <a:ext cx="11058144" cy="620141"/>
          </a:xfrm>
          <a:prstGeom prst="rect">
            <a:avLst/>
          </a:prstGeom>
          <a:noFill/>
          <a:ln/>
        </p:spPr>
        <p:txBody>
          <a:bodyPr wrap="square" lIns="0" tIns="0" rIns="0" bIns="0" rtlCol="0" anchor="t"/>
          <a:lstStyle/>
          <a:p>
            <a:pPr indent="0" marL="0">
              <a:buNone/>
            </a:pPr>
            <a:r>
              <a:rPr lang="en-US" sz="1550" dirty="0">
                <a:solidFill>
                  <a:srgbClr val="262628"/>
                </a:solidFill>
              </a:rPr>
              <a:t>Every threshold is the 90th percentile of its own corpus, set </a:t>
            </a:r>
            <a:pPr indent="0" marL="0">
              <a:buNone/>
            </a:pPr>
            <a:r>
              <a:rPr lang="en-US" sz="1550" b="1" dirty="0">
                <a:solidFill>
                  <a:srgbClr val="262628"/>
                </a:solidFill>
              </a:rPr>
              <a:t>before</a:t>
            </a:r>
            <a:pPr indent="0" marL="0">
              <a:buNone/>
            </a:pPr>
            <a:r>
              <a:rPr lang="en-US" sz="1550" dirty="0">
                <a:solidFill>
                  <a:srgbClr val="262628"/>
                </a:solidFill>
              </a:rPr>
              <a:t> any label existed; the result files were then deleted and the pass re-run, so no flag predates its threshold.</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3</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The before/after delta</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What is charged to the pull request</a:t>
            </a:r>
            <a:endParaRPr lang="en-US" sz="2200" dirty="0"/>
          </a:p>
        </p:txBody>
      </p:sp>
      <p:pic>
        <p:nvPicPr>
          <p:cNvPr id="4" name="fig_delta_steps" descr="fig delta steps">    </p:cNvPr>
          <p:cNvPicPr>
            <a:picLocks noChangeAspect="1"/>
          </p:cNvPicPr>
          <p:nvPr/>
        </p:nvPicPr>
        <p:blipFill>
          <a:blip r:embed="rId1"/>
          <a:stretch>
            <a:fillRect/>
          </a:stretch>
        </p:blipFill>
        <p:spPr>
          <a:xfrm>
            <a:off x="457200" y="1024128"/>
            <a:ext cx="11277600" cy="3723736"/>
          </a:xfrm>
          <a:prstGeom prst="rect">
            <a:avLst/>
          </a:prstGeom>
        </p:spPr>
      </p:pic>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The delta in the data</a:t>
            </a:r>
            <a:endParaRPr lang="en-US" sz="2200" dirty="0"/>
          </a:p>
        </p:txBody>
      </p:sp>
      <p:pic>
        <p:nvPicPr>
          <p:cNvPr id="4" name="fig_delta_harness" descr="fig delta harness">    </p:cNvPr>
          <p:cNvPicPr>
            <a:picLocks noChangeAspect="1"/>
          </p:cNvPicPr>
          <p:nvPr/>
        </p:nvPicPr>
        <p:blipFill>
          <a:blip r:embed="rId1"/>
          <a:stretch>
            <a:fillRect/>
          </a:stretch>
        </p:blipFill>
        <p:spPr>
          <a:xfrm>
            <a:off x="457200" y="1024128"/>
            <a:ext cx="11277600" cy="3976742"/>
          </a:xfrm>
          <a:prstGeom prst="rect">
            <a:avLst/>
          </a:prstGeom>
        </p:spPr>
      </p:pic>
      <p:sp>
        <p:nvSpPr>
          <p:cNvPr id="5" name="Text 1"/>
          <p:cNvSpPr txBox="1"/>
          <p:nvPr/>
        </p:nvSpPr>
        <p:spPr>
          <a:xfrm>
            <a:off x="457200" y="5156318"/>
            <a:ext cx="1127760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Attribution rule for relations: a violation is charged when </a:t>
            </a:r>
            <a:pPr indent="0" marL="0">
              <a:lnSpc>
                <a:spcPct val="100000"/>
              </a:lnSpc>
              <a:buNone/>
            </a:pPr>
            <a:r>
              <a:rPr lang="en-US" sz="1550" b="1" dirty="0">
                <a:solidFill>
                  <a:srgbClr val="262628"/>
                </a:solidFill>
              </a:rPr>
              <a:t>either</a:t>
            </a:r>
            <a:pPr indent="0" marL="0">
              <a:lnSpc>
                <a:spcPct val="100000"/>
              </a:lnSpc>
              <a:buNone/>
            </a:pPr>
            <a:r>
              <a:rPr lang="en-US" sz="1550" dirty="0">
                <a:solidFill>
                  <a:srgbClr val="262628"/>
                </a:solidFill>
              </a:rPr>
              <a:t> end is in a changed file, so an agent that widens a base class is charged for the subclasses it breaks in files it never opened.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4</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Corpus, pipeline and algorithms</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Corpus: two languages, three agents, three outcomes</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6189345" cy="914400"/>
        </p:xfrm>
        <a:graphic>
          <a:graphicData uri="http://schemas.openxmlformats.org/drawingml/2006/table">
            <a:tbl>
              <a:tblPr/>
              <a:tblGrid>
                <a:gridCol w="2152816"/>
                <a:gridCol w="1345510"/>
                <a:gridCol w="1345510"/>
                <a:gridCol w="1345510"/>
              </a:tblGrid>
              <a:tr h="0">
                <a:tc>
                  <a:txBody>
                    <a:bodyPr/>
                    <a:lstStyle/>
                    <a:p>
                      <a:pPr algn="l"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merged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rejected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open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Claude Code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970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485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283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GitHub Copilot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2,544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1,272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364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OpenAI Codex</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630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315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93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b="1" dirty="0">
                          <a:solidFill>
                            <a:srgbClr val="262628"/>
                          </a:solidFill>
                        </a:rPr>
                        <a:t>Python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Claude Code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940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540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182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GitHub Copilot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885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407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178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OpenAI Codex</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1,069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549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196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Text 1"/>
          <p:cNvSpPr txBox="1"/>
          <p:nvPr/>
        </p:nvSpPr>
        <p:spPr>
          <a:xfrm>
            <a:off x="457200" y="3824732"/>
            <a:ext cx="6189345"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Java rows are the curated corpus (6,956), Python rows the analysable one (4,946). </a:t>
            </a:r>
            <a:endParaRPr lang="en-US" sz="1550" dirty="0"/>
          </a:p>
        </p:txBody>
      </p:sp>
      <p:sp>
        <p:nvSpPr>
          <p:cNvPr id="6" name="Shape 2"/>
          <p:cNvSpPr/>
          <p:nvPr/>
        </p:nvSpPr>
        <p:spPr>
          <a:xfrm>
            <a:off x="6920865" y="1024128"/>
            <a:ext cx="3200400" cy="673926"/>
          </a:xfrm>
          <a:prstGeom prst="roundRect">
            <a:avLst>
              <a:gd name="adj" fmla="val 8141"/>
            </a:avLst>
          </a:prstGeom>
          <a:solidFill>
            <a:srgbClr val="DFE8F2"/>
          </a:solidFill>
          <a:ln w="12700">
            <a:solidFill>
              <a:srgbClr val="072D5A"/>
            </a:solidFill>
            <a:prstDash val="solid"/>
          </a:ln>
        </p:spPr>
      </p:sp>
      <p:sp>
        <p:nvSpPr>
          <p:cNvPr id="7" name="Text 3"/>
          <p:cNvSpPr txBox="1"/>
          <p:nvPr/>
        </p:nvSpPr>
        <p:spPr>
          <a:xfrm>
            <a:off x="6984873" y="1069848"/>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4,245 / 4,946</a:t>
            </a:r>
            <a:endParaRPr lang="en-US" sz="1850" dirty="0"/>
          </a:p>
        </p:txBody>
      </p:sp>
      <p:sp>
        <p:nvSpPr>
          <p:cNvPr id="8" name="Text 4"/>
          <p:cNvSpPr txBox="1"/>
          <p:nvPr/>
        </p:nvSpPr>
        <p:spPr>
          <a:xfrm>
            <a:off x="6984873" y="1371600"/>
            <a:ext cx="3072384" cy="271590"/>
          </a:xfrm>
          <a:prstGeom prst="rect">
            <a:avLst/>
          </a:prstGeom>
          <a:noFill/>
          <a:ln/>
        </p:spPr>
        <p:txBody>
          <a:bodyPr wrap="square" lIns="0" tIns="0" rIns="0" bIns="0" rtlCol="0" anchor="t"/>
          <a:lstStyle/>
          <a:p>
            <a:pPr algn="ctr" indent="0" marL="0">
              <a:buNone/>
            </a:pPr>
            <a:r>
              <a:rPr lang="en-US" sz="1250" dirty="0">
                <a:solidFill>
                  <a:srgbClr val="5A5A5A"/>
                </a:solidFill>
              </a:rPr>
              <a:t>analysable pull requests, Java / Python</a:t>
            </a:r>
            <a:endParaRPr lang="en-US" sz="1250" dirty="0"/>
          </a:p>
        </p:txBody>
      </p:sp>
      <p:sp>
        <p:nvSpPr>
          <p:cNvPr id="9" name="Text 5"/>
          <p:cNvSpPr txBox="1"/>
          <p:nvPr/>
        </p:nvSpPr>
        <p:spPr>
          <a:xfrm>
            <a:off x="6920865" y="1762062"/>
            <a:ext cx="4813935" cy="1212850"/>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≥25 stars, permissive licence </a:t>
            </a:r>
            <a:endParaRPr lang="en-US" sz="1550" dirty="0"/>
          </a:p>
          <a:p>
            <a:pPr marL="177800" indent="-177800">
              <a:spcAft>
                <a:spcPts val="400"/>
              </a:spcAft>
              <a:buSzPct val="100000"/>
              <a:buChar char="•"/>
            </a:pPr>
            <a:r>
              <a:rPr lang="en-US" sz="1550" dirty="0">
                <a:solidFill>
                  <a:srgbClr val="262628"/>
                </a:solidFill>
              </a:rPr>
              <a:t> balanced on agent and outcome </a:t>
            </a:r>
            <a:endParaRPr lang="en-US" sz="1550" dirty="0"/>
          </a:p>
          <a:p>
            <a:pPr marL="177800" indent="-177800">
              <a:spcAft>
                <a:spcPts val="400"/>
              </a:spcAft>
              <a:buSzPct val="100000"/>
              <a:buChar char="•"/>
            </a:pPr>
            <a:r>
              <a:rPr lang="en-US" sz="1550" dirty="0">
                <a:solidFill>
                  <a:srgbClr val="262628"/>
                </a:solidFill>
              </a:rPr>
              <a:t> Python also stratified by repository: no repository gives more than 0.4% of a cell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Attrition and how the two trees were recovered</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5730875" cy="914400"/>
        </p:xfrm>
        <a:graphic>
          <a:graphicData uri="http://schemas.openxmlformats.org/drawingml/2006/table">
            <a:tbl>
              <a:tblPr/>
              <a:tblGrid>
                <a:gridCol w="2547056"/>
                <a:gridCol w="1591910"/>
                <a:gridCol w="1591910"/>
              </a:tblGrid>
              <a:tr h="0">
                <a:tc>
                  <a:txBody>
                    <a:bodyPr/>
                    <a:lstStyle/>
                    <a:p>
                      <a:pPr algn="l" indent="0" marL="0">
                        <a:buNone/>
                      </a:pPr>
                      <a:r>
                        <a:rPr lang="en-US" sz="1550" b="1" dirty="0">
                          <a:solidFill>
                            <a:srgbClr val="072D5A"/>
                          </a:solidFill>
                        </a:rPr>
                        <a:t>Status</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analysable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4,245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4,946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no production file touched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2,540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1,816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no module resolved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n/a</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232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tree too large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150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history gone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no distinct before tree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b="1" dirty="0">
                          <a:solidFill>
                            <a:srgbClr val="262628"/>
                          </a:solidFill>
                        </a:rPr>
                        <a:t>curated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6,956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7,050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Text 1"/>
          <p:cNvSpPr txBox="1"/>
          <p:nvPr/>
        </p:nvSpPr>
        <p:spPr>
          <a:xfrm>
            <a:off x="6462395" y="1024128"/>
            <a:ext cx="5272405"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Recovery method by outcome (Java):  </a:t>
            </a:r>
            <a:endParaRPr lang="en-US" sz="155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462395" y="1389063"/>
          <a:ext cx="5272405" cy="914400"/>
        </p:xfrm>
        <a:graphic>
          <a:graphicData uri="http://schemas.openxmlformats.org/drawingml/2006/table">
            <a:tbl>
              <a:tblPr/>
              <a:tblGrid>
                <a:gridCol w="1506401"/>
                <a:gridCol w="941501"/>
                <a:gridCol w="941501"/>
                <a:gridCol w="941501"/>
                <a:gridCol w="941501"/>
              </a:tblGrid>
              <a:tr h="0">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1</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2</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3</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4</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merged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1,052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425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665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open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209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250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rejected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646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482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49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7" name="Text 2"/>
          <p:cNvSpPr txBox="1"/>
          <p:nvPr/>
        </p:nvSpPr>
        <p:spPr>
          <a:xfrm>
            <a:off x="6462395" y="2876233"/>
            <a:ext cx="5272405" cy="128517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Method 1 is the merge commit, available to merged requests only. That is why every merged-versus-unmerged comparison is made </a:t>
            </a:r>
            <a:pPr indent="0" marL="0">
              <a:lnSpc>
                <a:spcPct val="100000"/>
              </a:lnSpc>
              <a:buNone/>
            </a:pPr>
            <a:r>
              <a:rPr lang="en-US" sz="1550" b="1" dirty="0">
                <a:solidFill>
                  <a:srgbClr val="262628"/>
                </a:solidFill>
              </a:rPr>
              <a:t>within the same method</a:t>
            </a:r>
            <a:pPr indent="0" marL="0">
              <a:lnSpc>
                <a:spcPct val="100000"/>
              </a:lnSpc>
              <a:buNone/>
            </a:pPr>
            <a:r>
              <a:rPr lang="en-US" sz="1550" dirty="0">
                <a:solidFill>
                  <a:srgbClr val="262628"/>
                </a:solidFill>
              </a:rPr>
              <a:t>.  7.0% of Python requests lost their source entirely: the branch was deleted.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Full workflow</a:t>
            </a:r>
            <a:endParaRPr lang="en-US" sz="2200" dirty="0"/>
          </a:p>
        </p:txBody>
      </p:sp>
      <p:pic>
        <p:nvPicPr>
          <p:cNvPr id="4" name="fig_pipeline" descr="fig pipeline">    </p:cNvPr>
          <p:cNvPicPr>
            <a:picLocks noChangeAspect="1"/>
          </p:cNvPicPr>
          <p:nvPr/>
        </p:nvPicPr>
        <p:blipFill>
          <a:blip r:embed="rId1"/>
          <a:stretch>
            <a:fillRect/>
          </a:stretch>
        </p:blipFill>
        <p:spPr>
          <a:xfrm>
            <a:off x="457200" y="1024128"/>
            <a:ext cx="11277600" cy="6684144"/>
          </a:xfrm>
          <a:prstGeom prst="rect">
            <a:avLst/>
          </a:prstGeom>
        </p:spPr>
      </p:pic>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Algorithms: from the dataset to the facts</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550" b="1" dirty="0">
                          <a:solidFill>
                            <a:srgbClr val="072D5A"/>
                          </a:solidFill>
                        </a:rPr>
                        <a:t>Phase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Algorithm</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Why it is needed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Curation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seeded stratified draw, balanced on agent and outcome, repository-stratified in Python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one agent would dominate any raw aggregate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Tree recovery</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four fallbacks, </a:t>
                      </a:r>
                      <a:pPr algn="l" indent="0" marL="0">
                        <a:buNone/>
                      </a:pPr>
                      <a:r>
                        <a:rPr lang="en-US" sz="1550" dirty="0">
                          <a:solidFill>
                            <a:srgbClr val="262628"/>
                          </a:solidFill>
                          <a:latin typeface="Consolas" pitchFamily="34" charset="0"/>
                          <a:ea typeface="Consolas" pitchFamily="34" charset="-122"/>
                          <a:cs typeface="Consolas" pitchFamily="34" charset="-120"/>
                        </a:rPr>
                        <a:t>git archive</a:t>
                      </a:r>
                      <a:pPr algn="l" indent="0" marL="0">
                        <a:buNone/>
                      </a:pPr>
                      <a:r>
                        <a:rPr lang="en-US" sz="1550" dirty="0">
                          <a:solidFill>
                            <a:srgbClr val="262628"/>
                          </a:solidFill>
                        </a:rPr>
                        <a:t>, cache keyed by content hash</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branches are deleted, especially for closed requests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Java facts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JavaParser with symbol solving, source roots inferred from </a:t>
                      </a:r>
                      <a:pPr algn="l" indent="0" marL="0">
                        <a:buNone/>
                      </a:pPr>
                      <a:r>
                        <a:rPr lang="en-US" sz="1550" dirty="0">
                          <a:solidFill>
                            <a:srgbClr val="262628"/>
                          </a:solidFill>
                          <a:latin typeface="Consolas" pitchFamily="34" charset="0"/>
                          <a:ea typeface="Consolas" pitchFamily="34" charset="-122"/>
                          <a:cs typeface="Consolas" pitchFamily="34" charset="-120"/>
                        </a:rPr>
                        <a:t>package</a:t>
                      </a:r>
                      <a:pPr algn="l" indent="0" marL="0">
                        <a:buNone/>
                      </a:pPr>
                      <a:r>
                        <a:rPr lang="en-US" sz="1550" dirty="0">
                          <a:solidFill>
                            <a:srgbClr val="262628"/>
                          </a:solidFill>
                        </a:rPr>
                        <a:t> lines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without resolution two classes named </a:t>
                      </a:r>
                      <a:pPr algn="l" indent="0" marL="0">
                        <a:buNone/>
                      </a:pPr>
                      <a:r>
                        <a:rPr lang="en-US" sz="1550" dirty="0">
                          <a:solidFill>
                            <a:srgbClr val="262628"/>
                          </a:solidFill>
                          <a:latin typeface="Consolas" pitchFamily="34" charset="0"/>
                          <a:ea typeface="Consolas" pitchFamily="34" charset="-122"/>
                          <a:cs typeface="Consolas" pitchFamily="34" charset="-120"/>
                        </a:rPr>
                        <a:t>Node</a:t>
                      </a:r>
                      <a:pPr algn="l" indent="0" marL="0">
                        <a:buNone/>
                      </a:pPr>
                      <a:r>
                        <a:rPr lang="en-US" sz="1550" dirty="0">
                          <a:solidFill>
                            <a:srgbClr val="262628"/>
                          </a:solidFill>
                        </a:rPr>
                        <a:t> merge into one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Python facts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standard library </a:t>
                      </a:r>
                      <a:pPr algn="l" indent="0" marL="0">
                        <a:buNone/>
                      </a:pPr>
                      <a:r>
                        <a:rPr lang="en-US" sz="1550" dirty="0">
                          <a:solidFill>
                            <a:srgbClr val="262628"/>
                          </a:solidFill>
                          <a:latin typeface="Consolas" pitchFamily="34" charset="0"/>
                          <a:ea typeface="Consolas" pitchFamily="34" charset="-122"/>
                          <a:cs typeface="Consolas" pitchFamily="34" charset="-120"/>
                        </a:rPr>
                        <a:t>ast</a:t>
                      </a:r>
                      <a:pPr algn="l" indent="0" marL="0">
                        <a:buNone/>
                      </a:pPr>
                      <a:r>
                        <a:rPr lang="en-US" sz="1550" dirty="0">
                          <a:solidFill>
                            <a:srgbClr val="262628"/>
                          </a:solidFill>
                        </a:rPr>
                        <a:t>, imports resolved by module path</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no compiler and no type information is available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Algorithms: detectors and statistics</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550" b="1" dirty="0">
                          <a:solidFill>
                            <a:srgbClr val="072D5A"/>
                          </a:solidFill>
                        </a:rPr>
                        <a:t>Phase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Algorithm</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Why it is needed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SRP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union-find for LCOM4, TF-IDF cosine for C3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size alone cannot separate large from incoherent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dispatch chains grouped by subject, enum resolution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a switch over a fixed set is not a violation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nearest ancestor with a real body, over the resolved hierarchy</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an abstract base has no behaviour to refuse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ISP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contract to implementer index over the hierarchy</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inherited members are part of the contract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DIP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Tarjan strongly connected components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a cycle is a property of the whole graph</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Sampling</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seeded stratified draw after entity deduplication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classes touched by many requests would dominate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Scoring</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Wilson intervals, stratum-weighted recall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the sample is half flagged, the corpus is not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Model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GEE, exchangeable within repository, cluster-robust errors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requests from one repository are not independent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5</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Validation</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How a detector is validated</a:t>
            </a:r>
            <a:endParaRPr lang="en-US" sz="2200" dirty="0"/>
          </a:p>
        </p:txBody>
      </p:sp>
      <p:pic>
        <p:nvPicPr>
          <p:cNvPr id="4" name="fig_validation_flow" descr="fig validation flow">    </p:cNvPr>
          <p:cNvPicPr>
            <a:picLocks noChangeAspect="1"/>
          </p:cNvPicPr>
          <p:nvPr/>
        </p:nvPicPr>
        <p:blipFill>
          <a:blip r:embed="rId1"/>
          <a:stretch>
            <a:fillRect/>
          </a:stretch>
        </p:blipFill>
        <p:spPr>
          <a:xfrm>
            <a:off x="457200" y="1024128"/>
            <a:ext cx="11277600" cy="3786140"/>
          </a:xfrm>
          <a:prstGeom prst="rect">
            <a:avLst/>
          </a:prstGeom>
        </p:spPr>
      </p:pic>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Validation results</a:t>
            </a:r>
            <a:endParaRPr lang="en-US" sz="2200" dirty="0"/>
          </a:p>
        </p:txBody>
      </p:sp>
      <p:pic>
        <p:nvPicPr>
          <p:cNvPr id="4" name="fig_validation_pr" descr="fig validation pr">    </p:cNvPr>
          <p:cNvPicPr>
            <a:picLocks noChangeAspect="1"/>
          </p:cNvPicPr>
          <p:nvPr/>
        </p:nvPicPr>
        <p:blipFill>
          <a:blip r:embed="rId1"/>
          <a:stretch>
            <a:fillRect/>
          </a:stretch>
        </p:blipFill>
        <p:spPr>
          <a:xfrm>
            <a:off x="457200" y="1024128"/>
            <a:ext cx="11277600" cy="6663120"/>
          </a:xfrm>
          <a:prstGeom prst="rect">
            <a:avLst/>
          </a:prstGeom>
        </p:spPr>
      </p:pic>
      <p:sp>
        <p:nvSpPr>
          <p:cNvPr id="5" name="Text 1"/>
          <p:cNvSpPr txBox="1"/>
          <p:nvPr/>
        </p:nvSpPr>
        <p:spPr>
          <a:xfrm>
            <a:off x="457200" y="7842696"/>
            <a:ext cx="11277600" cy="165989"/>
          </a:xfrm>
          <a:prstGeom prst="rect">
            <a:avLst/>
          </a:prstGeom>
          <a:noFill/>
          <a:ln/>
        </p:spPr>
        <p:txBody>
          <a:bodyPr wrap="square" lIns="0" tIns="0" rIns="0" bIns="0" rtlCol="0" anchor="t"/>
          <a:lstStyle/>
          <a:p>
            <a:pPr indent="0" marL="0">
              <a:lnSpc>
                <a:spcPct val="100000"/>
              </a:lnSpc>
              <a:buNone/>
            </a:pPr>
            <a:r>
              <a:rPr lang="en-US" sz="700" dirty="0">
                <a:solidFill>
                  <a:srgbClr val="262628"/>
                </a:solidFill>
              </a:rPr>
              <a:t>  2,475 entities judged, each with a written reason. Dependency Inversion is precise in both languages; Single Responsibility, Open/Closed and Interface Segregation are screens. </a:t>
            </a:r>
            <a:endParaRPr lang="en-US" sz="70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What the judge's disagreements are made of</a:t>
            </a:r>
            <a:endParaRPr lang="en-US" sz="2200" dirty="0"/>
          </a:p>
        </p:txBody>
      </p:sp>
      <p:sp>
        <p:nvSpPr>
          <p:cNvPr id="4" name="Text 1"/>
          <p:cNvSpPr txBox="1"/>
          <p:nvPr/>
        </p:nvSpPr>
        <p:spPr>
          <a:xfrm>
            <a:off x="457200" y="1024128"/>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Why flags fail</a:t>
            </a:r>
            <a:pPr indent="0" marL="0">
              <a:lnSpc>
                <a:spcPct val="100000"/>
              </a:lnSpc>
              <a:buNone/>
            </a:pPr>
            <a:r>
              <a:rPr lang="en-US" sz="1550" dirty="0">
                <a:solidFill>
                  <a:srgbClr val="262628"/>
                </a:solidFill>
              </a:rPr>
              <a:t> </a:t>
            </a:r>
            <a:endParaRPr lang="en-US" sz="1550" dirty="0"/>
          </a:p>
        </p:txBody>
      </p:sp>
      <p:sp>
        <p:nvSpPr>
          <p:cNvPr id="5" name="Text 2"/>
          <p:cNvSpPr txBox="1"/>
          <p:nvPr/>
        </p:nvSpPr>
        <p:spPr>
          <a:xfrm>
            <a:off x="457200" y="1389063"/>
            <a:ext cx="5501640" cy="1951037"/>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a:t>
            </a:r>
            <a:pPr indent="0" marL="0">
              <a:buNone/>
            </a:pPr>
            <a:r>
              <a:rPr lang="en-US" sz="1550" b="1" dirty="0">
                <a:solidFill>
                  <a:srgbClr val="262628"/>
                </a:solidFill>
              </a:rPr>
              <a:t>OCP:</a:t>
            </a:r>
            <a:pPr indent="0" marL="0">
              <a:spcAft>
                <a:spcPts val="400"/>
              </a:spcAft>
              <a:buNone/>
            </a:pPr>
            <a:r>
              <a:rPr lang="en-US" sz="1550" dirty="0">
                <a:solidFill>
                  <a:srgbClr val="262628"/>
                </a:solidFill>
              </a:rPr>
              <a:t> the set is fixed by a specification, not by the language (JDBC codes, protobuf types, Unicode blocks, generated parser tables) </a:t>
            </a:r>
            <a:endParaRPr lang="en-US" sz="1550" dirty="0"/>
          </a:p>
          <a:p>
            <a:pPr marL="177800" indent="-177800">
              <a:buSzPct val="100000"/>
              <a:buChar char="•"/>
            </a:pPr>
            <a:r>
              <a:rPr lang="en-US" sz="1550" dirty="0">
                <a:solidFill>
                  <a:srgbClr val="262628"/>
                </a:solidFill>
              </a:rPr>
              <a:t> </a:t>
            </a:r>
            <a:pPr indent="0" marL="0">
              <a:buNone/>
            </a:pPr>
            <a:r>
              <a:rPr lang="en-US" sz="1550" b="1" dirty="0">
                <a:solidFill>
                  <a:srgbClr val="262628"/>
                </a:solidFill>
              </a:rPr>
              <a:t>Python SRP:</a:t>
            </a:r>
            <a:pPr indent="0" marL="0">
              <a:spcAft>
                <a:spcPts val="400"/>
              </a:spcAft>
              <a:buNone/>
            </a:pPr>
            <a:r>
              <a:rPr lang="en-US" sz="1550" dirty="0">
                <a:solidFill>
                  <a:srgbClr val="262628"/>
                </a:solidFill>
              </a:rPr>
              <a:t> classes whose size a framework imposes (model heads, home-automation entities, training callbacks) </a:t>
            </a:r>
            <a:endParaRPr lang="en-US" sz="1550" dirty="0"/>
          </a:p>
          <a:p>
            <a:pPr marL="177800" indent="-177800">
              <a:buSzPct val="100000"/>
              <a:buChar char="•"/>
            </a:pPr>
            <a:r>
              <a:rPr lang="en-US" sz="1550" dirty="0">
                <a:solidFill>
                  <a:srgbClr val="262628"/>
                </a:solidFill>
              </a:rPr>
              <a:t> </a:t>
            </a:r>
            <a:pPr indent="0" marL="0">
              <a:buNone/>
            </a:pPr>
            <a:r>
              <a:rPr lang="en-US" sz="1550" b="1" dirty="0">
                <a:solidFill>
                  <a:srgbClr val="262628"/>
                </a:solidFill>
              </a:rPr>
              <a:t>ISP in Python:</a:t>
            </a:r>
            <a:pPr indent="0" marL="0">
              <a:spcAft>
                <a:spcPts val="400"/>
              </a:spcAft>
              <a:buNone/>
            </a:pPr>
            <a:r>
              <a:rPr lang="en-US" sz="1550" dirty="0">
                <a:solidFill>
                  <a:srgbClr val="262628"/>
                </a:solidFill>
              </a:rPr>
              <a:t> test doubles and unfinished scaffolds that stub on purpose </a:t>
            </a:r>
            <a:endParaRPr lang="en-US" sz="1550" dirty="0"/>
          </a:p>
        </p:txBody>
      </p:sp>
      <p:sp>
        <p:nvSpPr>
          <p:cNvPr id="6" name="Text 3"/>
          <p:cNvSpPr txBox="1"/>
          <p:nvPr/>
        </p:nvSpPr>
        <p:spPr>
          <a:xfrm>
            <a:off x="6233160" y="1024128"/>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What the detectors miss</a:t>
            </a:r>
            <a:pPr indent="0" marL="0">
              <a:lnSpc>
                <a:spcPct val="100000"/>
              </a:lnSpc>
              <a:buNone/>
            </a:pPr>
            <a:r>
              <a:rPr lang="en-US" sz="1550" dirty="0">
                <a:solidFill>
                  <a:srgbClr val="262628"/>
                </a:solidFill>
              </a:rPr>
              <a:t> </a:t>
            </a:r>
            <a:endParaRPr lang="en-US" sz="1550" dirty="0"/>
          </a:p>
        </p:txBody>
      </p:sp>
      <p:sp>
        <p:nvSpPr>
          <p:cNvPr id="7" name="Text 4"/>
          <p:cNvSpPr txBox="1"/>
          <p:nvPr/>
        </p:nvSpPr>
        <p:spPr>
          <a:xfrm>
            <a:off x="6233160" y="1389063"/>
            <a:ext cx="5501640" cy="1394905"/>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The three Liskov violations found in the unflagged sample are </a:t>
            </a:r>
            <a:pPr indent="0" marL="0">
              <a:buNone/>
            </a:pPr>
            <a:r>
              <a:rPr lang="en-US" sz="1550" i="1" dirty="0">
                <a:solidFill>
                  <a:srgbClr val="262628"/>
                </a:solidFill>
              </a:rPr>
              <a:t>silent</a:t>
            </a:r>
            <a:pPr indent="0" marL="0">
              <a:buNone/>
            </a:pPr>
            <a:r>
              <a:rPr lang="en-US" sz="1550" dirty="0">
                <a:solidFill>
                  <a:srgbClr val="262628"/>
                </a:solidFill>
              </a:rPr>
              <a:t>: an override that throws for every argument, one with an empty body, one that assigns </a:t>
            </a:r>
            <a:pPr indent="0" marL="0">
              <a:buNone/>
            </a:pPr>
            <a:r>
              <a:rPr lang="en-US" sz="1550" dirty="0">
                <a:solidFill>
                  <a:srgbClr val="262628"/>
                </a:solidFill>
                <a:latin typeface="Consolas" pitchFamily="34" charset="0"/>
                <a:ea typeface="Consolas" pitchFamily="34" charset="-122"/>
                <a:cs typeface="Consolas" pitchFamily="34" charset="-120"/>
              </a:rPr>
              <a:t>null</a:t>
            </a:r>
            <a:pPr indent="0" marL="0">
              <a:spcAft>
                <a:spcPts val="400"/>
              </a:spcAft>
              <a:buNone/>
            </a:pPr>
            <a:r>
              <a:rPr lang="en-US" sz="1550" dirty="0">
                <a:solidFill>
                  <a:srgbClr val="262628"/>
                </a:solidFill>
              </a:rPr>
              <a:t> </a:t>
            </a:r>
            <a:endParaRPr lang="en-US" sz="1550" dirty="0"/>
          </a:p>
          <a:p>
            <a:pPr marL="177800" indent="-177800">
              <a:spcAft>
                <a:spcPts val="400"/>
              </a:spcAft>
              <a:buSzPct val="100000"/>
              <a:buChar char="•"/>
            </a:pPr>
            <a:r>
              <a:rPr lang="en-US" sz="1550" dirty="0">
                <a:solidFill>
                  <a:srgbClr val="262628"/>
                </a:solidFill>
              </a:rPr>
              <a:t> Structural rules catch refusals that are declared, not refusals that are quiet </a:t>
            </a:r>
            <a:endParaRPr lang="en-US" sz="1550" dirty="0"/>
          </a:p>
        </p:txBody>
      </p:sp>
      <p:sp>
        <p:nvSpPr>
          <p:cNvPr id="8" name="Shape 5"/>
          <p:cNvSpPr/>
          <p:nvPr/>
        </p:nvSpPr>
        <p:spPr>
          <a:xfrm>
            <a:off x="6233160" y="2847975"/>
            <a:ext cx="3200400" cy="872363"/>
          </a:xfrm>
          <a:prstGeom prst="roundRect">
            <a:avLst>
              <a:gd name="adj" fmla="val 6289"/>
            </a:avLst>
          </a:prstGeom>
          <a:solidFill>
            <a:srgbClr val="DFE8F2"/>
          </a:solidFill>
          <a:ln w="12700">
            <a:solidFill>
              <a:srgbClr val="072D5A"/>
            </a:solidFill>
            <a:prstDash val="solid"/>
          </a:ln>
        </p:spPr>
      </p:sp>
      <p:sp>
        <p:nvSpPr>
          <p:cNvPr id="9" name="Text 6"/>
          <p:cNvSpPr txBox="1"/>
          <p:nvPr/>
        </p:nvSpPr>
        <p:spPr>
          <a:xfrm>
            <a:off x="6297168" y="2893695"/>
            <a:ext cx="3072384" cy="292608"/>
          </a:xfrm>
          <a:prstGeom prst="rect">
            <a:avLst/>
          </a:prstGeom>
          <a:noFill/>
          <a:ln/>
        </p:spPr>
        <p:txBody>
          <a:bodyPr wrap="square" lIns="0" tIns="0" rIns="0" bIns="0" rtlCol="0" anchor="b"/>
          <a:lstStyle/>
          <a:p>
            <a:pPr algn="ctr" indent="0" marL="0">
              <a:buNone/>
            </a:pPr>
            <a:r>
              <a:rPr lang="en-US" sz="1850" b="1" dirty="0">
                <a:solidFill>
                  <a:srgbClr val="072D5A"/>
                </a:solidFill>
              </a:rPr>
              <a:t>89.7%</a:t>
            </a:r>
            <a:endParaRPr lang="en-US" sz="1850" dirty="0"/>
          </a:p>
        </p:txBody>
      </p:sp>
      <p:sp>
        <p:nvSpPr>
          <p:cNvPr id="10" name="Text 7"/>
          <p:cNvSpPr txBox="1"/>
          <p:nvPr/>
        </p:nvSpPr>
        <p:spPr>
          <a:xfrm>
            <a:off x="6297168" y="3195447"/>
            <a:ext cx="3072384" cy="470027"/>
          </a:xfrm>
          <a:prstGeom prst="rect">
            <a:avLst/>
          </a:prstGeom>
          <a:noFill/>
          <a:ln/>
        </p:spPr>
        <p:txBody>
          <a:bodyPr wrap="square" lIns="0" tIns="0" rIns="0" bIns="0" rtlCol="0" anchor="t"/>
          <a:lstStyle/>
          <a:p>
            <a:pPr algn="ctr" indent="0" marL="0">
              <a:buNone/>
            </a:pPr>
            <a:r>
              <a:rPr lang="en-US" sz="1250" dirty="0">
                <a:solidFill>
                  <a:srgbClr val="5A5A5A"/>
                </a:solidFill>
              </a:rPr>
              <a:t>agreement when 174 Java entities were judged twice</a:t>
            </a:r>
            <a:endParaRPr lang="en-US" sz="12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Two refinements, and the test that separates them</a:t>
            </a:r>
            <a:endParaRPr lang="en-US" sz="2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3922643"/>
                <a:gridCol w="2451652"/>
                <a:gridCol w="2451652"/>
                <a:gridCol w="2451652"/>
              </a:tblGrid>
              <a:tr h="0">
                <a:tc>
                  <a:txBody>
                    <a:bodyPr/>
                    <a:lstStyle/>
                    <a:p>
                      <a:pPr algn="l" indent="0" marL="0">
                        <a:buNone/>
                      </a:pPr>
                      <a:r>
                        <a:rPr lang="en-US" sz="1550" b="1" dirty="0">
                          <a:solidFill>
                            <a:srgbClr val="072D5A"/>
                          </a:solidFill>
                        </a:rPr>
                        <a:t>Refinement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Derivation sample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Java holdout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Python, unchanged rule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LSP, refused bequest only</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1.000 (31/31)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1.000</a:t>
                      </a:r>
                      <a:pPr algn="ctr" indent="0" marL="0">
                        <a:buNone/>
                      </a:pPr>
                      <a:r>
                        <a:rPr lang="en-US" sz="1550" dirty="0">
                          <a:solidFill>
                            <a:srgbClr val="262628"/>
                          </a:solidFill>
                        </a:rPr>
                        <a:t> (33/33)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0.857</a:t>
                      </a:r>
                      <a:pPr algn="ctr" indent="0" marL="0">
                        <a:buNone/>
                      </a:pPr>
                      <a:r>
                        <a:rPr lang="en-US" sz="1550" dirty="0">
                          <a:solidFill>
                            <a:srgbClr val="262628"/>
                          </a:solidFill>
                        </a:rPr>
                        <a:t> (6/7)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ISP, ≥30 members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0.862 (25/29)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0.704 (19/27)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0.200 (1/5)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Text 1"/>
          <p:cNvSpPr txBox="1"/>
          <p:nvPr/>
        </p:nvSpPr>
        <p:spPr>
          <a:xfrm>
            <a:off x="457200" y="2182940"/>
            <a:ext cx="5501640" cy="1148842"/>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Refused bequest is </a:t>
            </a:r>
            <a:pPr indent="0" marL="0">
              <a:buNone/>
            </a:pPr>
            <a:r>
              <a:rPr lang="en-US" sz="1550" b="1" dirty="0">
                <a:solidFill>
                  <a:srgbClr val="262628"/>
                </a:solidFill>
              </a:rPr>
              <a:t>categorical</a:t>
            </a:r>
            <a:pPr indent="0" marL="0">
              <a:spcAft>
                <a:spcPts val="400"/>
              </a:spcAft>
              <a:buNone/>
            </a:pPr>
            <a:r>
              <a:rPr lang="en-US" sz="1550" dirty="0">
                <a:solidFill>
                  <a:srgbClr val="262628"/>
                </a:solidFill>
              </a:rPr>
              <a:t>: a body either is only a throw, or it is not. </a:t>
            </a:r>
            <a:endParaRPr lang="en-US" sz="1550" dirty="0"/>
          </a:p>
          <a:p>
            <a:pPr marL="177800" indent="-177800">
              <a:spcAft>
                <a:spcPts val="400"/>
              </a:spcAft>
              <a:buSzPct val="100000"/>
              <a:buChar char="•"/>
            </a:pPr>
            <a:r>
              <a:rPr lang="en-US" sz="1550" dirty="0">
                <a:solidFill>
                  <a:srgbClr val="262628"/>
                </a:solidFill>
              </a:rPr>
              <a:t> A width of 30 was chosen where the false positives stopped, and absorbed the noise of that sample. </a:t>
            </a:r>
            <a:endParaRPr lang="en-US" sz="1550" dirty="0"/>
          </a:p>
        </p:txBody>
      </p:sp>
      <p:sp>
        <p:nvSpPr>
          <p:cNvPr id="6" name="Text 2"/>
          <p:cNvSpPr txBox="1"/>
          <p:nvPr/>
        </p:nvSpPr>
        <p:spPr>
          <a:xfrm>
            <a:off x="6233160" y="2182940"/>
            <a:ext cx="5501640" cy="1394905"/>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Both rules were fixed on Java data before any Python label existed, so Python is a second, out-of-language test. </a:t>
            </a:r>
            <a:endParaRPr lang="en-US" sz="1550" dirty="0"/>
          </a:p>
          <a:p>
            <a:pPr marL="177800" indent="-177800">
              <a:buSzPct val="100000"/>
              <a:buChar char="•"/>
            </a:pPr>
            <a:r>
              <a:rPr lang="en-US" sz="1550" dirty="0">
                <a:solidFill>
                  <a:srgbClr val="262628"/>
                </a:solidFill>
              </a:rPr>
              <a:t> Lesson: a rule that names a </a:t>
            </a:r>
            <a:pPr indent="0" marL="0">
              <a:buNone/>
            </a:pPr>
            <a:r>
              <a:rPr lang="en-US" sz="1550" i="1" dirty="0">
                <a:solidFill>
                  <a:srgbClr val="262628"/>
                </a:solidFill>
              </a:rPr>
              <a:t>shape</a:t>
            </a:r>
            <a:pPr indent="0" marL="0">
              <a:spcAft>
                <a:spcPts val="400"/>
              </a:spcAft>
              <a:buNone/>
            </a:pPr>
            <a:r>
              <a:rPr lang="en-US" sz="1550" dirty="0">
                <a:solidFill>
                  <a:srgbClr val="262628"/>
                </a:solidFill>
              </a:rPr>
              <a:t> of code transfers; a tuned number does not.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“Three of your detectors are weak. Can you fix them?”</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350" b="1" dirty="0">
                          <a:solidFill>
                            <a:srgbClr val="072D5A"/>
                          </a:solidFill>
                        </a:rPr>
                        <a:t>Principle</a:t>
                      </a:r>
                      <a:endParaRPr lang="en-US" sz="13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350" b="1" dirty="0">
                          <a:solidFill>
                            <a:srgbClr val="072D5A"/>
                          </a:solidFill>
                        </a:rPr>
                        <a:t>Can tuning fix it?</a:t>
                      </a:r>
                      <a:endParaRPr lang="en-US" sz="13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350" b="1" dirty="0">
                          <a:solidFill>
                            <a:srgbClr val="072D5A"/>
                          </a:solidFill>
                        </a:rPr>
                        <a:t>Evidence</a:t>
                      </a:r>
                      <a:endParaRPr lang="en-US" sz="13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350" dirty="0">
                          <a:solidFill>
                            <a:srgbClr val="262628"/>
                          </a:solidFill>
                        </a:rPr>
                        <a:t>SRP</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Not by a threshold</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0.350 Java, 0.110 Python. The Python false positives are classes whose size a </a:t>
                      </a:r>
                      <a:pPr algn="l" indent="0" marL="0">
                        <a:buNone/>
                      </a:pPr>
                      <a:r>
                        <a:rPr lang="en-US" sz="1350" i="1" dirty="0">
                          <a:solidFill>
                            <a:srgbClr val="262628"/>
                          </a:solidFill>
                        </a:rPr>
                        <a:t>framework</a:t>
                      </a:r>
                      <a:pPr algn="l" indent="0" marL="0">
                        <a:buNone/>
                      </a:pPr>
                      <a:r>
                        <a:rPr lang="en-US" sz="1350" dirty="0">
                          <a:solidFill>
                            <a:srgbClr val="262628"/>
                          </a:solidFill>
                        </a:rPr>
                        <a:t> imposes: that needs framework awareness, not a new number</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350" dirty="0">
                          <a:solidFill>
                            <a:srgbClr val="262628"/>
                          </a:solidFill>
                        </a:rPr>
                        <a:t>OCP</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b="1" dirty="0">
                          <a:solidFill>
                            <a:srgbClr val="D62728"/>
                          </a:solidFill>
                        </a:rPr>
                        <a:t>No threshold exists</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Precision by branch count: 0.270, 0.391, 0.316, 0.400, 0.364. </a:t>
                      </a:r>
                      <a:pPr algn="l" indent="0" marL="0">
                        <a:buNone/>
                      </a:pPr>
                      <a:r>
                        <a:rPr lang="en-US" sz="1350" b="1" dirty="0">
                          <a:solidFill>
                            <a:srgbClr val="262628"/>
                          </a:solidFill>
                        </a:rPr>
                        <a:t>Flat.</a:t>
                      </a:r>
                      <a:pPr algn="l" indent="0" marL="0">
                        <a:buNone/>
                      </a:pPr>
                      <a:r>
                        <a:rPr lang="en-US" sz="1350" dirty="0">
                          <a:solidFill>
                            <a:srgbClr val="262628"/>
                          </a:solidFill>
                        </a:rPr>
                        <a:t> A 64-branch switch over protocol codes is closed, a 5-branch one over backends is open</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350" dirty="0">
                          <a:solidFill>
                            <a:srgbClr val="262628"/>
                          </a:solidFill>
                        </a:rPr>
                        <a:t>LSP</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b="1" dirty="0">
                          <a:solidFill>
                            <a:srgbClr val="1C7C38"/>
                          </a:solidFill>
                        </a:rPr>
                        <a:t>Already done</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0.420 → </a:t>
                      </a:r>
                      <a:pPr algn="l" indent="0" marL="0">
                        <a:buNone/>
                      </a:pPr>
                      <a:r>
                        <a:rPr lang="en-US" sz="1350" b="1" dirty="0">
                          <a:solidFill>
                            <a:srgbClr val="262628"/>
                          </a:solidFill>
                        </a:rPr>
                        <a:t>1.000</a:t>
                      </a:r>
                      <a:pPr algn="l" indent="0" marL="0">
                        <a:buNone/>
                      </a:pPr>
                      <a:r>
                        <a:rPr lang="en-US" sz="1350" dirty="0">
                          <a:solidFill>
                            <a:srgbClr val="262628"/>
                          </a:solidFill>
                        </a:rPr>
                        <a:t> restricted to refused bequest; holdout 33/33, Python 6/7</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350" dirty="0">
                          <a:solidFill>
                            <a:srgbClr val="262628"/>
                          </a:solidFill>
                        </a:rPr>
                        <a:t>ISP</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b="1" dirty="0">
                          <a:solidFill>
                            <a:srgbClr val="D62728"/>
                          </a:solidFill>
                        </a:rPr>
                        <a:t>Tried, and it failed</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The ≥30 rule: 0.862 where derived, 0.704 on the holdout, 0.200 in Python, outside its own interval</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350" dirty="0">
                          <a:solidFill>
                            <a:srgbClr val="262628"/>
                          </a:solidFill>
                        </a:rPr>
                        <a:t>DIP</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Nothing to fix</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350" dirty="0">
                          <a:solidFill>
                            <a:srgbClr val="262628"/>
                          </a:solidFill>
                        </a:rPr>
                        <a:t>0.892 on a census of all 195 Java flags, 1.000 in Python</a:t>
                      </a:r>
                      <a:endParaRPr lang="en-US" sz="13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Shape 1"/>
          <p:cNvSpPr/>
          <p:nvPr/>
        </p:nvSpPr>
        <p:spPr>
          <a:xfrm>
            <a:off x="457200" y="5549265"/>
            <a:ext cx="11277600" cy="702945"/>
          </a:xfrm>
          <a:prstGeom prst="roundRect">
            <a:avLst>
              <a:gd name="adj" fmla="val 6504"/>
            </a:avLst>
          </a:prstGeom>
          <a:solidFill>
            <a:srgbClr val="F7F0DE"/>
          </a:solidFill>
          <a:ln w="12700">
            <a:solidFill>
              <a:srgbClr val="B08D3C"/>
            </a:solidFill>
            <a:prstDash val="solid"/>
          </a:ln>
        </p:spPr>
      </p:sp>
      <p:sp>
        <p:nvSpPr>
          <p:cNvPr id="6" name="Text 2"/>
          <p:cNvSpPr txBox="1"/>
          <p:nvPr/>
        </p:nvSpPr>
        <p:spPr>
          <a:xfrm>
            <a:off x="566928" y="5622417"/>
            <a:ext cx="11058144" cy="556641"/>
          </a:xfrm>
          <a:prstGeom prst="rect">
            <a:avLst/>
          </a:prstGeom>
          <a:noFill/>
          <a:ln/>
        </p:spPr>
        <p:txBody>
          <a:bodyPr wrap="square" lIns="0" tIns="0" rIns="0" bIns="0" rtlCol="0" anchor="t"/>
          <a:lstStyle/>
          <a:p>
            <a:pPr indent="0" marL="0">
              <a:buNone/>
            </a:pPr>
            <a:r>
              <a:rPr lang="en-US" sz="1350" dirty="0">
                <a:solidFill>
                  <a:srgbClr val="262628"/>
                </a:solidFill>
              </a:rPr>
              <a:t>A reported precision is the answer to RQ2, not a defect to hide. Every rate here is already corrected by it: 7,501 SRP flags become about 2,600 genuine ones.</a:t>
            </a:r>
            <a:endParaRPr lang="en-US" sz="13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Second check: three published analysers (Java)</a:t>
            </a:r>
            <a:endParaRPr lang="en-US" sz="2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6303963" cy="914400"/>
        </p:xfrm>
        <a:graphic>
          <a:graphicData uri="http://schemas.openxmlformats.org/drawingml/2006/table">
            <a:tbl>
              <a:tblPr/>
              <a:tblGrid>
                <a:gridCol w="3879362"/>
                <a:gridCol w="2424601"/>
              </a:tblGrid>
              <a:tr h="0">
                <a:tc>
                  <a:txBody>
                    <a:bodyPr/>
                    <a:lstStyle/>
                    <a:p>
                      <a:pPr algn="l" indent="0" marL="0">
                        <a:buNone/>
                      </a:pPr>
                      <a:r>
                        <a:rPr lang="en-US" sz="1550" b="1" dirty="0">
                          <a:solidFill>
                            <a:srgbClr val="072D5A"/>
                          </a:solidFill>
                        </a:rPr>
                        <a:t>God Class detectors, 82,553 types</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Cohen's κ</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ours vs PMD </a:t>
                      </a:r>
                      <a:pPr algn="l" indent="0" marL="0">
                        <a:buNone/>
                      </a:pPr>
                      <a:r>
                        <a:rPr lang="en-US" sz="1550" dirty="0">
                          <a:solidFill>
                            <a:srgbClr val="262628"/>
                          </a:solidFill>
                          <a:latin typeface="Consolas" pitchFamily="34" charset="0"/>
                          <a:ea typeface="Consolas" pitchFamily="34" charset="-122"/>
                          <a:cs typeface="Consolas" pitchFamily="34" charset="-120"/>
                        </a:rPr>
                        <a:t>GodClass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0.574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ours vs DesigniteJava</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0.531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PMD vs DesigniteJava</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0.384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b="1" dirty="0">
                          <a:solidFill>
                            <a:srgbClr val="262628"/>
                          </a:solidFill>
                        </a:rPr>
                        <a:t>Open/Closed, 63,326 types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ours vs Designite type-conditional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D62728"/>
                          </a:solidFill>
                        </a:rPr>
                        <a:t>0.122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457200" y="3168015"/>
          <a:ext cx="6303963" cy="914400"/>
        </p:xfrm>
        <a:graphic>
          <a:graphicData uri="http://schemas.openxmlformats.org/drawingml/2006/table">
            <a:tbl>
              <a:tblPr/>
              <a:tblGrid>
                <a:gridCol w="3879362"/>
                <a:gridCol w="2424601"/>
              </a:tblGrid>
              <a:tr h="0">
                <a:tc>
                  <a:txBody>
                    <a:bodyPr/>
                    <a:lstStyle/>
                    <a:p>
                      <a:pPr algn="l" indent="0" marL="0">
                        <a:buNone/>
                      </a:pPr>
                      <a:r>
                        <a:rPr lang="en-US" sz="1550" b="1" dirty="0">
                          <a:solidFill>
                            <a:srgbClr val="072D5A"/>
                          </a:solidFill>
                        </a:rPr>
                        <a:t>Rank correlation with CK</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ρ</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weighted methods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0.977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lines of code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0.944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cohesion (LCOM1)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0.288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6" name="Text 1"/>
          <p:cNvSpPr txBox="1"/>
          <p:nvPr/>
        </p:nvSpPr>
        <p:spPr>
          <a:xfrm>
            <a:off x="7035483" y="1024128"/>
            <a:ext cx="4699318" cy="3063303"/>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150 random repositories, tools at their own default thresholds </a:t>
            </a:r>
            <a:endParaRPr lang="en-US" sz="1550" dirty="0"/>
          </a:p>
          <a:p>
            <a:pPr marL="177800" indent="-177800">
              <a:buSzPct val="100000"/>
              <a:buChar char="•"/>
            </a:pPr>
            <a:r>
              <a:rPr lang="en-US" sz="1550" dirty="0">
                <a:solidFill>
                  <a:srgbClr val="262628"/>
                </a:solidFill>
              </a:rPr>
              <a:t> Our rubric agrees with each tool </a:t>
            </a:r>
            <a:pPr indent="0" marL="0">
              <a:buNone/>
            </a:pPr>
            <a:r>
              <a:rPr lang="en-US" sz="1550" b="1" dirty="0">
                <a:solidFill>
                  <a:srgbClr val="262628"/>
                </a:solidFill>
              </a:rPr>
              <a:t>more</a:t>
            </a:r>
            <a:pPr indent="0" marL="0">
              <a:spcAft>
                <a:spcPts val="400"/>
              </a:spcAft>
              <a:buNone/>
            </a:pPr>
            <a:r>
              <a:rPr lang="en-US" sz="1550" dirty="0">
                <a:solidFill>
                  <a:srgbClr val="262628"/>
                </a:solidFill>
              </a:rPr>
              <a:t> than the two tools agree with each other </a:t>
            </a:r>
            <a:endParaRPr lang="en-US" sz="1550" dirty="0"/>
          </a:p>
          <a:p>
            <a:pPr marL="177800" indent="-177800">
              <a:spcAft>
                <a:spcPts val="400"/>
              </a:spcAft>
              <a:buSzPct val="100000"/>
              <a:buChar char="•"/>
            </a:pPr>
            <a:r>
              <a:rPr lang="en-US" sz="1550" dirty="0">
                <a:solidFill>
                  <a:srgbClr val="262628"/>
                </a:solidFill>
              </a:rPr>
              <a:t> 68.0% of our flags are confirmed by at least one of them </a:t>
            </a:r>
            <a:endParaRPr lang="en-US" sz="1550" dirty="0"/>
          </a:p>
          <a:p>
            <a:pPr marL="177800" indent="-177800">
              <a:spcAft>
                <a:spcPts val="400"/>
              </a:spcAft>
              <a:buSzPct val="100000"/>
              <a:buChar char="•"/>
            </a:pPr>
            <a:r>
              <a:rPr lang="en-US" sz="1550" dirty="0">
                <a:solidFill>
                  <a:srgbClr val="262628"/>
                </a:solidFill>
              </a:rPr>
              <a:t> Cohesion disagrees everywhere, including CK with itself (0.490) </a:t>
            </a:r>
            <a:endParaRPr lang="en-US" sz="1550" dirty="0"/>
          </a:p>
          <a:p>
            <a:pPr marL="177800" indent="-177800">
              <a:buSzPct val="100000"/>
              <a:buChar char="•"/>
            </a:pPr>
            <a:r>
              <a:rPr lang="en-US" sz="1550" dirty="0">
                <a:solidFill>
                  <a:srgbClr val="262628"/>
                </a:solidFill>
              </a:rPr>
              <a:t> </a:t>
            </a:r>
            <a:pPr indent="0" marL="0">
              <a:buNone/>
            </a:pPr>
            <a:r>
              <a:rPr lang="en-US" sz="1550" b="1" dirty="0">
                <a:solidFill>
                  <a:srgbClr val="262628"/>
                </a:solidFill>
              </a:rPr>
              <a:t>Open/Closed is the exception</a:t>
            </a:r>
            <a:pPr indent="0" marL="0">
              <a:spcAft>
                <a:spcPts val="400"/>
              </a:spcAft>
              <a:buNone/>
            </a:pPr>
            <a:r>
              <a:rPr lang="en-US" sz="1550" dirty="0">
                <a:solidFill>
                  <a:srgbClr val="262628"/>
                </a:solidFill>
              </a:rPr>
              <a:t>: it fires 3× as often as Designite's smells and shares only 76 types, so it rests on the judge alone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6</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Results</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How often agents actually violate each principle</a:t>
            </a:r>
            <a:pPr indent="0" marL="0">
              <a:buNone/>
            </a:pPr>
            <a:r>
              <a:rPr lang="en-US" sz="1250" dirty="0">
                <a:solidFill>
                  <a:srgbClr val="5A5A5A"/>
                </a:solidFill>
              </a:rPr>
              <a:t>  raw flag rate, corrected by the measured precision of its own detector</a:t>
            </a:r>
            <a:endParaRPr lang="en-US" sz="2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1702279"/>
                <a:gridCol w="1063925"/>
                <a:gridCol w="1063925"/>
                <a:gridCol w="1063925"/>
                <a:gridCol w="1063925"/>
                <a:gridCol w="1063925"/>
                <a:gridCol w="1063925"/>
                <a:gridCol w="1063925"/>
                <a:gridCol w="1063925"/>
                <a:gridCol w="1063925"/>
              </a:tblGrid>
              <a:tr h="0">
                <a:tc>
                  <a:txBody>
                    <a:bodyPr/>
                    <a:lstStyle/>
                    <a:p>
                      <a:endParaRPr/>
                    </a:p>
                  </a:txBody>
                  <a:tcPr marL="25400" marR="50800" marT="25400" marB="25400" anchor="t">
                    <a:lnL w="0" cap="flat" cmpd="sng" algn="ctr">
                      <a:noFill/>
                    </a:lnL>
                    <a:lnR w="0" cap="flat" cmpd="sng" algn="ctr">
                      <a:noFill/>
                    </a:lnR>
                    <a:lnT w="0" cap="flat" cmpd="sng" algn="ctr">
                      <a:noFill/>
                    </a:lnT>
                    <a:lnB w="0" cap="flat" cmpd="sng" algn="ctr">
                      <a:noFill/>
                    </a:lnB>
                  </a:tcPr>
                </a:tc>
                <a:tc>
                  <a:txBody>
                    <a:bodyPr/>
                    <a:lstStyle/>
                    <a:p>
                      <a:endParaRPr/>
                    </a:p>
                  </a:txBody>
                  <a:tcPr marL="25400" marR="50800" marT="25400" marB="25400" anchor="t">
                    <a:lnL w="0" cap="flat" cmpd="sng" algn="ctr">
                      <a:noFill/>
                    </a:lnL>
                    <a:lnR w="0" cap="flat" cmpd="sng" algn="ctr">
                      <a:noFill/>
                    </a:lnR>
                    <a:lnT w="0" cap="flat" cmpd="sng" algn="ctr">
                      <a:noFill/>
                    </a:lnT>
                    <a:lnB w="0" cap="flat" cmpd="sng" algn="ctr">
                      <a:noFill/>
                    </a:lnB>
                  </a:tcPr>
                </a:tc>
                <a:tc gridSpan="4">
                  <a:txBody>
                    <a:bodyPr/>
                    <a:lstStyle/>
                    <a:p>
                      <a:pPr algn="ctr" indent="0" marL="0">
                        <a:buNone/>
                      </a:pPr>
                      <a:r>
                        <a:rPr lang="en-US" sz="1500" b="1" dirty="0">
                          <a:solidFill>
                            <a:srgbClr val="072D5A"/>
                          </a:solidFill>
                        </a:rPr>
                        <a:t>Java</a:t>
                      </a:r>
                      <a:endParaRPr lang="en-US" sz="150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hMerge="1">
                  <a:tcPr/>
                </a:tc>
                <a:tc hMerge="1">
                  <a:tcPr/>
                </a:tc>
                <a:tc gridSpan="4">
                  <a:txBody>
                    <a:bodyPr/>
                    <a:lstStyle/>
                    <a:p>
                      <a:pPr algn="ctr" indent="0" marL="0">
                        <a:buNone/>
                      </a:pPr>
                      <a:r>
                        <a:rPr lang="en-US" sz="1500" b="1" dirty="0">
                          <a:solidFill>
                            <a:srgbClr val="072D5A"/>
                          </a:solidFill>
                        </a:rPr>
                        <a:t>Python</a:t>
                      </a:r>
                      <a:endParaRPr lang="en-US" sz="150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hMerge="1">
                  <a:tcPr/>
                </a:tc>
                <a:tc hMerge="1">
                  <a:tcPr/>
                </a:tc>
              </a:tr>
              <a:tr h="0">
                <a:tc>
                  <a:txBody>
                    <a:bodyPr/>
                    <a:lstStyle/>
                    <a:p>
                      <a:pPr algn="l" indent="0" marL="0">
                        <a:buNone/>
                      </a:pPr>
                      <a:r>
                        <a:rPr lang="en-US" sz="1500" b="1" dirty="0">
                          <a:solidFill>
                            <a:srgbClr val="072D5A"/>
                          </a:solidFill>
                        </a:rPr>
                        <a:t>Principle</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00" b="1" dirty="0">
                          <a:solidFill>
                            <a:srgbClr val="072D5A"/>
                          </a:solidFill>
                        </a:rPr>
                        <a:t>Unit</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flagged</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real</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prec.</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rec.</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flagged</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real</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prec.</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00" b="1" dirty="0">
                          <a:solidFill>
                            <a:srgbClr val="072D5A"/>
                          </a:solidFill>
                        </a:rPr>
                        <a:t>rec.</a:t>
                      </a:r>
                      <a:endParaRPr lang="en-US" sz="150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00" dirty="0">
                          <a:solidFill>
                            <a:srgbClr val="262628"/>
                          </a:solidFill>
                        </a:rPr>
                        <a:t>SRP</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262628"/>
                          </a:solidFill>
                        </a:rPr>
                        <a:t>class touched</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12.2%</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4.3%</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0.350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0.828</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11.6%</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1.3%</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0.110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1.000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262628"/>
                          </a:solidFill>
                        </a:rPr>
                        <a:t>OCP</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262628"/>
                          </a:solidFill>
                        </a:rPr>
                        <a:t>pull request</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6.7%</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2.2%</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0.330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0.742</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6.4%</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2.5%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0.390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0.364</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262628"/>
                          </a:solidFill>
                        </a:rPr>
                        <a:t>LSP</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262628"/>
                          </a:solidFill>
                        </a:rPr>
                        <a:t>pull request</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0.4%</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0.4%</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1.000ᵃ</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0.386ᵇ</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0.9%</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0.5%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0.510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0.545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262628"/>
                          </a:solidFill>
                        </a:rPr>
                        <a:t>ISP</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262628"/>
                          </a:solidFill>
                        </a:rPr>
                        <a:t>pull request</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6.5%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2.2%</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0.335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0.464</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0.6%</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0.3%</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0.425ᶜ</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1.000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262628"/>
                          </a:solidFill>
                        </a:rPr>
                        <a:t>DIP</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262628"/>
                          </a:solidFill>
                        </a:rPr>
                        <a:t>pull request</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4.6%</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4.1%</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0.892ᶜ</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1.000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3.5%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b="1" dirty="0">
                          <a:solidFill>
                            <a:srgbClr val="262628"/>
                          </a:solidFill>
                        </a:rPr>
                        <a:t>3.5%</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1.000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00" dirty="0">
                          <a:solidFill>
                            <a:srgbClr val="262628"/>
                          </a:solidFill>
                        </a:rPr>
                        <a:t>1.000</a:t>
                      </a:r>
                      <a:endParaRPr lang="en-US" sz="150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Text 1"/>
          <p:cNvSpPr txBox="1"/>
          <p:nvPr/>
        </p:nvSpPr>
        <p:spPr>
          <a:xfrm>
            <a:off x="457200" y="4631436"/>
            <a:ext cx="11277600" cy="769239"/>
          </a:xfrm>
          <a:prstGeom prst="rect">
            <a:avLst/>
          </a:prstGeom>
          <a:noFill/>
          <a:ln/>
        </p:spPr>
        <p:txBody>
          <a:bodyPr wrap="square" lIns="0" tIns="0" rIns="0" bIns="0" rtlCol="0" anchor="t"/>
          <a:lstStyle/>
          <a:p>
            <a:pPr indent="0" marL="0">
              <a:lnSpc>
                <a:spcPct val="100000"/>
              </a:lnSpc>
              <a:buNone/>
            </a:pPr>
            <a:r>
              <a:rPr lang="en-US" sz="1500" dirty="0">
                <a:solidFill>
                  <a:srgbClr val="262628"/>
                </a:solidFill>
              </a:rPr>
              <a:t> </a:t>
            </a:r>
            <a:pPr indent="0" marL="0">
              <a:lnSpc>
                <a:spcPct val="100000"/>
              </a:lnSpc>
              <a:buNone/>
            </a:pPr>
            <a:r>
              <a:rPr lang="en-US" sz="1500" b="1" dirty="0">
                <a:solidFill>
                  <a:srgbClr val="262628"/>
                </a:solidFill>
              </a:rPr>
              <a:t>real</a:t>
            </a:r>
            <a:pPr indent="0" marL="0">
              <a:lnSpc>
                <a:spcPct val="100000"/>
              </a:lnSpc>
              <a:buNone/>
            </a:pPr>
            <a:r>
              <a:rPr lang="en-US" sz="1500" dirty="0">
                <a:solidFill>
                  <a:srgbClr val="262628"/>
                </a:solidFill>
              </a:rPr>
              <a:t> = flagged × measured precision: the column to quote. ᵃJava Liskov ships as refused bequest only, precision 1.000 on 64 judged flags. ᵇRecall is for the broader three-signal detector the sample was drawn from. ᶜCensus, every flag judged: 195 Java DIP, 80 Python ISP. Recall is </a:t>
            </a:r>
            <a:pPr indent="0" marL="0">
              <a:lnSpc>
                <a:spcPct val="100000"/>
              </a:lnSpc>
              <a:buNone/>
            </a:pPr>
            <a:r>
              <a:rPr lang="en-US" sz="1500" b="1" dirty="0">
                <a:solidFill>
                  <a:srgbClr val="262628"/>
                </a:solidFill>
              </a:rPr>
              <a:t>stratum-weighted</a:t>
            </a:r>
            <a:pPr indent="0" marL="0">
              <a:lnSpc>
                <a:spcPct val="100000"/>
              </a:lnSpc>
              <a:buNone/>
            </a:pPr>
            <a:r>
              <a:rPr lang="en-US" sz="1500" dirty="0">
                <a:solidFill>
                  <a:srgbClr val="262628"/>
                </a:solidFill>
              </a:rPr>
              <a:t>; unweighted, Java LSP would read 0.966. </a:t>
            </a:r>
            <a:endParaRPr lang="en-US" sz="1500" dirty="0"/>
          </a:p>
        </p:txBody>
      </p:sp>
      <p:sp>
        <p:nvSpPr>
          <p:cNvPr id="6" name="Shape 2"/>
          <p:cNvSpPr/>
          <p:nvPr/>
        </p:nvSpPr>
        <p:spPr>
          <a:xfrm>
            <a:off x="457200" y="5464683"/>
            <a:ext cx="11277600" cy="750570"/>
          </a:xfrm>
          <a:prstGeom prst="roundRect">
            <a:avLst>
              <a:gd name="adj" fmla="val 6091"/>
            </a:avLst>
          </a:prstGeom>
          <a:solidFill>
            <a:srgbClr val="F7F0DE"/>
          </a:solidFill>
          <a:ln w="12700">
            <a:solidFill>
              <a:srgbClr val="B08D3C"/>
            </a:solidFill>
            <a:prstDash val="solid"/>
          </a:ln>
        </p:spPr>
      </p:sp>
      <p:sp>
        <p:nvSpPr>
          <p:cNvPr id="7" name="Text 3"/>
          <p:cNvSpPr txBox="1"/>
          <p:nvPr/>
        </p:nvSpPr>
        <p:spPr>
          <a:xfrm>
            <a:off x="566928" y="5537835"/>
            <a:ext cx="11058144" cy="604266"/>
          </a:xfrm>
          <a:prstGeom prst="rect">
            <a:avLst/>
          </a:prstGeom>
          <a:noFill/>
          <a:ln/>
        </p:spPr>
        <p:txBody>
          <a:bodyPr wrap="square" lIns="0" tIns="0" rIns="0" bIns="0" rtlCol="0" anchor="t"/>
          <a:lstStyle/>
          <a:p>
            <a:pPr indent="0" marL="0">
              <a:buNone/>
            </a:pPr>
            <a:r>
              <a:rPr lang="en-US" sz="1500" dirty="0">
                <a:solidFill>
                  <a:srgbClr val="262628"/>
                </a:solidFill>
              </a:rPr>
              <a:t>Nothing exceeds </a:t>
            </a:r>
            <a:pPr indent="0" marL="0">
              <a:buNone/>
            </a:pPr>
            <a:r>
              <a:rPr lang="en-US" sz="1500" b="1" dirty="0">
                <a:solidFill>
                  <a:srgbClr val="262628"/>
                </a:solidFill>
              </a:rPr>
              <a:t>4.3%</a:t>
            </a:r>
            <a:pPr indent="0" marL="0">
              <a:buNone/>
            </a:pPr>
            <a:r>
              <a:rPr lang="en-US" sz="1500" dirty="0">
                <a:solidFill>
                  <a:srgbClr val="262628"/>
                </a:solidFill>
              </a:rPr>
              <a:t>. Where a detector is imprecise the correction is large (Python SRP 11.6% to 1.3%); where it is precise the rate barely moves (DIP 4.6% to 4.1%).</a:t>
            </a:r>
            <a:endParaRPr lang="en-US" sz="150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Flag rate by agent, both languages</a:t>
            </a:r>
            <a:pPr indent="0" marL="0">
              <a:buNone/>
            </a:pPr>
            <a:r>
              <a:rPr lang="en-US" sz="1250" dirty="0">
                <a:solidFill>
                  <a:srgbClr val="5A5A5A"/>
                </a:solidFill>
              </a:rPr>
              <a:t>  pooled, with the average over repositories in brackets</a:t>
            </a:r>
            <a:endParaRPr lang="en-US" sz="2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2374232"/>
                <a:gridCol w="1483895"/>
                <a:gridCol w="1483895"/>
                <a:gridCol w="1483895"/>
                <a:gridCol w="1483895"/>
                <a:gridCol w="1483895"/>
                <a:gridCol w="1483895"/>
              </a:tblGrid>
              <a:tr h="0">
                <a:tc>
                  <a:txBody>
                    <a:bodyPr/>
                    <a:lstStyle/>
                    <a:p>
                      <a:endParaRPr/>
                    </a:p>
                  </a:txBody>
                  <a:tcPr marL="25400" marR="50800" marT="25400" marB="25400" anchor="t">
                    <a:lnL w="0" cap="flat" cmpd="sng" algn="ctr">
                      <a:noFill/>
                    </a:lnL>
                    <a:lnR w="0" cap="flat" cmpd="sng" algn="ctr">
                      <a:noFill/>
                    </a:lnR>
                    <a:lnT w="0" cap="flat" cmpd="sng" algn="ctr">
                      <a:noFill/>
                    </a:lnT>
                    <a:lnB w="0" cap="flat" cmpd="sng" algn="ctr">
                      <a:noFill/>
                    </a:lnB>
                  </a:tcPr>
                </a:tc>
                <a:tc gridSpan="3">
                  <a:txBody>
                    <a:bodyPr/>
                    <a:lstStyle/>
                    <a:p>
                      <a:pPr algn="ct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hMerge="1">
                  <a:tcPr/>
                </a:tc>
                <a:tc gridSpan="3">
                  <a:txBody>
                    <a:bodyPr/>
                    <a:lstStyle/>
                    <a:p>
                      <a:pPr algn="ct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hMerge="1">
                  <a:tcPr/>
                </a:tc>
              </a:tr>
              <a:tr h="0">
                <a:tc>
                  <a:txBody>
                    <a:bodyPr/>
                    <a:lstStyle/>
                    <a:p>
                      <a:pPr algn="l" indent="0" marL="0">
                        <a:buNone/>
                      </a:pPr>
                      <a:r>
                        <a:rPr lang="en-US" sz="1550" b="1" dirty="0">
                          <a:solidFill>
                            <a:srgbClr val="072D5A"/>
                          </a:solidFill>
                        </a:rPr>
                        <a:t>Principle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Claude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Copilot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Codex</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Claude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Copilot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Codex</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SRP (authored classes)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9.5 (8.4)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5.1 (3.5)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6.8 (7.4)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9.6 (11.0)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6.6 (10.3)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8.9 (8.1)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10.6 (10.1)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6.4 (3.0)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2.1 (2.2)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9.7 (9.6)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3.5 (3.1)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5.7 (6.6)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0.7 (0.3)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0.3 (0.1)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0.0 (0.0)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1.6 (1.2)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0.5 (0.3)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0.8 (0.8)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ISP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8.7 (6.0)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6.7 (4.0)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2.9 (5.0)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1.3 (1.0)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0.4 (0.4)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0.3 (0.1)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DIP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6.5 (5.1)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4.1 (2.8)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3.2 (5.4)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5.8 (5.6)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2.0 (1.5)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2.6 (2.3)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Shape 1"/>
          <p:cNvSpPr/>
          <p:nvPr/>
        </p:nvSpPr>
        <p:spPr>
          <a:xfrm>
            <a:off x="457200" y="3496374"/>
            <a:ext cx="11277600" cy="766445"/>
          </a:xfrm>
          <a:prstGeom prst="roundRect">
            <a:avLst>
              <a:gd name="adj" fmla="val 5965"/>
            </a:avLst>
          </a:prstGeom>
          <a:solidFill>
            <a:srgbClr val="F7F0DE"/>
          </a:solidFill>
          <a:ln w="12700">
            <a:solidFill>
              <a:srgbClr val="B08D3C"/>
            </a:solidFill>
            <a:prstDash val="solid"/>
          </a:ln>
        </p:spPr>
      </p:sp>
      <p:sp>
        <p:nvSpPr>
          <p:cNvPr id="6" name="Text 2"/>
          <p:cNvSpPr txBox="1"/>
          <p:nvPr/>
        </p:nvSpPr>
        <p:spPr>
          <a:xfrm>
            <a:off x="566928" y="3569526"/>
            <a:ext cx="11058144" cy="620141"/>
          </a:xfrm>
          <a:prstGeom prst="rect">
            <a:avLst/>
          </a:prstGeom>
          <a:noFill/>
          <a:ln/>
        </p:spPr>
        <p:txBody>
          <a:bodyPr wrap="square" lIns="0" tIns="0" rIns="0" bIns="0" rtlCol="0" anchor="t"/>
          <a:lstStyle/>
          <a:p>
            <a:pPr indent="0" marL="0">
              <a:buNone/>
            </a:pPr>
            <a:r>
              <a:rPr lang="en-US" sz="1550" dirty="0">
                <a:solidFill>
                  <a:srgbClr val="262628"/>
                </a:solidFill>
              </a:rPr>
              <a:t>Read this only with the next two slides: the agents do not write changes of the same size, and most of this ordering follows from that.</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Is the instrument fair to each agent?</a:t>
            </a:r>
            <a:pPr indent="0" marL="0">
              <a:buNone/>
            </a:pPr>
            <a:r>
              <a:rPr lang="en-US" sz="1250" dirty="0">
                <a:solidFill>
                  <a:srgbClr val="5A5A5A"/>
                </a:solidFill>
              </a:rPr>
              <a:t>  precision by agent: true positives over flags judged</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2374232"/>
                <a:gridCol w="1483895"/>
                <a:gridCol w="1483895"/>
                <a:gridCol w="1483895"/>
                <a:gridCol w="1483895"/>
                <a:gridCol w="1483895"/>
                <a:gridCol w="1483895"/>
              </a:tblGrid>
              <a:tr h="0">
                <a:tc>
                  <a:txBody>
                    <a:bodyPr/>
                    <a:lstStyle/>
                    <a:p>
                      <a:endParaRPr/>
                    </a:p>
                  </a:txBody>
                  <a:tcPr marL="25400" marR="50800" marT="25400" marB="25400" anchor="t">
                    <a:lnL w="0" cap="flat" cmpd="sng" algn="ctr">
                      <a:noFill/>
                    </a:lnL>
                    <a:lnR w="0" cap="flat" cmpd="sng" algn="ctr">
                      <a:noFill/>
                    </a:lnR>
                    <a:lnT w="0" cap="flat" cmpd="sng" algn="ctr">
                      <a:noFill/>
                    </a:lnT>
                    <a:lnB w="0" cap="flat" cmpd="sng" algn="ctr">
                      <a:noFill/>
                    </a:lnB>
                  </a:tcPr>
                </a:tc>
                <a:tc gridSpan="3">
                  <a:txBody>
                    <a:bodyPr/>
                    <a:lstStyle/>
                    <a:p>
                      <a:pPr algn="ct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hMerge="1">
                  <a:tcPr/>
                </a:tc>
                <a:tc gridSpan="3">
                  <a:txBody>
                    <a:bodyPr/>
                    <a:lstStyle/>
                    <a:p>
                      <a:pPr algn="ct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hMerge="1">
                  <a:tcPr/>
                </a:tc>
              </a:tr>
              <a:tr h="0">
                <a:tc>
                  <a:txBody>
                    <a:bodyPr/>
                    <a:lstStyle/>
                    <a:p>
                      <a:pPr algn="l" indent="0" marL="0">
                        <a:buNone/>
                      </a:pPr>
                      <a:r>
                        <a:rPr lang="en-US" sz="1550" b="1" dirty="0">
                          <a:solidFill>
                            <a:srgbClr val="072D5A"/>
                          </a:solidFill>
                        </a:rPr>
                        <a:t>Principle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Claude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Copilot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Codex</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Claude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Copilot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Codex</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SRP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18/55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10/38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6/46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2/26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3/28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23/68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7/25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20/45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7/19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12/36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53/106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22/68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9/26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29/73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11/15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11/12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ISP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35/83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26/93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6/24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23/48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6/17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5/15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DIP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57/72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94/98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23/25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53/53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16/16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31/31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Text 1"/>
          <p:cNvSpPr txBox="1"/>
          <p:nvPr/>
        </p:nvSpPr>
        <p:spPr>
          <a:xfrm>
            <a:off x="457200" y="3496374"/>
            <a:ext cx="11277600" cy="1458913"/>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Claude Code's flags are confirmed </a:t>
            </a:r>
            <a:pPr indent="0" marL="0">
              <a:buNone/>
            </a:pPr>
            <a:r>
              <a:rPr lang="en-US" sz="1550" b="1" dirty="0">
                <a:solidFill>
                  <a:srgbClr val="262628"/>
                </a:solidFill>
              </a:rPr>
              <a:t>more</a:t>
            </a:r>
            <a:pPr indent="0" marL="0">
              <a:spcAft>
                <a:spcPts val="400"/>
              </a:spcAft>
              <a:buNone/>
            </a:pPr>
            <a:r>
              <a:rPr lang="en-US" sz="1550" dirty="0">
                <a:solidFill>
                  <a:srgbClr val="262628"/>
                </a:solidFill>
              </a:rPr>
              <a:t> often on four of five Java principles, so its higher rates are not produced by the detector. </a:t>
            </a:r>
            <a:endParaRPr lang="en-US" sz="1550" dirty="0"/>
          </a:p>
          <a:p>
            <a:pPr marL="177800" indent="-177800">
              <a:spcAft>
                <a:spcPts val="400"/>
              </a:spcAft>
              <a:buSzPct val="100000"/>
              <a:buChar char="•"/>
            </a:pPr>
            <a:r>
              <a:rPr lang="en-US" sz="1550" dirty="0">
                <a:solidFill>
                  <a:srgbClr val="262628"/>
                </a:solidFill>
              </a:rPr>
              <a:t> Dependency Inversion is the exception in Java (0.792 against 0.959). </a:t>
            </a:r>
            <a:endParaRPr lang="en-US" sz="1550" dirty="0"/>
          </a:p>
          <a:p>
            <a:pPr marL="177800" indent="-177800">
              <a:buSzPct val="100000"/>
              <a:buChar char="•"/>
            </a:pPr>
            <a:r>
              <a:rPr lang="en-US" sz="1550" dirty="0">
                <a:solidFill>
                  <a:srgbClr val="262628"/>
                </a:solidFill>
              </a:rPr>
              <a:t> The judge is a Claude model and one agent is Claude Code: leniency would show up as </a:t>
            </a:r>
            <a:pPr indent="0" marL="0">
              <a:buNone/>
            </a:pPr>
            <a:r>
              <a:rPr lang="en-US" sz="1550" i="1" dirty="0">
                <a:solidFill>
                  <a:srgbClr val="262628"/>
                </a:solidFill>
              </a:rPr>
              <a:t>fewer</a:t>
            </a:r>
            <a:pPr indent="0" marL="0">
              <a:spcAft>
                <a:spcPts val="400"/>
              </a:spcAft>
              <a:buNone/>
            </a:pPr>
            <a:r>
              <a:rPr lang="en-US" sz="1550" dirty="0">
                <a:solidFill>
                  <a:srgbClr val="262628"/>
                </a:solidFill>
              </a:rPr>
              <a:t> of its flags confirmed, and it does not.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Change size explains most of the difference</a:t>
            </a:r>
            <a:endParaRPr lang="en-US" sz="2200" dirty="0"/>
          </a:p>
        </p:txBody>
      </p:sp>
      <p:sp>
        <p:nvSpPr>
          <p:cNvPr id="4" name="Text 1"/>
          <p:cNvSpPr txBox="1"/>
          <p:nvPr/>
        </p:nvSpPr>
        <p:spPr>
          <a:xfrm>
            <a:off x="457200" y="1024128"/>
            <a:ext cx="596011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Mean files per pull request:  Java: Claude </a:t>
            </a:r>
            <a:pPr indent="0" marL="0">
              <a:lnSpc>
                <a:spcPct val="100000"/>
              </a:lnSpc>
              <a:buNone/>
            </a:pPr>
            <a:r>
              <a:rPr lang="en-US" sz="1550" b="1" dirty="0">
                <a:solidFill>
                  <a:srgbClr val="262628"/>
                </a:solidFill>
              </a:rPr>
              <a:t>46.4</a:t>
            </a:r>
            <a:pPr indent="0" marL="0">
              <a:lnSpc>
                <a:spcPct val="100000"/>
              </a:lnSpc>
              <a:buNone/>
            </a:pPr>
            <a:r>
              <a:rPr lang="en-US" sz="1550" dirty="0">
                <a:solidFill>
                  <a:srgbClr val="262628"/>
                </a:solidFill>
              </a:rPr>
              <a:t>, Copilot </a:t>
            </a:r>
            <a:pPr indent="0" marL="0">
              <a:lnSpc>
                <a:spcPct val="100000"/>
              </a:lnSpc>
              <a:buNone/>
            </a:pPr>
            <a:r>
              <a:rPr lang="en-US" sz="1550" b="1" dirty="0">
                <a:solidFill>
                  <a:srgbClr val="262628"/>
                </a:solidFill>
              </a:rPr>
              <a:t>18.5</a:t>
            </a:r>
            <a:pPr indent="0" marL="0">
              <a:lnSpc>
                <a:spcPct val="100000"/>
              </a:lnSpc>
              <a:buNone/>
            </a:pPr>
            <a:r>
              <a:rPr lang="en-US" sz="1550" dirty="0">
                <a:solidFill>
                  <a:srgbClr val="262628"/>
                </a:solidFill>
              </a:rPr>
              <a:t>, Codex </a:t>
            </a:r>
            <a:pPr indent="0" marL="0">
              <a:lnSpc>
                <a:spcPct val="100000"/>
              </a:lnSpc>
              <a:buNone/>
            </a:pPr>
            <a:r>
              <a:rPr lang="en-US" sz="1550" b="1" dirty="0">
                <a:solidFill>
                  <a:srgbClr val="262628"/>
                </a:solidFill>
              </a:rPr>
              <a:t>10.9</a:t>
            </a:r>
            <a:pPr indent="0" marL="0">
              <a:lnSpc>
                <a:spcPct val="100000"/>
              </a:lnSpc>
              <a:buNone/>
            </a:pPr>
            <a:r>
              <a:rPr lang="en-US" sz="1550" dirty="0">
                <a:solidFill>
                  <a:srgbClr val="262628"/>
                </a:solidFill>
              </a:rPr>
              <a:t> Python: Claude </a:t>
            </a:r>
            <a:pPr indent="0" marL="0">
              <a:lnSpc>
                <a:spcPct val="100000"/>
              </a:lnSpc>
              <a:buNone/>
            </a:pPr>
            <a:r>
              <a:rPr lang="en-US" sz="1550" b="1" dirty="0">
                <a:solidFill>
                  <a:srgbClr val="262628"/>
                </a:solidFill>
              </a:rPr>
              <a:t>16.5</a:t>
            </a:r>
            <a:pPr indent="0" marL="0">
              <a:lnSpc>
                <a:spcPct val="100000"/>
              </a:lnSpc>
              <a:buNone/>
            </a:pPr>
            <a:r>
              <a:rPr lang="en-US" sz="1550" dirty="0">
                <a:solidFill>
                  <a:srgbClr val="262628"/>
                </a:solidFill>
              </a:rPr>
              <a:t>, Copilot </a:t>
            </a:r>
            <a:pPr indent="0" marL="0">
              <a:lnSpc>
                <a:spcPct val="100000"/>
              </a:lnSpc>
              <a:buNone/>
            </a:pPr>
            <a:r>
              <a:rPr lang="en-US" sz="1550" b="1" dirty="0">
                <a:solidFill>
                  <a:srgbClr val="262628"/>
                </a:solidFill>
              </a:rPr>
              <a:t>7.7</a:t>
            </a:r>
            <a:pPr indent="0" marL="0">
              <a:lnSpc>
                <a:spcPct val="100000"/>
              </a:lnSpc>
              <a:buNone/>
            </a:pPr>
            <a:r>
              <a:rPr lang="en-US" sz="1550" dirty="0">
                <a:solidFill>
                  <a:srgbClr val="262628"/>
                </a:solidFill>
              </a:rPr>
              <a:t>, Codex </a:t>
            </a:r>
            <a:pPr indent="0" marL="0">
              <a:lnSpc>
                <a:spcPct val="100000"/>
              </a:lnSpc>
              <a:buNone/>
            </a:pPr>
            <a:r>
              <a:rPr lang="en-US" sz="1550" b="1" dirty="0">
                <a:solidFill>
                  <a:srgbClr val="262628"/>
                </a:solidFill>
              </a:rPr>
              <a:t>9.6</a:t>
            </a:r>
            <a:pPr indent="0" marL="0">
              <a:lnSpc>
                <a:spcPct val="100000"/>
              </a:lnSpc>
              <a:buNone/>
            </a:pPr>
            <a:r>
              <a:rPr lang="en-US" sz="1550" dirty="0">
                <a:solidFill>
                  <a:srgbClr val="262628"/>
                </a:solidFill>
              </a:rPr>
              <a:t>   </a:t>
            </a:r>
            <a:endParaRPr lang="en-US" sz="15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635125"/>
          <a:ext cx="5960110" cy="914400"/>
        </p:xfrm>
        <a:graphic>
          <a:graphicData uri="http://schemas.openxmlformats.org/drawingml/2006/table">
            <a:tbl>
              <a:tblPr/>
              <a:tblGrid>
                <a:gridCol w="1702889"/>
                <a:gridCol w="1064305"/>
                <a:gridCol w="1064305"/>
                <a:gridCol w="1064305"/>
                <a:gridCol w="1064305"/>
              </a:tblGrid>
              <a:tr h="0">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Files</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Claude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Copilot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Codex</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1–3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1.9%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4–10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11+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31.3%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19.3%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DIP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1–3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0.8%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4–10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3.7%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11+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b="1" dirty="0">
                          <a:solidFill>
                            <a:srgbClr val="262628"/>
                          </a:solidFill>
                        </a:rPr>
                        <a:t>22.3%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13.7%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6" name="Text 2"/>
          <p:cNvSpPr txBox="1"/>
          <p:nvPr/>
        </p:nvSpPr>
        <p:spPr>
          <a:xfrm>
            <a:off x="6691630" y="1024128"/>
            <a:ext cx="5043170" cy="2197100"/>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The ordering holds only among the largest changes. </a:t>
            </a:r>
            <a:endParaRPr lang="en-US" sz="1550" dirty="0"/>
          </a:p>
          <a:p>
            <a:pPr marL="177800" indent="-177800">
              <a:spcAft>
                <a:spcPts val="400"/>
              </a:spcAft>
              <a:buSzPct val="100000"/>
              <a:buChar char="•"/>
            </a:pPr>
            <a:r>
              <a:rPr lang="en-US" sz="1550" dirty="0">
                <a:solidFill>
                  <a:srgbClr val="262628"/>
                </a:solidFill>
              </a:rPr>
              <a:t> Among changes of three files or fewer, Copilot leads on Open/Closed and Codex on Dependency Inversion. </a:t>
            </a:r>
            <a:endParaRPr lang="en-US" sz="1550" dirty="0"/>
          </a:p>
          <a:p>
            <a:pPr marL="177800" indent="-177800">
              <a:spcAft>
                <a:spcPts val="400"/>
              </a:spcAft>
              <a:buSzPct val="100000"/>
              <a:buChar char="•"/>
            </a:pPr>
            <a:r>
              <a:rPr lang="en-US" sz="1550" dirty="0">
                <a:solidFill>
                  <a:srgbClr val="262628"/>
                </a:solidFill>
              </a:rPr>
              <a:t> A delta detector has more chances to fire when more code changes, so size has to be adjusted for, not just described.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The joint model</a:t>
            </a:r>
            <a:endParaRPr lang="en-US" sz="2200" dirty="0"/>
          </a:p>
        </p:txBody>
      </p:sp>
      <p:pic>
        <p:nvPicPr>
          <p:cNvPr id="4" name="eq_11" descr="eq 11">    </p:cNvPr>
          <p:cNvPicPr>
            <a:picLocks noChangeAspect="1"/>
          </p:cNvPicPr>
          <p:nvPr/>
        </p:nvPicPr>
        <p:blipFill>
          <a:blip r:embed="rId1"/>
          <a:stretch>
            <a:fillRect/>
          </a:stretch>
        </p:blipFill>
        <p:spPr>
          <a:xfrm>
            <a:off x="2356599" y="1024128"/>
            <a:ext cx="2390546" cy="325984"/>
          </a:xfrm>
          <a:prstGeom prst="rect">
            <a:avLst/>
          </a:prstGeom>
        </p:spPr>
      </p:pic>
      <p:pic>
        <p:nvPicPr>
          <p:cNvPr id="5" name="eq_12" descr="eq 12">    </p:cNvPr>
          <p:cNvPicPr>
            <a:picLocks noChangeAspect="1"/>
          </p:cNvPicPr>
          <p:nvPr/>
        </p:nvPicPr>
        <p:blipFill>
          <a:blip r:embed="rId2"/>
          <a:stretch>
            <a:fillRect/>
          </a:stretch>
        </p:blipFill>
        <p:spPr>
          <a:xfrm>
            <a:off x="1988096" y="1505560"/>
            <a:ext cx="3127553" cy="316535"/>
          </a:xfrm>
          <a:prstGeom prst="rect">
            <a:avLst/>
          </a:prstGeom>
        </p:spPr>
      </p:pic>
      <p:sp>
        <p:nvSpPr>
          <p:cNvPr id="6" name="Text 1"/>
          <p:cNvSpPr txBox="1"/>
          <p:nvPr/>
        </p:nvSpPr>
        <p:spPr>
          <a:xfrm>
            <a:off x="457200" y="1977542"/>
            <a:ext cx="6189345"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estimated by GEE, exchangeable within repository, cluster-robust errors; Copilot is the reference.    </a:t>
            </a:r>
            <a:endParaRPr lang="en-US" sz="15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2588539"/>
          <a:ext cx="6189345" cy="914400"/>
        </p:xfrm>
        <a:graphic>
          <a:graphicData uri="http://schemas.openxmlformats.org/drawingml/2006/table">
            <a:tbl>
              <a:tblPr/>
              <a:tblGrid>
                <a:gridCol w="2750820"/>
                <a:gridCol w="1719263"/>
                <a:gridCol w="1719263"/>
              </a:tblGrid>
              <a:tr h="0">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odds per doubling of files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1.88–1.95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2.01–2.18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Claude Code, 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2.22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2.09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95% interval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1.21–4.07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1.44–3.04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0.010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0.0001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time, per month</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8" name="Text 2"/>
          <p:cNvSpPr txBox="1"/>
          <p:nvPr/>
        </p:nvSpPr>
        <p:spPr>
          <a:xfrm>
            <a:off x="6920865" y="1024128"/>
            <a:ext cx="4813935" cy="2753233"/>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a:t>
            </a:r>
            <a:pPr indent="0" marL="0">
              <a:buNone/>
            </a:pPr>
            <a:r>
              <a:rPr lang="en-US" sz="1550" b="1" dirty="0">
                <a:solidFill>
                  <a:srgbClr val="262628"/>
                </a:solidFill>
              </a:rPr>
              <a:t>Change size dominates</a:t>
            </a:r>
            <a:pPr indent="0" marL="0">
              <a:spcAft>
                <a:spcPts val="400"/>
              </a:spcAft>
              <a:buNone/>
            </a:pPr>
            <a:r>
              <a:rPr lang="en-US" sz="1550" dirty="0">
                <a:solidFill>
                  <a:srgbClr val="262628"/>
                </a:solidFill>
              </a:rPr>
              <a:t> every principle in both languages. </a:t>
            </a:r>
            <a:endParaRPr lang="en-US" sz="1550" dirty="0"/>
          </a:p>
          <a:p>
            <a:pPr marL="177800" indent="-177800">
              <a:buSzPct val="100000"/>
              <a:buChar char="•"/>
            </a:pPr>
            <a:r>
              <a:rPr lang="en-US" sz="1550" dirty="0">
                <a:solidFill>
                  <a:srgbClr val="262628"/>
                </a:solidFill>
              </a:rPr>
              <a:t> </a:t>
            </a:r>
            <a:pPr indent="0" marL="0">
              <a:buNone/>
            </a:pPr>
            <a:r>
              <a:rPr lang="en-US" sz="1550" b="1" dirty="0">
                <a:solidFill>
                  <a:srgbClr val="262628"/>
                </a:solidFill>
              </a:rPr>
              <a:t>One agent difference replicates</a:t>
            </a:r>
            <a:pPr indent="0" marL="0">
              <a:spcAft>
                <a:spcPts val="400"/>
              </a:spcAft>
              <a:buNone/>
            </a:pPr>
            <a:r>
              <a:rPr lang="en-US" sz="1550" dirty="0">
                <a:solidFill>
                  <a:srgbClr val="262628"/>
                </a:solidFill>
              </a:rPr>
              <a:t>: Claude Code on Open/Closed. </a:t>
            </a:r>
            <a:endParaRPr lang="en-US" sz="1550" dirty="0"/>
          </a:p>
          <a:p>
            <a:pPr marL="177800" indent="-177800">
              <a:spcAft>
                <a:spcPts val="400"/>
              </a:spcAft>
              <a:buSzPct val="100000"/>
              <a:buChar char="•"/>
            </a:pPr>
            <a:r>
              <a:rPr lang="en-US" sz="1550" dirty="0">
                <a:solidFill>
                  <a:srgbClr val="262628"/>
                </a:solidFill>
              </a:rPr>
              <a:t> Six agent coefficients are tested in Java and ten in Python. Java alone would not pass a Bonferroni correction; Python does, so the claim rests on the replication. </a:t>
            </a:r>
            <a:endParaRPr lang="en-US" sz="1550" dirty="0"/>
          </a:p>
          <a:p>
            <a:pPr marL="177800" indent="-177800">
              <a:spcAft>
                <a:spcPts val="400"/>
              </a:spcAft>
              <a:buSzPct val="100000"/>
              <a:buChar char="•"/>
            </a:pPr>
            <a:r>
              <a:rPr lang="en-US" sz="1550" dirty="0">
                <a:solidFill>
                  <a:srgbClr val="262628"/>
                </a:solidFill>
              </a:rPr>
              <a:t> Python's import-cycle effect (1.88, p=0.0096) does not pass and is reported as unconfirmed.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Merged against unmerged code</a:t>
            </a:r>
            <a:endParaRPr lang="en-US" sz="2200" dirty="0"/>
          </a:p>
        </p:txBody>
      </p:sp>
      <p:sp>
        <p:nvSpPr>
          <p:cNvPr id="4" name="Text 1"/>
          <p:cNvSpPr txBox="1"/>
          <p:nvPr/>
        </p:nvSpPr>
        <p:spPr>
          <a:xfrm>
            <a:off x="457200" y="1024128"/>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Java</a:t>
            </a:r>
            <a:pPr indent="0" marL="0">
              <a:lnSpc>
                <a:spcPct val="100000"/>
              </a:lnSpc>
              <a:buNone/>
            </a:pPr>
            <a:r>
              <a:rPr lang="en-US" sz="1550" dirty="0">
                <a:solidFill>
                  <a:srgbClr val="262628"/>
                </a:solidFill>
              </a:rPr>
              <a:t>, same recovery method   </a:t>
            </a:r>
            <a:endParaRPr lang="en-US" sz="15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389063"/>
          <a:ext cx="5501640" cy="914400"/>
        </p:xfrm>
        <a:graphic>
          <a:graphicData uri="http://schemas.openxmlformats.org/drawingml/2006/table">
            <a:tbl>
              <a:tblPr/>
              <a:tblGrid>
                <a:gridCol w="1913614"/>
                <a:gridCol w="1196009"/>
                <a:gridCol w="1196009"/>
                <a:gridCol w="1196009"/>
              </a:tblGrid>
              <a:tr h="0">
                <a:tc>
                  <a:txBody>
                    <a:bodyPr/>
                    <a:lstStyle/>
                    <a:p>
                      <a:pPr algn="l" indent="0" marL="0">
                        <a:buNone/>
                      </a:pPr>
                      <a:r>
                        <a:rPr lang="en-US" sz="1550" b="1" dirty="0">
                          <a:solidFill>
                            <a:srgbClr val="072D5A"/>
                          </a:solidFill>
                        </a:rPr>
                        <a:t>Stratum</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OCP</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DIP</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merged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1,521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unreviewed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1,006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reviewed, closed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135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6" name="Text 2"/>
          <p:cNvSpPr txBox="1"/>
          <p:nvPr/>
        </p:nvSpPr>
        <p:spPr>
          <a:xfrm>
            <a:off x="457200" y="2876233"/>
            <a:ext cx="550164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Merged code is indistinguishable from code closed without review. </a:t>
            </a:r>
            <a:endParaRPr lang="en-US" sz="1550" dirty="0"/>
          </a:p>
        </p:txBody>
      </p:sp>
      <p:sp>
        <p:nvSpPr>
          <p:cNvPr id="7" name="Text 3"/>
          <p:cNvSpPr txBox="1"/>
          <p:nvPr/>
        </p:nvSpPr>
        <p:spPr>
          <a:xfrm>
            <a:off x="6233160" y="1024128"/>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Python</a:t>
            </a:r>
            <a:pPr indent="0" marL="0">
              <a:lnSpc>
                <a:spcPct val="100000"/>
              </a:lnSpc>
              <a:buNone/>
            </a:pPr>
            <a:r>
              <a:rPr lang="en-US" sz="1550" dirty="0">
                <a:solidFill>
                  <a:srgbClr val="262628"/>
                </a:solidFill>
              </a:rPr>
              <a:t>, same recovery method   </a:t>
            </a:r>
            <a:endParaRPr lang="en-US" sz="1550" dirty="0"/>
          </a:p>
        </p:txBody>
      </p:sp>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6233160" y="1389063"/>
          <a:ext cx="5501640" cy="914400"/>
        </p:xfrm>
        <a:graphic>
          <a:graphicData uri="http://schemas.openxmlformats.org/drawingml/2006/table">
            <a:tbl>
              <a:tblPr/>
              <a:tblGrid>
                <a:gridCol w="1913614"/>
                <a:gridCol w="1196009"/>
                <a:gridCol w="1196009"/>
                <a:gridCol w="1196009"/>
              </a:tblGrid>
              <a:tr h="0">
                <a:tc>
                  <a:txBody>
                    <a:bodyPr/>
                    <a:lstStyle/>
                    <a:p>
                      <a:pPr algn="l" indent="0" marL="0">
                        <a:buNone/>
                      </a:pPr>
                      <a:r>
                        <a:rPr lang="en-US" sz="1550" b="1" dirty="0">
                          <a:solidFill>
                            <a:srgbClr val="072D5A"/>
                          </a:solidFill>
                        </a:rPr>
                        <a:t>Stratum</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r" indent="0" marL="0">
                        <a:buNone/>
                      </a:pPr>
                      <a:r>
                        <a:rPr lang="en-US" sz="1550" b="1" dirty="0">
                          <a:solidFill>
                            <a:srgbClr val="072D5A"/>
                          </a:solidFill>
                        </a:rPr>
                        <a:t>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OCP</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DIP</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merged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1,734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unreviewed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1,300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9.1%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reviewed, closed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r" indent="0" marL="0">
                        <a:buNone/>
                      </a:pPr>
                      <a:r>
                        <a:rPr lang="en-US" sz="1550" dirty="0">
                          <a:solidFill>
                            <a:srgbClr val="262628"/>
                          </a:solidFill>
                        </a:rPr>
                        <a:t>163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9" name="Text 4"/>
          <p:cNvSpPr txBox="1"/>
          <p:nvPr/>
        </p:nvSpPr>
        <p:spPr>
          <a:xfrm>
            <a:off x="6233160" y="2876233"/>
            <a:ext cx="550164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Merged code is cleaner: unmerged odds 1.57 (OCP) and 2.43 (LSP) after size and agent. </a:t>
            </a:r>
            <a:endParaRPr lang="en-US" sz="1550" dirty="0"/>
          </a:p>
        </p:txBody>
      </p:sp>
      <p:sp>
        <p:nvSpPr>
          <p:cNvPr id="10" name="Shape 5"/>
          <p:cNvSpPr/>
          <p:nvPr/>
        </p:nvSpPr>
        <p:spPr>
          <a:xfrm>
            <a:off x="457200" y="3487230"/>
            <a:ext cx="11277600" cy="766445"/>
          </a:xfrm>
          <a:prstGeom prst="roundRect">
            <a:avLst>
              <a:gd name="adj" fmla="val 5965"/>
            </a:avLst>
          </a:prstGeom>
          <a:solidFill>
            <a:srgbClr val="F7F0DE"/>
          </a:solidFill>
          <a:ln w="12700">
            <a:solidFill>
              <a:srgbClr val="B08D3C"/>
            </a:solidFill>
            <a:prstDash val="solid"/>
          </a:ln>
        </p:spPr>
      </p:sp>
      <p:sp>
        <p:nvSpPr>
          <p:cNvPr id="11" name="Text 6"/>
          <p:cNvSpPr txBox="1"/>
          <p:nvPr/>
        </p:nvSpPr>
        <p:spPr>
          <a:xfrm>
            <a:off x="566928" y="3560382"/>
            <a:ext cx="11058144" cy="620141"/>
          </a:xfrm>
          <a:prstGeom prst="rect">
            <a:avLst/>
          </a:prstGeom>
          <a:noFill/>
          <a:ln/>
        </p:spPr>
        <p:txBody>
          <a:bodyPr wrap="square" lIns="0" tIns="0" rIns="0" bIns="0" rtlCol="0" anchor="t"/>
          <a:lstStyle/>
          <a:p>
            <a:pPr indent="0" marL="0">
              <a:buNone/>
            </a:pPr>
            <a:r>
              <a:rPr lang="en-US" sz="1550" dirty="0">
                <a:solidFill>
                  <a:srgbClr val="262628"/>
                </a:solidFill>
              </a:rPr>
              <a:t>Only 171 of 1,177 unmerged Java requests and 196 of 1,496 Python ones were ever reviewed, so neither result shows what reviewers select on.</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Where the problems live</a:t>
            </a:r>
            <a:endParaRPr lang="en-US" sz="2200" dirty="0"/>
          </a:p>
        </p:txBody>
      </p:sp>
      <p:pic>
        <p:nvPicPr>
          <p:cNvPr id="4" name="fig_intra_inter" descr="fig intra inter">    </p:cNvPr>
          <p:cNvPicPr>
            <a:picLocks noChangeAspect="1"/>
          </p:cNvPicPr>
          <p:nvPr/>
        </p:nvPicPr>
        <p:blipFill>
          <a:blip r:embed="rId1"/>
          <a:stretch>
            <a:fillRect/>
          </a:stretch>
        </p:blipFill>
        <p:spPr>
          <a:xfrm>
            <a:off x="457200" y="1024128"/>
            <a:ext cx="11277600" cy="3665677"/>
          </a:xfrm>
          <a:prstGeom prst="rect">
            <a:avLst/>
          </a:prstGeom>
        </p:spPr>
      </p:pic>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Most violations were there before the change</a:t>
            </a:r>
            <a:endParaRPr lang="en-US" sz="2200" dirty="0"/>
          </a:p>
        </p:txBody>
      </p:sp>
      <p:pic>
        <p:nvPicPr>
          <p:cNvPr id="4" name="fig_present_introduced" descr="fig present introduced">    </p:cNvPr>
          <p:cNvPicPr>
            <a:picLocks noChangeAspect="1"/>
          </p:cNvPicPr>
          <p:nvPr/>
        </p:nvPicPr>
        <p:blipFill>
          <a:blip r:embed="rId1"/>
          <a:stretch>
            <a:fillRect/>
          </a:stretch>
        </p:blipFill>
        <p:spPr>
          <a:xfrm>
            <a:off x="457200" y="1024128"/>
            <a:ext cx="11277600" cy="6766560"/>
          </a:xfrm>
          <a:prstGeom prst="rect">
            <a:avLst/>
          </a:prstGeom>
        </p:spPr>
      </p:pic>
      <p:sp>
        <p:nvSpPr>
          <p:cNvPr id="5" name="Text 1"/>
          <p:cNvSpPr txBox="1"/>
          <p:nvPr/>
        </p:nvSpPr>
        <p:spPr>
          <a:xfrm>
            <a:off x="457200" y="7946136"/>
            <a:ext cx="11277600" cy="165989"/>
          </a:xfrm>
          <a:prstGeom prst="rect">
            <a:avLst/>
          </a:prstGeom>
          <a:noFill/>
          <a:ln/>
        </p:spPr>
        <p:txBody>
          <a:bodyPr wrap="square" lIns="0" tIns="0" rIns="0" bIns="0" rtlCol="0" anchor="t"/>
          <a:lstStyle/>
          <a:p>
            <a:pPr indent="0" marL="0">
              <a:lnSpc>
                <a:spcPct val="100000"/>
              </a:lnSpc>
              <a:buNone/>
            </a:pPr>
            <a:r>
              <a:rPr lang="en-US" sz="700" dirty="0">
                <a:solidFill>
                  <a:srgbClr val="262628"/>
                </a:solidFill>
              </a:rPr>
              <a:t>  Refused bequest: 183 present against 16 introducing pull requests in Java, 176 against 5 in Python. After correcting for precision, 0.4% to 4.1% of Java requests introduce a violation. </a:t>
            </a:r>
            <a:endParaRPr lang="en-US" sz="70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Agent-written classes are flagged less than the code they edit</a:t>
            </a:r>
            <a:endParaRPr lang="en-US" sz="2200" dirty="0"/>
          </a:p>
        </p:txBody>
      </p:sp>
      <p:pic>
        <p:nvPicPr>
          <p:cNvPr id="4" name="fig_srp_agents" descr="fig srp agents">    </p:cNvPr>
          <p:cNvPicPr>
            <a:picLocks noChangeAspect="1"/>
          </p:cNvPicPr>
          <p:nvPr/>
        </p:nvPicPr>
        <p:blipFill>
          <a:blip r:embed="rId1"/>
          <a:stretch>
            <a:fillRect/>
          </a:stretch>
        </p:blipFill>
        <p:spPr>
          <a:xfrm>
            <a:off x="457200" y="1024128"/>
            <a:ext cx="11277600" cy="4105389"/>
          </a:xfrm>
          <a:prstGeom prst="rect">
            <a:avLst/>
          </a:prstGeom>
        </p:spPr>
      </p:pic>
      <p:sp>
        <p:nvSpPr>
          <p:cNvPr id="5" name="Text 1"/>
          <p:cNvSpPr txBox="1"/>
          <p:nvPr/>
        </p:nvSpPr>
        <p:spPr>
          <a:xfrm>
            <a:off x="457200" y="5284965"/>
            <a:ext cx="1127760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Pooled: 7.7% against 13.5% in Java, 8.9% against 12.1% in Python. New classes are also smaller and younger, so this describes the corpus; it does not rank agents against people.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Do agents repair design, or damage it?</a:t>
            </a:r>
            <a:pPr indent="0" marL="0">
              <a:buNone/>
            </a:pPr>
            <a:r>
              <a:rPr lang="en-US" sz="1250" dirty="0">
                <a:solidFill>
                  <a:srgbClr val="5A5A5A"/>
                </a:solidFill>
              </a:rPr>
              <a:t>  cycles in the touched code, before against after</a:t>
            </a:r>
            <a:endParaRPr lang="en-US" sz="2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Java (4,245 PRs)</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Python (4,946 PRs)</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more cycles after</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188 (4.4%)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58 (1.2%)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fewer cycles after</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20 (0.5%)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32 (0.6%)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unchanged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4,037 (95.1%)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4,856 (98.2%)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total cycles, before → after</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8,028 → 8,398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1,485 → 1,516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Shape 1"/>
          <p:cNvSpPr/>
          <p:nvPr/>
        </p:nvSpPr>
        <p:spPr>
          <a:xfrm>
            <a:off x="457200" y="2839657"/>
            <a:ext cx="11277600" cy="1012507"/>
          </a:xfrm>
          <a:prstGeom prst="roundRect">
            <a:avLst>
              <a:gd name="adj" fmla="val 4516"/>
            </a:avLst>
          </a:prstGeom>
          <a:solidFill>
            <a:srgbClr val="F7F0DE"/>
          </a:solidFill>
          <a:ln w="12700">
            <a:solidFill>
              <a:srgbClr val="B08D3C"/>
            </a:solidFill>
            <a:prstDash val="solid"/>
          </a:ln>
        </p:spPr>
      </p:sp>
      <p:sp>
        <p:nvSpPr>
          <p:cNvPr id="6" name="Text 2"/>
          <p:cNvSpPr txBox="1"/>
          <p:nvPr/>
        </p:nvSpPr>
        <p:spPr>
          <a:xfrm>
            <a:off x="566928" y="2912809"/>
            <a:ext cx="11058144" cy="866203"/>
          </a:xfrm>
          <a:prstGeom prst="rect">
            <a:avLst/>
          </a:prstGeom>
          <a:noFill/>
          <a:ln/>
        </p:spPr>
        <p:txBody>
          <a:bodyPr wrap="square" lIns="0" tIns="0" rIns="0" bIns="0" rtlCol="0" anchor="t"/>
          <a:lstStyle/>
          <a:p>
            <a:pPr indent="0" marL="0">
              <a:buNone/>
            </a:pPr>
            <a:r>
              <a:rPr lang="en-US" sz="1550" dirty="0">
                <a:solidFill>
                  <a:srgbClr val="262628"/>
                </a:solidFill>
              </a:rPr>
              <a:t>Agents add cycles more often than they remove them, by about nine to one in Java. The amounts are small next to the 8,028 already present, and this is the only principle where a repair can be counted, because only Dependency Inversion stores a before count.</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Part 7</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Findings and conclusions</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RQ4: what holds in both languages</a:t>
            </a:r>
            <a:endParaRPr lang="en-US" sz="2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550" b="1" dirty="0">
                          <a:solidFill>
                            <a:srgbClr val="072D5A"/>
                          </a:solidFill>
                        </a:rPr>
                        <a:t>Result</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Change size dominates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OR 1.88–1.95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holds</a:t>
                      </a:r>
                      <a:pPr algn="l" indent="0" marL="0">
                        <a:buNone/>
                      </a:pPr>
                      <a:r>
                        <a:rPr lang="en-US" sz="1550" dirty="0">
                          <a:solidFill>
                            <a:srgbClr val="262628"/>
                          </a:solidFill>
                        </a:rPr>
                        <a:t> 2.01–2.18</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Claude Code on Open/Closed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2.22 (1.21–4.07)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holds</a:t>
                      </a:r>
                      <a:pPr algn="l" indent="0" marL="0">
                        <a:buNone/>
                      </a:pPr>
                      <a:r>
                        <a:rPr lang="en-US" sz="1550" dirty="0">
                          <a:solidFill>
                            <a:srgbClr val="262628"/>
                          </a:solidFill>
                        </a:rPr>
                        <a:t> 2.09 (1.44–3.04)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Present far exceeds introduced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183 vs 16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holds</a:t>
                      </a:r>
                      <a:pPr algn="l" indent="0" marL="0">
                        <a:buNone/>
                      </a:pPr>
                      <a:r>
                        <a:rPr lang="en-US" sz="1550" dirty="0">
                          <a:solidFill>
                            <a:srgbClr val="262628"/>
                          </a:solidFill>
                        </a:rPr>
                        <a:t> 176 vs 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Authored flagged less than edited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7.7% vs 13.5%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holds</a:t>
                      </a:r>
                      <a:pPr algn="l" indent="0" marL="0">
                        <a:buNone/>
                      </a:pPr>
                      <a:r>
                        <a:rPr lang="en-US" sz="1550" dirty="0">
                          <a:solidFill>
                            <a:srgbClr val="262628"/>
                          </a:solidFill>
                        </a:rPr>
                        <a:t> 8.9% vs 12.1%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Shape rule transfers, number does not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1.000 vs 0.704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holds</a:t>
                      </a:r>
                      <a:pPr algn="l" indent="0" marL="0">
                        <a:buNone/>
                      </a:pPr>
                      <a:r>
                        <a:rPr lang="en-US" sz="1550" dirty="0">
                          <a:solidFill>
                            <a:srgbClr val="262628"/>
                          </a:solidFill>
                        </a:rPr>
                        <a:t> 0.857 vs 0.200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Compiler removes a family of LSP faults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inferred from Java</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confirmed</a:t>
                      </a:r>
                      <a:pPr algn="l" indent="0" marL="0">
                        <a:buNone/>
                      </a:pPr>
                      <a:r>
                        <a:rPr lang="en-US" sz="1550" dirty="0">
                          <a:solidFill>
                            <a:srgbClr val="262628"/>
                          </a:solidFill>
                        </a:rPr>
                        <a:t> 46 of 51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Merged equals unreviewed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yes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D62728"/>
                          </a:solidFill>
                        </a:rPr>
                        <a:t>does not hold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SRP screen precision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0.350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D62728"/>
                          </a:solidFill>
                        </a:rPr>
                        <a:t>drops</a:t>
                      </a:r>
                      <a:pPr algn="l" indent="0" marL="0">
                        <a:buNone/>
                      </a:pPr>
                      <a:r>
                        <a:rPr lang="en-US" sz="1550" dirty="0">
                          <a:solidFill>
                            <a:srgbClr val="262628"/>
                          </a:solidFill>
                        </a:rPr>
                        <a:t> to 0.110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Findings</a:t>
            </a:r>
            <a:endParaRPr lang="en-US" sz="2200" dirty="0"/>
          </a:p>
        </p:txBody>
      </p:sp>
      <p:sp>
        <p:nvSpPr>
          <p:cNvPr id="4" name="Text 1"/>
          <p:cNvSpPr txBox="1"/>
          <p:nvPr/>
        </p:nvSpPr>
        <p:spPr>
          <a:xfrm>
            <a:off x="457200" y="1024128"/>
            <a:ext cx="5501640" cy="2197100"/>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a:t>
            </a:r>
            <a:pPr indent="0" marL="0">
              <a:buNone/>
            </a:pPr>
            <a:r>
              <a:rPr lang="en-US" sz="1550" b="1" dirty="0">
                <a:solidFill>
                  <a:srgbClr val="262628"/>
                </a:solidFill>
              </a:rPr>
              <a:t>1</a:t>
            </a:r>
            <a:pPr indent="0" marL="0">
              <a:buNone/>
            </a:pPr>
            <a:r>
              <a:rPr lang="en-US" sz="1550" dirty="0">
                <a:solidFill>
                  <a:srgbClr val="262628"/>
                </a:solidFill>
              </a:rPr>
              <a:t>] What a compiler enforces decides which violations can exist: 46 of 51 confirmed Python Liskov violations are faults </a:t>
            </a:r>
            <a:pPr indent="0" marL="0">
              <a:buNone/>
            </a:pPr>
            <a:r>
              <a:rPr lang="en-US" sz="1550" dirty="0">
                <a:solidFill>
                  <a:srgbClr val="262628"/>
                </a:solidFill>
                <a:latin typeface="Consolas" pitchFamily="34" charset="0"/>
                <a:ea typeface="Consolas" pitchFamily="34" charset="-122"/>
                <a:cs typeface="Consolas" pitchFamily="34" charset="-120"/>
              </a:rPr>
              <a:t>javac</a:t>
            </a:r>
            <a:pPr indent="0" marL="0">
              <a:spcAft>
                <a:spcPts val="400"/>
              </a:spcAft>
              <a:buNone/>
            </a:pPr>
            <a:r>
              <a:rPr lang="en-US" sz="1550" dirty="0">
                <a:solidFill>
                  <a:srgbClr val="262628"/>
                </a:solidFill>
              </a:rPr>
              <a:t> rejects. </a:t>
            </a:r>
            <a:endParaRPr lang="en-US" sz="1550" dirty="0"/>
          </a:p>
          <a:p>
            <a:pPr marL="177800" indent="-177800">
              <a:buSzPct val="100000"/>
              <a:buChar char="•"/>
            </a:pPr>
            <a:r>
              <a:rPr lang="en-US" sz="1550" dirty="0">
                <a:solidFill>
                  <a:srgbClr val="262628"/>
                </a:solidFill>
              </a:rPr>
              <a:t>[</a:t>
            </a:r>
            <a:pPr indent="0" marL="0">
              <a:buNone/>
            </a:pPr>
            <a:r>
              <a:rPr lang="en-US" sz="1550" b="1" dirty="0">
                <a:solidFill>
                  <a:srgbClr val="262628"/>
                </a:solidFill>
              </a:rPr>
              <a:t>2</a:t>
            </a:r>
            <a:pPr indent="0" marL="0">
              <a:spcAft>
                <a:spcPts val="400"/>
              </a:spcAft>
              <a:buNone/>
            </a:pPr>
            <a:r>
              <a:rPr lang="en-US" sz="1550" dirty="0">
                <a:solidFill>
                  <a:srgbClr val="262628"/>
                </a:solidFill>
              </a:rPr>
              <a:t>] Width predicts Interface Segregation violations and not Open/Closed ones, because one principle is about size and the other about whether a set can grow. </a:t>
            </a:r>
            <a:endParaRPr lang="en-US" sz="1550" dirty="0"/>
          </a:p>
          <a:p>
            <a:pPr marL="177800" indent="-177800">
              <a:buSzPct val="100000"/>
              <a:buChar char="•"/>
            </a:pPr>
            <a:r>
              <a:rPr lang="en-US" sz="1550" dirty="0">
                <a:solidFill>
                  <a:srgbClr val="262628"/>
                </a:solidFill>
              </a:rPr>
              <a:t>[</a:t>
            </a:r>
            <a:pPr indent="0" marL="0">
              <a:buNone/>
            </a:pPr>
            <a:r>
              <a:rPr lang="en-US" sz="1550" b="1" dirty="0">
                <a:solidFill>
                  <a:srgbClr val="262628"/>
                </a:solidFill>
              </a:rPr>
              <a:t>3</a:t>
            </a:r>
            <a:pPr indent="0" marL="0">
              <a:spcAft>
                <a:spcPts val="400"/>
              </a:spcAft>
              <a:buNone/>
            </a:pPr>
            <a:r>
              <a:rPr lang="en-US" sz="1550" dirty="0">
                <a:solidFill>
                  <a:srgbClr val="262628"/>
                </a:solidFill>
              </a:rPr>
              <a:t>] The closed sets that matter are fixed by specifications, not by the language. </a:t>
            </a:r>
            <a:endParaRPr lang="en-US" sz="1550" dirty="0"/>
          </a:p>
        </p:txBody>
      </p:sp>
      <p:sp>
        <p:nvSpPr>
          <p:cNvPr id="5" name="Text 2"/>
          <p:cNvSpPr txBox="1"/>
          <p:nvPr/>
        </p:nvSpPr>
        <p:spPr>
          <a:xfrm>
            <a:off x="6233160" y="1024128"/>
            <a:ext cx="5501640" cy="1951037"/>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a:t>
            </a:r>
            <a:pPr indent="0" marL="0">
              <a:buNone/>
            </a:pPr>
            <a:r>
              <a:rPr lang="en-US" sz="1550" b="1" dirty="0">
                <a:solidFill>
                  <a:srgbClr val="262628"/>
                </a:solidFill>
              </a:rPr>
              <a:t>4</a:t>
            </a:r>
            <a:pPr indent="0" marL="0">
              <a:spcAft>
                <a:spcPts val="400"/>
              </a:spcAft>
              <a:buNone/>
            </a:pPr>
            <a:r>
              <a:rPr lang="en-US" sz="1550" dirty="0">
                <a:solidFill>
                  <a:srgbClr val="262628"/>
                </a:solidFill>
              </a:rPr>
              <a:t>] Most flagged problems in the touched code predate the change. </a:t>
            </a:r>
            <a:endParaRPr lang="en-US" sz="1550" dirty="0"/>
          </a:p>
          <a:p>
            <a:pPr marL="177800" indent="-177800">
              <a:buSzPct val="100000"/>
              <a:buChar char="•"/>
            </a:pPr>
            <a:r>
              <a:rPr lang="en-US" sz="1550" dirty="0">
                <a:solidFill>
                  <a:srgbClr val="262628"/>
                </a:solidFill>
              </a:rPr>
              <a:t>[</a:t>
            </a:r>
            <a:pPr indent="0" marL="0">
              <a:buNone/>
            </a:pPr>
            <a:r>
              <a:rPr lang="en-US" sz="1550" b="1" dirty="0">
                <a:solidFill>
                  <a:srgbClr val="262628"/>
                </a:solidFill>
              </a:rPr>
              <a:t>5</a:t>
            </a:r>
            <a:pPr indent="0" marL="0">
              <a:spcAft>
                <a:spcPts val="400"/>
              </a:spcAft>
              <a:buNone/>
            </a:pPr>
            <a:r>
              <a:rPr lang="en-US" sz="1550" dirty="0">
                <a:solidFill>
                  <a:srgbClr val="262628"/>
                </a:solidFill>
              </a:rPr>
              <a:t>] Classes the agents wrote are flagged less often than the classes they edit. </a:t>
            </a:r>
            <a:endParaRPr lang="en-US" sz="1550" dirty="0"/>
          </a:p>
          <a:p>
            <a:pPr marL="177800" indent="-177800">
              <a:buSzPct val="100000"/>
              <a:buChar char="•"/>
            </a:pPr>
            <a:r>
              <a:rPr lang="en-US" sz="1550" dirty="0">
                <a:solidFill>
                  <a:srgbClr val="262628"/>
                </a:solidFill>
              </a:rPr>
              <a:t>[</a:t>
            </a:r>
            <a:pPr indent="0" marL="0">
              <a:buNone/>
            </a:pPr>
            <a:r>
              <a:rPr lang="en-US" sz="1550" b="1" dirty="0">
                <a:solidFill>
                  <a:srgbClr val="262628"/>
                </a:solidFill>
              </a:rPr>
              <a:t>6</a:t>
            </a:r>
            <a:pPr indent="0" marL="0">
              <a:spcAft>
                <a:spcPts val="400"/>
              </a:spcAft>
              <a:buNone/>
            </a:pPr>
            <a:r>
              <a:rPr lang="en-US" sz="1550" dirty="0">
                <a:solidFill>
                  <a:srgbClr val="262628"/>
                </a:solidFill>
              </a:rPr>
              <a:t>] Merged code is not a biased sample of unreviewed agent code in Java, but it is cleaner than abandoned code in Python.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Against the state of the art: what we confirm</a:t>
            </a:r>
            <a:endParaRPr lang="en-US" sz="2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550" b="1" dirty="0">
                          <a:solidFill>
                            <a:srgbClr val="072D5A"/>
                          </a:solidFill>
                        </a:rPr>
                        <a:t>Earlier finding</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What we measured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Outcome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Volume-Quality Inverse Law </a:t>
                      </a:r>
                      <a:pPr algn="l" indent="0" marL="0">
                        <a:buNone/>
                      </a:pPr>
                      <a:r>
                        <a:rPr lang="en-US" sz="1550" i="1" dirty="0">
                          <a:solidFill>
                            <a:srgbClr val="262628"/>
                          </a:solidFill>
                        </a:rPr>
                        <a:t>(Zhu, Yuecai)</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Each doubling of files touched multiplies the odds of a flag by </a:t>
                      </a:r>
                      <a:pPr algn="l" indent="0" marL="0">
                        <a:buNone/>
                      </a:pPr>
                      <a:r>
                        <a:rPr lang="en-US" sz="1550" b="1" dirty="0">
                          <a:solidFill>
                            <a:srgbClr val="262628"/>
                          </a:solidFill>
                        </a:rPr>
                        <a:t>1.88–1.95</a:t>
                      </a:r>
                      <a:pPr algn="l" indent="0" marL="0">
                        <a:buNone/>
                      </a:pPr>
                      <a:r>
                        <a:rPr lang="en-US" sz="1550" dirty="0">
                          <a:solidFill>
                            <a:srgbClr val="262628"/>
                          </a:solidFill>
                        </a:rPr>
                        <a:t> (Java) and </a:t>
                      </a:r>
                      <a:pPr algn="l" indent="0" marL="0">
                        <a:buNone/>
                      </a:pPr>
                      <a:r>
                        <a:rPr lang="en-US" sz="1550" b="1" dirty="0">
                          <a:solidFill>
                            <a:srgbClr val="262628"/>
                          </a:solidFill>
                        </a:rPr>
                        <a:t>2.01–2.18</a:t>
                      </a:r>
                      <a:pPr algn="l" indent="0" marL="0">
                        <a:buNone/>
                      </a:pPr>
                      <a:r>
                        <a:rPr lang="en-US" sz="1550" dirty="0">
                          <a:solidFill>
                            <a:srgbClr val="262628"/>
                          </a:solidFill>
                        </a:rPr>
                        <a:t> (Python), on every modelled principle</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Confirmed.</a:t>
                      </a:r>
                      <a:pPr algn="l" indent="0" marL="0">
                        <a:buNone/>
                      </a:pPr>
                      <a:r>
                        <a:rPr lang="en-US" sz="1550" dirty="0">
                          <a:solidFill>
                            <a:srgbClr val="262628"/>
                          </a:solidFill>
                        </a:rPr>
                        <a:t> Our strongest result, in both languages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Agent differences vanish after churn normalisation </a:t>
                      </a:r>
                      <a:pPr algn="l" indent="0" marL="0">
                        <a:buNone/>
                      </a:pPr>
                      <a:r>
                        <a:rPr lang="en-US" sz="1550" i="1" dirty="0">
                          <a:solidFill>
                            <a:srgbClr val="262628"/>
                          </a:solidFill>
                        </a:rPr>
                        <a:t>(Cynthia et al.)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After adjusting for files, repository and time, </a:t>
                      </a:r>
                      <a:pPr algn="l" indent="0" marL="0">
                        <a:buNone/>
                      </a:pPr>
                      <a:r>
                        <a:rPr lang="en-US" sz="1550" b="1" dirty="0">
                          <a:solidFill>
                            <a:srgbClr val="262628"/>
                          </a:solidFill>
                        </a:rPr>
                        <a:t>only Claude Code on Open/Closed</a:t>
                      </a:r>
                      <a:pPr algn="l" indent="0" marL="0">
                        <a:buNone/>
                      </a:pPr>
                      <a:r>
                        <a:rPr lang="en-US" sz="1550" dirty="0">
                          <a:solidFill>
                            <a:srgbClr val="262628"/>
                          </a:solidFill>
                        </a:rPr>
                        <a:t> survives: 2.22 Java, 2.09 Python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Confirmed</a:t>
                      </a:r>
                      <a:pPr algn="l" indent="0" marL="0">
                        <a:buNone/>
                      </a:pPr>
                      <a:r>
                        <a:rPr lang="en-US" sz="1550" dirty="0">
                          <a:solidFill>
                            <a:srgbClr val="262628"/>
                          </a:solidFill>
                        </a:rPr>
                        <a:t>, with one exception that replicates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Passing tests ≠ a change a maintainer accepts </a:t>
                      </a:r>
                      <a:pPr algn="l" indent="0" marL="0">
                        <a:buNone/>
                      </a:pPr>
                      <a:r>
                        <a:rPr lang="en-US" sz="1550" i="1" dirty="0">
                          <a:solidFill>
                            <a:srgbClr val="262628"/>
                          </a:solidFill>
                        </a:rPr>
                        <a:t>(Whitfill et al.)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Merged Java pull requests are </a:t>
                      </a:r>
                      <a:pPr algn="l" indent="0" marL="0">
                        <a:buNone/>
                      </a:pPr>
                      <a:r>
                        <a:rPr lang="en-US" sz="1550" b="1" dirty="0">
                          <a:solidFill>
                            <a:srgbClr val="262628"/>
                          </a:solidFill>
                        </a:rPr>
                        <a:t>structurally indistinguishable</a:t>
                      </a:r>
                      <a:pPr algn="l" indent="0" marL="0">
                        <a:buNone/>
                      </a:pPr>
                      <a:r>
                        <a:rPr lang="en-US" sz="1550" dirty="0">
                          <a:solidFill>
                            <a:srgbClr val="262628"/>
                          </a:solidFill>
                        </a:rPr>
                        <a:t> from those closed without review</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Consistent.</a:t>
                      </a:r>
                      <a:pPr algn="l" indent="0" marL="0">
                        <a:buNone/>
                      </a:pPr>
                      <a:r>
                        <a:rPr lang="en-US" sz="1550" dirty="0">
                          <a:solidFill>
                            <a:srgbClr val="262628"/>
                          </a:solidFill>
                        </a:rPr>
                        <a:t> Merge status carries little structural information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91% correct, yet thousands of design issues </a:t>
                      </a:r>
                      <a:pPr algn="l" indent="0" marL="0">
                        <a:buNone/>
                      </a:pPr>
                      <a:r>
                        <a:rPr lang="en-US" sz="1550" i="1" dirty="0">
                          <a:solidFill>
                            <a:srgbClr val="262628"/>
                          </a:solidFill>
                        </a:rPr>
                        <a:t>(Kashif et al.)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Violations </a:t>
                      </a:r>
                      <a:pPr algn="l" indent="0" marL="0">
                        <a:buNone/>
                      </a:pPr>
                      <a:r>
                        <a:rPr lang="en-US" sz="1550" i="1" dirty="0">
                          <a:solidFill>
                            <a:srgbClr val="262628"/>
                          </a:solidFill>
                        </a:rPr>
                        <a:t>already present</a:t>
                      </a:r>
                      <a:pPr algn="l" indent="0" marL="0">
                        <a:buNone/>
                      </a:pPr>
                      <a:r>
                        <a:rPr lang="en-US" sz="1550" dirty="0">
                          <a:solidFill>
                            <a:srgbClr val="262628"/>
                          </a:solidFill>
                        </a:rPr>
                        <a:t> outnumber those </a:t>
                      </a:r>
                      <a:pPr algn="l" indent="0" marL="0">
                        <a:buNone/>
                      </a:pPr>
                      <a:r>
                        <a:rPr lang="en-US" sz="1550" i="1" dirty="0">
                          <a:solidFill>
                            <a:srgbClr val="262628"/>
                          </a:solidFill>
                        </a:rPr>
                        <a:t>introduced</a:t>
                      </a:r>
                      <a:pPr algn="l" indent="0" marL="0">
                        <a:buNone/>
                      </a:pPr>
                      <a:r>
                        <a:rPr lang="en-US" sz="1550" dirty="0">
                          <a:solidFill>
                            <a:srgbClr val="262628"/>
                          </a:solidFill>
                        </a:rPr>
                        <a:t> by about </a:t>
                      </a:r>
                      <a:pPr algn="l" indent="0" marL="0">
                        <a:buNone/>
                      </a:pPr>
                      <a:r>
                        <a:rPr lang="en-US" sz="1550" b="1" dirty="0">
                          <a:solidFill>
                            <a:srgbClr val="262628"/>
                          </a:solidFill>
                        </a:rPr>
                        <a:t>11:1</a:t>
                      </a:r>
                      <a:pPr algn="l" indent="0" marL="0">
                        <a:buNone/>
                      </a:pPr>
                      <a:r>
                        <a:rPr lang="en-US" sz="1550" dirty="0">
                          <a:solidFill>
                            <a:srgbClr val="262628"/>
                          </a:solidFill>
                        </a:rPr>
                        <a:t> (Java) and </a:t>
                      </a:r>
                      <a:pPr algn="l" indent="0" marL="0">
                        <a:buNone/>
                      </a:pPr>
                      <a:r>
                        <a:rPr lang="en-US" sz="1550" b="1" dirty="0">
                          <a:solidFill>
                            <a:srgbClr val="262628"/>
                          </a:solidFill>
                        </a:rPr>
                        <a:t>35:1</a:t>
                      </a:r>
                      <a:pPr algn="l" indent="0" marL="0">
                        <a:buNone/>
                      </a:pPr>
                      <a:r>
                        <a:rPr lang="en-US" sz="1550" dirty="0">
                          <a:solidFill>
                            <a:srgbClr val="262628"/>
                          </a:solidFill>
                        </a:rPr>
                        <a:t> (Python)</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1C7C38"/>
                          </a:solidFill>
                        </a:rPr>
                        <a:t>Consistent</a:t>
                      </a:r>
                      <a:pPr algn="l" indent="0" marL="0">
                        <a:buNone/>
                      </a:pPr>
                      <a:r>
                        <a:rPr lang="en-US" sz="1550" dirty="0">
                          <a:solidFill>
                            <a:srgbClr val="262628"/>
                          </a:solidFill>
                        </a:rPr>
                        <a:t>, though they build new projects and we edit existing ones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Against the state of the art: where we differ</a:t>
            </a:r>
            <a:endParaRPr lang="en-US" sz="2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5012267"/>
                <a:gridCol w="3132667"/>
                <a:gridCol w="3132667"/>
              </a:tblGrid>
              <a:tr h="0">
                <a:tc>
                  <a:txBody>
                    <a:bodyPr/>
                    <a:lstStyle/>
                    <a:p>
                      <a:pPr algn="l" indent="0" marL="0">
                        <a:buNone/>
                      </a:pPr>
                      <a:r>
                        <a:rPr lang="en-US" sz="1550" b="1" dirty="0">
                          <a:solidFill>
                            <a:srgbClr val="072D5A"/>
                          </a:solidFill>
                        </a:rPr>
                        <a:t>Earlier finding</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What we measured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l" indent="0" marL="0">
                        <a:buNone/>
                      </a:pPr>
                      <a:r>
                        <a:rPr lang="en-US" sz="1550" b="1" dirty="0">
                          <a:solidFill>
                            <a:srgbClr val="072D5A"/>
                          </a:solidFill>
                        </a:rPr>
                        <a:t>Outcome</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SRP easiest to detect, DIP hardest </a:t>
                      </a:r>
                      <a:pPr algn="l" indent="0" marL="0">
                        <a:buNone/>
                      </a:pPr>
                      <a:r>
                        <a:rPr lang="en-US" sz="1550" i="1" dirty="0">
                          <a:solidFill>
                            <a:srgbClr val="262628"/>
                          </a:solidFill>
                        </a:rPr>
                        <a:t>(Pehlivan et al.)</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For </a:t>
                      </a:r>
                      <a:pPr algn="l" indent="0" marL="0">
                        <a:buNone/>
                      </a:pPr>
                      <a:r>
                        <a:rPr lang="en-US" sz="1550" i="1" dirty="0">
                          <a:solidFill>
                            <a:srgbClr val="262628"/>
                          </a:solidFill>
                        </a:rPr>
                        <a:t>structural</a:t>
                      </a:r>
                      <a:pPr algn="l" indent="0" marL="0">
                        <a:buNone/>
                      </a:pPr>
                      <a:r>
                        <a:rPr lang="en-US" sz="1550" dirty="0">
                          <a:solidFill>
                            <a:srgbClr val="262628"/>
                          </a:solidFill>
                        </a:rPr>
                        <a:t> detectors the order reverses: DIP is the most precise (</a:t>
                      </a:r>
                      <a:pPr algn="l" indent="0" marL="0">
                        <a:buNone/>
                      </a:pPr>
                      <a:r>
                        <a:rPr lang="en-US" sz="1550" b="1" dirty="0">
                          <a:solidFill>
                            <a:srgbClr val="262628"/>
                          </a:solidFill>
                        </a:rPr>
                        <a:t>0.892</a:t>
                      </a:r>
                      <a:pPr algn="l" indent="0" marL="0">
                        <a:buNone/>
                      </a:pPr>
                      <a:r>
                        <a:rPr lang="en-US" sz="1550" dirty="0">
                          <a:solidFill>
                            <a:srgbClr val="262628"/>
                          </a:solidFill>
                        </a:rPr>
                        <a:t> Java, </a:t>
                      </a:r>
                      <a:pPr algn="l" indent="0" marL="0">
                        <a:buNone/>
                      </a:pPr>
                      <a:r>
                        <a:rPr lang="en-US" sz="1550" b="1" dirty="0">
                          <a:solidFill>
                            <a:srgbClr val="262628"/>
                          </a:solidFill>
                        </a:rPr>
                        <a:t>1.000</a:t>
                      </a:r>
                      <a:pPr algn="l" indent="0" marL="0">
                        <a:buNone/>
                      </a:pPr>
                      <a:r>
                        <a:rPr lang="en-US" sz="1550" dirty="0">
                          <a:solidFill>
                            <a:srgbClr val="262628"/>
                          </a:solidFill>
                        </a:rPr>
                        <a:t> Python), SRP the least (</a:t>
                      </a:r>
                      <a:pPr algn="l" indent="0" marL="0">
                        <a:buNone/>
                      </a:pPr>
                      <a:r>
                        <a:rPr lang="en-US" sz="1550" b="1" dirty="0">
                          <a:solidFill>
                            <a:srgbClr val="262628"/>
                          </a:solidFill>
                        </a:rPr>
                        <a:t>0.350</a:t>
                      </a:r>
                      <a:pPr algn="l" indent="0" marL="0">
                        <a:buNone/>
                      </a:pPr>
                      <a:r>
                        <a:rPr lang="en-US" sz="1550" dirty="0">
                          <a:solidFill>
                            <a:srgbClr val="262628"/>
                          </a:solidFill>
                        </a:rPr>
                        <a:t>, </a:t>
                      </a:r>
                      <a:pPr algn="l" indent="0" marL="0">
                        <a:buNone/>
                      </a:pPr>
                      <a:r>
                        <a:rPr lang="en-US" sz="1550" b="1" dirty="0">
                          <a:solidFill>
                            <a:srgbClr val="262628"/>
                          </a:solidFill>
                        </a:rPr>
                        <a:t>0.110</a:t>
                      </a:r>
                      <a:pPr algn="l" indent="0" marL="0">
                        <a:buNone/>
                      </a:pPr>
                      <a:r>
                        <a:rPr lang="en-US" sz="1550" dirty="0">
                          <a:solidFill>
                            <a:srgbClr val="262628"/>
                          </a:solidFill>
                        </a:rPr>
                        <a: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D62728"/>
                          </a:solidFill>
                        </a:rPr>
                        <a:t>Reversed</a:t>
                      </a:r>
                      <a:pPr algn="l" indent="0" marL="0">
                        <a:buNone/>
                      </a:pPr>
                      <a:r>
                        <a:rPr lang="en-US" sz="1550" dirty="0">
                          <a:solidFill>
                            <a:srgbClr val="262628"/>
                          </a:solidFill>
                        </a:rPr>
                        <a:t>, because a model reads examples while a static rule computes a whole-repository graph</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Agents succeed at only 4.3% of dependency-control tasks, in C</a:t>
                      </a:r>
                      <a:pPr algn="l" indent="0" marL="0">
                        <a:buNone/>
                      </a:pPr>
                      <a:r>
                        <a:rPr lang="en-US" sz="1550" dirty="0">
                          <a:solidFill>
                            <a:srgbClr val="262628"/>
                          </a:solidFill>
                          <a:latin typeface="Consolas" pitchFamily="34" charset="0"/>
                          <a:ea typeface="Consolas" pitchFamily="34" charset="-122"/>
                          <a:cs typeface="Consolas" pitchFamily="34" charset="-120"/>
                        </a:rPr>
                        <a:t>++</a:t>
                      </a:r>
                      <a:pPr algn="l" indent="0" marL="0">
                        <a:buNone/>
                      </a:pPr>
                      <a:r>
                        <a:rPr lang="en-US" sz="1550" dirty="0">
                          <a:solidFill>
                            <a:srgbClr val="262628"/>
                          </a:solidFill>
                        </a:rPr>
                        <a:t> </a:t>
                      </a:r>
                      <a:pPr algn="l" indent="0" marL="0">
                        <a:buNone/>
                      </a:pPr>
                      <a:r>
                        <a:rPr lang="en-US" sz="1550" i="1" dirty="0">
                          <a:solidFill>
                            <a:srgbClr val="262628"/>
                          </a:solidFill>
                        </a:rPr>
                        <a:t>(Zhu, Haichao, NITR)</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Agents </a:t>
                      </a:r>
                      <a:pPr algn="l" indent="0" marL="0">
                        <a:buNone/>
                      </a:pPr>
                      <a:r>
                        <a:rPr lang="en-US" sz="1550" b="1" dirty="0">
                          <a:solidFill>
                            <a:srgbClr val="262628"/>
                          </a:solidFill>
                        </a:rPr>
                        <a:t>seldom introduce</a:t>
                      </a:r>
                      <a:pPr algn="l" indent="0" marL="0">
                        <a:buNone/>
                      </a:pPr>
                      <a:r>
                        <a:rPr lang="en-US" sz="1550" dirty="0">
                          <a:solidFill>
                            <a:srgbClr val="262628"/>
                          </a:solidFill>
                        </a:rPr>
                        <a:t> dependency or responsibility violations into existing Java and Python repositories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8C7030"/>
                          </a:solidFill>
                        </a:rPr>
                        <a:t>Different question</a:t>
                      </a:r>
                      <a:pPr algn="l" indent="0" marL="0">
                        <a:buNone/>
                      </a:pPr>
                      <a:r>
                        <a:rPr lang="en-US" sz="1550" dirty="0">
                          <a:solidFill>
                            <a:srgbClr val="262628"/>
                          </a:solidFill>
                        </a:rPr>
                        <a:t>: that benchmark asks agents to </a:t>
                      </a:r>
                      <a:pPr algn="l" indent="0" marL="0">
                        <a:buNone/>
                      </a:pPr>
                      <a:r>
                        <a:rPr lang="en-US" sz="1550" i="1" dirty="0">
                          <a:solidFill>
                            <a:srgbClr val="262628"/>
                          </a:solidFill>
                        </a:rPr>
                        <a:t>repair</a:t>
                      </a:r>
                      <a:pPr algn="l" indent="0" marL="0">
                        <a:buNone/>
                      </a:pPr>
                      <a:r>
                        <a:rPr lang="en-US" sz="1550" dirty="0">
                          <a:solidFill>
                            <a:srgbClr val="262628"/>
                          </a:solidFill>
                        </a:rPr>
                        <a:t> structure, we ask whether they </a:t>
                      </a:r>
                      <a:pPr algn="l" indent="0" marL="0">
                        <a:buNone/>
                      </a:pPr>
                      <a:r>
                        <a:rPr lang="en-US" sz="1550" i="1" dirty="0">
                          <a:solidFill>
                            <a:srgbClr val="262628"/>
                          </a:solidFill>
                        </a:rPr>
                        <a:t>damage</a:t>
                      </a:r>
                      <a:pPr algn="l" indent="0" marL="0">
                        <a:buNone/>
                      </a:pPr>
                      <a:r>
                        <a:rPr lang="en-US" sz="1550" dirty="0">
                          <a:solidFill>
                            <a:srgbClr val="262628"/>
                          </a:solidFill>
                        </a:rPr>
                        <a:t> it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Erosion grows across 77% of long-horizon trajectories </a:t>
                      </a:r>
                      <a:pPr algn="l" indent="0" marL="0">
                        <a:buNone/>
                      </a:pPr>
                      <a:r>
                        <a:rPr lang="en-US" sz="1550" i="1" dirty="0">
                          <a:solidFill>
                            <a:srgbClr val="262628"/>
                          </a:solidFill>
                        </a:rPr>
                        <a:t>(SlopCodeBench)</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The time coefficient is </a:t>
                      </a:r>
                      <a:pPr algn="l" indent="0" marL="0">
                        <a:buNone/>
                      </a:pPr>
                      <a:r>
                        <a:rPr lang="en-US" sz="1550" b="1" dirty="0">
                          <a:solidFill>
                            <a:srgbClr val="262628"/>
                          </a:solidFill>
                        </a:rPr>
                        <a:t>inert</a:t>
                      </a:r>
                      <a:pPr algn="l" indent="0" marL="0">
                        <a:buNone/>
                      </a:pPr>
                      <a:r>
                        <a:rPr lang="en-US" sz="1550" dirty="0">
                          <a:solidFill>
                            <a:srgbClr val="262628"/>
                          </a:solidFill>
                        </a:rPr>
                        <a:t> for every delta principle, in both languages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b="1" dirty="0">
                          <a:solidFill>
                            <a:srgbClr val="5A5A5A"/>
                          </a:solidFill>
                        </a:rPr>
                        <a:t>Not tested</a:t>
                      </a:r>
                      <a:pPr algn="l" indent="0" marL="0">
                        <a:buNone/>
                      </a:pPr>
                      <a:r>
                        <a:rPr lang="en-US" sz="1550" dirty="0">
                          <a:solidFill>
                            <a:srgbClr val="262628"/>
                          </a:solidFill>
                        </a:rPr>
                        <a:t>: our unit is one pull request, not a trajectory of successive edits</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Shape 1"/>
          <p:cNvSpPr/>
          <p:nvPr/>
        </p:nvSpPr>
        <p:spPr>
          <a:xfrm>
            <a:off x="457200" y="4725861"/>
            <a:ext cx="11277600" cy="766445"/>
          </a:xfrm>
          <a:prstGeom prst="roundRect">
            <a:avLst>
              <a:gd name="adj" fmla="val 5965"/>
            </a:avLst>
          </a:prstGeom>
          <a:solidFill>
            <a:srgbClr val="F7F0DE"/>
          </a:solidFill>
          <a:ln w="12700">
            <a:solidFill>
              <a:srgbClr val="B08D3C"/>
            </a:solidFill>
            <a:prstDash val="solid"/>
          </a:ln>
        </p:spPr>
      </p:sp>
      <p:sp>
        <p:nvSpPr>
          <p:cNvPr id="6" name="Text 2"/>
          <p:cNvSpPr txBox="1"/>
          <p:nvPr/>
        </p:nvSpPr>
        <p:spPr>
          <a:xfrm>
            <a:off x="566928" y="4799013"/>
            <a:ext cx="11058144" cy="620141"/>
          </a:xfrm>
          <a:prstGeom prst="rect">
            <a:avLst/>
          </a:prstGeom>
          <a:noFill/>
          <a:ln/>
        </p:spPr>
        <p:txBody>
          <a:bodyPr wrap="square" lIns="0" tIns="0" rIns="0" bIns="0" rtlCol="0" anchor="t"/>
          <a:lstStyle/>
          <a:p>
            <a:pPr indent="0" marL="0">
              <a:buNone/>
            </a:pPr>
            <a:r>
              <a:rPr lang="en-US" sz="1550" dirty="0">
                <a:solidFill>
                  <a:srgbClr val="262628"/>
                </a:solidFill>
              </a:rPr>
              <a:t>Taken together with Pehlivan: a graph-based detector and a reading model fail on opposite principles, so combining them beats choosing one.</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Contributions and practical use</a:t>
            </a:r>
            <a:endParaRPr lang="en-US" sz="2200" dirty="0"/>
          </a:p>
        </p:txBody>
      </p:sp>
      <p:sp>
        <p:nvSpPr>
          <p:cNvPr id="4" name="Text 1"/>
          <p:cNvSpPr txBox="1"/>
          <p:nvPr/>
        </p:nvSpPr>
        <p:spPr>
          <a:xfrm>
            <a:off x="457200" y="1024128"/>
            <a:ext cx="5730875"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Contributions</a:t>
            </a:r>
            <a:pPr indent="0" marL="0">
              <a:lnSpc>
                <a:spcPct val="100000"/>
              </a:lnSpc>
              <a:buNone/>
            </a:pPr>
            <a:r>
              <a:rPr lang="en-US" sz="1550" dirty="0">
                <a:solidFill>
                  <a:srgbClr val="262628"/>
                </a:solidFill>
              </a:rPr>
              <a:t> </a:t>
            </a:r>
            <a:endParaRPr lang="en-US" sz="1550" dirty="0"/>
          </a:p>
        </p:txBody>
      </p:sp>
      <p:sp>
        <p:nvSpPr>
          <p:cNvPr id="5" name="Text 2"/>
          <p:cNvSpPr txBox="1"/>
          <p:nvPr/>
        </p:nvSpPr>
        <p:spPr>
          <a:xfrm>
            <a:off x="457200" y="1389063"/>
            <a:ext cx="5730875" cy="2079054"/>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A validated SOLID instrument over real agent pull requests, all five principles </a:t>
            </a:r>
            <a:endParaRPr lang="en-US" sz="1550" dirty="0"/>
          </a:p>
          <a:p>
            <a:pPr marL="177800" indent="-177800">
              <a:spcAft>
                <a:spcPts val="400"/>
              </a:spcAft>
              <a:buSzPct val="100000"/>
              <a:buChar char="•"/>
            </a:pPr>
            <a:r>
              <a:rPr lang="en-US" sz="1550" dirty="0">
                <a:solidFill>
                  <a:srgbClr val="262628"/>
                </a:solidFill>
              </a:rPr>
              <a:t> A corpus with merged, rejected and open requests </a:t>
            </a:r>
            <a:endParaRPr lang="en-US" sz="1550" dirty="0"/>
          </a:p>
          <a:p>
            <a:pPr marL="177800" indent="-177800">
              <a:spcAft>
                <a:spcPts val="400"/>
              </a:spcAft>
              <a:buSzPct val="100000"/>
              <a:buChar char="•"/>
            </a:pPr>
            <a:r>
              <a:rPr lang="en-US" sz="1550" dirty="0">
                <a:solidFill>
                  <a:srgbClr val="262628"/>
                </a:solidFill>
              </a:rPr>
              <a:t> A map of which principles a rule measures and which it only screens </a:t>
            </a:r>
            <a:endParaRPr lang="en-US" sz="1550" dirty="0"/>
          </a:p>
          <a:p>
            <a:pPr marL="177800" indent="-177800">
              <a:spcAft>
                <a:spcPts val="400"/>
              </a:spcAft>
              <a:buSzPct val="100000"/>
              <a:buChar char="•"/>
            </a:pPr>
            <a:r>
              <a:rPr lang="en-US" sz="1550" dirty="0">
                <a:solidFill>
                  <a:srgbClr val="262628"/>
                </a:solidFill>
              </a:rPr>
              <a:t> Evidence in two languages on where design risk sits </a:t>
            </a:r>
            <a:endParaRPr lang="en-US" sz="1550" dirty="0"/>
          </a:p>
          <a:p>
            <a:pPr marL="177800" indent="-177800">
              <a:spcAft>
                <a:spcPts val="400"/>
              </a:spcAft>
              <a:buSzPct val="100000"/>
              <a:buChar char="•"/>
            </a:pPr>
            <a:r>
              <a:rPr lang="en-US" sz="1550" dirty="0">
                <a:solidFill>
                  <a:srgbClr val="262628"/>
                </a:solidFill>
              </a:rPr>
              <a:t> A replication with the same agents in a second language </a:t>
            </a:r>
            <a:endParaRPr lang="en-US" sz="1550" dirty="0"/>
          </a:p>
        </p:txBody>
      </p:sp>
      <p:sp>
        <p:nvSpPr>
          <p:cNvPr id="6" name="Text 3"/>
          <p:cNvSpPr txBox="1"/>
          <p:nvPr/>
        </p:nvSpPr>
        <p:spPr>
          <a:xfrm>
            <a:off x="6462395" y="1024128"/>
            <a:ext cx="5272405"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For a review check</a:t>
            </a:r>
            <a:pPr indent="0" marL="0">
              <a:lnSpc>
                <a:spcPct val="100000"/>
              </a:lnSpc>
              <a:buNone/>
            </a:pPr>
            <a:r>
              <a:rPr lang="en-US" sz="1550" dirty="0">
                <a:solidFill>
                  <a:srgbClr val="262628"/>
                </a:solidFill>
              </a:rPr>
              <a:t> </a:t>
            </a:r>
            <a:endParaRPr lang="en-US" sz="1550" dirty="0"/>
          </a:p>
        </p:txBody>
      </p:sp>
      <p:sp>
        <p:nvSpPr>
          <p:cNvPr id="7" name="Text 4"/>
          <p:cNvSpPr txBox="1"/>
          <p:nvPr/>
        </p:nvSpPr>
        <p:spPr>
          <a:xfrm>
            <a:off x="6462395" y="1389063"/>
            <a:ext cx="5272405" cy="2325116"/>
          </a:xfrm>
          <a:prstGeom prst="rect">
            <a:avLst/>
          </a:prstGeom>
          <a:noFill/>
          <a:ln/>
        </p:spPr>
        <p:txBody>
          <a:bodyPr wrap="square" lIns="0" tIns="0" rIns="0" bIns="0" rtlCol="0" anchor="t"/>
          <a:lstStyle/>
          <a:p>
            <a:pPr marL="177800" indent="-177800">
              <a:buSzPct val="100000"/>
              <a:buChar char="•"/>
            </a:pPr>
            <a:r>
              <a:rPr lang="en-US" sz="1550" dirty="0">
                <a:solidFill>
                  <a:srgbClr val="262628"/>
                </a:solidFill>
              </a:rPr>
              <a:t> Add </a:t>
            </a:r>
            <a:pPr indent="0" marL="0">
              <a:buNone/>
            </a:pPr>
            <a:r>
              <a:rPr lang="en-US" sz="1550" b="1" dirty="0">
                <a:solidFill>
                  <a:srgbClr val="262628"/>
                </a:solidFill>
              </a:rPr>
              <a:t>refused bequest</a:t>
            </a:r>
            <a:pPr indent="0" marL="0">
              <a:spcAft>
                <a:spcPts val="400"/>
              </a:spcAft>
              <a:buNone/>
            </a:pPr>
            <a:r>
              <a:rPr lang="en-US" sz="1550" dirty="0">
                <a:solidFill>
                  <a:srgbClr val="262628"/>
                </a:solidFill>
              </a:rPr>
              <a:t>: 64/64 in Java, 6/7 in Python </a:t>
            </a:r>
            <a:endParaRPr lang="en-US" sz="1550" dirty="0"/>
          </a:p>
          <a:p>
            <a:pPr marL="177800" indent="-177800">
              <a:spcAft>
                <a:spcPts val="400"/>
              </a:spcAft>
              <a:buSzPct val="100000"/>
              <a:buChar char="•"/>
            </a:pPr>
            <a:r>
              <a:rPr lang="en-US" sz="1550" dirty="0">
                <a:solidFill>
                  <a:srgbClr val="262628"/>
                </a:solidFill>
              </a:rPr>
              <a:t> In dynamic languages, also check that an override still accepts the base's calls </a:t>
            </a:r>
            <a:endParaRPr lang="en-US" sz="1550" dirty="0"/>
          </a:p>
          <a:p>
            <a:pPr marL="177800" indent="-177800">
              <a:spcAft>
                <a:spcPts val="400"/>
              </a:spcAft>
              <a:buSzPct val="100000"/>
              <a:buChar char="•"/>
            </a:pPr>
            <a:r>
              <a:rPr lang="en-US" sz="1550" dirty="0">
                <a:solidFill>
                  <a:srgbClr val="262628"/>
                </a:solidFill>
              </a:rPr>
              <a:t> Do not rely on interface-width thresholds </a:t>
            </a:r>
            <a:endParaRPr lang="en-US" sz="1550" dirty="0"/>
          </a:p>
          <a:p>
            <a:pPr marL="177800" indent="-177800">
              <a:spcAft>
                <a:spcPts val="400"/>
              </a:spcAft>
              <a:buSzPct val="100000"/>
              <a:buChar char="•"/>
            </a:pPr>
            <a:r>
              <a:rPr lang="en-US" sz="1550" dirty="0">
                <a:solidFill>
                  <a:srgbClr val="262628"/>
                </a:solidFill>
              </a:rPr>
              <a:t> Treat SRP and OCP flags as prompts for discussion, not as blockers </a:t>
            </a:r>
            <a:endParaRPr lang="en-US" sz="1550" dirty="0"/>
          </a:p>
          <a:p>
            <a:pPr marL="177800" indent="-177800">
              <a:spcAft>
                <a:spcPts val="400"/>
              </a:spcAft>
              <a:buSzPct val="100000"/>
              <a:buChar char="•"/>
            </a:pPr>
            <a:r>
              <a:rPr lang="en-US" sz="1550" dirty="0">
                <a:solidFill>
                  <a:srgbClr val="262628"/>
                </a:solidFill>
              </a:rPr>
              <a:t> Structural checks cannot see relation-level damage: that needs repository history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Limitations</a:t>
            </a:r>
            <a:endParaRPr lang="en-US" sz="2200" dirty="0"/>
          </a:p>
        </p:txBody>
      </p:sp>
      <p:sp>
        <p:nvSpPr>
          <p:cNvPr id="4" name="Text 1"/>
          <p:cNvSpPr txBox="1"/>
          <p:nvPr/>
        </p:nvSpPr>
        <p:spPr>
          <a:xfrm>
            <a:off x="457200" y="1024128"/>
            <a:ext cx="5501640" cy="2261108"/>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SOLID adherence is not measured design quality or cost; nothing here observes an outcome </a:t>
            </a:r>
            <a:endParaRPr lang="en-US" sz="1550" dirty="0"/>
          </a:p>
          <a:p>
            <a:pPr marL="177800" indent="-177800">
              <a:spcAft>
                <a:spcPts val="400"/>
              </a:spcAft>
              <a:buSzPct val="100000"/>
              <a:buChar char="•"/>
            </a:pPr>
            <a:r>
              <a:rPr lang="en-US" sz="1550" dirty="0">
                <a:solidFill>
                  <a:srgbClr val="262628"/>
                </a:solidFill>
              </a:rPr>
              <a:t> Labels come from an LLM judge of the same family as one agent; 89.7% self-agreement bounds every figure </a:t>
            </a:r>
            <a:endParaRPr lang="en-US" sz="1550" dirty="0"/>
          </a:p>
          <a:p>
            <a:pPr marL="177800" indent="-177800">
              <a:spcAft>
                <a:spcPts val="400"/>
              </a:spcAft>
              <a:buSzPct val="100000"/>
              <a:buChar char="•"/>
            </a:pPr>
            <a:r>
              <a:rPr lang="en-US" sz="1550" dirty="0">
                <a:solidFill>
                  <a:srgbClr val="262628"/>
                </a:solidFill>
              </a:rPr>
              <a:t> No independent-tool check for OCP, ISP, or for Python at all </a:t>
            </a:r>
            <a:endParaRPr lang="en-US" sz="1550" dirty="0"/>
          </a:p>
          <a:p>
            <a:pPr marL="177800" indent="-177800">
              <a:spcAft>
                <a:spcPts val="400"/>
              </a:spcAft>
              <a:buSzPct val="100000"/>
              <a:buChar char="•"/>
            </a:pPr>
            <a:r>
              <a:rPr lang="en-US" sz="1550" dirty="0">
                <a:solidFill>
                  <a:srgbClr val="262628"/>
                </a:solidFill>
              </a:rPr>
              <a:t> Agents chose their own tasks: these are associations, not causes </a:t>
            </a:r>
            <a:endParaRPr lang="en-US" sz="1550" dirty="0"/>
          </a:p>
        </p:txBody>
      </p:sp>
      <p:sp>
        <p:nvSpPr>
          <p:cNvPr id="5" name="Text 2"/>
          <p:cNvSpPr txBox="1"/>
          <p:nvPr/>
        </p:nvSpPr>
        <p:spPr>
          <a:xfrm>
            <a:off x="6233160" y="1024128"/>
            <a:ext cx="5501640" cy="2571178"/>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Few reviewed rejections (171 Java, 196 Python) </a:t>
            </a:r>
            <a:endParaRPr lang="en-US" sz="1550" dirty="0"/>
          </a:p>
          <a:p>
            <a:pPr marL="177800" indent="-177800">
              <a:spcAft>
                <a:spcPts val="400"/>
              </a:spcAft>
              <a:buSzPct val="100000"/>
              <a:buChar char="•"/>
            </a:pPr>
            <a:r>
              <a:rPr lang="en-US" sz="1550" dirty="0">
                <a:solidFill>
                  <a:srgbClr val="262628"/>
                </a:solidFill>
              </a:rPr>
              <a:t> One snapshot per pull request: slow erosion is invisible </a:t>
            </a:r>
            <a:endParaRPr lang="en-US" sz="1550" dirty="0"/>
          </a:p>
          <a:p>
            <a:pPr marL="177800" indent="-177800">
              <a:spcAft>
                <a:spcPts val="400"/>
              </a:spcAft>
              <a:buSzPct val="100000"/>
              <a:buChar char="•"/>
            </a:pPr>
            <a:r>
              <a:rPr lang="en-US" sz="1550" dirty="0">
                <a:solidFill>
                  <a:srgbClr val="262628"/>
                </a:solidFill>
              </a:rPr>
              <a:t> Both corpora come from one dataset; 7.0% of Python source is gone </a:t>
            </a:r>
            <a:endParaRPr lang="en-US" sz="1550" dirty="0"/>
          </a:p>
          <a:p>
            <a:pPr marL="177800" indent="-177800">
              <a:spcAft>
                <a:spcPts val="400"/>
              </a:spcAft>
              <a:buSzPct val="100000"/>
              <a:buChar char="•"/>
            </a:pPr>
            <a:r>
              <a:rPr lang="en-US" sz="1550" dirty="0">
                <a:solidFill>
                  <a:srgbClr val="262628"/>
                </a:solidFill>
              </a:rPr>
              <a:t> Small counts for the relation-level principles, so their intervals are wide </a:t>
            </a:r>
            <a:endParaRPr lang="en-US" sz="1550" dirty="0"/>
          </a:p>
          <a:p>
            <a:pPr marL="177800" indent="-177800">
              <a:spcAft>
                <a:spcPts val="400"/>
              </a:spcAft>
              <a:buSzPct val="100000"/>
              <a:buChar char="•"/>
            </a:pPr>
            <a:r>
              <a:rPr lang="en-US" sz="1550" dirty="0">
                <a:solidFill>
                  <a:srgbClr val="262628"/>
                </a:solidFill>
              </a:rPr>
              <a:t> Python Interface Segregation is defined differently, so raw rates are not comparable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Conclusion and future work</a:t>
            </a:r>
            <a:endParaRPr lang="en-US" sz="2200" dirty="0"/>
          </a:p>
        </p:txBody>
      </p:sp>
      <p:sp>
        <p:nvSpPr>
          <p:cNvPr id="4" name="Shape 1"/>
          <p:cNvSpPr/>
          <p:nvPr/>
        </p:nvSpPr>
        <p:spPr>
          <a:xfrm>
            <a:off x="457200" y="1024128"/>
            <a:ext cx="11277600" cy="766445"/>
          </a:xfrm>
          <a:prstGeom prst="roundRect">
            <a:avLst>
              <a:gd name="adj" fmla="val 5965"/>
            </a:avLst>
          </a:prstGeom>
          <a:solidFill>
            <a:srgbClr val="F7F0DE"/>
          </a:solidFill>
          <a:ln w="12700">
            <a:solidFill>
              <a:srgbClr val="B08D3C"/>
            </a:solidFill>
            <a:prstDash val="solid"/>
          </a:ln>
        </p:spPr>
      </p:sp>
      <p:sp>
        <p:nvSpPr>
          <p:cNvPr id="5" name="Text 2"/>
          <p:cNvSpPr txBox="1"/>
          <p:nvPr/>
        </p:nvSpPr>
        <p:spPr>
          <a:xfrm>
            <a:off x="566928" y="1097280"/>
            <a:ext cx="11058144" cy="620141"/>
          </a:xfrm>
          <a:prstGeom prst="rect">
            <a:avLst/>
          </a:prstGeom>
          <a:noFill/>
          <a:ln/>
        </p:spPr>
        <p:txBody>
          <a:bodyPr wrap="square" lIns="0" tIns="0" rIns="0" bIns="0" rtlCol="0" anchor="t"/>
          <a:lstStyle/>
          <a:p>
            <a:pPr indent="0" marL="0">
              <a:buNone/>
            </a:pPr>
            <a:r>
              <a:rPr lang="en-US" sz="1550" dirty="0">
                <a:solidFill>
                  <a:srgbClr val="262628"/>
                </a:solidFill>
              </a:rPr>
              <a:t>Most design problems in the code these agents touch were there before them, and how much an agent changes matters more than which agent it is. Both results hold in Java and in Python.</a:t>
            </a:r>
            <a:endParaRPr lang="en-US" sz="1550" dirty="0"/>
          </a:p>
        </p:txBody>
      </p:sp>
      <p:sp>
        <p:nvSpPr>
          <p:cNvPr id="6" name="Text 3"/>
          <p:cNvSpPr txBox="1"/>
          <p:nvPr/>
        </p:nvSpPr>
        <p:spPr>
          <a:xfrm>
            <a:off x="457200" y="1854581"/>
            <a:ext cx="5501640" cy="300927"/>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a:t>
            </a:r>
            <a:pPr indent="0" marL="0">
              <a:lnSpc>
                <a:spcPct val="100000"/>
              </a:lnSpc>
              <a:buNone/>
            </a:pPr>
            <a:r>
              <a:rPr lang="en-US" sz="1550" b="1" dirty="0">
                <a:solidFill>
                  <a:srgbClr val="262628"/>
                </a:solidFill>
              </a:rPr>
              <a:t>Next steps</a:t>
            </a:r>
            <a:pPr indent="0" marL="0">
              <a:lnSpc>
                <a:spcPct val="100000"/>
              </a:lnSpc>
              <a:buNone/>
            </a:pPr>
            <a:r>
              <a:rPr lang="en-US" sz="1550" dirty="0">
                <a:solidFill>
                  <a:srgbClr val="262628"/>
                </a:solidFill>
              </a:rPr>
              <a:t> </a:t>
            </a:r>
            <a:endParaRPr lang="en-US" sz="1550" dirty="0"/>
          </a:p>
        </p:txBody>
      </p:sp>
      <p:sp>
        <p:nvSpPr>
          <p:cNvPr id="7" name="Text 4"/>
          <p:cNvSpPr txBox="1"/>
          <p:nvPr/>
        </p:nvSpPr>
        <p:spPr>
          <a:xfrm>
            <a:off x="457200" y="2219516"/>
            <a:ext cx="5501640" cy="1458913"/>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Recognise specification-fixed sets for Open/Closed, and a churn signal for what is not closed </a:t>
            </a:r>
            <a:endParaRPr lang="en-US" sz="1550" dirty="0"/>
          </a:p>
          <a:p>
            <a:pPr marL="177800" indent="-177800">
              <a:spcAft>
                <a:spcPts val="400"/>
              </a:spcAft>
              <a:buSzPct val="100000"/>
              <a:buChar char="•"/>
            </a:pPr>
            <a:r>
              <a:rPr lang="en-US" sz="1550" dirty="0">
                <a:solidFill>
                  <a:srgbClr val="262628"/>
                </a:solidFill>
              </a:rPr>
              <a:t> An Open/Closed proxy that agrees with published smells (κ=0.122 today) </a:t>
            </a:r>
            <a:endParaRPr lang="en-US" sz="1550" dirty="0"/>
          </a:p>
          <a:p>
            <a:pPr marL="177800" indent="-177800">
              <a:spcAft>
                <a:spcPts val="400"/>
              </a:spcAft>
              <a:buSzPct val="100000"/>
              <a:buChar char="•"/>
            </a:pPr>
            <a:r>
              <a:rPr lang="en-US" sz="1550" dirty="0">
                <a:solidFill>
                  <a:srgbClr val="262628"/>
                </a:solidFill>
              </a:rPr>
              <a:t> A framework-aware responsibility screen for Python </a:t>
            </a:r>
            <a:endParaRPr lang="en-US" sz="1550" dirty="0"/>
          </a:p>
        </p:txBody>
      </p:sp>
      <p:sp>
        <p:nvSpPr>
          <p:cNvPr id="8" name="Text 5"/>
          <p:cNvSpPr txBox="1"/>
          <p:nvPr/>
        </p:nvSpPr>
        <p:spPr>
          <a:xfrm>
            <a:off x="6233160" y="1854581"/>
            <a:ext cx="5501640" cy="1522921"/>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Narrow recall by sampling unflagged entities </a:t>
            </a:r>
            <a:endParaRPr lang="en-US" sz="1550" dirty="0"/>
          </a:p>
          <a:p>
            <a:pPr marL="177800" indent="-177800">
              <a:spcAft>
                <a:spcPts val="400"/>
              </a:spcAft>
              <a:buSzPct val="100000"/>
              <a:buChar char="•"/>
            </a:pPr>
            <a:r>
              <a:rPr lang="en-US" sz="1550" dirty="0">
                <a:solidFill>
                  <a:srgbClr val="262628"/>
                </a:solidFill>
              </a:rPr>
              <a:t> Re-judge Python samples, and add a judge from another model family </a:t>
            </a:r>
            <a:endParaRPr lang="en-US" sz="1550" dirty="0"/>
          </a:p>
          <a:p>
            <a:pPr marL="177800" indent="-177800">
              <a:spcAft>
                <a:spcPts val="400"/>
              </a:spcAft>
              <a:buSzPct val="100000"/>
              <a:buChar char="•"/>
            </a:pPr>
            <a:r>
              <a:rPr lang="en-US" sz="1550" dirty="0">
                <a:solidFill>
                  <a:srgbClr val="262628"/>
                </a:solidFill>
              </a:rPr>
              <a:t> A corpus with many reviewed rejections </a:t>
            </a:r>
            <a:endParaRPr lang="en-US" sz="1550" dirty="0"/>
          </a:p>
          <a:p>
            <a:pPr marL="177800" indent="-177800">
              <a:spcAft>
                <a:spcPts val="400"/>
              </a:spcAft>
              <a:buSzPct val="100000"/>
              <a:buChar char="•"/>
            </a:pPr>
            <a:r>
              <a:rPr lang="en-US" sz="1550" dirty="0">
                <a:solidFill>
                  <a:srgbClr val="262628"/>
                </a:solidFill>
              </a:rPr>
              <a:t> Repository history as the unit of analysis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914400" y="2834640"/>
            <a:ext cx="10363200" cy="731520"/>
          </a:xfrm>
          <a:prstGeom prst="rect">
            <a:avLst/>
          </a:prstGeom>
          <a:noFill/>
          <a:ln/>
        </p:spPr>
        <p:txBody>
          <a:bodyPr wrap="square" rtlCol="0" anchor="ctr"/>
          <a:lstStyle/>
          <a:p>
            <a:pPr algn="ctr" indent="0" marL="0">
              <a:buNone/>
            </a:pPr>
            <a:r>
              <a:rPr lang="en-US" sz="3400" b="1" dirty="0">
                <a:solidFill>
                  <a:srgbClr val="072D5A"/>
                </a:solidFill>
              </a:rPr>
              <a:t>Thank you</a:t>
            </a:r>
            <a:endParaRPr lang="en-US" sz="3400" dirty="0"/>
          </a:p>
        </p:txBody>
      </p:sp>
      <p:sp>
        <p:nvSpPr>
          <p:cNvPr id="3" name="Shape 1"/>
          <p:cNvSpPr/>
          <p:nvPr/>
        </p:nvSpPr>
        <p:spPr>
          <a:xfrm>
            <a:off x="4998720" y="3657600"/>
            <a:ext cx="2194560" cy="0"/>
          </a:xfrm>
          <a:prstGeom prst="line">
            <a:avLst/>
          </a:prstGeom>
          <a:noFill/>
          <a:ln w="19050">
            <a:solidFill>
              <a:srgbClr val="B08D3C"/>
            </a:solidFill>
            <a:prstDash val="solid"/>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914400" y="2743200"/>
            <a:ext cx="10363200" cy="292608"/>
          </a:xfrm>
          <a:prstGeom prst="rect">
            <a:avLst/>
          </a:prstGeom>
          <a:noFill/>
          <a:ln/>
        </p:spPr>
        <p:txBody>
          <a:bodyPr wrap="square" rtlCol="0" anchor="ctr"/>
          <a:lstStyle/>
          <a:p>
            <a:pPr algn="ctr" indent="0" marL="0">
              <a:buNone/>
            </a:pPr>
            <a:r>
              <a:rPr lang="en-US" sz="1300" dirty="0">
                <a:solidFill>
                  <a:srgbClr val="5A5A5A"/>
                </a:solidFill>
              </a:rPr>
              <a:t>Backup</a:t>
            </a:r>
            <a:endParaRPr lang="en-US" sz="1300" dirty="0"/>
          </a:p>
        </p:txBody>
      </p:sp>
      <p:sp>
        <p:nvSpPr>
          <p:cNvPr id="3" name="Text 1"/>
          <p:cNvSpPr txBox="1"/>
          <p:nvPr/>
        </p:nvSpPr>
        <p:spPr>
          <a:xfrm>
            <a:off x="914400" y="3063240"/>
            <a:ext cx="10363200" cy="640080"/>
          </a:xfrm>
          <a:prstGeom prst="rect">
            <a:avLst/>
          </a:prstGeom>
          <a:noFill/>
          <a:ln/>
        </p:spPr>
        <p:txBody>
          <a:bodyPr wrap="square" rtlCol="0" anchor="ctr"/>
          <a:lstStyle/>
          <a:p>
            <a:pPr algn="ctr" indent="0" marL="0">
              <a:buNone/>
            </a:pPr>
            <a:r>
              <a:rPr lang="en-US" sz="2800" b="1" dirty="0">
                <a:solidFill>
                  <a:srgbClr val="072D5A"/>
                </a:solidFill>
              </a:rPr>
              <a:t>Additional material</a:t>
            </a:r>
            <a:endParaRPr lang="en-US" sz="2800" dirty="0"/>
          </a:p>
        </p:txBody>
      </p:sp>
      <p:sp>
        <p:nvSpPr>
          <p:cNvPr id="4" name="Shape 2"/>
          <p:cNvSpPr/>
          <p:nvPr/>
        </p:nvSpPr>
        <p:spPr>
          <a:xfrm>
            <a:off x="4724400" y="3794760"/>
            <a:ext cx="2743200" cy="0"/>
          </a:xfrm>
          <a:prstGeom prst="line">
            <a:avLst/>
          </a:prstGeom>
          <a:noFill/>
          <a:ln w="19050">
            <a:solidFill>
              <a:srgbClr val="B08D3C"/>
            </a:solidFill>
            <a:prstDash val="solid"/>
          </a:ln>
        </p:spPr>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Backup: why recall must be weighted</a:t>
            </a:r>
            <a:endParaRPr lang="en-US" sz="2200" dirty="0"/>
          </a:p>
        </p:txBody>
      </p:sp>
      <p:sp>
        <p:nvSpPr>
          <p:cNvPr id="4" name="Text 1"/>
          <p:cNvSpPr txBox="1"/>
          <p:nvPr/>
        </p:nvSpPr>
        <p:spPr>
          <a:xfrm>
            <a:off x="457200" y="1024128"/>
            <a:ext cx="5960110" cy="793051"/>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Each sample is half flagged, the population is not. For Java Liskov it holds 574 flagged override pairs and 25,594 unflagged ones. </a:t>
            </a:r>
            <a:endParaRPr lang="en-US" sz="1550" dirty="0"/>
          </a:p>
        </p:txBody>
      </p:sp>
      <p:pic>
        <p:nvPicPr>
          <p:cNvPr id="5" name="eq_13" descr="eq 13">    </p:cNvPr>
          <p:cNvPicPr>
            <a:picLocks noChangeAspect="1"/>
          </p:cNvPicPr>
          <p:nvPr/>
        </p:nvPicPr>
        <p:blipFill>
          <a:blip r:embed="rId1"/>
          <a:stretch>
            <a:fillRect/>
          </a:stretch>
        </p:blipFill>
        <p:spPr>
          <a:xfrm>
            <a:off x="1993951" y="1881188"/>
            <a:ext cx="2886608" cy="590550"/>
          </a:xfrm>
          <a:prstGeom prst="rect">
            <a:avLst/>
          </a:prstGeom>
        </p:spPr>
      </p:pic>
      <p:sp>
        <p:nvSpPr>
          <p:cNvPr id="6" name="Text 2"/>
          <p:cNvSpPr txBox="1"/>
          <p:nvPr/>
        </p:nvSpPr>
        <p:spPr>
          <a:xfrm>
            <a:off x="457200" y="2627186"/>
            <a:ext cx="5960110" cy="793051"/>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Counting the strata as equally common gives 0.966. Weighting gives </a:t>
            </a:r>
            <a:pPr indent="0" marL="0">
              <a:lnSpc>
                <a:spcPct val="100000"/>
              </a:lnSpc>
              <a:buNone/>
            </a:pPr>
            <a:r>
              <a:rPr lang="en-US" sz="1550" b="1" dirty="0">
                <a:solidFill>
                  <a:srgbClr val="262628"/>
                </a:solidFill>
              </a:rPr>
              <a:t>0.386</a:t>
            </a:r>
            <a:pPr indent="0" marL="0">
              <a:lnSpc>
                <a:spcPct val="100000"/>
              </a:lnSpc>
              <a:buNone/>
            </a:pPr>
            <a:r>
              <a:rPr lang="en-US" sz="1550" dirty="0">
                <a:solidFill>
                  <a:srgbClr val="262628"/>
                </a:solidFill>
              </a:rPr>
              <a:t>.  The population is the one the sample was drawn from: production entities, counted once each. </a:t>
            </a:r>
            <a:endParaRPr lang="en-US" sz="1550" dirty="0"/>
          </a:p>
        </p:txBody>
      </p:sp>
      <p:sp>
        <p:nvSpPr>
          <p:cNvPr id="7" name="Text 3"/>
          <p:cNvSpPr txBox="1"/>
          <p:nvPr/>
        </p:nvSpPr>
        <p:spPr>
          <a:xfrm>
            <a:off x="6691630" y="1024128"/>
            <a:ext cx="5043170" cy="1394905"/>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262628"/>
                </a:solidFill>
              </a:rPr>
              <a:t> The intervals are wide because a weighted recall rests on the few violations found in the unflagged stratum (three for Liskov, in 200 rows). </a:t>
            </a:r>
            <a:endParaRPr lang="en-US" sz="1550" dirty="0"/>
          </a:p>
          <a:p>
            <a:pPr marL="177800" indent="-177800">
              <a:spcAft>
                <a:spcPts val="400"/>
              </a:spcAft>
              <a:buSzPct val="100000"/>
              <a:buChar char="•"/>
            </a:pPr>
            <a:r>
              <a:rPr lang="en-US" sz="1550" dirty="0">
                <a:solidFill>
                  <a:srgbClr val="262628"/>
                </a:solidFill>
              </a:rPr>
              <a:t> This is why more labelling would help recall, not precision.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Backup: package zones (descriptive only)</a:t>
            </a:r>
            <a:endParaRPr lang="en-US" sz="2200" dirty="0"/>
          </a:p>
        </p:txBody>
      </p:sp>
      <p:pic>
        <p:nvPicPr>
          <p:cNvPr id="4" name="fig_martin_plane" descr="fig martin plane">    </p:cNvPr>
          <p:cNvPicPr>
            <a:picLocks noChangeAspect="1"/>
          </p:cNvPicPr>
          <p:nvPr/>
        </p:nvPicPr>
        <p:blipFill>
          <a:blip r:embed="rId1"/>
          <a:stretch>
            <a:fillRect/>
          </a:stretch>
        </p:blipFill>
        <p:spPr>
          <a:xfrm>
            <a:off x="457200" y="1024128"/>
            <a:ext cx="11277600" cy="5075513"/>
          </a:xfrm>
          <a:prstGeom prst="rect">
            <a:avLst/>
          </a:prstGeom>
        </p:spPr>
      </p:pic>
      <p:sp>
        <p:nvSpPr>
          <p:cNvPr id="5" name="Text 1"/>
          <p:cNvSpPr txBox="1"/>
          <p:nvPr/>
        </p:nvSpPr>
        <p:spPr>
          <a:xfrm>
            <a:off x="457200" y="6255089"/>
            <a:ext cx="11277600" cy="165989"/>
          </a:xfrm>
          <a:prstGeom prst="rect">
            <a:avLst/>
          </a:prstGeom>
          <a:noFill/>
          <a:ln/>
        </p:spPr>
        <p:txBody>
          <a:bodyPr wrap="square" lIns="0" tIns="0" rIns="0" bIns="0" rtlCol="0" anchor="t"/>
          <a:lstStyle/>
          <a:p>
            <a:pPr indent="0" marL="0">
              <a:lnSpc>
                <a:spcPct val="100000"/>
              </a:lnSpc>
              <a:buNone/>
            </a:pPr>
            <a:r>
              <a:rPr lang="en-US" sz="700" dirty="0">
                <a:solidFill>
                  <a:srgbClr val="262628"/>
                </a:solidFill>
              </a:rPr>
              <a:t>  Distance from the main sequence was tested as a change signal and confirmed none of 17 flags, so packages are described by position and never flagged. </a:t>
            </a:r>
            <a:endParaRPr lang="en-US" sz="70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457200" y="301752"/>
            <a:ext cx="11277600" cy="548640"/>
          </a:xfrm>
          <a:prstGeom prst="rect">
            <a:avLst/>
          </a:prstGeom>
          <a:noFill/>
          <a:ln/>
        </p:spPr>
        <p:txBody>
          <a:bodyPr wrap="square" lIns="0" tIns="0" rIns="0" bIns="0" rtlCol="0" anchor="b"/>
          <a:lstStyle/>
          <a:p>
            <a:pPr indent="0" marL="0">
              <a:buNone/>
            </a:pPr>
            <a:r>
              <a:rPr lang="en-US" sz="2200" b="1" dirty="0">
                <a:solidFill>
                  <a:srgbClr val="072D5A"/>
                </a:solidFill>
              </a:rPr>
              <a:t>Backup: corrected rates, with SRP split by authorship</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11277600" cy="914400"/>
        </p:xfrm>
        <a:graphic>
          <a:graphicData uri="http://schemas.openxmlformats.org/drawingml/2006/table">
            <a:tbl>
              <a:tblPr/>
              <a:tblGrid>
                <a:gridCol w="2374232"/>
                <a:gridCol w="1483895"/>
                <a:gridCol w="1483895"/>
                <a:gridCol w="1483895"/>
                <a:gridCol w="1483895"/>
                <a:gridCol w="1483895"/>
                <a:gridCol w="1483895"/>
              </a:tblGrid>
              <a:tr h="0">
                <a:tc>
                  <a:txBody>
                    <a:bodyPr/>
                    <a:lstStyle/>
                    <a:p>
                      <a:pPr algn="l" indent="0" marL="0">
                        <a:buNone/>
                      </a:pPr>
                      <a:r>
                        <a:rPr lang="en-US" sz="1550" b="1" dirty="0">
                          <a:solidFill>
                            <a:srgbClr val="072D5A"/>
                          </a:solidFill>
                        </a:rPr>
                        <a:t>Principle</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50" b="1" dirty="0">
                          <a:solidFill>
                            <a:srgbClr val="072D5A"/>
                          </a:solidFill>
                        </a:rPr>
                        <a:t>Unit</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a:txBody>
                    <a:bodyPr/>
                    <a:lstStyle/>
                    <a:p>
                      <a:endParaRPr/>
                    </a:p>
                  </a:txBody>
                  <a:tcPr marL="25400" marR="50800" marT="25400" marB="25400" anchor="t">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550" b="1" dirty="0">
                          <a:solidFill>
                            <a:srgbClr val="072D5A"/>
                          </a:solidFill>
                        </a:rPr>
                        <a:t>Java</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c gridSpan="2">
                  <a:txBody>
                    <a:bodyPr/>
                    <a:lstStyle/>
                    <a:p>
                      <a:pPr algn="ctr" indent="0" marL="0">
                        <a:buNone/>
                      </a:pPr>
                      <a:r>
                        <a:rPr lang="en-US" sz="1550" b="1" dirty="0">
                          <a:solidFill>
                            <a:srgbClr val="072D5A"/>
                          </a:solidFill>
                        </a:rPr>
                        <a:t>Python</a:t>
                      </a:r>
                      <a:endParaRPr lang="en-US" sz="1550" dirty="0"/>
                    </a:p>
                  </a:txBody>
                  <a:tcPr marL="25400" marR="50800" marT="25400" marB="25400" anchor="t">
                    <a:lnL w="0" cap="flat" cmpd="sng" algn="ctr">
                      <a:noFill/>
                    </a:lnL>
                    <a:lnR w="0" cap="flat" cmpd="sng" algn="ctr">
                      <a:noFill/>
                    </a:lnR>
                    <a:lnT w="0" cap="flat" cmpd="sng" algn="ctr">
                      <a:noFill/>
                    </a:lnT>
                    <a:lnB w="0" cap="flat" cmpd="sng" algn="ctr">
                      <a:noFill/>
                    </a:lnB>
                  </a:tcPr>
                </a:tc>
                <a:tc hMerge="1">
                  <a:tcPr/>
                </a:tc>
              </a:tr>
              <a:tr h="0">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flagged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corrected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flagged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c>
                  <a:txBody>
                    <a:bodyPr/>
                    <a:lstStyle/>
                    <a:p>
                      <a:pPr algn="ctr" indent="0" marL="0">
                        <a:buNone/>
                      </a:pPr>
                      <a:r>
                        <a:rPr lang="en-US" sz="1550" b="1" dirty="0">
                          <a:solidFill>
                            <a:srgbClr val="072D5A"/>
                          </a:solidFill>
                        </a:rPr>
                        <a:t>corrected</a:t>
                      </a:r>
                      <a:endParaRPr lang="en-US" sz="1550" dirty="0"/>
                    </a:p>
                  </a:txBody>
                  <a:tcPr marL="25400" marR="50800" marT="25400" marB="25400" anchor="t">
                    <a:lnL w="0" cap="flat" cmpd="sng" algn="ctr">
                      <a:noFill/>
                    </a:lnL>
                    <a:lnR w="0" cap="flat" cmpd="sng" algn="ctr">
                      <a:noFill/>
                    </a:lnR>
                    <a:lnT w="0" cap="flat" cmpd="sng" algn="ctr">
                      <a:noFill/>
                    </a:lnT>
                    <a:lnB w="12700" cap="flat" cmpd="sng" algn="ctr">
                      <a:solidFill>
                        <a:srgbClr val="072D5A"/>
                      </a:solidFill>
                      <a:prstDash val="solid"/>
                      <a:round/>
                      <a:headEnd type="none" w="med" len="med"/>
                      <a:tailEnd type="none" w="med" len="med"/>
                    </a:lnB>
                  </a:tcPr>
                </a:tc>
              </a:tr>
              <a:tr h="0">
                <a:tc>
                  <a:txBody>
                    <a:bodyPr/>
                    <a:lstStyle/>
                    <a:p>
                      <a:pPr algn="l" indent="0" marL="0">
                        <a:buNone/>
                      </a:pPr>
                      <a:r>
                        <a:rPr lang="en-US" sz="1550" dirty="0">
                          <a:solidFill>
                            <a:srgbClr val="262628"/>
                          </a:solidFill>
                        </a:rPr>
                        <a:t>SRP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class, authored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7.7%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8.9%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1.0%</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SRP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class, all touched</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12.2%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11.6%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1.3%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OCP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pull request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6.7%</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LSP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pull request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0.4%</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0.9%</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ISP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pull request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6.5%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2.2%</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0.3%</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50" dirty="0">
                          <a:solidFill>
                            <a:srgbClr val="262628"/>
                          </a:solidFill>
                        </a:rPr>
                        <a:t>DIP</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l" indent="0" marL="0">
                        <a:buNone/>
                      </a:pPr>
                      <a:r>
                        <a:rPr lang="en-US" sz="1550" dirty="0">
                          <a:solidFill>
                            <a:srgbClr val="262628"/>
                          </a:solidFill>
                        </a:rPr>
                        <a:t>pull request</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endParaRPr/>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4.6%</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4.1%</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c>
                  <a:txBody>
                    <a:bodyPr/>
                    <a:lstStyle/>
                    <a:p>
                      <a:pPr algn="ctr" indent="0" marL="0">
                        <a:buNone/>
                      </a:pPr>
                      <a:r>
                        <a:rPr lang="en-US" sz="1550" dirty="0">
                          <a:solidFill>
                            <a:srgbClr val="262628"/>
                          </a:solidFill>
                        </a:rPr>
                        <a:t>3.5%</a:t>
                      </a:r>
                      <a:endParaRPr lang="en-US" sz="1550" dirty="0"/>
                    </a:p>
                  </a:txBody>
                  <a:tcPr marL="25400" marR="50800" marT="25400" marB="25400" anchor="t">
                    <a:lnL w="0" cap="flat" cmpd="sng" algn="ctr">
                      <a:noFill/>
                    </a:lnL>
                    <a:lnR w="0" cap="flat" cmpd="sng" algn="ctr">
                      <a:noFill/>
                    </a:lnR>
                    <a:lnT w="0" cap="flat" cmpd="sng" algn="ctr">
                      <a:noFill/>
                    </a:lnT>
                    <a:lnB w="6350" cap="flat" cmpd="sng" algn="ctr">
                      <a:solidFill>
                        <a:srgbClr val="DDDDDD"/>
                      </a:solidFill>
                      <a:prstDash val="solid"/>
                      <a:round/>
                      <a:headEnd type="none" w="med" len="med"/>
                      <a:tailEnd type="none" w="med" len="med"/>
                    </a:lnB>
                  </a:tcPr>
                </a:tc>
              </a:tr>
            </a:tbl>
          </a:graphicData>
        </a:graphic>
      </p:graphicFrame>
      <p:sp>
        <p:nvSpPr>
          <p:cNvPr id="5" name="Text 1"/>
          <p:cNvSpPr txBox="1"/>
          <p:nvPr/>
        </p:nvSpPr>
        <p:spPr>
          <a:xfrm>
            <a:off x="457200" y="4316857"/>
            <a:ext cx="11277600" cy="546989"/>
          </a:xfrm>
          <a:prstGeom prst="rect">
            <a:avLst/>
          </a:prstGeom>
          <a:noFill/>
          <a:ln/>
        </p:spPr>
        <p:txBody>
          <a:bodyPr wrap="square" lIns="0" tIns="0" rIns="0" bIns="0" rtlCol="0" anchor="t"/>
          <a:lstStyle/>
          <a:p>
            <a:pPr indent="0" marL="0">
              <a:lnSpc>
                <a:spcPct val="100000"/>
              </a:lnSpc>
              <a:buNone/>
            </a:pPr>
            <a:r>
              <a:rPr lang="en-US" sz="1550" dirty="0">
                <a:solidFill>
                  <a:srgbClr val="262628"/>
                </a:solidFill>
              </a:rPr>
              <a:t>  Corrected = flag rate multiplied by measured precision. The Java Liskov row is the shipped flag, refused bequest only, whose precision is 1.000. </a:t>
            </a:r>
            <a:endParaRPr lang="en-US" sz="1550" dirty="0"/>
          </a:p>
        </p:txBody>
      </p:sp>
      <p:sp>
        <p:nvSpPr>
          <p:cNvPr id="25" name="Slide Number Placeholder 0"/>
          <p:cNvSpPr>
            <a:spLocks noGrp="1"/>
          </p:cNvSpPr>
          <p:nvPr>
            <p:ph type="sldNum" sz="quarter" idx="4294967295"/>
          </p:nvPr>
        </p:nvSpPr>
        <p:spPr>
          <a:xfrm>
            <a:off x="11186160" y="6510528"/>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56</a:t>
            </a:fld>
            <a:endParaRPr lang="en-US"/>
          </a:p>
        </p:txBody>
      </p:sp>
    </p:spTree>
  </p:cSld>
  <p:clrMapOvr>
    <a:masterClrMapping/>
  </p:clrMapOvr>
</p:sld>
</file>

<file path=ppt/theme/theme1.xml><?xml version="1.0" encoding="utf-8"?>
<a:theme xmlns:a="http://schemas.openxmlformats.org/drawingml/2006/main" name="ISSAT Defence">
  <a:themeElements>
    <a:clrScheme name="ISSAT Defence">
      <a:dk1>
        <a:srgbClr val="262628"/>
      </a:dk1>
      <a:lt1>
        <a:srgbClr val="FFFFFF"/>
      </a:lt1>
      <a:dk2>
        <a:srgbClr val="072D5A"/>
      </a:dk2>
      <a:lt2>
        <a:srgbClr val="DFE8F2"/>
      </a:lt2>
      <a:accent1>
        <a:srgbClr val="072D5A"/>
      </a:accent1>
      <a:accent2>
        <a:srgbClr val="B08D3C"/>
      </a:accent2>
      <a:accent3>
        <a:srgbClr val="1F77B4"/>
      </a:accent3>
      <a:accent4>
        <a:srgbClr val="FF7F0E"/>
      </a:accent4>
      <a:accent5>
        <a:srgbClr val="2CA02C"/>
      </a:accent5>
      <a:accent6>
        <a:srgbClr val="D62728"/>
      </a:accent6>
      <a:hlink>
        <a:srgbClr val="072D5A"/>
      </a:hlink>
      <a:folHlink>
        <a:srgbClr val="5A5A5A"/>
      </a:folHlink>
    </a:clrScheme>
    <a:fontScheme name="ISSAT Def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Coding Agent Quality</dc:title>
  <dc:subject>Application to Software Design Principles</dc:subject>
  <dc:creator>Akram Ben Fekih</dc:creator>
  <cp:lastModifiedBy>Akram Ben Fekih</cp:lastModifiedBy>
  <cp:revision>1</cp:revision>
  <dcterms:created xsi:type="dcterms:W3CDTF">2026-10-02T14:10:48Z</dcterms:created>
  <dcterms:modified xsi:type="dcterms:W3CDTF">2026-10-02T14:10:48Z</dcterms:modified>
</cp:coreProperties>
</file>